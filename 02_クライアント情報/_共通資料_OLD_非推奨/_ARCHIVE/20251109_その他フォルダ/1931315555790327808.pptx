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11.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_rels/presentation.xml.rels" ContentType="application/vnd.openxmlformats-package.relationships+xml"/>
  <Override PartName="/ppt/media/image119.png" ContentType="image/png"/>
  <Override PartName="/ppt/media/image87.png" ContentType="image/png"/>
  <Override PartName="/ppt/media/image19.png" ContentType="image/png"/>
  <Override PartName="/ppt/media/image118.png" ContentType="image/png"/>
  <Override PartName="/ppt/media/image86.png" ContentType="image/png"/>
  <Override PartName="/ppt/media/image18.png" ContentType="image/png"/>
  <Override PartName="/ppt/media/image109.png" ContentType="image/png"/>
  <Override PartName="/ppt/media/image77.png" ContentType="image/png"/>
  <Override PartName="/ppt/media/image108.png" ContentType="image/png"/>
  <Override PartName="/ppt/media/image76.png" ContentType="image/png"/>
  <Override PartName="/ppt/media/image99.png" ContentType="image/png"/>
  <Override PartName="/ppt/media/image98.png" ContentType="image/png"/>
  <Override PartName="/ppt/media/image97.png" ContentType="image/png"/>
  <Override PartName="/ppt/media/image29.png" ContentType="image/png"/>
  <Override PartName="/ppt/media/image129.png" ContentType="image/png"/>
  <Override PartName="/ppt/media/image96.png" ContentType="image/png"/>
  <Override PartName="/ppt/media/image28.png" ContentType="image/png"/>
  <Override PartName="/ppt/media/image128.png" ContentType="image/png"/>
  <Override PartName="/ppt/media/image95.png" ContentType="image/png"/>
  <Override PartName="/ppt/media/image127.png" ContentType="image/png"/>
  <Override PartName="/ppt/media/image27.png" ContentType="image/png"/>
  <Override PartName="/ppt/media/image89.png" ContentType="image/png"/>
  <Override PartName="/ppt/media/image88.png" ContentType="image/png"/>
  <Override PartName="/ppt/media/image85.png" ContentType="image/png"/>
  <Override PartName="/ppt/media/image117.png" ContentType="image/png"/>
  <Override PartName="/ppt/media/image17.png" ContentType="image/png"/>
  <Override PartName="/ppt/media/image79.png" ContentType="image/png"/>
  <Override PartName="/ppt/media/image126.png" ContentType="image/png"/>
  <Override PartName="/ppt/media/image94.png" ContentType="image/png"/>
  <Override PartName="/ppt/media/image26.png" ContentType="image/png"/>
  <Override PartName="/ppt/media/image78.png" ContentType="image/png"/>
  <Override PartName="/ppt/media/image125.png" ContentType="image/png"/>
  <Override PartName="/ppt/media/image93.png" ContentType="image/png"/>
  <Override PartName="/ppt/media/image25.png" ContentType="image/png"/>
  <Override PartName="/ppt/media/image133.png" ContentType="image/png"/>
  <Override PartName="/ppt/media/image33.png" ContentType="image/png"/>
  <Override PartName="/ppt/media/image1.png" ContentType="image/png"/>
  <Override PartName="/ppt/media/image47.png" ContentType="image/png"/>
  <Override PartName="/ppt/media/image147.png" ContentType="image/png"/>
  <Override PartName="/ppt/media/image134.png" ContentType="image/png"/>
  <Override PartName="/ppt/media/image34.png" ContentType="image/png"/>
  <Override PartName="/ppt/media/image2.png" ContentType="image/png"/>
  <Override PartName="/ppt/media/image153.png" ContentType="image/png"/>
  <Override PartName="/ppt/media/image7.png" ContentType="image/png"/>
  <Override PartName="/ppt/media/image53.png" ContentType="image/png"/>
  <Override PartName="/ppt/media/image101.png" ContentType="image/png"/>
  <Override PartName="/ppt/media/image48.png" ContentType="image/png"/>
  <Override PartName="/ppt/media/image148.png" ContentType="image/png"/>
  <Override PartName="/ppt/media/image3.png" ContentType="image/png"/>
  <Override PartName="/ppt/media/image49.png" ContentType="image/png"/>
  <Override PartName="/ppt/media/image149.png" ContentType="image/png"/>
  <Override PartName="/ppt/media/image57.png" ContentType="image/png"/>
  <Override PartName="/ppt/media/image157.png" ContentType="image/png"/>
  <Override PartName="/ppt/media/image35.png" ContentType="image/png"/>
  <Override PartName="/ppt/media/image135.png" ContentType="image/png"/>
  <Override PartName="/ppt/media/image46.png" ContentType="image/png"/>
  <Override PartName="/ppt/media/image146.png" ContentType="image/png"/>
  <Override PartName="/ppt/media/image39.png" ContentType="image/png"/>
  <Override PartName="/ppt/media/image139.png" ContentType="image/png"/>
  <Override PartName="/ppt/media/image38.png" ContentType="image/png"/>
  <Override PartName="/ppt/media/image138.png" ContentType="image/png"/>
  <Override PartName="/ppt/media/image143.png" ContentType="image/png"/>
  <Override PartName="/ppt/media/image43.png" ContentType="image/png"/>
  <Override PartName="/ppt/media/image44.png" ContentType="image/png"/>
  <Override PartName="/ppt/media/image144.png" ContentType="image/png"/>
  <Override PartName="/ppt/media/image100.png" ContentType="image/png"/>
  <Override PartName="/ppt/media/image142.png" ContentType="image/png"/>
  <Override PartName="/ppt/media/image42.png" ContentType="image/png"/>
  <Override PartName="/ppt/media/image56.png" ContentType="image/png"/>
  <Override PartName="/ppt/media/image156.png" ContentType="image/png"/>
  <Override PartName="/ppt/media/image55.png" ContentType="image/png"/>
  <Override PartName="/ppt/media/image155.png" ContentType="image/png"/>
  <Override PartName="/ppt/media/image9.png" ContentType="image/png"/>
  <Override PartName="/ppt/media/image41.png" ContentType="image/png"/>
  <Override PartName="/ppt/media/image141.png" ContentType="image/png"/>
  <Override PartName="/ppt/media/image154.png" ContentType="image/png"/>
  <Override PartName="/ppt/media/image54.png" ContentType="image/png"/>
  <Override PartName="/ppt/media/image8.png" ContentType="image/png"/>
  <Override PartName="/ppt/media/image40.png" ContentType="image/png"/>
  <Override PartName="/ppt/media/image140.png" ContentType="image/png"/>
  <Override PartName="/ppt/media/image130.png" ContentType="image/png"/>
  <Override PartName="/ppt/media/image30.png" ContentType="image/png"/>
  <Override PartName="/ppt/media/image132.png" ContentType="image/png"/>
  <Override PartName="/ppt/media/image32.png" ContentType="image/png"/>
  <Override PartName="/ppt/media/image131.png" ContentType="image/png"/>
  <Override PartName="/ppt/media/image31.png" ContentType="image/png"/>
  <Override PartName="/ppt/media/image45.png" ContentType="image/png"/>
  <Override PartName="/ppt/media/image145.png" ContentType="image/png"/>
  <Override PartName="/ppt/media/image136.png" ContentType="image/png"/>
  <Override PartName="/ppt/media/image36.png" ContentType="image/png"/>
  <Override PartName="/ppt/media/image150.png" ContentType="image/png"/>
  <Override PartName="/ppt/media/image50.png" ContentType="image/png"/>
  <Override PartName="/ppt/media/image4.png" ContentType="image/png"/>
  <Override PartName="/ppt/media/image152.png" ContentType="image/png"/>
  <Override PartName="/ppt/media/image52.png" ContentType="image/png"/>
  <Override PartName="/ppt/media/image6.png" ContentType="image/png"/>
  <Override PartName="/ppt/media/image37.png" ContentType="image/png"/>
  <Override PartName="/ppt/media/image137.png" ContentType="image/png"/>
  <Override PartName="/ppt/media/image151.png" ContentType="image/png"/>
  <Override PartName="/ppt/media/image51.png" ContentType="image/png"/>
  <Override PartName="/ppt/media/image5.png" ContentType="image/png"/>
  <Override PartName="/ppt/media/image158.png" ContentType="image/png"/>
  <Override PartName="/ppt/media/image58.png" ContentType="image/png"/>
  <Override PartName="/ppt/media/image159.png" ContentType="image/png"/>
  <Override PartName="/ppt/media/image59.png" ContentType="image/png"/>
  <Override PartName="/ppt/media/image160.png" ContentType="image/png"/>
  <Override PartName="/ppt/media/image60.png" ContentType="image/png"/>
  <Override PartName="/ppt/media/image161.png" ContentType="image/png"/>
  <Override PartName="/ppt/media/image61.png" ContentType="image/png"/>
  <Override PartName="/ppt/media/image162.png" ContentType="image/png"/>
  <Override PartName="/ppt/media/image62.png" ContentType="image/png"/>
  <Override PartName="/ppt/media/image10.png" ContentType="image/png"/>
  <Override PartName="/ppt/media/image110.png" ContentType="image/png"/>
  <Override PartName="/ppt/media/image63.png" ContentType="image/png"/>
  <Override PartName="/ppt/media/image11.png" ContentType="image/png"/>
  <Override PartName="/ppt/media/image111.png" ContentType="image/png"/>
  <Override PartName="/ppt/media/image64.png" ContentType="image/png"/>
  <Override PartName="/ppt/media/image12.png" ContentType="image/png"/>
  <Override PartName="/ppt/media/image80.png" ContentType="image/png"/>
  <Override PartName="/ppt/media/image112.png" ContentType="image/png"/>
  <Override PartName="/ppt/media/image65.png" ContentType="image/png"/>
  <Override PartName="/ppt/media/image81.png" ContentType="image/png"/>
  <Override PartName="/ppt/media/image13.png" ContentType="image/png"/>
  <Override PartName="/ppt/media/image113.png" ContentType="image/png"/>
  <Override PartName="/ppt/media/image66.png" ContentType="image/png"/>
  <Override PartName="/ppt/media/image82.png" ContentType="image/png"/>
  <Override PartName="/ppt/media/image14.png" ContentType="image/png"/>
  <Override PartName="/ppt/media/image114.png" ContentType="image/png"/>
  <Override PartName="/ppt/media/image67.png" ContentType="image/png"/>
  <Override PartName="/ppt/media/image83.png" ContentType="image/png"/>
  <Override PartName="/ppt/media/image15.png" ContentType="image/png"/>
  <Override PartName="/ppt/media/image115.png" ContentType="image/png"/>
  <Override PartName="/ppt/media/image68.png" ContentType="image/png"/>
  <Override PartName="/ppt/media/image16.png" ContentType="image/png"/>
  <Override PartName="/ppt/media/image84.png" ContentType="image/png"/>
  <Override PartName="/ppt/media/image116.png" ContentType="image/png"/>
  <Override PartName="/ppt/media/image69.png" ContentType="image/png"/>
  <Override PartName="/ppt/media/image102.png" ContentType="image/png"/>
  <Override PartName="/ppt/media/image70.png" ContentType="image/png"/>
  <Override PartName="/ppt/media/image103.png" ContentType="image/png"/>
  <Override PartName="/ppt/media/image71.png" ContentType="image/png"/>
  <Override PartName="/ppt/media/image104.png" ContentType="image/png"/>
  <Override PartName="/ppt/media/image72.png" ContentType="image/png"/>
  <Override PartName="/ppt/media/image120.png" ContentType="image/png"/>
  <Override PartName="/ppt/media/image20.png" ContentType="image/png"/>
  <Override PartName="/ppt/media/image105.png" ContentType="image/png"/>
  <Override PartName="/ppt/media/image73.png" ContentType="image/png"/>
  <Override PartName="/ppt/media/image121.png" ContentType="image/png"/>
  <Override PartName="/ppt/media/image21.png" ContentType="image/png"/>
  <Override PartName="/ppt/media/image106.png" ContentType="image/png"/>
  <Override PartName="/ppt/media/image74.png" ContentType="image/png"/>
  <Override PartName="/ppt/media/image122.png" ContentType="image/png"/>
  <Override PartName="/ppt/media/image22.png" ContentType="image/png"/>
  <Override PartName="/ppt/media/image90.png" ContentType="image/png"/>
  <Override PartName="/ppt/media/image107.png" ContentType="image/png"/>
  <Override PartName="/ppt/media/image75.png" ContentType="image/png"/>
  <Override PartName="/ppt/media/image123.png" ContentType="image/png"/>
  <Override PartName="/ppt/media/image23.png" ContentType="image/png"/>
  <Override PartName="/ppt/media/image91.png" ContentType="image/png"/>
  <Override PartName="/ppt/media/image124.png" ContentType="image/png"/>
  <Override PartName="/ppt/media/image92.png" ContentType="image/png"/>
  <Override PartName="/ppt/media/image24.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0704513" cy="6132513"/>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460">
    <p:spTree>
      <p:nvGrpSpPr>
        <p:cNvPr id="1" name=""/>
        <p:cNvGrpSpPr/>
        <p:nvPr/>
      </p:nvGrpSpPr>
      <p:grpSpPr>
        <a:xfrm>
          <a:off x="0" y="0"/>
          <a:ext cx="0" cy="0"/>
          <a:chOff x="0" y="0"/>
          <a:chExt cx="0" cy="0"/>
        </a:xfrm>
      </p:grpSpPr>
      <p:sp>
        <p:nvSpPr>
          <p:cNvPr id="0" name="PlaceHolder 1"/>
          <p:cNvSpPr>
            <a:spLocks noGrp="1"/>
          </p:cNvSpPr>
          <p:nvPr>
            <p:ph type="title"/>
          </p:nvPr>
        </p:nvSpPr>
        <p:spPr>
          <a:xfrm>
            <a:off x="534960" y="402840"/>
            <a:ext cx="9633240" cy="93348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 name="PlaceHolder 2"/>
          <p:cNvSpPr>
            <a:spLocks noGrp="1"/>
          </p:cNvSpPr>
          <p:nvPr>
            <p:ph type="body"/>
          </p:nvPr>
        </p:nvSpPr>
        <p:spPr>
          <a:xfrm>
            <a:off x="534960" y="1488240"/>
            <a:ext cx="9633240" cy="3242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417">
    <p:spTree>
      <p:nvGrpSpPr>
        <p:cNvPr id="1" name=""/>
        <p:cNvGrpSpPr/>
        <p:nvPr/>
      </p:nvGrpSpPr>
      <p:grpSpPr>
        <a:xfrm>
          <a:off x="0" y="0"/>
          <a:ext cx="0" cy="0"/>
          <a:chOff x="0" y="0"/>
          <a:chExt cx="0" cy="0"/>
        </a:xfrm>
      </p:grpSpPr>
      <p:sp>
        <p:nvSpPr>
          <p:cNvPr id="2" name="PlaceHolder 1"/>
          <p:cNvSpPr>
            <a:spLocks noGrp="1"/>
          </p:cNvSpPr>
          <p:nvPr>
            <p:ph type="title"/>
          </p:nvPr>
        </p:nvSpPr>
        <p:spPr>
          <a:xfrm>
            <a:off x="534960" y="402840"/>
            <a:ext cx="9633240" cy="93348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3" name="PlaceHolder 2"/>
          <p:cNvSpPr>
            <a:spLocks noGrp="1"/>
          </p:cNvSpPr>
          <p:nvPr>
            <p:ph type="body"/>
          </p:nvPr>
        </p:nvSpPr>
        <p:spPr>
          <a:xfrm>
            <a:off x="534960" y="1488240"/>
            <a:ext cx="9633240" cy="3242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392">
    <p:spTree>
      <p:nvGrpSpPr>
        <p:cNvPr id="1" name=""/>
        <p:cNvGrpSpPr/>
        <p:nvPr/>
      </p:nvGrpSpPr>
      <p:grpSpPr>
        <a:xfrm>
          <a:off x="0" y="0"/>
          <a:ext cx="0" cy="0"/>
          <a:chOff x="0" y="0"/>
          <a:chExt cx="0" cy="0"/>
        </a:xfrm>
      </p:grpSpPr>
      <p:sp>
        <p:nvSpPr>
          <p:cNvPr id="4" name="PlaceHolder 1"/>
          <p:cNvSpPr>
            <a:spLocks noGrp="1"/>
          </p:cNvSpPr>
          <p:nvPr>
            <p:ph type="title"/>
          </p:nvPr>
        </p:nvSpPr>
        <p:spPr>
          <a:xfrm>
            <a:off x="534960" y="402840"/>
            <a:ext cx="9633240" cy="93348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5" name="PlaceHolder 2"/>
          <p:cNvSpPr>
            <a:spLocks noGrp="1"/>
          </p:cNvSpPr>
          <p:nvPr>
            <p:ph type="body"/>
          </p:nvPr>
        </p:nvSpPr>
        <p:spPr>
          <a:xfrm>
            <a:off x="534960" y="1488240"/>
            <a:ext cx="9633240" cy="3242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335">
    <p:spTree>
      <p:nvGrpSpPr>
        <p:cNvPr id="1" name=""/>
        <p:cNvGrpSpPr/>
        <p:nvPr/>
      </p:nvGrpSpPr>
      <p:grpSpPr>
        <a:xfrm>
          <a:off x="0" y="0"/>
          <a:ext cx="0" cy="0"/>
          <a:chOff x="0" y="0"/>
          <a:chExt cx="0" cy="0"/>
        </a:xfrm>
      </p:grpSpPr>
      <p:sp>
        <p:nvSpPr>
          <p:cNvPr id="6" name="PlaceHolder 1"/>
          <p:cNvSpPr>
            <a:spLocks noGrp="1"/>
          </p:cNvSpPr>
          <p:nvPr>
            <p:ph type="title"/>
          </p:nvPr>
        </p:nvSpPr>
        <p:spPr>
          <a:xfrm>
            <a:off x="534960" y="402840"/>
            <a:ext cx="9633240" cy="93348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7" name="PlaceHolder 2"/>
          <p:cNvSpPr>
            <a:spLocks noGrp="1"/>
          </p:cNvSpPr>
          <p:nvPr>
            <p:ph type="body"/>
          </p:nvPr>
        </p:nvSpPr>
        <p:spPr>
          <a:xfrm>
            <a:off x="534960" y="1488240"/>
            <a:ext cx="9633240" cy="3242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65">
    <p:spTree>
      <p:nvGrpSpPr>
        <p:cNvPr id="1" name=""/>
        <p:cNvGrpSpPr/>
        <p:nvPr/>
      </p:nvGrpSpPr>
      <p:grpSpPr>
        <a:xfrm>
          <a:off x="0" y="0"/>
          <a:ext cx="0" cy="0"/>
          <a:chOff x="0" y="0"/>
          <a:chExt cx="0" cy="0"/>
        </a:xfrm>
      </p:grpSpPr>
      <p:sp>
        <p:nvSpPr>
          <p:cNvPr id="8" name="PlaceHolder 1"/>
          <p:cNvSpPr>
            <a:spLocks noGrp="1"/>
          </p:cNvSpPr>
          <p:nvPr>
            <p:ph type="title"/>
          </p:nvPr>
        </p:nvSpPr>
        <p:spPr>
          <a:xfrm>
            <a:off x="534960" y="402840"/>
            <a:ext cx="9633240" cy="93348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9" name="PlaceHolder 2"/>
          <p:cNvSpPr>
            <a:spLocks noGrp="1"/>
          </p:cNvSpPr>
          <p:nvPr>
            <p:ph type="body"/>
          </p:nvPr>
        </p:nvSpPr>
        <p:spPr>
          <a:xfrm>
            <a:off x="534960" y="1488240"/>
            <a:ext cx="9633240" cy="3242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page3">
    <p:spTree>
      <p:nvGrpSpPr>
        <p:cNvPr id="1" name=""/>
        <p:cNvGrpSpPr/>
        <p:nvPr/>
      </p:nvGrpSpPr>
      <p:grpSpPr>
        <a:xfrm>
          <a:off x="0" y="0"/>
          <a:ext cx="0" cy="0"/>
          <a:chOff x="0" y="0"/>
          <a:chExt cx="0" cy="0"/>
        </a:xfrm>
      </p:grpSpPr>
      <p:sp>
        <p:nvSpPr>
          <p:cNvPr id="10" name="PlaceHolder 1"/>
          <p:cNvSpPr>
            <a:spLocks noGrp="1"/>
          </p:cNvSpPr>
          <p:nvPr>
            <p:ph type="title"/>
          </p:nvPr>
        </p:nvSpPr>
        <p:spPr>
          <a:xfrm>
            <a:off x="534960" y="402840"/>
            <a:ext cx="9633240" cy="93348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1" name="PlaceHolder 2"/>
          <p:cNvSpPr>
            <a:spLocks noGrp="1"/>
          </p:cNvSpPr>
          <p:nvPr>
            <p:ph type="body"/>
          </p:nvPr>
        </p:nvSpPr>
        <p:spPr>
          <a:xfrm>
            <a:off x="534960" y="1488240"/>
            <a:ext cx="9633240" cy="3242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32">
    <p:spTree>
      <p:nvGrpSpPr>
        <p:cNvPr id="1" name=""/>
        <p:cNvGrpSpPr/>
        <p:nvPr/>
      </p:nvGrpSpPr>
      <p:grpSpPr>
        <a:xfrm>
          <a:off x="0" y="0"/>
          <a:ext cx="0" cy="0"/>
          <a:chOff x="0" y="0"/>
          <a:chExt cx="0" cy="0"/>
        </a:xfrm>
      </p:grpSpPr>
      <p:sp>
        <p:nvSpPr>
          <p:cNvPr id="12" name="PlaceHolder 1"/>
          <p:cNvSpPr>
            <a:spLocks noGrp="1"/>
          </p:cNvSpPr>
          <p:nvPr>
            <p:ph type="title"/>
          </p:nvPr>
        </p:nvSpPr>
        <p:spPr>
          <a:xfrm>
            <a:off x="534960" y="402840"/>
            <a:ext cx="9633240" cy="93348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3" name="PlaceHolder 2"/>
          <p:cNvSpPr>
            <a:spLocks noGrp="1"/>
          </p:cNvSpPr>
          <p:nvPr>
            <p:ph type="body"/>
          </p:nvPr>
        </p:nvSpPr>
        <p:spPr>
          <a:xfrm>
            <a:off x="534960" y="1488240"/>
            <a:ext cx="9633240" cy="3242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130">
    <p:spTree>
      <p:nvGrpSpPr>
        <p:cNvPr id="1" name=""/>
        <p:cNvGrpSpPr/>
        <p:nvPr/>
      </p:nvGrpSpPr>
      <p:grpSpPr>
        <a:xfrm>
          <a:off x="0" y="0"/>
          <a:ext cx="0" cy="0"/>
          <a:chOff x="0" y="0"/>
          <a:chExt cx="0" cy="0"/>
        </a:xfrm>
      </p:grpSpPr>
      <p:sp>
        <p:nvSpPr>
          <p:cNvPr id="14" name="PlaceHolder 1"/>
          <p:cNvSpPr>
            <a:spLocks noGrp="1"/>
          </p:cNvSpPr>
          <p:nvPr>
            <p:ph type="title"/>
          </p:nvPr>
        </p:nvSpPr>
        <p:spPr>
          <a:xfrm>
            <a:off x="534960" y="402840"/>
            <a:ext cx="9633240" cy="93348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5" name="PlaceHolder 2"/>
          <p:cNvSpPr>
            <a:spLocks noGrp="1"/>
          </p:cNvSpPr>
          <p:nvPr>
            <p:ph type="body"/>
          </p:nvPr>
        </p:nvSpPr>
        <p:spPr>
          <a:xfrm>
            <a:off x="534960" y="1488240"/>
            <a:ext cx="9633240" cy="3242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177">
    <p:spTree>
      <p:nvGrpSpPr>
        <p:cNvPr id="1" name=""/>
        <p:cNvGrpSpPr/>
        <p:nvPr/>
      </p:nvGrpSpPr>
      <p:grpSpPr>
        <a:xfrm>
          <a:off x="0" y="0"/>
          <a:ext cx="0" cy="0"/>
          <a:chOff x="0" y="0"/>
          <a:chExt cx="0" cy="0"/>
        </a:xfrm>
      </p:grpSpPr>
      <p:sp>
        <p:nvSpPr>
          <p:cNvPr id="16" name="PlaceHolder 1"/>
          <p:cNvSpPr>
            <a:spLocks noGrp="1"/>
          </p:cNvSpPr>
          <p:nvPr>
            <p:ph type="title"/>
          </p:nvPr>
        </p:nvSpPr>
        <p:spPr>
          <a:xfrm>
            <a:off x="534960" y="402840"/>
            <a:ext cx="9633240" cy="93348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7" name="PlaceHolder 2"/>
          <p:cNvSpPr>
            <a:spLocks noGrp="1"/>
          </p:cNvSpPr>
          <p:nvPr>
            <p:ph type="body"/>
          </p:nvPr>
        </p:nvSpPr>
        <p:spPr>
          <a:xfrm>
            <a:off x="534960" y="1488240"/>
            <a:ext cx="9633240" cy="3242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216">
    <p:spTree>
      <p:nvGrpSpPr>
        <p:cNvPr id="1" name=""/>
        <p:cNvGrpSpPr/>
        <p:nvPr/>
      </p:nvGrpSpPr>
      <p:grpSpPr>
        <a:xfrm>
          <a:off x="0" y="0"/>
          <a:ext cx="0" cy="0"/>
          <a:chOff x="0" y="0"/>
          <a:chExt cx="0" cy="0"/>
        </a:xfrm>
      </p:grpSpPr>
      <p:sp>
        <p:nvSpPr>
          <p:cNvPr id="18" name="PlaceHolder 1"/>
          <p:cNvSpPr>
            <a:spLocks noGrp="1"/>
          </p:cNvSpPr>
          <p:nvPr>
            <p:ph type="title"/>
          </p:nvPr>
        </p:nvSpPr>
        <p:spPr>
          <a:xfrm>
            <a:off x="534960" y="402840"/>
            <a:ext cx="9633240" cy="93348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9" name="PlaceHolder 2"/>
          <p:cNvSpPr>
            <a:spLocks noGrp="1"/>
          </p:cNvSpPr>
          <p:nvPr>
            <p:ph type="body"/>
          </p:nvPr>
        </p:nvSpPr>
        <p:spPr>
          <a:xfrm>
            <a:off x="534960" y="1488240"/>
            <a:ext cx="9633240" cy="3242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5.png"/><Relationship Id="rId16" Type="http://schemas.openxmlformats.org/officeDocument/2006/relationships/slideLayout" Target="../slideLayouts/slideLayout6.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18.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29.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18.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png"/><Relationship Id="rId11" Type="http://schemas.openxmlformats.org/officeDocument/2006/relationships/image" Target="../media/image39.png"/><Relationship Id="rId12" Type="http://schemas.openxmlformats.org/officeDocument/2006/relationships/image" Target="../media/image40.png"/><Relationship Id="rId13" Type="http://schemas.openxmlformats.org/officeDocument/2006/relationships/image" Target="../media/image41.png"/><Relationship Id="rId14" Type="http://schemas.openxmlformats.org/officeDocument/2006/relationships/image" Target="../media/image42.png"/><Relationship Id="rId15" Type="http://schemas.openxmlformats.org/officeDocument/2006/relationships/image" Target="../media/image43.png"/><Relationship Id="rId16" Type="http://schemas.openxmlformats.org/officeDocument/2006/relationships/image" Target="../media/image44.png"/><Relationship Id="rId17" Type="http://schemas.openxmlformats.org/officeDocument/2006/relationships/image" Target="../media/image45.png"/><Relationship Id="rId18" Type="http://schemas.openxmlformats.org/officeDocument/2006/relationships/image" Target="../media/image46.png"/><Relationship Id="rId19" Type="http://schemas.openxmlformats.org/officeDocument/2006/relationships/image" Target="../media/image47.png"/><Relationship Id="rId20" Type="http://schemas.openxmlformats.org/officeDocument/2006/relationships/image" Target="../media/image48.png"/><Relationship Id="rId21" Type="http://schemas.openxmlformats.org/officeDocument/2006/relationships/slideLayout" Target="../slideLayouts/slideLayout8.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image" Target="../media/image51.png"/><Relationship Id="rId8" Type="http://schemas.openxmlformats.org/officeDocument/2006/relationships/image" Target="../media/image52.png"/><Relationship Id="rId9" Type="http://schemas.openxmlformats.org/officeDocument/2006/relationships/image" Target="../media/image53.png"/><Relationship Id="rId10" Type="http://schemas.openxmlformats.org/officeDocument/2006/relationships/image" Target="../media/image53.png"/><Relationship Id="rId11" Type="http://schemas.openxmlformats.org/officeDocument/2006/relationships/image" Target="../media/image53.png"/><Relationship Id="rId12" Type="http://schemas.openxmlformats.org/officeDocument/2006/relationships/image" Target="../media/image53.png"/><Relationship Id="rId13" Type="http://schemas.openxmlformats.org/officeDocument/2006/relationships/image" Target="../media/image53.png"/><Relationship Id="rId14" Type="http://schemas.openxmlformats.org/officeDocument/2006/relationships/image" Target="../media/image54.png"/><Relationship Id="rId15" Type="http://schemas.openxmlformats.org/officeDocument/2006/relationships/image" Target="../media/image55.png"/><Relationship Id="rId16" Type="http://schemas.openxmlformats.org/officeDocument/2006/relationships/image" Target="../media/image55.png"/><Relationship Id="rId17" Type="http://schemas.openxmlformats.org/officeDocument/2006/relationships/image" Target="../media/image55.png"/><Relationship Id="rId18" Type="http://schemas.openxmlformats.org/officeDocument/2006/relationships/image" Target="../media/image55.png"/><Relationship Id="rId19" Type="http://schemas.openxmlformats.org/officeDocument/2006/relationships/image" Target="../media/image55.png"/><Relationship Id="rId20"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3.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60.png"/><Relationship Id="rId11" Type="http://schemas.openxmlformats.org/officeDocument/2006/relationships/image" Target="../media/image61.png"/><Relationship Id="rId12" Type="http://schemas.openxmlformats.org/officeDocument/2006/relationships/image" Target="../media/image62.png"/><Relationship Id="rId13" Type="http://schemas.openxmlformats.org/officeDocument/2006/relationships/image" Target="../media/image63.png"/><Relationship Id="rId14" Type="http://schemas.openxmlformats.org/officeDocument/2006/relationships/image" Target="../media/image64.png"/><Relationship Id="rId15" Type="http://schemas.openxmlformats.org/officeDocument/2006/relationships/image" Target="../media/image65.png"/><Relationship Id="rId16" Type="http://schemas.openxmlformats.org/officeDocument/2006/relationships/image" Target="../media/image66.png"/><Relationship Id="rId17" Type="http://schemas.openxmlformats.org/officeDocument/2006/relationships/image" Target="../media/image67.png"/><Relationship Id="rId18" Type="http://schemas.openxmlformats.org/officeDocument/2006/relationships/image" Target="../media/image68.png"/><Relationship Id="rId19" Type="http://schemas.openxmlformats.org/officeDocument/2006/relationships/image" Target="../media/image69.png"/><Relationship Id="rId20" Type="http://schemas.openxmlformats.org/officeDocument/2006/relationships/image" Target="../media/image69.png"/><Relationship Id="rId21" Type="http://schemas.openxmlformats.org/officeDocument/2006/relationships/image" Target="../media/image69.png"/><Relationship Id="rId22"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18.png"/><Relationship Id="rId5" Type="http://schemas.openxmlformats.org/officeDocument/2006/relationships/image" Target="../media/image72.png"/><Relationship Id="rId6" Type="http://schemas.openxmlformats.org/officeDocument/2006/relationships/image" Target="../media/image73.png"/><Relationship Id="rId7" Type="http://schemas.openxmlformats.org/officeDocument/2006/relationships/image" Target="../media/image74.png"/><Relationship Id="rId8" Type="http://schemas.openxmlformats.org/officeDocument/2006/relationships/image" Target="../media/image75.png"/><Relationship Id="rId9" Type="http://schemas.openxmlformats.org/officeDocument/2006/relationships/image" Target="../media/image76.png"/><Relationship Id="rId10" Type="http://schemas.openxmlformats.org/officeDocument/2006/relationships/image" Target="../media/image77.png"/><Relationship Id="rId11" Type="http://schemas.openxmlformats.org/officeDocument/2006/relationships/image" Target="../media/image78.png"/><Relationship Id="rId12" Type="http://schemas.openxmlformats.org/officeDocument/2006/relationships/image" Target="../media/image79.png"/><Relationship Id="rId13" Type="http://schemas.openxmlformats.org/officeDocument/2006/relationships/image" Target="../media/image80.png"/><Relationship Id="rId14" Type="http://schemas.openxmlformats.org/officeDocument/2006/relationships/image" Target="../media/image81.png"/><Relationship Id="rId15"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56.pn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image" Target="../media/image29.png"/><Relationship Id="rId9" Type="http://schemas.openxmlformats.org/officeDocument/2006/relationships/image" Target="../media/image29.png"/><Relationship Id="rId10" Type="http://schemas.openxmlformats.org/officeDocument/2006/relationships/image" Target="../media/image29.png"/><Relationship Id="rId11" Type="http://schemas.openxmlformats.org/officeDocument/2006/relationships/image" Target="../media/image29.png"/><Relationship Id="rId12" Type="http://schemas.openxmlformats.org/officeDocument/2006/relationships/image" Target="../media/image84.png"/><Relationship Id="rId13" Type="http://schemas.openxmlformats.org/officeDocument/2006/relationships/image" Target="../media/image85.png"/><Relationship Id="rId14"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86.png"/><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image" Target="../media/image89.png"/><Relationship Id="rId6" Type="http://schemas.openxmlformats.org/officeDocument/2006/relationships/image" Target="../media/image90.png"/><Relationship Id="rId7" Type="http://schemas.openxmlformats.org/officeDocument/2006/relationships/image" Target="../media/image91.png"/><Relationship Id="rId8" Type="http://schemas.openxmlformats.org/officeDocument/2006/relationships/image" Target="../media/image92.png"/><Relationship Id="rId9" Type="http://schemas.openxmlformats.org/officeDocument/2006/relationships/image" Target="../media/image93.png"/><Relationship Id="rId10" Type="http://schemas.openxmlformats.org/officeDocument/2006/relationships/image" Target="../media/image94.png"/><Relationship Id="rId11" Type="http://schemas.openxmlformats.org/officeDocument/2006/relationships/image" Target="../media/image95.png"/><Relationship Id="rId12"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96.png"/><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101.png"/><Relationship Id="rId8" Type="http://schemas.openxmlformats.org/officeDocument/2006/relationships/image" Target="../media/image102.png"/><Relationship Id="rId9" Type="http://schemas.openxmlformats.org/officeDocument/2006/relationships/image" Target="../media/image103.png"/><Relationship Id="rId10" Type="http://schemas.openxmlformats.org/officeDocument/2006/relationships/image" Target="../media/image104.png"/><Relationship Id="rId1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4.png"/><Relationship Id="rId3" Type="http://schemas.openxmlformats.org/officeDocument/2006/relationships/image" Target="../media/image105.png"/><Relationship Id="rId4" Type="http://schemas.openxmlformats.org/officeDocument/2006/relationships/image" Target="../media/image88.png"/><Relationship Id="rId5" Type="http://schemas.openxmlformats.org/officeDocument/2006/relationships/image" Target="../media/image106.png"/><Relationship Id="rId6" Type="http://schemas.openxmlformats.org/officeDocument/2006/relationships/image" Target="../media/image107.png"/><Relationship Id="rId7" Type="http://schemas.openxmlformats.org/officeDocument/2006/relationships/image" Target="../media/image108.png"/><Relationship Id="rId8" Type="http://schemas.openxmlformats.org/officeDocument/2006/relationships/image" Target="../media/image108.png"/><Relationship Id="rId9" Type="http://schemas.openxmlformats.org/officeDocument/2006/relationships/image" Target="../media/image108.png"/><Relationship Id="rId10" Type="http://schemas.openxmlformats.org/officeDocument/2006/relationships/image" Target="../media/image108.png"/><Relationship Id="rId11" Type="http://schemas.openxmlformats.org/officeDocument/2006/relationships/image" Target="../media/image109.png"/><Relationship Id="rId12" Type="http://schemas.openxmlformats.org/officeDocument/2006/relationships/image" Target="../media/image110.png"/><Relationship Id="rId13" Type="http://schemas.openxmlformats.org/officeDocument/2006/relationships/image" Target="../media/image110.png"/><Relationship Id="rId14" Type="http://schemas.openxmlformats.org/officeDocument/2006/relationships/image" Target="../media/image111.png"/><Relationship Id="rId15" Type="http://schemas.openxmlformats.org/officeDocument/2006/relationships/image" Target="../media/image112.png"/><Relationship Id="rId16" Type="http://schemas.openxmlformats.org/officeDocument/2006/relationships/image" Target="../media/image112.png"/><Relationship Id="rId17" Type="http://schemas.openxmlformats.org/officeDocument/2006/relationships/image" Target="../media/image112.png"/><Relationship Id="rId18" Type="http://schemas.openxmlformats.org/officeDocument/2006/relationships/image" Target="../media/image113.png"/><Relationship Id="rId19" Type="http://schemas.openxmlformats.org/officeDocument/2006/relationships/image" Target="../media/image114.png"/><Relationship Id="rId20" Type="http://schemas.openxmlformats.org/officeDocument/2006/relationships/image" Target="../media/image114.png"/><Relationship Id="rId21" Type="http://schemas.openxmlformats.org/officeDocument/2006/relationships/image" Target="../media/image114.png"/><Relationship Id="rId22" Type="http://schemas.openxmlformats.org/officeDocument/2006/relationships/image" Target="../media/image115.png"/><Relationship Id="rId23" Type="http://schemas.openxmlformats.org/officeDocument/2006/relationships/image" Target="../media/image108.png"/><Relationship Id="rId24" Type="http://schemas.openxmlformats.org/officeDocument/2006/relationships/image" Target="../media/image108.png"/><Relationship Id="rId25" Type="http://schemas.openxmlformats.org/officeDocument/2006/relationships/image" Target="../media/image116.png"/><Relationship Id="rId26" Type="http://schemas.openxmlformats.org/officeDocument/2006/relationships/image" Target="../media/image117.png"/><Relationship Id="rId27" Type="http://schemas.openxmlformats.org/officeDocument/2006/relationships/image" Target="../media/image118.png"/><Relationship Id="rId28"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88.png"/><Relationship Id="rId5" Type="http://schemas.openxmlformats.org/officeDocument/2006/relationships/image" Target="../media/image56.png"/><Relationship Id="rId6" Type="http://schemas.openxmlformats.org/officeDocument/2006/relationships/image" Target="../media/image119.png"/><Relationship Id="rId7" Type="http://schemas.openxmlformats.org/officeDocument/2006/relationships/image" Target="../media/image120.png"/><Relationship Id="rId8" Type="http://schemas.openxmlformats.org/officeDocument/2006/relationships/image" Target="../media/image121.png"/><Relationship Id="rId9" Type="http://schemas.openxmlformats.org/officeDocument/2006/relationships/image" Target="../media/image122.png"/><Relationship Id="rId10" Type="http://schemas.openxmlformats.org/officeDocument/2006/relationships/image" Target="../media/image123.png"/><Relationship Id="rId11" Type="http://schemas.openxmlformats.org/officeDocument/2006/relationships/image" Target="../media/image124.png"/><Relationship Id="rId12" Type="http://schemas.openxmlformats.org/officeDocument/2006/relationships/image" Target="../media/image125.png"/><Relationship Id="rId13" Type="http://schemas.openxmlformats.org/officeDocument/2006/relationships/image" Target="../media/image126.png"/><Relationship Id="rId14" Type="http://schemas.openxmlformats.org/officeDocument/2006/relationships/image" Target="../media/image127.png"/><Relationship Id="rId15" Type="http://schemas.openxmlformats.org/officeDocument/2006/relationships/image" Target="../media/image128.png"/><Relationship Id="rId16" Type="http://schemas.openxmlformats.org/officeDocument/2006/relationships/slideLayout" Target="../slideLayouts/slideLayout10.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29.png"/><Relationship Id="rId3" Type="http://schemas.openxmlformats.org/officeDocument/2006/relationships/image" Target="../media/image130.png"/><Relationship Id="rId4" Type="http://schemas.openxmlformats.org/officeDocument/2006/relationships/image" Target="../media/image88.png"/><Relationship Id="rId5" Type="http://schemas.openxmlformats.org/officeDocument/2006/relationships/image" Target="../media/image131.png"/><Relationship Id="rId6" Type="http://schemas.openxmlformats.org/officeDocument/2006/relationships/image" Target="../media/image132.png"/><Relationship Id="rId7" Type="http://schemas.openxmlformats.org/officeDocument/2006/relationships/image" Target="../media/image133.png"/><Relationship Id="rId8" Type="http://schemas.openxmlformats.org/officeDocument/2006/relationships/image" Target="../media/image134.png"/><Relationship Id="rId9" Type="http://schemas.openxmlformats.org/officeDocument/2006/relationships/image" Target="../media/image101.png"/><Relationship Id="rId10" Type="http://schemas.openxmlformats.org/officeDocument/2006/relationships/image" Target="../media/image135.png"/><Relationship Id="rId11" Type="http://schemas.openxmlformats.org/officeDocument/2006/relationships/image" Target="../media/image136.png"/><Relationship Id="rId12" Type="http://schemas.openxmlformats.org/officeDocument/2006/relationships/image" Target="../media/image137.png"/><Relationship Id="rId13" Type="http://schemas.openxmlformats.org/officeDocument/2006/relationships/image" Target="../media/image138.png"/><Relationship Id="rId14"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image" Target="../media/image139.png"/><Relationship Id="rId2" Type="http://schemas.openxmlformats.org/officeDocument/2006/relationships/image" Target="../media/image140.png"/><Relationship Id="rId3" Type="http://schemas.openxmlformats.org/officeDocument/2006/relationships/image" Target="../media/image141.png"/><Relationship Id="rId4" Type="http://schemas.openxmlformats.org/officeDocument/2006/relationships/image" Target="../media/image99.png"/><Relationship Id="rId5" Type="http://schemas.openxmlformats.org/officeDocument/2006/relationships/image" Target="../media/image131.png"/><Relationship Id="rId6" Type="http://schemas.openxmlformats.org/officeDocument/2006/relationships/image" Target="../media/image142.png"/><Relationship Id="rId7" Type="http://schemas.openxmlformats.org/officeDocument/2006/relationships/image" Target="../media/image143.png"/><Relationship Id="rId8" Type="http://schemas.openxmlformats.org/officeDocument/2006/relationships/image" Target="../media/image144.png"/><Relationship Id="rId9" Type="http://schemas.openxmlformats.org/officeDocument/2006/relationships/image" Target="../media/image145.png"/><Relationship Id="rId10" Type="http://schemas.openxmlformats.org/officeDocument/2006/relationships/image" Target="../media/image146.png"/><Relationship Id="rId11" Type="http://schemas.openxmlformats.org/officeDocument/2006/relationships/image" Target="../media/image147.png"/><Relationship Id="rId12" Type="http://schemas.openxmlformats.org/officeDocument/2006/relationships/image" Target="../media/image148.png"/><Relationship Id="rId13"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49.png"/><Relationship Id="rId3" Type="http://schemas.openxmlformats.org/officeDocument/2006/relationships/image" Target="../media/image150.png"/><Relationship Id="rId4" Type="http://schemas.openxmlformats.org/officeDocument/2006/relationships/image" Target="../media/image99.png"/><Relationship Id="rId5" Type="http://schemas.openxmlformats.org/officeDocument/2006/relationships/image" Target="../media/image151.png"/><Relationship Id="rId6" Type="http://schemas.openxmlformats.org/officeDocument/2006/relationships/image" Target="../media/image152.png"/><Relationship Id="rId7" Type="http://schemas.openxmlformats.org/officeDocument/2006/relationships/image" Target="../media/image153.png"/><Relationship Id="rId8" Type="http://schemas.openxmlformats.org/officeDocument/2006/relationships/image" Target="../media/image153.png"/><Relationship Id="rId9" Type="http://schemas.openxmlformats.org/officeDocument/2006/relationships/image" Target="../media/image153.png"/><Relationship Id="rId10" Type="http://schemas.openxmlformats.org/officeDocument/2006/relationships/image" Target="../media/image153.png"/><Relationship Id="rId11" Type="http://schemas.openxmlformats.org/officeDocument/2006/relationships/image" Target="../media/image154.png"/><Relationship Id="rId12" Type="http://schemas.openxmlformats.org/officeDocument/2006/relationships/image" Target="../media/image155.png"/><Relationship Id="rId13"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99.png"/><Relationship Id="rId5" Type="http://schemas.openxmlformats.org/officeDocument/2006/relationships/image" Target="../media/image156.png"/><Relationship Id="rId6" Type="http://schemas.openxmlformats.org/officeDocument/2006/relationships/image" Target="../media/image157.png"/><Relationship Id="rId7" Type="http://schemas.openxmlformats.org/officeDocument/2006/relationships/image" Target="../media/image158.png"/><Relationship Id="rId8" Type="http://schemas.openxmlformats.org/officeDocument/2006/relationships/image" Target="../media/image159.png"/><Relationship Id="rId9" Type="http://schemas.openxmlformats.org/officeDocument/2006/relationships/image" Target="../media/image160.png"/><Relationship Id="rId10" Type="http://schemas.openxmlformats.org/officeDocument/2006/relationships/image" Target="../media/image161.png"/><Relationship Id="rId11" Type="http://schemas.openxmlformats.org/officeDocument/2006/relationships/image" Target="../media/image162.png"/><Relationship Id="rId12"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 name="" descr=""/>
          <p:cNvPicPr/>
          <p:nvPr/>
        </p:nvPicPr>
        <p:blipFill>
          <a:blip r:embed="rId1"/>
          <a:stretch/>
        </p:blipFill>
        <p:spPr>
          <a:xfrm>
            <a:off x="209520" y="0"/>
            <a:ext cx="8692560" cy="4889520"/>
          </a:xfrm>
          <a:prstGeom prst="rect">
            <a:avLst/>
          </a:prstGeom>
          <a:noFill/>
          <a:ln w="0">
            <a:noFill/>
          </a:ln>
        </p:spPr>
      </p:pic>
      <p:pic>
        <p:nvPicPr>
          <p:cNvPr id="21" name="" descr=""/>
          <p:cNvPicPr/>
          <p:nvPr/>
        </p:nvPicPr>
        <p:blipFill>
          <a:blip r:embed="rId2"/>
          <a:stretch/>
        </p:blipFill>
        <p:spPr>
          <a:xfrm>
            <a:off x="4087440" y="1650240"/>
            <a:ext cx="277920" cy="244080"/>
          </a:xfrm>
          <a:prstGeom prst="rect">
            <a:avLst/>
          </a:prstGeom>
          <a:noFill/>
          <a:ln w="0">
            <a:noFill/>
          </a:ln>
        </p:spPr>
      </p:pic>
      <p:pic>
        <p:nvPicPr>
          <p:cNvPr id="22" name="" descr=""/>
          <p:cNvPicPr/>
          <p:nvPr/>
        </p:nvPicPr>
        <p:blipFill>
          <a:blip r:embed="rId3"/>
          <a:stretch/>
        </p:blipFill>
        <p:spPr>
          <a:xfrm>
            <a:off x="4528800" y="1650240"/>
            <a:ext cx="182880" cy="244080"/>
          </a:xfrm>
          <a:prstGeom prst="rect">
            <a:avLst/>
          </a:prstGeom>
          <a:noFill/>
          <a:ln w="0">
            <a:noFill/>
          </a:ln>
        </p:spPr>
      </p:pic>
      <p:pic>
        <p:nvPicPr>
          <p:cNvPr id="23" name="" descr=""/>
          <p:cNvPicPr/>
          <p:nvPr/>
        </p:nvPicPr>
        <p:blipFill>
          <a:blip r:embed="rId4"/>
          <a:stretch/>
        </p:blipFill>
        <p:spPr>
          <a:xfrm>
            <a:off x="4875120" y="1650240"/>
            <a:ext cx="149040" cy="244080"/>
          </a:xfrm>
          <a:prstGeom prst="rect">
            <a:avLst/>
          </a:prstGeom>
          <a:noFill/>
          <a:ln w="0">
            <a:noFill/>
          </a:ln>
        </p:spPr>
      </p:pic>
      <p:pic>
        <p:nvPicPr>
          <p:cNvPr id="24" name="" descr=""/>
          <p:cNvPicPr/>
          <p:nvPr/>
        </p:nvPicPr>
        <p:blipFill>
          <a:blip r:embed="rId5"/>
          <a:stretch/>
        </p:blipFill>
        <p:spPr>
          <a:xfrm>
            <a:off x="7204680" y="-679320"/>
            <a:ext cx="2037240" cy="2037240"/>
          </a:xfrm>
          <a:prstGeom prst="rect">
            <a:avLst/>
          </a:prstGeom>
          <a:noFill/>
          <a:ln w="0">
            <a:noFill/>
          </a:ln>
        </p:spPr>
      </p:pic>
      <p:pic>
        <p:nvPicPr>
          <p:cNvPr id="25" name="" descr=""/>
          <p:cNvPicPr/>
          <p:nvPr/>
        </p:nvPicPr>
        <p:blipFill>
          <a:blip r:embed="rId6"/>
          <a:stretch/>
        </p:blipFill>
        <p:spPr>
          <a:xfrm>
            <a:off x="888840" y="3327840"/>
            <a:ext cx="1222200" cy="1222200"/>
          </a:xfrm>
          <a:prstGeom prst="rect">
            <a:avLst/>
          </a:prstGeom>
          <a:noFill/>
          <a:ln w="0">
            <a:noFill/>
          </a:ln>
        </p:spPr>
      </p:pic>
      <p:pic>
        <p:nvPicPr>
          <p:cNvPr id="26" name="" descr=""/>
          <p:cNvPicPr/>
          <p:nvPr/>
        </p:nvPicPr>
        <p:blipFill>
          <a:blip r:embed="rId7"/>
          <a:stretch/>
        </p:blipFill>
        <p:spPr>
          <a:xfrm>
            <a:off x="6865200" y="3259800"/>
            <a:ext cx="814680" cy="814680"/>
          </a:xfrm>
          <a:prstGeom prst="rect">
            <a:avLst/>
          </a:prstGeom>
          <a:noFill/>
          <a:ln w="0">
            <a:noFill/>
          </a:ln>
        </p:spPr>
      </p:pic>
      <p:pic>
        <p:nvPicPr>
          <p:cNvPr id="27" name="" descr=""/>
          <p:cNvPicPr/>
          <p:nvPr/>
        </p:nvPicPr>
        <p:blipFill>
          <a:blip r:embed="rId8"/>
          <a:stretch/>
        </p:blipFill>
        <p:spPr>
          <a:xfrm>
            <a:off x="3564360" y="4563720"/>
            <a:ext cx="203400" cy="162720"/>
          </a:xfrm>
          <a:prstGeom prst="rect">
            <a:avLst/>
          </a:prstGeom>
          <a:noFill/>
          <a:ln w="0">
            <a:noFill/>
          </a:ln>
        </p:spPr>
      </p:pic>
      <p:pic>
        <p:nvPicPr>
          <p:cNvPr id="28" name="" descr=""/>
          <p:cNvPicPr/>
          <p:nvPr/>
        </p:nvPicPr>
        <p:blipFill>
          <a:blip r:embed="rId9"/>
          <a:stretch/>
        </p:blipFill>
        <p:spPr>
          <a:xfrm>
            <a:off x="4039920" y="4563720"/>
            <a:ext cx="142200" cy="162720"/>
          </a:xfrm>
          <a:prstGeom prst="rect">
            <a:avLst/>
          </a:prstGeom>
          <a:noFill/>
          <a:ln w="0">
            <a:noFill/>
          </a:ln>
        </p:spPr>
      </p:pic>
      <p:pic>
        <p:nvPicPr>
          <p:cNvPr id="29" name="" descr=""/>
          <p:cNvPicPr/>
          <p:nvPr/>
        </p:nvPicPr>
        <p:blipFill>
          <a:blip r:embed="rId10"/>
          <a:stretch/>
        </p:blipFill>
        <p:spPr>
          <a:xfrm>
            <a:off x="4454280" y="4563720"/>
            <a:ext cx="162720" cy="162720"/>
          </a:xfrm>
          <a:prstGeom prst="rect">
            <a:avLst/>
          </a:prstGeom>
          <a:noFill/>
          <a:ln w="0">
            <a:noFill/>
          </a:ln>
        </p:spPr>
      </p:pic>
      <p:pic>
        <p:nvPicPr>
          <p:cNvPr id="30" name="" descr=""/>
          <p:cNvPicPr/>
          <p:nvPr/>
        </p:nvPicPr>
        <p:blipFill>
          <a:blip r:embed="rId11"/>
          <a:stretch/>
        </p:blipFill>
        <p:spPr>
          <a:xfrm>
            <a:off x="4888800" y="4563720"/>
            <a:ext cx="182880" cy="162720"/>
          </a:xfrm>
          <a:prstGeom prst="rect">
            <a:avLst/>
          </a:prstGeom>
          <a:noFill/>
          <a:ln w="0">
            <a:noFill/>
          </a:ln>
        </p:spPr>
      </p:pic>
      <p:pic>
        <p:nvPicPr>
          <p:cNvPr id="31" name="" descr=""/>
          <p:cNvPicPr/>
          <p:nvPr/>
        </p:nvPicPr>
        <p:blipFill>
          <a:blip r:embed="rId12"/>
          <a:stretch/>
        </p:blipFill>
        <p:spPr>
          <a:xfrm>
            <a:off x="5343840" y="4563720"/>
            <a:ext cx="203400" cy="162720"/>
          </a:xfrm>
          <a:prstGeom prst="rect">
            <a:avLst/>
          </a:prstGeom>
          <a:noFill/>
          <a:ln w="0">
            <a:noFill/>
          </a:ln>
        </p:spPr>
      </p:pic>
      <p:pic>
        <p:nvPicPr>
          <p:cNvPr id="32" name="" descr=""/>
          <p:cNvPicPr/>
          <p:nvPr/>
        </p:nvPicPr>
        <p:blipFill>
          <a:blip r:embed="rId13"/>
          <a:stretch/>
        </p:blipFill>
        <p:spPr>
          <a:xfrm>
            <a:off x="372600" y="163080"/>
            <a:ext cx="203400" cy="203400"/>
          </a:xfrm>
          <a:prstGeom prst="rect">
            <a:avLst/>
          </a:prstGeom>
          <a:noFill/>
          <a:ln w="0">
            <a:noFill/>
          </a:ln>
        </p:spPr>
      </p:pic>
      <p:pic>
        <p:nvPicPr>
          <p:cNvPr id="33" name="" descr=""/>
          <p:cNvPicPr/>
          <p:nvPr/>
        </p:nvPicPr>
        <p:blipFill>
          <a:blip r:embed="rId14"/>
          <a:stretch/>
        </p:blipFill>
        <p:spPr>
          <a:xfrm>
            <a:off x="8535960" y="163080"/>
            <a:ext cx="203400" cy="203400"/>
          </a:xfrm>
          <a:prstGeom prst="rect">
            <a:avLst/>
          </a:prstGeom>
          <a:noFill/>
          <a:ln w="0">
            <a:noFill/>
          </a:ln>
        </p:spPr>
      </p:pic>
      <p:sp>
        <p:nvSpPr>
          <p:cNvPr id="34" name=""/>
          <p:cNvSpPr txBox="1"/>
          <p:nvPr/>
        </p:nvSpPr>
        <p:spPr>
          <a:xfrm>
            <a:off x="2596680" y="2042640"/>
            <a:ext cx="3921840" cy="411840"/>
          </a:xfrm>
          <a:prstGeom prst="rect">
            <a:avLst/>
          </a:prstGeom>
          <a:noFill/>
          <a:ln w="0">
            <a:noFill/>
          </a:ln>
        </p:spPr>
        <p:txBody>
          <a:bodyPr wrap="none" lIns="0" rIns="0" tIns="0" bIns="0" anchor="t">
            <a:spAutoFit/>
          </a:bodyPr>
          <a:p>
            <a:r>
              <a:rPr b="0" lang="zh-CN" sz="2570" strike="noStrike" u="none">
                <a:solidFill>
                  <a:srgbClr val="1e40af"/>
                </a:solidFill>
                <a:effectLst/>
                <a:uFillTx/>
                <a:latin typeface="WenQuanYiZenHei"/>
                <a:ea typeface="WenQuanYiZenHei"/>
              </a:rPr>
              <a:t>整形内科循環器の保険点数</a:t>
            </a:r>
            <a:endParaRPr b="0" lang="en-US" sz="2570" strike="noStrike" u="none">
              <a:solidFill>
                <a:srgbClr val="000000"/>
              </a:solidFill>
              <a:effectLst/>
              <a:uFillTx/>
              <a:latin typeface="Times New Roman"/>
            </a:endParaRPr>
          </a:p>
        </p:txBody>
      </p:sp>
      <p:pic>
        <p:nvPicPr>
          <p:cNvPr id="35" name="" descr=""/>
          <p:cNvPicPr/>
          <p:nvPr/>
        </p:nvPicPr>
        <p:blipFill>
          <a:blip r:embed="rId15"/>
          <a:stretch/>
        </p:blipFill>
        <p:spPr>
          <a:xfrm>
            <a:off x="2545920" y="3001680"/>
            <a:ext cx="4020120" cy="26640"/>
          </a:xfrm>
          <a:prstGeom prst="rect">
            <a:avLst/>
          </a:prstGeom>
          <a:noFill/>
          <a:ln w="0">
            <a:noFill/>
          </a:ln>
        </p:spPr>
      </p:pic>
      <p:sp>
        <p:nvSpPr>
          <p:cNvPr id="36" name=""/>
          <p:cNvSpPr txBox="1"/>
          <p:nvPr/>
        </p:nvSpPr>
        <p:spPr>
          <a:xfrm>
            <a:off x="3632400" y="2534040"/>
            <a:ext cx="1848240" cy="257760"/>
          </a:xfrm>
          <a:prstGeom prst="rect">
            <a:avLst/>
          </a:prstGeom>
          <a:noFill/>
          <a:ln w="0">
            <a:noFill/>
          </a:ln>
        </p:spPr>
        <p:txBody>
          <a:bodyPr wrap="none" lIns="0" rIns="0" tIns="0" bIns="0" anchor="t">
            <a:spAutoFit/>
          </a:bodyPr>
          <a:p>
            <a:r>
              <a:rPr b="0" lang="zh-CN" sz="1600" strike="noStrike" u="none">
                <a:solidFill>
                  <a:srgbClr val="2563eb"/>
                </a:solidFill>
                <a:effectLst/>
                <a:uFillTx/>
                <a:latin typeface="WenQuanYiZenHei"/>
                <a:ea typeface="WenQuanYiZenHei"/>
              </a:rPr>
              <a:t>理解と効率的な運用</a:t>
            </a:r>
            <a:endParaRPr b="0" lang="en-US" sz="1600" strike="noStrike" u="none">
              <a:solidFill>
                <a:srgbClr val="000000"/>
              </a:solidFill>
              <a:effectLst/>
              <a:uFillTx/>
              <a:latin typeface="Times New Roman"/>
            </a:endParaRPr>
          </a:p>
        </p:txBody>
      </p:sp>
      <p:sp>
        <p:nvSpPr>
          <p:cNvPr id="37" name=""/>
          <p:cNvSpPr txBox="1"/>
          <p:nvPr/>
        </p:nvSpPr>
        <p:spPr>
          <a:xfrm>
            <a:off x="3787560" y="4032360"/>
            <a:ext cx="543240" cy="171000"/>
          </a:xfrm>
          <a:prstGeom prst="rect">
            <a:avLst/>
          </a:prstGeom>
          <a:noFill/>
          <a:ln w="0">
            <a:noFill/>
          </a:ln>
        </p:spPr>
        <p:txBody>
          <a:bodyPr wrap="none" lIns="0" rIns="0" tIns="0" bIns="0" anchor="t">
            <a:spAutoFit/>
          </a:bodyPr>
          <a:p>
            <a:r>
              <a:rPr b="0" lang="zh-CN" sz="1070" strike="noStrike" u="none">
                <a:solidFill>
                  <a:srgbClr val="374151"/>
                </a:solidFill>
                <a:effectLst/>
                <a:uFillTx/>
                <a:latin typeface="WenQuanYiZenHei"/>
                <a:ea typeface="WenQuanYiZenHei"/>
              </a:rPr>
              <a:t>東和病院</a:t>
            </a:r>
            <a:endParaRPr b="0" lang="en-US" sz="1070" strike="noStrike" u="none">
              <a:solidFill>
                <a:srgbClr val="000000"/>
              </a:solidFill>
              <a:effectLst/>
              <a:uFillTx/>
              <a:latin typeface="Times New Roman"/>
            </a:endParaRPr>
          </a:p>
        </p:txBody>
      </p:sp>
      <p:sp>
        <p:nvSpPr>
          <p:cNvPr id="38" name=""/>
          <p:cNvSpPr txBox="1"/>
          <p:nvPr/>
        </p:nvSpPr>
        <p:spPr>
          <a:xfrm>
            <a:off x="4330800" y="4037040"/>
            <a:ext cx="135360" cy="158760"/>
          </a:xfrm>
          <a:prstGeom prst="rect">
            <a:avLst/>
          </a:prstGeom>
          <a:noFill/>
          <a:ln w="0">
            <a:noFill/>
          </a:ln>
        </p:spPr>
        <p:txBody>
          <a:bodyPr wrap="none" lIns="0" rIns="0" tIns="0" bIns="0" anchor="t">
            <a:spAutoFit/>
          </a:bodyPr>
          <a:p>
            <a:r>
              <a:rPr b="0" lang="en-US" sz="1070" strike="noStrike" u="none">
                <a:solidFill>
                  <a:srgbClr val="374151"/>
                </a:solidFill>
                <a:effectLst/>
                <a:uFillTx/>
                <a:latin typeface="DejaVuSans"/>
                <a:ea typeface="DejaVuSans"/>
              </a:rPr>
              <a:t> </a:t>
            </a:r>
            <a:endParaRPr b="0" lang="en-US" sz="1070" strike="noStrike" u="none">
              <a:solidFill>
                <a:srgbClr val="000000"/>
              </a:solidFill>
              <a:effectLst/>
              <a:uFillTx/>
              <a:latin typeface="Times New Roman"/>
            </a:endParaRPr>
          </a:p>
        </p:txBody>
      </p:sp>
      <p:sp>
        <p:nvSpPr>
          <p:cNvPr id="39" name=""/>
          <p:cNvSpPr txBox="1"/>
          <p:nvPr/>
        </p:nvSpPr>
        <p:spPr>
          <a:xfrm>
            <a:off x="4374000" y="4032360"/>
            <a:ext cx="950040" cy="171000"/>
          </a:xfrm>
          <a:prstGeom prst="rect">
            <a:avLst/>
          </a:prstGeom>
          <a:noFill/>
          <a:ln w="0">
            <a:noFill/>
          </a:ln>
        </p:spPr>
        <p:txBody>
          <a:bodyPr wrap="none" lIns="0" rIns="0" tIns="0" bIns="0" anchor="t">
            <a:spAutoFit/>
          </a:bodyPr>
          <a:p>
            <a:r>
              <a:rPr b="0" lang="zh-CN" sz="1070" strike="noStrike" u="none">
                <a:solidFill>
                  <a:srgbClr val="374151"/>
                </a:solidFill>
                <a:effectLst/>
                <a:uFillTx/>
                <a:latin typeface="WenQuanYiZenHei"/>
                <a:ea typeface="WenQuanYiZenHei"/>
              </a:rPr>
              <a:t>保険点数勉強会</a:t>
            </a:r>
            <a:endParaRPr b="0" lang="en-US" sz="1070" strike="noStrike" u="none">
              <a:solidFill>
                <a:srgbClr val="000000"/>
              </a:solidFill>
              <a:effectLst/>
              <a:uFillTx/>
              <a:latin typeface="Times New Roman"/>
            </a:endParaRPr>
          </a:p>
        </p:txBody>
      </p:sp>
      <p:sp>
        <p:nvSpPr>
          <p:cNvPr id="40" name=""/>
          <p:cNvSpPr txBox="1"/>
          <p:nvPr/>
        </p:nvSpPr>
        <p:spPr>
          <a:xfrm>
            <a:off x="4139280" y="4287600"/>
            <a:ext cx="311040" cy="142200"/>
          </a:xfrm>
          <a:prstGeom prst="rect">
            <a:avLst/>
          </a:prstGeom>
          <a:noFill/>
          <a:ln w="0">
            <a:noFill/>
          </a:ln>
        </p:spPr>
        <p:txBody>
          <a:bodyPr wrap="none" lIns="0" rIns="0" tIns="0" bIns="0" anchor="t">
            <a:spAutoFit/>
          </a:bodyPr>
          <a:p>
            <a:r>
              <a:rPr b="0" lang="en-US" sz="960" strike="noStrike" u="none">
                <a:solidFill>
                  <a:srgbClr val="4b5563"/>
                </a:solidFill>
                <a:effectLst/>
                <a:uFillTx/>
                <a:latin typeface="DejaVuSans"/>
                <a:ea typeface="DejaVuSans"/>
              </a:rPr>
              <a:t>2025</a:t>
            </a:r>
            <a:endParaRPr b="0" lang="en-US" sz="960" strike="noStrike" u="none">
              <a:solidFill>
                <a:srgbClr val="000000"/>
              </a:solidFill>
              <a:effectLst/>
              <a:uFillTx/>
              <a:latin typeface="Times New Roman"/>
            </a:endParaRPr>
          </a:p>
        </p:txBody>
      </p:sp>
      <p:sp>
        <p:nvSpPr>
          <p:cNvPr id="41" name=""/>
          <p:cNvSpPr txBox="1"/>
          <p:nvPr/>
        </p:nvSpPr>
        <p:spPr>
          <a:xfrm>
            <a:off x="4450320" y="4283280"/>
            <a:ext cx="122760" cy="154440"/>
          </a:xfrm>
          <a:prstGeom prst="rect">
            <a:avLst/>
          </a:prstGeom>
          <a:noFill/>
          <a:ln w="0">
            <a:noFill/>
          </a:ln>
        </p:spPr>
        <p:txBody>
          <a:bodyPr wrap="none" lIns="0" rIns="0" tIns="0" bIns="0" anchor="t">
            <a:spAutoFit/>
          </a:bodyPr>
          <a:p>
            <a:r>
              <a:rPr b="0" lang="zh-CN" sz="960" strike="noStrike" u="none">
                <a:solidFill>
                  <a:srgbClr val="4b5563"/>
                </a:solidFill>
                <a:effectLst/>
                <a:uFillTx/>
                <a:latin typeface="WenQuanYiZenHei"/>
                <a:ea typeface="WenQuanYiZenHei"/>
              </a:rPr>
              <a:t>年</a:t>
            </a:r>
            <a:endParaRPr b="0" lang="en-US" sz="960" strike="noStrike" u="none">
              <a:solidFill>
                <a:srgbClr val="000000"/>
              </a:solidFill>
              <a:effectLst/>
              <a:uFillTx/>
              <a:latin typeface="Times New Roman"/>
            </a:endParaRPr>
          </a:p>
        </p:txBody>
      </p:sp>
      <p:sp>
        <p:nvSpPr>
          <p:cNvPr id="42" name=""/>
          <p:cNvSpPr txBox="1"/>
          <p:nvPr/>
        </p:nvSpPr>
        <p:spPr>
          <a:xfrm>
            <a:off x="4572720" y="4287600"/>
            <a:ext cx="122040" cy="142200"/>
          </a:xfrm>
          <a:prstGeom prst="rect">
            <a:avLst/>
          </a:prstGeom>
          <a:noFill/>
          <a:ln w="0">
            <a:noFill/>
          </a:ln>
        </p:spPr>
        <p:txBody>
          <a:bodyPr wrap="none" lIns="0" rIns="0" tIns="0" bIns="0" anchor="t">
            <a:spAutoFit/>
          </a:bodyPr>
          <a:p>
            <a:r>
              <a:rPr b="0" lang="en-US" sz="960" strike="noStrike" u="none">
                <a:solidFill>
                  <a:srgbClr val="4b5563"/>
                </a:solidFill>
                <a:effectLst/>
                <a:uFillTx/>
                <a:latin typeface="DejaVuSans"/>
                <a:ea typeface="DejaVuSans"/>
              </a:rPr>
              <a:t>6</a:t>
            </a:r>
            <a:endParaRPr b="0" lang="en-US" sz="960" strike="noStrike" u="none">
              <a:solidFill>
                <a:srgbClr val="000000"/>
              </a:solidFill>
              <a:effectLst/>
              <a:uFillTx/>
              <a:latin typeface="Times New Roman"/>
            </a:endParaRPr>
          </a:p>
        </p:txBody>
      </p:sp>
      <p:sp>
        <p:nvSpPr>
          <p:cNvPr id="43" name=""/>
          <p:cNvSpPr txBox="1"/>
          <p:nvPr/>
        </p:nvSpPr>
        <p:spPr>
          <a:xfrm>
            <a:off x="4650480" y="4283280"/>
            <a:ext cx="122760" cy="154440"/>
          </a:xfrm>
          <a:prstGeom prst="rect">
            <a:avLst/>
          </a:prstGeom>
          <a:noFill/>
          <a:ln w="0">
            <a:noFill/>
          </a:ln>
        </p:spPr>
        <p:txBody>
          <a:bodyPr wrap="none" lIns="0" rIns="0" tIns="0" bIns="0" anchor="t">
            <a:spAutoFit/>
          </a:bodyPr>
          <a:p>
            <a:r>
              <a:rPr b="0" lang="zh-CN" sz="960" strike="noStrike" u="none">
                <a:solidFill>
                  <a:srgbClr val="4b5563"/>
                </a:solidFill>
                <a:effectLst/>
                <a:uFillTx/>
                <a:latin typeface="WenQuanYiZenHei"/>
                <a:ea typeface="WenQuanYiZenHei"/>
              </a:rPr>
              <a:t>月</a:t>
            </a:r>
            <a:endParaRPr b="0" lang="en-US" sz="960" strike="noStrike" u="none">
              <a:solidFill>
                <a:srgbClr val="000000"/>
              </a:solidFill>
              <a:effectLst/>
              <a:uFillTx/>
              <a:latin typeface="Times New Roman"/>
            </a:endParaRPr>
          </a:p>
        </p:txBody>
      </p:sp>
      <p:sp>
        <p:nvSpPr>
          <p:cNvPr id="44" name=""/>
          <p:cNvSpPr txBox="1"/>
          <p:nvPr/>
        </p:nvSpPr>
        <p:spPr>
          <a:xfrm>
            <a:off x="4772880" y="4287600"/>
            <a:ext cx="122040" cy="142200"/>
          </a:xfrm>
          <a:prstGeom prst="rect">
            <a:avLst/>
          </a:prstGeom>
          <a:noFill/>
          <a:ln w="0">
            <a:noFill/>
          </a:ln>
        </p:spPr>
        <p:txBody>
          <a:bodyPr wrap="none" lIns="0" rIns="0" tIns="0" bIns="0" anchor="t">
            <a:spAutoFit/>
          </a:bodyPr>
          <a:p>
            <a:r>
              <a:rPr b="0" lang="en-US" sz="960" strike="noStrike" u="none">
                <a:solidFill>
                  <a:srgbClr val="4b5563"/>
                </a:solidFill>
                <a:effectLst/>
                <a:uFillTx/>
                <a:latin typeface="DejaVuSans"/>
                <a:ea typeface="DejaVuSans"/>
              </a:rPr>
              <a:t>7</a:t>
            </a:r>
            <a:endParaRPr b="0" lang="en-US" sz="960" strike="noStrike" u="none">
              <a:solidFill>
                <a:srgbClr val="000000"/>
              </a:solidFill>
              <a:effectLst/>
              <a:uFillTx/>
              <a:latin typeface="Times New Roman"/>
            </a:endParaRPr>
          </a:p>
        </p:txBody>
      </p:sp>
      <p:sp>
        <p:nvSpPr>
          <p:cNvPr id="45" name=""/>
          <p:cNvSpPr txBox="1"/>
          <p:nvPr/>
        </p:nvSpPr>
        <p:spPr>
          <a:xfrm>
            <a:off x="4850640" y="4283280"/>
            <a:ext cx="122760" cy="154440"/>
          </a:xfrm>
          <a:prstGeom prst="rect">
            <a:avLst/>
          </a:prstGeom>
          <a:noFill/>
          <a:ln w="0">
            <a:noFill/>
          </a:ln>
        </p:spPr>
        <p:txBody>
          <a:bodyPr wrap="none" lIns="0" rIns="0" tIns="0" bIns="0" anchor="t">
            <a:spAutoFit/>
          </a:bodyPr>
          <a:p>
            <a:r>
              <a:rPr b="0" lang="zh-CN" sz="960" strike="noStrike" u="none">
                <a:solidFill>
                  <a:srgbClr val="4b5563"/>
                </a:solidFill>
                <a:effectLst/>
                <a:uFillTx/>
                <a:latin typeface="WenQuanYiZenHei"/>
                <a:ea typeface="WenQuanYiZenHei"/>
              </a:rPr>
              <a:t>日</a:t>
            </a:r>
            <a:endParaRPr b="0" lang="en-US" sz="96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 name="" descr=""/>
          <p:cNvPicPr/>
          <p:nvPr/>
        </p:nvPicPr>
        <p:blipFill>
          <a:blip r:embed="rId1"/>
          <a:stretch/>
        </p:blipFill>
        <p:spPr>
          <a:xfrm>
            <a:off x="0" y="57240"/>
            <a:ext cx="8407440" cy="4728960"/>
          </a:xfrm>
          <a:prstGeom prst="rect">
            <a:avLst/>
          </a:prstGeom>
          <a:noFill/>
          <a:ln w="0">
            <a:noFill/>
          </a:ln>
        </p:spPr>
      </p:pic>
      <p:pic>
        <p:nvPicPr>
          <p:cNvPr id="47" name="" descr=""/>
          <p:cNvPicPr/>
          <p:nvPr/>
        </p:nvPicPr>
        <p:blipFill>
          <a:blip r:embed="rId2"/>
          <a:stretch/>
        </p:blipFill>
        <p:spPr>
          <a:xfrm>
            <a:off x="6108840" y="-928080"/>
            <a:ext cx="3283920" cy="3283920"/>
          </a:xfrm>
          <a:prstGeom prst="rect">
            <a:avLst/>
          </a:prstGeom>
          <a:noFill/>
          <a:ln w="0">
            <a:noFill/>
          </a:ln>
        </p:spPr>
      </p:pic>
      <p:pic>
        <p:nvPicPr>
          <p:cNvPr id="48" name="" descr=""/>
          <p:cNvPicPr/>
          <p:nvPr/>
        </p:nvPicPr>
        <p:blipFill>
          <a:blip r:embed="rId3"/>
          <a:stretch/>
        </p:blipFill>
        <p:spPr>
          <a:xfrm>
            <a:off x="-657000" y="3144240"/>
            <a:ext cx="2298600" cy="2298600"/>
          </a:xfrm>
          <a:prstGeom prst="rect">
            <a:avLst/>
          </a:prstGeom>
          <a:noFill/>
          <a:ln w="0">
            <a:noFill/>
          </a:ln>
        </p:spPr>
      </p:pic>
      <p:pic>
        <p:nvPicPr>
          <p:cNvPr id="49" name="" descr=""/>
          <p:cNvPicPr/>
          <p:nvPr/>
        </p:nvPicPr>
        <p:blipFill>
          <a:blip r:embed="rId4"/>
          <a:stretch/>
        </p:blipFill>
        <p:spPr>
          <a:xfrm>
            <a:off x="6634080" y="4569840"/>
            <a:ext cx="117720" cy="91440"/>
          </a:xfrm>
          <a:prstGeom prst="rect">
            <a:avLst/>
          </a:prstGeom>
          <a:noFill/>
          <a:ln w="0">
            <a:noFill/>
          </a:ln>
        </p:spPr>
      </p:pic>
      <p:sp>
        <p:nvSpPr>
          <p:cNvPr id="50" name=""/>
          <p:cNvSpPr txBox="1"/>
          <p:nvPr/>
        </p:nvSpPr>
        <p:spPr>
          <a:xfrm>
            <a:off x="6807960" y="4560120"/>
            <a:ext cx="366480" cy="116280"/>
          </a:xfrm>
          <a:prstGeom prst="rect">
            <a:avLst/>
          </a:prstGeom>
          <a:noFill/>
          <a:ln w="0">
            <a:noFill/>
          </a:ln>
        </p:spPr>
        <p:txBody>
          <a:bodyPr wrap="none" lIns="0" rIns="0" tIns="0" bIns="0" anchor="t">
            <a:spAutoFit/>
          </a:bodyPr>
          <a:p>
            <a:r>
              <a:rPr b="0" lang="zh-CN" sz="730" strike="noStrike" u="none">
                <a:solidFill>
                  <a:srgbClr val="6b7280"/>
                </a:solidFill>
                <a:effectLst/>
                <a:uFillTx/>
                <a:latin typeface="WenQuanYiZenHei"/>
                <a:ea typeface="WenQuanYiZenHei"/>
              </a:rPr>
              <a:t>東和病院</a:t>
            </a:r>
            <a:endParaRPr b="0" lang="en-US" sz="730" strike="noStrike" u="none">
              <a:solidFill>
                <a:srgbClr val="000000"/>
              </a:solidFill>
              <a:effectLst/>
              <a:uFillTx/>
              <a:latin typeface="Times New Roman"/>
            </a:endParaRPr>
          </a:p>
        </p:txBody>
      </p:sp>
      <p:sp>
        <p:nvSpPr>
          <p:cNvPr id="51" name=""/>
          <p:cNvSpPr txBox="1"/>
          <p:nvPr/>
        </p:nvSpPr>
        <p:spPr>
          <a:xfrm>
            <a:off x="7175880" y="4563360"/>
            <a:ext cx="91440" cy="106920"/>
          </a:xfrm>
          <a:prstGeom prst="rect">
            <a:avLst/>
          </a:prstGeom>
          <a:noFill/>
          <a:ln w="0">
            <a:noFill/>
          </a:ln>
        </p:spPr>
        <p:txBody>
          <a:bodyPr wrap="none" lIns="0" rIns="0" tIns="0" bIns="0" anchor="t">
            <a:spAutoFit/>
          </a:bodyPr>
          <a:p>
            <a:r>
              <a:rPr b="0" lang="en-US" sz="730" strike="noStrike" u="none">
                <a:solidFill>
                  <a:srgbClr val="6b7280"/>
                </a:solidFill>
                <a:effectLst/>
                <a:uFillTx/>
                <a:latin typeface="DejaVuSans"/>
                <a:ea typeface="DejaVuSans"/>
              </a:rPr>
              <a:t> </a:t>
            </a:r>
            <a:endParaRPr b="0" lang="en-US" sz="730" strike="noStrike" u="none">
              <a:solidFill>
                <a:srgbClr val="000000"/>
              </a:solidFill>
              <a:effectLst/>
              <a:uFillTx/>
              <a:latin typeface="Times New Roman"/>
            </a:endParaRPr>
          </a:p>
        </p:txBody>
      </p:sp>
      <p:sp>
        <p:nvSpPr>
          <p:cNvPr id="52" name=""/>
          <p:cNvSpPr txBox="1"/>
          <p:nvPr/>
        </p:nvSpPr>
        <p:spPr>
          <a:xfrm>
            <a:off x="7205040" y="4560120"/>
            <a:ext cx="640800" cy="116280"/>
          </a:xfrm>
          <a:prstGeom prst="rect">
            <a:avLst/>
          </a:prstGeom>
          <a:noFill/>
          <a:ln w="0">
            <a:noFill/>
          </a:ln>
        </p:spPr>
        <p:txBody>
          <a:bodyPr wrap="none" lIns="0" rIns="0" tIns="0" bIns="0" anchor="t">
            <a:spAutoFit/>
          </a:bodyPr>
          <a:p>
            <a:r>
              <a:rPr b="0" lang="zh-CN" sz="730" strike="noStrike" u="none">
                <a:solidFill>
                  <a:srgbClr val="6b7280"/>
                </a:solidFill>
                <a:effectLst/>
                <a:uFillTx/>
                <a:latin typeface="WenQuanYiZenHei"/>
                <a:ea typeface="WenQuanYiZenHei"/>
              </a:rPr>
              <a:t>保険点数勉強会</a:t>
            </a:r>
            <a:endParaRPr b="0" lang="en-US" sz="730" strike="noStrike" u="none">
              <a:solidFill>
                <a:srgbClr val="000000"/>
              </a:solidFill>
              <a:effectLst/>
              <a:uFillTx/>
              <a:latin typeface="Times New Roman"/>
            </a:endParaRPr>
          </a:p>
        </p:txBody>
      </p:sp>
      <p:sp>
        <p:nvSpPr>
          <p:cNvPr id="53" name=""/>
          <p:cNvSpPr txBox="1"/>
          <p:nvPr/>
        </p:nvSpPr>
        <p:spPr>
          <a:xfrm>
            <a:off x="7901640" y="4563360"/>
            <a:ext cx="91440" cy="106920"/>
          </a:xfrm>
          <a:prstGeom prst="rect">
            <a:avLst/>
          </a:prstGeom>
          <a:noFill/>
          <a:ln w="0">
            <a:noFill/>
          </a:ln>
        </p:spPr>
        <p:txBody>
          <a:bodyPr wrap="none" lIns="0" rIns="0" tIns="0" bIns="0" anchor="t">
            <a:spAutoFit/>
          </a:bodyPr>
          <a:p>
            <a:r>
              <a:rPr b="0" lang="en-US" sz="730" strike="noStrike" u="none">
                <a:solidFill>
                  <a:srgbClr val="6b7280"/>
                </a:solidFill>
                <a:effectLst/>
                <a:uFillTx/>
                <a:latin typeface="DejaVuSans"/>
                <a:ea typeface="DejaVuSans"/>
              </a:rPr>
              <a:t>|</a:t>
            </a:r>
            <a:endParaRPr b="0" lang="en-US" sz="730" strike="noStrike" u="none">
              <a:solidFill>
                <a:srgbClr val="000000"/>
              </a:solidFill>
              <a:effectLst/>
              <a:uFillTx/>
              <a:latin typeface="Times New Roman"/>
            </a:endParaRPr>
          </a:p>
        </p:txBody>
      </p:sp>
      <p:pic>
        <p:nvPicPr>
          <p:cNvPr id="54" name="" descr=""/>
          <p:cNvPicPr/>
          <p:nvPr/>
        </p:nvPicPr>
        <p:blipFill>
          <a:blip r:embed="rId5"/>
          <a:stretch/>
        </p:blipFill>
        <p:spPr>
          <a:xfrm>
            <a:off x="262800" y="635040"/>
            <a:ext cx="630360" cy="25920"/>
          </a:xfrm>
          <a:prstGeom prst="rect">
            <a:avLst/>
          </a:prstGeom>
          <a:noFill/>
          <a:ln w="0">
            <a:noFill/>
          </a:ln>
        </p:spPr>
      </p:pic>
      <p:sp>
        <p:nvSpPr>
          <p:cNvPr id="55" name=""/>
          <p:cNvSpPr txBox="1"/>
          <p:nvPr/>
        </p:nvSpPr>
        <p:spPr>
          <a:xfrm>
            <a:off x="7985160" y="4563360"/>
            <a:ext cx="264240" cy="106920"/>
          </a:xfrm>
          <a:prstGeom prst="rect">
            <a:avLst/>
          </a:prstGeom>
          <a:noFill/>
          <a:ln w="0">
            <a:noFill/>
          </a:ln>
        </p:spPr>
        <p:txBody>
          <a:bodyPr wrap="none" lIns="0" rIns="0" tIns="0" bIns="0" anchor="t">
            <a:spAutoFit/>
          </a:bodyPr>
          <a:p>
            <a:r>
              <a:rPr b="0" lang="en-US" sz="730" strike="noStrike" u="none">
                <a:solidFill>
                  <a:srgbClr val="6b7280"/>
                </a:solidFill>
                <a:effectLst/>
                <a:uFillTx/>
                <a:latin typeface="DejaVuSans"/>
                <a:ea typeface="DejaVuSans"/>
              </a:rPr>
              <a:t>2 / 15</a:t>
            </a:r>
            <a:endParaRPr b="0" lang="en-US" sz="730" strike="noStrike" u="none">
              <a:solidFill>
                <a:srgbClr val="000000"/>
              </a:solidFill>
              <a:effectLst/>
              <a:uFillTx/>
              <a:latin typeface="Times New Roman"/>
            </a:endParaRPr>
          </a:p>
        </p:txBody>
      </p:sp>
      <p:sp>
        <p:nvSpPr>
          <p:cNvPr id="56" name=""/>
          <p:cNvSpPr txBox="1"/>
          <p:nvPr/>
        </p:nvSpPr>
        <p:spPr>
          <a:xfrm>
            <a:off x="262800" y="302400"/>
            <a:ext cx="1423440" cy="297720"/>
          </a:xfrm>
          <a:prstGeom prst="rect">
            <a:avLst/>
          </a:prstGeom>
          <a:noFill/>
          <a:ln w="0">
            <a:noFill/>
          </a:ln>
        </p:spPr>
        <p:txBody>
          <a:bodyPr wrap="none" lIns="0" rIns="0" tIns="0" bIns="0" anchor="t">
            <a:spAutoFit/>
          </a:bodyPr>
          <a:p>
            <a:r>
              <a:rPr b="0" lang="zh-CN" sz="1860" strike="noStrike" u="none">
                <a:solidFill>
                  <a:srgbClr val="1e40af"/>
                </a:solidFill>
                <a:effectLst/>
                <a:uFillTx/>
                <a:latin typeface="WenQuanYiZenHei"/>
                <a:ea typeface="WenQuanYiZenHei"/>
              </a:rPr>
              <a:t>勉強会の目的</a:t>
            </a:r>
            <a:endParaRPr b="0" lang="en-US" sz="1860" strike="noStrike" u="none">
              <a:solidFill>
                <a:srgbClr val="000000"/>
              </a:solidFill>
              <a:effectLst/>
              <a:uFillTx/>
              <a:latin typeface="Times New Roman"/>
            </a:endParaRPr>
          </a:p>
        </p:txBody>
      </p:sp>
      <p:sp>
        <p:nvSpPr>
          <p:cNvPr id="57" name=""/>
          <p:cNvSpPr txBox="1"/>
          <p:nvPr/>
        </p:nvSpPr>
        <p:spPr>
          <a:xfrm>
            <a:off x="262800" y="836640"/>
            <a:ext cx="5800320" cy="148320"/>
          </a:xfrm>
          <a:prstGeom prst="rect">
            <a:avLst/>
          </a:prstGeom>
          <a:noFill/>
          <a:ln w="0">
            <a:noFill/>
          </a:ln>
        </p:spPr>
        <p:txBody>
          <a:bodyPr wrap="none" lIns="0" rIns="0" tIns="0" bIns="0" anchor="t">
            <a:spAutoFit/>
          </a:bodyPr>
          <a:p>
            <a:r>
              <a:rPr b="0" lang="zh-CN" sz="930" strike="noStrike" u="none">
                <a:solidFill>
                  <a:srgbClr val="374151"/>
                </a:solidFill>
                <a:effectLst/>
                <a:uFillTx/>
                <a:latin typeface="WenQuanYiZenHei"/>
                <a:ea typeface="WenQuanYiZenHei"/>
              </a:rPr>
              <a:t>保険点数の仕組みを理解し、日常業務における適切な算定を促進することで、病院収益向上と医療の質向上を</a:t>
            </a:r>
            <a:endParaRPr b="0" lang="en-US" sz="930" strike="noStrike" u="none">
              <a:solidFill>
                <a:srgbClr val="000000"/>
              </a:solidFill>
              <a:effectLst/>
              <a:uFillTx/>
              <a:latin typeface="Times New Roman"/>
            </a:endParaRPr>
          </a:p>
        </p:txBody>
      </p:sp>
      <p:sp>
        <p:nvSpPr>
          <p:cNvPr id="58" name=""/>
          <p:cNvSpPr/>
          <p:nvPr/>
        </p:nvSpPr>
        <p:spPr>
          <a:xfrm>
            <a:off x="279000" y="1396800"/>
            <a:ext cx="3859200" cy="683640"/>
          </a:xfrm>
          <a:custGeom>
            <a:avLst/>
            <a:gdLst/>
            <a:ahLst/>
            <a:rect l="0" t="0" r="r" b="b"/>
            <a:pathLst>
              <a:path w="10720" h="1899">
                <a:moveTo>
                  <a:pt x="0" y="1753"/>
                </a:moveTo>
                <a:lnTo>
                  <a:pt x="0" y="146"/>
                </a:lnTo>
                <a:cubicBezTo>
                  <a:pt x="0" y="127"/>
                  <a:pt x="2" y="108"/>
                  <a:pt x="8" y="90"/>
                </a:cubicBezTo>
                <a:cubicBezTo>
                  <a:pt x="13" y="73"/>
                  <a:pt x="20" y="57"/>
                  <a:pt x="29" y="43"/>
                </a:cubicBezTo>
                <a:cubicBezTo>
                  <a:pt x="39" y="29"/>
                  <a:pt x="50" y="19"/>
                  <a:pt x="62" y="12"/>
                </a:cubicBezTo>
                <a:cubicBezTo>
                  <a:pt x="74" y="4"/>
                  <a:pt x="87" y="0"/>
                  <a:pt x="100" y="0"/>
                </a:cubicBezTo>
                <a:lnTo>
                  <a:pt x="10574" y="0"/>
                </a:lnTo>
                <a:cubicBezTo>
                  <a:pt x="10584" y="0"/>
                  <a:pt x="10593" y="1"/>
                  <a:pt x="10603" y="3"/>
                </a:cubicBezTo>
                <a:cubicBezTo>
                  <a:pt x="10612" y="5"/>
                  <a:pt x="10621" y="8"/>
                  <a:pt x="10630" y="12"/>
                </a:cubicBezTo>
                <a:cubicBezTo>
                  <a:pt x="10639" y="15"/>
                  <a:pt x="10648" y="20"/>
                  <a:pt x="10655" y="25"/>
                </a:cubicBezTo>
                <a:cubicBezTo>
                  <a:pt x="10663" y="30"/>
                  <a:pt x="10671" y="36"/>
                  <a:pt x="10678" y="43"/>
                </a:cubicBezTo>
                <a:cubicBezTo>
                  <a:pt x="10684" y="50"/>
                  <a:pt x="10690" y="57"/>
                  <a:pt x="10696" y="65"/>
                </a:cubicBezTo>
                <a:cubicBezTo>
                  <a:pt x="10701" y="73"/>
                  <a:pt x="10706" y="82"/>
                  <a:pt x="10709" y="90"/>
                </a:cubicBezTo>
                <a:cubicBezTo>
                  <a:pt x="10713" y="99"/>
                  <a:pt x="10716" y="108"/>
                  <a:pt x="10718" y="118"/>
                </a:cubicBezTo>
                <a:cubicBezTo>
                  <a:pt x="10719" y="127"/>
                  <a:pt x="10720" y="137"/>
                  <a:pt x="10720" y="146"/>
                </a:cubicBezTo>
                <a:lnTo>
                  <a:pt x="10720" y="1753"/>
                </a:lnTo>
                <a:cubicBezTo>
                  <a:pt x="10720" y="1763"/>
                  <a:pt x="10719" y="1772"/>
                  <a:pt x="10718" y="1781"/>
                </a:cubicBezTo>
                <a:cubicBezTo>
                  <a:pt x="10716" y="1791"/>
                  <a:pt x="10713" y="1800"/>
                  <a:pt x="10709" y="1809"/>
                </a:cubicBezTo>
                <a:cubicBezTo>
                  <a:pt x="10706" y="1818"/>
                  <a:pt x="10701" y="1826"/>
                  <a:pt x="10696" y="1834"/>
                </a:cubicBezTo>
                <a:cubicBezTo>
                  <a:pt x="10690" y="1842"/>
                  <a:pt x="10684" y="1849"/>
                  <a:pt x="10678" y="1856"/>
                </a:cubicBezTo>
                <a:cubicBezTo>
                  <a:pt x="10671" y="1863"/>
                  <a:pt x="10663" y="1869"/>
                  <a:pt x="10655" y="1874"/>
                </a:cubicBezTo>
                <a:cubicBezTo>
                  <a:pt x="10648" y="1880"/>
                  <a:pt x="10639" y="1884"/>
                  <a:pt x="10630" y="1888"/>
                </a:cubicBezTo>
                <a:cubicBezTo>
                  <a:pt x="10621" y="1892"/>
                  <a:pt x="10612" y="1894"/>
                  <a:pt x="10603" y="1896"/>
                </a:cubicBezTo>
                <a:cubicBezTo>
                  <a:pt x="10593" y="1898"/>
                  <a:pt x="10584" y="1899"/>
                  <a:pt x="10574" y="1899"/>
                </a:cubicBezTo>
                <a:lnTo>
                  <a:pt x="100" y="1899"/>
                </a:lnTo>
                <a:cubicBezTo>
                  <a:pt x="87" y="1899"/>
                  <a:pt x="74" y="1895"/>
                  <a:pt x="62" y="1888"/>
                </a:cubicBezTo>
                <a:cubicBezTo>
                  <a:pt x="50" y="1880"/>
                  <a:pt x="39" y="1870"/>
                  <a:pt x="29" y="1856"/>
                </a:cubicBezTo>
                <a:cubicBezTo>
                  <a:pt x="20" y="1843"/>
                  <a:pt x="13" y="1827"/>
                  <a:pt x="8" y="1809"/>
                </a:cubicBezTo>
                <a:cubicBezTo>
                  <a:pt x="2" y="1791"/>
                  <a:pt x="0" y="1772"/>
                  <a:pt x="0" y="1753"/>
                </a:cubicBezTo>
                <a:close/>
              </a:path>
            </a:pathLst>
          </a:custGeom>
          <a:solidFill>
            <a:srgbClr val="ffffff">
              <a:alpha val="8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9" name=""/>
          <p:cNvSpPr/>
          <p:nvPr/>
        </p:nvSpPr>
        <p:spPr>
          <a:xfrm>
            <a:off x="262440" y="1396800"/>
            <a:ext cx="52920" cy="683640"/>
          </a:xfrm>
          <a:custGeom>
            <a:avLst/>
            <a:gdLst/>
            <a:ahLst/>
            <a:rect l="0" t="0" r="r" b="b"/>
            <a:pathLst>
              <a:path w="147" h="1899">
                <a:moveTo>
                  <a:pt x="0" y="0"/>
                </a:moveTo>
                <a:lnTo>
                  <a:pt x="147" y="0"/>
                </a:lnTo>
                <a:lnTo>
                  <a:pt x="147" y="1899"/>
                </a:lnTo>
                <a:lnTo>
                  <a:pt x="0" y="1899"/>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60" name="" descr=""/>
          <p:cNvPicPr/>
          <p:nvPr/>
        </p:nvPicPr>
        <p:blipFill>
          <a:blip r:embed="rId6"/>
          <a:stretch/>
        </p:blipFill>
        <p:spPr>
          <a:xfrm>
            <a:off x="400680" y="1522080"/>
            <a:ext cx="137520" cy="157320"/>
          </a:xfrm>
          <a:prstGeom prst="rect">
            <a:avLst/>
          </a:prstGeom>
          <a:noFill/>
          <a:ln w="0">
            <a:noFill/>
          </a:ln>
        </p:spPr>
      </p:pic>
      <p:sp>
        <p:nvSpPr>
          <p:cNvPr id="61" name=""/>
          <p:cNvSpPr txBox="1"/>
          <p:nvPr/>
        </p:nvSpPr>
        <p:spPr>
          <a:xfrm>
            <a:off x="262800" y="1020600"/>
            <a:ext cx="713160" cy="148320"/>
          </a:xfrm>
          <a:prstGeom prst="rect">
            <a:avLst/>
          </a:prstGeom>
          <a:noFill/>
          <a:ln w="0">
            <a:noFill/>
          </a:ln>
        </p:spPr>
        <p:txBody>
          <a:bodyPr wrap="none" lIns="0" rIns="0" tIns="0" bIns="0" anchor="t">
            <a:spAutoFit/>
          </a:bodyPr>
          <a:p>
            <a:r>
              <a:rPr b="0" lang="zh-CN" sz="930" strike="noStrike" u="none">
                <a:solidFill>
                  <a:srgbClr val="374151"/>
                </a:solidFill>
                <a:effectLst/>
                <a:uFillTx/>
                <a:latin typeface="WenQuanYiZenHei"/>
                <a:ea typeface="WenQuanYiZenHei"/>
              </a:rPr>
              <a:t>目指します。</a:t>
            </a:r>
            <a:endParaRPr b="0" lang="en-US" sz="930" strike="noStrike" u="none">
              <a:solidFill>
                <a:srgbClr val="000000"/>
              </a:solidFill>
              <a:effectLst/>
              <a:uFillTx/>
              <a:latin typeface="Times New Roman"/>
            </a:endParaRPr>
          </a:p>
        </p:txBody>
      </p:sp>
      <p:sp>
        <p:nvSpPr>
          <p:cNvPr id="62" name=""/>
          <p:cNvSpPr txBox="1"/>
          <p:nvPr/>
        </p:nvSpPr>
        <p:spPr>
          <a:xfrm>
            <a:off x="617400" y="1519560"/>
            <a:ext cx="1299960" cy="148320"/>
          </a:xfrm>
          <a:prstGeom prst="rect">
            <a:avLst/>
          </a:prstGeom>
          <a:noFill/>
          <a:ln w="0">
            <a:noFill/>
          </a:ln>
        </p:spPr>
        <p:txBody>
          <a:bodyPr wrap="none" lIns="0" rIns="0" tIns="0" bIns="0" anchor="t">
            <a:spAutoFit/>
          </a:bodyPr>
          <a:p>
            <a:r>
              <a:rPr b="0" lang="zh-CN" sz="930" strike="noStrike" u="none">
                <a:solidFill>
                  <a:srgbClr val="1d4ed8"/>
                </a:solidFill>
                <a:effectLst/>
                <a:uFillTx/>
                <a:latin typeface="WenQuanYiZenHei"/>
                <a:ea typeface="WenQuanYiZenHei"/>
              </a:rPr>
              <a:t>保険点数の仕組みの理解</a:t>
            </a:r>
            <a:endParaRPr b="0" lang="en-US" sz="930" strike="noStrike" u="none">
              <a:solidFill>
                <a:srgbClr val="000000"/>
              </a:solidFill>
              <a:effectLst/>
              <a:uFillTx/>
              <a:latin typeface="Times New Roman"/>
            </a:endParaRPr>
          </a:p>
        </p:txBody>
      </p:sp>
      <p:sp>
        <p:nvSpPr>
          <p:cNvPr id="63" name=""/>
          <p:cNvSpPr txBox="1"/>
          <p:nvPr/>
        </p:nvSpPr>
        <p:spPr>
          <a:xfrm>
            <a:off x="617400" y="1722240"/>
            <a:ext cx="341388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診療行為の対価として国が定めた点数体系を正しく理解し、適切な算定の基盤を築</a:t>
            </a:r>
            <a:endParaRPr b="0" lang="en-US" sz="730" strike="noStrike" u="none">
              <a:solidFill>
                <a:srgbClr val="000000"/>
              </a:solidFill>
              <a:effectLst/>
              <a:uFillTx/>
              <a:latin typeface="Times New Roman"/>
            </a:endParaRPr>
          </a:p>
        </p:txBody>
      </p:sp>
      <p:sp>
        <p:nvSpPr>
          <p:cNvPr id="64" name=""/>
          <p:cNvSpPr/>
          <p:nvPr/>
        </p:nvSpPr>
        <p:spPr>
          <a:xfrm>
            <a:off x="4285800" y="1396800"/>
            <a:ext cx="3859200" cy="683640"/>
          </a:xfrm>
          <a:custGeom>
            <a:avLst/>
            <a:gdLst/>
            <a:ahLst/>
            <a:rect l="0" t="0" r="r" b="b"/>
            <a:pathLst>
              <a:path w="10720" h="1899">
                <a:moveTo>
                  <a:pt x="0" y="1753"/>
                </a:moveTo>
                <a:lnTo>
                  <a:pt x="0" y="146"/>
                </a:lnTo>
                <a:cubicBezTo>
                  <a:pt x="0" y="127"/>
                  <a:pt x="2" y="108"/>
                  <a:pt x="8" y="90"/>
                </a:cubicBezTo>
                <a:cubicBezTo>
                  <a:pt x="13" y="73"/>
                  <a:pt x="20" y="57"/>
                  <a:pt x="29" y="43"/>
                </a:cubicBezTo>
                <a:cubicBezTo>
                  <a:pt x="39" y="29"/>
                  <a:pt x="50" y="19"/>
                  <a:pt x="62" y="12"/>
                </a:cubicBezTo>
                <a:cubicBezTo>
                  <a:pt x="74" y="4"/>
                  <a:pt x="87" y="0"/>
                  <a:pt x="100" y="0"/>
                </a:cubicBezTo>
                <a:lnTo>
                  <a:pt x="10574" y="0"/>
                </a:lnTo>
                <a:cubicBezTo>
                  <a:pt x="10584" y="0"/>
                  <a:pt x="10593" y="1"/>
                  <a:pt x="10603" y="3"/>
                </a:cubicBezTo>
                <a:cubicBezTo>
                  <a:pt x="10612" y="5"/>
                  <a:pt x="10621" y="8"/>
                  <a:pt x="10630" y="12"/>
                </a:cubicBezTo>
                <a:cubicBezTo>
                  <a:pt x="10639" y="15"/>
                  <a:pt x="10647" y="20"/>
                  <a:pt x="10655" y="25"/>
                </a:cubicBezTo>
                <a:cubicBezTo>
                  <a:pt x="10663" y="30"/>
                  <a:pt x="10671" y="36"/>
                  <a:pt x="10678" y="43"/>
                </a:cubicBezTo>
                <a:cubicBezTo>
                  <a:pt x="10684" y="50"/>
                  <a:pt x="10690" y="57"/>
                  <a:pt x="10696" y="65"/>
                </a:cubicBezTo>
                <a:cubicBezTo>
                  <a:pt x="10701" y="73"/>
                  <a:pt x="10705" y="82"/>
                  <a:pt x="10709" y="90"/>
                </a:cubicBezTo>
                <a:cubicBezTo>
                  <a:pt x="10713" y="99"/>
                  <a:pt x="10716" y="108"/>
                  <a:pt x="10717" y="118"/>
                </a:cubicBezTo>
                <a:cubicBezTo>
                  <a:pt x="10719" y="127"/>
                  <a:pt x="10720" y="137"/>
                  <a:pt x="10720" y="146"/>
                </a:cubicBezTo>
                <a:lnTo>
                  <a:pt x="10720" y="1753"/>
                </a:lnTo>
                <a:cubicBezTo>
                  <a:pt x="10720" y="1763"/>
                  <a:pt x="10719" y="1772"/>
                  <a:pt x="10717" y="1781"/>
                </a:cubicBezTo>
                <a:cubicBezTo>
                  <a:pt x="10716" y="1791"/>
                  <a:pt x="10713" y="1800"/>
                  <a:pt x="10709" y="1809"/>
                </a:cubicBezTo>
                <a:cubicBezTo>
                  <a:pt x="10705" y="1818"/>
                  <a:pt x="10701" y="1826"/>
                  <a:pt x="10696" y="1834"/>
                </a:cubicBezTo>
                <a:cubicBezTo>
                  <a:pt x="10690" y="1842"/>
                  <a:pt x="10684" y="1849"/>
                  <a:pt x="10678" y="1856"/>
                </a:cubicBezTo>
                <a:cubicBezTo>
                  <a:pt x="10671" y="1863"/>
                  <a:pt x="10663" y="1869"/>
                  <a:pt x="10655" y="1874"/>
                </a:cubicBezTo>
                <a:cubicBezTo>
                  <a:pt x="10647" y="1880"/>
                  <a:pt x="10639" y="1884"/>
                  <a:pt x="10630" y="1888"/>
                </a:cubicBezTo>
                <a:cubicBezTo>
                  <a:pt x="10621" y="1892"/>
                  <a:pt x="10612" y="1894"/>
                  <a:pt x="10603" y="1896"/>
                </a:cubicBezTo>
                <a:cubicBezTo>
                  <a:pt x="10593" y="1898"/>
                  <a:pt x="10584" y="1899"/>
                  <a:pt x="10574" y="1899"/>
                </a:cubicBezTo>
                <a:lnTo>
                  <a:pt x="100" y="1899"/>
                </a:lnTo>
                <a:cubicBezTo>
                  <a:pt x="87" y="1899"/>
                  <a:pt x="74" y="1895"/>
                  <a:pt x="62" y="1888"/>
                </a:cubicBezTo>
                <a:cubicBezTo>
                  <a:pt x="50" y="1880"/>
                  <a:pt x="39" y="1870"/>
                  <a:pt x="29" y="1856"/>
                </a:cubicBezTo>
                <a:cubicBezTo>
                  <a:pt x="20" y="1843"/>
                  <a:pt x="13" y="1827"/>
                  <a:pt x="8" y="1809"/>
                </a:cubicBezTo>
                <a:cubicBezTo>
                  <a:pt x="2" y="1791"/>
                  <a:pt x="0" y="1772"/>
                  <a:pt x="0" y="1753"/>
                </a:cubicBezTo>
                <a:close/>
              </a:path>
            </a:pathLst>
          </a:custGeom>
          <a:solidFill>
            <a:srgbClr val="ffffff">
              <a:alpha val="8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5" name=""/>
          <p:cNvSpPr/>
          <p:nvPr/>
        </p:nvSpPr>
        <p:spPr>
          <a:xfrm>
            <a:off x="4269240" y="1396800"/>
            <a:ext cx="52920" cy="683640"/>
          </a:xfrm>
          <a:custGeom>
            <a:avLst/>
            <a:gdLst/>
            <a:ahLst/>
            <a:rect l="0" t="0" r="r" b="b"/>
            <a:pathLst>
              <a:path w="147" h="1899">
                <a:moveTo>
                  <a:pt x="0" y="0"/>
                </a:moveTo>
                <a:lnTo>
                  <a:pt x="147" y="0"/>
                </a:lnTo>
                <a:lnTo>
                  <a:pt x="147" y="1899"/>
                </a:lnTo>
                <a:lnTo>
                  <a:pt x="0" y="1899"/>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66" name="" descr=""/>
          <p:cNvPicPr/>
          <p:nvPr/>
        </p:nvPicPr>
        <p:blipFill>
          <a:blip r:embed="rId7"/>
          <a:stretch/>
        </p:blipFill>
        <p:spPr>
          <a:xfrm>
            <a:off x="4407480" y="1522080"/>
            <a:ext cx="157320" cy="157320"/>
          </a:xfrm>
          <a:prstGeom prst="rect">
            <a:avLst/>
          </a:prstGeom>
          <a:noFill/>
          <a:ln w="0">
            <a:noFill/>
          </a:ln>
        </p:spPr>
      </p:pic>
      <p:sp>
        <p:nvSpPr>
          <p:cNvPr id="67" name=""/>
          <p:cNvSpPr txBox="1"/>
          <p:nvPr/>
        </p:nvSpPr>
        <p:spPr>
          <a:xfrm>
            <a:off x="617400" y="1853640"/>
            <a:ext cx="37296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きます。</a:t>
            </a:r>
            <a:endParaRPr b="0" lang="en-US" sz="730" strike="noStrike" u="none">
              <a:solidFill>
                <a:srgbClr val="000000"/>
              </a:solidFill>
              <a:effectLst/>
              <a:uFillTx/>
              <a:latin typeface="Times New Roman"/>
            </a:endParaRPr>
          </a:p>
        </p:txBody>
      </p:sp>
      <p:sp>
        <p:nvSpPr>
          <p:cNvPr id="68" name=""/>
          <p:cNvSpPr txBox="1"/>
          <p:nvPr/>
        </p:nvSpPr>
        <p:spPr>
          <a:xfrm>
            <a:off x="4644000" y="1519560"/>
            <a:ext cx="824760" cy="148320"/>
          </a:xfrm>
          <a:prstGeom prst="rect">
            <a:avLst/>
          </a:prstGeom>
          <a:noFill/>
          <a:ln w="0">
            <a:noFill/>
          </a:ln>
        </p:spPr>
        <p:txBody>
          <a:bodyPr wrap="none" lIns="0" rIns="0" tIns="0" bIns="0" anchor="t">
            <a:spAutoFit/>
          </a:bodyPr>
          <a:p>
            <a:r>
              <a:rPr b="0" lang="zh-CN" sz="930" strike="noStrike" u="none">
                <a:solidFill>
                  <a:srgbClr val="047857"/>
                </a:solidFill>
                <a:effectLst/>
                <a:uFillTx/>
                <a:latin typeface="WenQuanYiZenHei"/>
                <a:ea typeface="WenQuanYiZenHei"/>
              </a:rPr>
              <a:t>病院収益の向上</a:t>
            </a:r>
            <a:endParaRPr b="0" lang="en-US" sz="930" strike="noStrike" u="none">
              <a:solidFill>
                <a:srgbClr val="000000"/>
              </a:solidFill>
              <a:effectLst/>
              <a:uFillTx/>
              <a:latin typeface="Times New Roman"/>
            </a:endParaRPr>
          </a:p>
        </p:txBody>
      </p:sp>
      <p:sp>
        <p:nvSpPr>
          <p:cNvPr id="69" name=""/>
          <p:cNvSpPr txBox="1"/>
          <p:nvPr/>
        </p:nvSpPr>
        <p:spPr>
          <a:xfrm>
            <a:off x="4644000" y="1722240"/>
            <a:ext cx="323100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算定漏れを防ぎ、適切な加算を活用することで、病院経営の安定化に貢献しま</a:t>
            </a:r>
            <a:endParaRPr b="0" lang="en-US" sz="730" strike="noStrike" u="none">
              <a:solidFill>
                <a:srgbClr val="000000"/>
              </a:solidFill>
              <a:effectLst/>
              <a:uFillTx/>
              <a:latin typeface="Times New Roman"/>
            </a:endParaRPr>
          </a:p>
        </p:txBody>
      </p:sp>
      <p:sp>
        <p:nvSpPr>
          <p:cNvPr id="70" name=""/>
          <p:cNvSpPr/>
          <p:nvPr/>
        </p:nvSpPr>
        <p:spPr>
          <a:xfrm>
            <a:off x="279000" y="2211480"/>
            <a:ext cx="3859200" cy="683280"/>
          </a:xfrm>
          <a:custGeom>
            <a:avLst/>
            <a:gdLst/>
            <a:ahLst/>
            <a:rect l="0" t="0" r="r" b="b"/>
            <a:pathLst>
              <a:path w="10720" h="1898">
                <a:moveTo>
                  <a:pt x="0" y="1752"/>
                </a:moveTo>
                <a:lnTo>
                  <a:pt x="0" y="146"/>
                </a:lnTo>
                <a:cubicBezTo>
                  <a:pt x="0" y="126"/>
                  <a:pt x="2" y="108"/>
                  <a:pt x="8" y="90"/>
                </a:cubicBezTo>
                <a:cubicBezTo>
                  <a:pt x="13" y="72"/>
                  <a:pt x="20" y="56"/>
                  <a:pt x="29" y="43"/>
                </a:cubicBezTo>
                <a:cubicBezTo>
                  <a:pt x="39" y="29"/>
                  <a:pt x="50" y="18"/>
                  <a:pt x="62" y="11"/>
                </a:cubicBezTo>
                <a:cubicBezTo>
                  <a:pt x="74" y="4"/>
                  <a:pt x="87" y="0"/>
                  <a:pt x="100" y="0"/>
                </a:cubicBezTo>
                <a:lnTo>
                  <a:pt x="10574" y="0"/>
                </a:lnTo>
                <a:cubicBezTo>
                  <a:pt x="10584" y="0"/>
                  <a:pt x="10593" y="1"/>
                  <a:pt x="10603" y="3"/>
                </a:cubicBezTo>
                <a:cubicBezTo>
                  <a:pt x="10612" y="5"/>
                  <a:pt x="10621" y="7"/>
                  <a:pt x="10630" y="11"/>
                </a:cubicBezTo>
                <a:cubicBezTo>
                  <a:pt x="10639" y="15"/>
                  <a:pt x="10648" y="19"/>
                  <a:pt x="10655" y="24"/>
                </a:cubicBezTo>
                <a:cubicBezTo>
                  <a:pt x="10663" y="30"/>
                  <a:pt x="10671" y="36"/>
                  <a:pt x="10678" y="43"/>
                </a:cubicBezTo>
                <a:cubicBezTo>
                  <a:pt x="10684" y="49"/>
                  <a:pt x="10690" y="57"/>
                  <a:pt x="10696" y="65"/>
                </a:cubicBezTo>
                <a:cubicBezTo>
                  <a:pt x="10701" y="73"/>
                  <a:pt x="10706" y="81"/>
                  <a:pt x="10709" y="90"/>
                </a:cubicBezTo>
                <a:cubicBezTo>
                  <a:pt x="10713" y="99"/>
                  <a:pt x="10716" y="108"/>
                  <a:pt x="10718" y="117"/>
                </a:cubicBezTo>
                <a:cubicBezTo>
                  <a:pt x="10719" y="127"/>
                  <a:pt x="10720" y="136"/>
                  <a:pt x="10720" y="146"/>
                </a:cubicBezTo>
                <a:lnTo>
                  <a:pt x="10720" y="1752"/>
                </a:lnTo>
                <a:cubicBezTo>
                  <a:pt x="10720" y="1762"/>
                  <a:pt x="10719" y="1772"/>
                  <a:pt x="10718" y="1781"/>
                </a:cubicBezTo>
                <a:cubicBezTo>
                  <a:pt x="10716" y="1790"/>
                  <a:pt x="10713" y="1799"/>
                  <a:pt x="10709" y="1808"/>
                </a:cubicBezTo>
                <a:cubicBezTo>
                  <a:pt x="10706" y="1817"/>
                  <a:pt x="10701" y="1826"/>
                  <a:pt x="10696" y="1834"/>
                </a:cubicBezTo>
                <a:cubicBezTo>
                  <a:pt x="10690" y="1842"/>
                  <a:pt x="10684" y="1849"/>
                  <a:pt x="10678" y="1856"/>
                </a:cubicBezTo>
                <a:cubicBezTo>
                  <a:pt x="10671" y="1862"/>
                  <a:pt x="10663" y="1869"/>
                  <a:pt x="10655" y="1874"/>
                </a:cubicBezTo>
                <a:cubicBezTo>
                  <a:pt x="10648" y="1879"/>
                  <a:pt x="10639" y="1884"/>
                  <a:pt x="10630" y="1887"/>
                </a:cubicBezTo>
                <a:cubicBezTo>
                  <a:pt x="10621" y="1891"/>
                  <a:pt x="10612" y="1894"/>
                  <a:pt x="10603" y="1896"/>
                </a:cubicBezTo>
                <a:cubicBezTo>
                  <a:pt x="10593" y="1897"/>
                  <a:pt x="10584" y="1898"/>
                  <a:pt x="10574" y="1898"/>
                </a:cubicBezTo>
                <a:lnTo>
                  <a:pt x="100" y="1898"/>
                </a:lnTo>
                <a:cubicBezTo>
                  <a:pt x="87" y="1898"/>
                  <a:pt x="74" y="1895"/>
                  <a:pt x="62" y="1887"/>
                </a:cubicBezTo>
                <a:cubicBezTo>
                  <a:pt x="50" y="1880"/>
                  <a:pt x="39" y="1869"/>
                  <a:pt x="29" y="1856"/>
                </a:cubicBezTo>
                <a:cubicBezTo>
                  <a:pt x="20" y="1842"/>
                  <a:pt x="13" y="1826"/>
                  <a:pt x="8" y="1808"/>
                </a:cubicBezTo>
                <a:cubicBezTo>
                  <a:pt x="2" y="1790"/>
                  <a:pt x="0" y="1772"/>
                  <a:pt x="0" y="1752"/>
                </a:cubicBezTo>
                <a:close/>
              </a:path>
            </a:pathLst>
          </a:custGeom>
          <a:solidFill>
            <a:srgbClr val="ffffff">
              <a:alpha val="8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1" name=""/>
          <p:cNvSpPr/>
          <p:nvPr/>
        </p:nvSpPr>
        <p:spPr>
          <a:xfrm>
            <a:off x="262440" y="2211480"/>
            <a:ext cx="52920" cy="683280"/>
          </a:xfrm>
          <a:custGeom>
            <a:avLst/>
            <a:gdLst/>
            <a:ahLst/>
            <a:rect l="0" t="0" r="r" b="b"/>
            <a:pathLst>
              <a:path w="147" h="1898">
                <a:moveTo>
                  <a:pt x="0" y="0"/>
                </a:moveTo>
                <a:lnTo>
                  <a:pt x="147" y="0"/>
                </a:lnTo>
                <a:lnTo>
                  <a:pt x="147" y="1898"/>
                </a:lnTo>
                <a:lnTo>
                  <a:pt x="0" y="1898"/>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72" name="" descr=""/>
          <p:cNvPicPr/>
          <p:nvPr/>
        </p:nvPicPr>
        <p:blipFill>
          <a:blip r:embed="rId8"/>
          <a:stretch/>
        </p:blipFill>
        <p:spPr>
          <a:xfrm>
            <a:off x="400680" y="2336400"/>
            <a:ext cx="137520" cy="157320"/>
          </a:xfrm>
          <a:prstGeom prst="rect">
            <a:avLst/>
          </a:prstGeom>
          <a:noFill/>
          <a:ln w="0">
            <a:noFill/>
          </a:ln>
        </p:spPr>
      </p:pic>
      <p:sp>
        <p:nvSpPr>
          <p:cNvPr id="73" name=""/>
          <p:cNvSpPr txBox="1"/>
          <p:nvPr/>
        </p:nvSpPr>
        <p:spPr>
          <a:xfrm>
            <a:off x="4644000" y="1853640"/>
            <a:ext cx="18576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す。</a:t>
            </a:r>
            <a:endParaRPr b="0" lang="en-US" sz="730" strike="noStrike" u="none">
              <a:solidFill>
                <a:srgbClr val="000000"/>
              </a:solidFill>
              <a:effectLst/>
              <a:uFillTx/>
              <a:latin typeface="Times New Roman"/>
            </a:endParaRPr>
          </a:p>
        </p:txBody>
      </p:sp>
      <p:sp>
        <p:nvSpPr>
          <p:cNvPr id="74" name=""/>
          <p:cNvSpPr txBox="1"/>
          <p:nvPr/>
        </p:nvSpPr>
        <p:spPr>
          <a:xfrm>
            <a:off x="617400" y="2334240"/>
            <a:ext cx="707400" cy="148320"/>
          </a:xfrm>
          <a:prstGeom prst="rect">
            <a:avLst/>
          </a:prstGeom>
          <a:noFill/>
          <a:ln w="0">
            <a:noFill/>
          </a:ln>
        </p:spPr>
        <p:txBody>
          <a:bodyPr wrap="none" lIns="0" rIns="0" tIns="0" bIns="0" anchor="t">
            <a:spAutoFit/>
          </a:bodyPr>
          <a:p>
            <a:r>
              <a:rPr b="0" lang="zh-CN" sz="930" strike="noStrike" u="none">
                <a:solidFill>
                  <a:srgbClr val="000000"/>
                </a:solidFill>
                <a:effectLst/>
                <a:uFillTx/>
                <a:latin typeface="WenQuanYiZenHei"/>
                <a:ea typeface="WenQuanYiZenHei"/>
              </a:rPr>
              <a:t>医療の質向上</a:t>
            </a:r>
            <a:endParaRPr b="0" lang="en-US" sz="930" strike="noStrike" u="none">
              <a:solidFill>
                <a:srgbClr val="000000"/>
              </a:solidFill>
              <a:effectLst/>
              <a:uFillTx/>
              <a:latin typeface="Times New Roman"/>
            </a:endParaRPr>
          </a:p>
        </p:txBody>
      </p:sp>
      <p:sp>
        <p:nvSpPr>
          <p:cNvPr id="75" name=""/>
          <p:cNvSpPr/>
          <p:nvPr/>
        </p:nvSpPr>
        <p:spPr>
          <a:xfrm>
            <a:off x="4285800" y="2211480"/>
            <a:ext cx="3859200" cy="683280"/>
          </a:xfrm>
          <a:custGeom>
            <a:avLst/>
            <a:gdLst/>
            <a:ahLst/>
            <a:rect l="0" t="0" r="r" b="b"/>
            <a:pathLst>
              <a:path w="10720" h="1898">
                <a:moveTo>
                  <a:pt x="0" y="1752"/>
                </a:moveTo>
                <a:lnTo>
                  <a:pt x="0" y="146"/>
                </a:lnTo>
                <a:cubicBezTo>
                  <a:pt x="0" y="126"/>
                  <a:pt x="2" y="108"/>
                  <a:pt x="8" y="90"/>
                </a:cubicBezTo>
                <a:cubicBezTo>
                  <a:pt x="13" y="72"/>
                  <a:pt x="20" y="56"/>
                  <a:pt x="29" y="43"/>
                </a:cubicBezTo>
                <a:cubicBezTo>
                  <a:pt x="39" y="29"/>
                  <a:pt x="50" y="18"/>
                  <a:pt x="62" y="11"/>
                </a:cubicBezTo>
                <a:cubicBezTo>
                  <a:pt x="74" y="4"/>
                  <a:pt x="87" y="0"/>
                  <a:pt x="100" y="0"/>
                </a:cubicBezTo>
                <a:lnTo>
                  <a:pt x="10574" y="0"/>
                </a:lnTo>
                <a:cubicBezTo>
                  <a:pt x="10584" y="0"/>
                  <a:pt x="10593" y="1"/>
                  <a:pt x="10603" y="3"/>
                </a:cubicBezTo>
                <a:cubicBezTo>
                  <a:pt x="10612" y="5"/>
                  <a:pt x="10621" y="7"/>
                  <a:pt x="10630" y="11"/>
                </a:cubicBezTo>
                <a:cubicBezTo>
                  <a:pt x="10639" y="15"/>
                  <a:pt x="10647" y="19"/>
                  <a:pt x="10655" y="24"/>
                </a:cubicBezTo>
                <a:cubicBezTo>
                  <a:pt x="10663" y="30"/>
                  <a:pt x="10671" y="36"/>
                  <a:pt x="10678" y="43"/>
                </a:cubicBezTo>
                <a:cubicBezTo>
                  <a:pt x="10684" y="49"/>
                  <a:pt x="10690" y="57"/>
                  <a:pt x="10696" y="65"/>
                </a:cubicBezTo>
                <a:cubicBezTo>
                  <a:pt x="10701" y="73"/>
                  <a:pt x="10705" y="81"/>
                  <a:pt x="10709" y="90"/>
                </a:cubicBezTo>
                <a:cubicBezTo>
                  <a:pt x="10713" y="99"/>
                  <a:pt x="10716" y="108"/>
                  <a:pt x="10717" y="117"/>
                </a:cubicBezTo>
                <a:cubicBezTo>
                  <a:pt x="10719" y="127"/>
                  <a:pt x="10720" y="136"/>
                  <a:pt x="10720" y="146"/>
                </a:cubicBezTo>
                <a:lnTo>
                  <a:pt x="10720" y="1752"/>
                </a:lnTo>
                <a:cubicBezTo>
                  <a:pt x="10720" y="1762"/>
                  <a:pt x="10719" y="1772"/>
                  <a:pt x="10717" y="1781"/>
                </a:cubicBezTo>
                <a:cubicBezTo>
                  <a:pt x="10716" y="1790"/>
                  <a:pt x="10713" y="1799"/>
                  <a:pt x="10709" y="1808"/>
                </a:cubicBezTo>
                <a:cubicBezTo>
                  <a:pt x="10705" y="1817"/>
                  <a:pt x="10701" y="1826"/>
                  <a:pt x="10696" y="1834"/>
                </a:cubicBezTo>
                <a:cubicBezTo>
                  <a:pt x="10690" y="1842"/>
                  <a:pt x="10684" y="1849"/>
                  <a:pt x="10678" y="1856"/>
                </a:cubicBezTo>
                <a:cubicBezTo>
                  <a:pt x="10671" y="1862"/>
                  <a:pt x="10663" y="1869"/>
                  <a:pt x="10655" y="1874"/>
                </a:cubicBezTo>
                <a:cubicBezTo>
                  <a:pt x="10647" y="1879"/>
                  <a:pt x="10639" y="1884"/>
                  <a:pt x="10630" y="1887"/>
                </a:cubicBezTo>
                <a:cubicBezTo>
                  <a:pt x="10621" y="1891"/>
                  <a:pt x="10612" y="1894"/>
                  <a:pt x="10603" y="1896"/>
                </a:cubicBezTo>
                <a:cubicBezTo>
                  <a:pt x="10593" y="1897"/>
                  <a:pt x="10584" y="1898"/>
                  <a:pt x="10574" y="1898"/>
                </a:cubicBezTo>
                <a:lnTo>
                  <a:pt x="100" y="1898"/>
                </a:lnTo>
                <a:cubicBezTo>
                  <a:pt x="87" y="1898"/>
                  <a:pt x="74" y="1895"/>
                  <a:pt x="62" y="1887"/>
                </a:cubicBezTo>
                <a:cubicBezTo>
                  <a:pt x="50" y="1880"/>
                  <a:pt x="39" y="1869"/>
                  <a:pt x="29" y="1856"/>
                </a:cubicBezTo>
                <a:cubicBezTo>
                  <a:pt x="20" y="1842"/>
                  <a:pt x="13" y="1826"/>
                  <a:pt x="8" y="1808"/>
                </a:cubicBezTo>
                <a:cubicBezTo>
                  <a:pt x="2" y="1790"/>
                  <a:pt x="0" y="1772"/>
                  <a:pt x="0" y="1752"/>
                </a:cubicBezTo>
                <a:close/>
              </a:path>
            </a:pathLst>
          </a:custGeom>
          <a:solidFill>
            <a:srgbClr val="ffffff">
              <a:alpha val="8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6" name=""/>
          <p:cNvSpPr/>
          <p:nvPr/>
        </p:nvSpPr>
        <p:spPr>
          <a:xfrm>
            <a:off x="4269240" y="2211480"/>
            <a:ext cx="52920" cy="683280"/>
          </a:xfrm>
          <a:custGeom>
            <a:avLst/>
            <a:gdLst/>
            <a:ahLst/>
            <a:rect l="0" t="0" r="r" b="b"/>
            <a:pathLst>
              <a:path w="147" h="1898">
                <a:moveTo>
                  <a:pt x="0" y="0"/>
                </a:moveTo>
                <a:lnTo>
                  <a:pt x="147" y="0"/>
                </a:lnTo>
                <a:lnTo>
                  <a:pt x="147" y="1898"/>
                </a:lnTo>
                <a:lnTo>
                  <a:pt x="0" y="1898"/>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77" name="" descr=""/>
          <p:cNvPicPr/>
          <p:nvPr/>
        </p:nvPicPr>
        <p:blipFill>
          <a:blip r:embed="rId9"/>
          <a:stretch/>
        </p:blipFill>
        <p:spPr>
          <a:xfrm>
            <a:off x="4407480" y="2336400"/>
            <a:ext cx="157320" cy="157320"/>
          </a:xfrm>
          <a:prstGeom prst="rect">
            <a:avLst/>
          </a:prstGeom>
          <a:noFill/>
          <a:ln w="0">
            <a:noFill/>
          </a:ln>
        </p:spPr>
      </p:pic>
      <p:sp>
        <p:nvSpPr>
          <p:cNvPr id="78" name=""/>
          <p:cNvSpPr txBox="1"/>
          <p:nvPr/>
        </p:nvSpPr>
        <p:spPr>
          <a:xfrm>
            <a:off x="617400" y="2536920"/>
            <a:ext cx="342252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適切な診療行為の評価と記録が、より質の高い医療サービス提供につながります。</a:t>
            </a:r>
            <a:endParaRPr b="0" lang="en-US" sz="730" strike="noStrike" u="none">
              <a:solidFill>
                <a:srgbClr val="000000"/>
              </a:solidFill>
              <a:effectLst/>
              <a:uFillTx/>
              <a:latin typeface="Times New Roman"/>
            </a:endParaRPr>
          </a:p>
        </p:txBody>
      </p:sp>
      <p:sp>
        <p:nvSpPr>
          <p:cNvPr id="79" name=""/>
          <p:cNvSpPr txBox="1"/>
          <p:nvPr/>
        </p:nvSpPr>
        <p:spPr>
          <a:xfrm>
            <a:off x="4644000" y="2334240"/>
            <a:ext cx="1179720" cy="148320"/>
          </a:xfrm>
          <a:prstGeom prst="rect">
            <a:avLst/>
          </a:prstGeom>
          <a:noFill/>
          <a:ln w="0">
            <a:noFill/>
          </a:ln>
        </p:spPr>
        <p:txBody>
          <a:bodyPr wrap="none" lIns="0" rIns="0" tIns="0" bIns="0" anchor="t">
            <a:spAutoFit/>
          </a:bodyPr>
          <a:p>
            <a:r>
              <a:rPr b="0" lang="zh-CN" sz="930" strike="noStrike" u="none">
                <a:solidFill>
                  <a:srgbClr val="6d28d9"/>
                </a:solidFill>
                <a:effectLst/>
                <a:uFillTx/>
                <a:latin typeface="WenQuanYiZenHei"/>
                <a:ea typeface="WenQuanYiZenHei"/>
              </a:rPr>
              <a:t>診療報酬改定への対応</a:t>
            </a:r>
            <a:endParaRPr b="0" lang="en-US" sz="930" strike="noStrike" u="none">
              <a:solidFill>
                <a:srgbClr val="000000"/>
              </a:solidFill>
              <a:effectLst/>
              <a:uFillTx/>
              <a:latin typeface="Times New Roman"/>
            </a:endParaRPr>
          </a:p>
        </p:txBody>
      </p:sp>
      <p:sp>
        <p:nvSpPr>
          <p:cNvPr id="80" name=""/>
          <p:cNvSpPr txBox="1"/>
          <p:nvPr/>
        </p:nvSpPr>
        <p:spPr>
          <a:xfrm>
            <a:off x="4644000" y="2540160"/>
            <a:ext cx="233280" cy="106920"/>
          </a:xfrm>
          <a:prstGeom prst="rect">
            <a:avLst/>
          </a:prstGeom>
          <a:noFill/>
          <a:ln w="0">
            <a:noFill/>
          </a:ln>
        </p:spPr>
        <p:txBody>
          <a:bodyPr wrap="none" lIns="0" rIns="0" tIns="0" bIns="0" anchor="t">
            <a:spAutoFit/>
          </a:bodyPr>
          <a:p>
            <a:r>
              <a:rPr b="0" lang="en-US" sz="730" strike="noStrike" u="none">
                <a:solidFill>
                  <a:srgbClr val="4b5563"/>
                </a:solidFill>
                <a:effectLst/>
                <a:uFillTx/>
                <a:latin typeface="DejaVuSans"/>
                <a:ea typeface="DejaVuSans"/>
              </a:rPr>
              <a:t>2024</a:t>
            </a:r>
            <a:endParaRPr b="0" lang="en-US" sz="730" strike="noStrike" u="none">
              <a:solidFill>
                <a:srgbClr val="000000"/>
              </a:solidFill>
              <a:effectLst/>
              <a:uFillTx/>
              <a:latin typeface="Times New Roman"/>
            </a:endParaRPr>
          </a:p>
        </p:txBody>
      </p:sp>
      <p:sp>
        <p:nvSpPr>
          <p:cNvPr id="81" name=""/>
          <p:cNvSpPr txBox="1"/>
          <p:nvPr/>
        </p:nvSpPr>
        <p:spPr>
          <a:xfrm>
            <a:off x="4878000" y="2536920"/>
            <a:ext cx="314172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年度改定など、定期的な制度変更に適切に対応するための知識を身につけま</a:t>
            </a:r>
            <a:endParaRPr b="0" lang="en-US" sz="730" strike="noStrike" u="none">
              <a:solidFill>
                <a:srgbClr val="000000"/>
              </a:solidFill>
              <a:effectLst/>
              <a:uFillTx/>
              <a:latin typeface="Times New Roman"/>
            </a:endParaRPr>
          </a:p>
        </p:txBody>
      </p:sp>
      <p:sp>
        <p:nvSpPr>
          <p:cNvPr id="82" name=""/>
          <p:cNvSpPr txBox="1"/>
          <p:nvPr/>
        </p:nvSpPr>
        <p:spPr>
          <a:xfrm>
            <a:off x="4644000" y="2668320"/>
            <a:ext cx="18576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す。</a:t>
            </a:r>
            <a:endParaRPr b="0" lang="en-US" sz="73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3" name="" descr=""/>
          <p:cNvPicPr/>
          <p:nvPr/>
        </p:nvPicPr>
        <p:blipFill>
          <a:blip r:embed="rId1"/>
          <a:stretch/>
        </p:blipFill>
        <p:spPr>
          <a:xfrm>
            <a:off x="0" y="171360"/>
            <a:ext cx="8712000" cy="4900320"/>
          </a:xfrm>
          <a:prstGeom prst="rect">
            <a:avLst/>
          </a:prstGeom>
          <a:noFill/>
          <a:ln w="0">
            <a:noFill/>
          </a:ln>
        </p:spPr>
      </p:pic>
      <p:pic>
        <p:nvPicPr>
          <p:cNvPr id="84" name="" descr=""/>
          <p:cNvPicPr/>
          <p:nvPr/>
        </p:nvPicPr>
        <p:blipFill>
          <a:blip r:embed="rId2"/>
          <a:stretch/>
        </p:blipFill>
        <p:spPr>
          <a:xfrm>
            <a:off x="-680760" y="-509040"/>
            <a:ext cx="2722320" cy="2722320"/>
          </a:xfrm>
          <a:prstGeom prst="rect">
            <a:avLst/>
          </a:prstGeom>
          <a:noFill/>
          <a:ln w="0">
            <a:noFill/>
          </a:ln>
        </p:spPr>
      </p:pic>
      <p:pic>
        <p:nvPicPr>
          <p:cNvPr id="85" name="" descr=""/>
          <p:cNvPicPr/>
          <p:nvPr/>
        </p:nvPicPr>
        <p:blipFill>
          <a:blip r:embed="rId3"/>
          <a:stretch/>
        </p:blipFill>
        <p:spPr>
          <a:xfrm>
            <a:off x="7010640" y="3370320"/>
            <a:ext cx="2381760" cy="2381760"/>
          </a:xfrm>
          <a:prstGeom prst="rect">
            <a:avLst/>
          </a:prstGeom>
          <a:noFill/>
          <a:ln w="0">
            <a:noFill/>
          </a:ln>
        </p:spPr>
      </p:pic>
      <p:pic>
        <p:nvPicPr>
          <p:cNvPr id="86" name="" descr=""/>
          <p:cNvPicPr/>
          <p:nvPr/>
        </p:nvPicPr>
        <p:blipFill>
          <a:blip r:embed="rId4"/>
          <a:stretch/>
        </p:blipFill>
        <p:spPr>
          <a:xfrm>
            <a:off x="6874560" y="4847400"/>
            <a:ext cx="122040" cy="95040"/>
          </a:xfrm>
          <a:prstGeom prst="rect">
            <a:avLst/>
          </a:prstGeom>
          <a:noFill/>
          <a:ln w="0">
            <a:noFill/>
          </a:ln>
        </p:spPr>
      </p:pic>
      <p:sp>
        <p:nvSpPr>
          <p:cNvPr id="87" name=""/>
          <p:cNvSpPr txBox="1"/>
          <p:nvPr/>
        </p:nvSpPr>
        <p:spPr>
          <a:xfrm>
            <a:off x="7054920" y="4837320"/>
            <a:ext cx="384840" cy="122400"/>
          </a:xfrm>
          <a:prstGeom prst="rect">
            <a:avLst/>
          </a:prstGeom>
          <a:noFill/>
          <a:ln w="0">
            <a:noFill/>
          </a:ln>
        </p:spPr>
        <p:txBody>
          <a:bodyPr wrap="none" lIns="0" rIns="0" tIns="0" bIns="0" anchor="t">
            <a:spAutoFit/>
          </a:bodyPr>
          <a:p>
            <a:r>
              <a:rPr b="0" lang="zh-CN" sz="750" strike="noStrike" u="none">
                <a:solidFill>
                  <a:srgbClr val="6b7280"/>
                </a:solidFill>
                <a:effectLst/>
                <a:uFillTx/>
                <a:latin typeface="WenQuanYiZenHei"/>
                <a:ea typeface="WenQuanYiZenHei"/>
              </a:rPr>
              <a:t>東和病院</a:t>
            </a:r>
            <a:endParaRPr b="0" lang="en-US" sz="750" strike="noStrike" u="none">
              <a:solidFill>
                <a:srgbClr val="000000"/>
              </a:solidFill>
              <a:effectLst/>
              <a:uFillTx/>
              <a:latin typeface="Times New Roman"/>
            </a:endParaRPr>
          </a:p>
        </p:txBody>
      </p:sp>
      <p:sp>
        <p:nvSpPr>
          <p:cNvPr id="88" name=""/>
          <p:cNvSpPr txBox="1"/>
          <p:nvPr/>
        </p:nvSpPr>
        <p:spPr>
          <a:xfrm>
            <a:off x="7435800" y="4840920"/>
            <a:ext cx="95040" cy="111960"/>
          </a:xfrm>
          <a:prstGeom prst="rect">
            <a:avLst/>
          </a:prstGeom>
          <a:noFill/>
          <a:ln w="0">
            <a:noFill/>
          </a:ln>
        </p:spPr>
        <p:txBody>
          <a:bodyPr wrap="none" lIns="0" rIns="0" tIns="0" bIns="0" anchor="t">
            <a:spAutoFit/>
          </a:bodyPr>
          <a:p>
            <a:r>
              <a:rPr b="0" lang="en-US" sz="750" strike="noStrike" u="none">
                <a:solidFill>
                  <a:srgbClr val="6b7280"/>
                </a:solidFill>
                <a:effectLst/>
                <a:uFillTx/>
                <a:latin typeface="DejaVuSans"/>
                <a:ea typeface="DejaVuSans"/>
              </a:rPr>
              <a:t> </a:t>
            </a:r>
            <a:endParaRPr b="0" lang="en-US" sz="750" strike="noStrike" u="none">
              <a:solidFill>
                <a:srgbClr val="000000"/>
              </a:solidFill>
              <a:effectLst/>
              <a:uFillTx/>
              <a:latin typeface="Times New Roman"/>
            </a:endParaRPr>
          </a:p>
        </p:txBody>
      </p:sp>
      <p:sp>
        <p:nvSpPr>
          <p:cNvPr id="89" name=""/>
          <p:cNvSpPr txBox="1"/>
          <p:nvPr/>
        </p:nvSpPr>
        <p:spPr>
          <a:xfrm>
            <a:off x="7466400" y="4837320"/>
            <a:ext cx="672840" cy="122400"/>
          </a:xfrm>
          <a:prstGeom prst="rect">
            <a:avLst/>
          </a:prstGeom>
          <a:noFill/>
          <a:ln w="0">
            <a:noFill/>
          </a:ln>
        </p:spPr>
        <p:txBody>
          <a:bodyPr wrap="none" lIns="0" rIns="0" tIns="0" bIns="0" anchor="t">
            <a:spAutoFit/>
          </a:bodyPr>
          <a:p>
            <a:r>
              <a:rPr b="0" lang="zh-CN" sz="750" strike="noStrike" u="none">
                <a:solidFill>
                  <a:srgbClr val="6b7280"/>
                </a:solidFill>
                <a:effectLst/>
                <a:uFillTx/>
                <a:latin typeface="WenQuanYiZenHei"/>
                <a:ea typeface="WenQuanYiZenHei"/>
              </a:rPr>
              <a:t>保険点数勉強会</a:t>
            </a:r>
            <a:endParaRPr b="0" lang="en-US" sz="750" strike="noStrike" u="none">
              <a:solidFill>
                <a:srgbClr val="000000"/>
              </a:solidFill>
              <a:effectLst/>
              <a:uFillTx/>
              <a:latin typeface="Times New Roman"/>
            </a:endParaRPr>
          </a:p>
        </p:txBody>
      </p:sp>
      <p:sp>
        <p:nvSpPr>
          <p:cNvPr id="90" name=""/>
          <p:cNvSpPr txBox="1"/>
          <p:nvPr/>
        </p:nvSpPr>
        <p:spPr>
          <a:xfrm>
            <a:off x="8187840" y="4840920"/>
            <a:ext cx="95040" cy="111960"/>
          </a:xfrm>
          <a:prstGeom prst="rect">
            <a:avLst/>
          </a:prstGeom>
          <a:noFill/>
          <a:ln w="0">
            <a:noFill/>
          </a:ln>
        </p:spPr>
        <p:txBody>
          <a:bodyPr wrap="none" lIns="0" rIns="0" tIns="0" bIns="0" anchor="t">
            <a:spAutoFit/>
          </a:bodyPr>
          <a:p>
            <a:r>
              <a:rPr b="0" lang="en-US" sz="750" strike="noStrike" u="none">
                <a:solidFill>
                  <a:srgbClr val="6b7280"/>
                </a:solidFill>
                <a:effectLst/>
                <a:uFillTx/>
                <a:latin typeface="DejaVuSans"/>
                <a:ea typeface="DejaVuSans"/>
              </a:rPr>
              <a:t>|</a:t>
            </a:r>
            <a:endParaRPr b="0" lang="en-US" sz="750" strike="noStrike" u="none">
              <a:solidFill>
                <a:srgbClr val="000000"/>
              </a:solidFill>
              <a:effectLst/>
              <a:uFillTx/>
              <a:latin typeface="Times New Roman"/>
            </a:endParaRPr>
          </a:p>
        </p:txBody>
      </p:sp>
      <p:pic>
        <p:nvPicPr>
          <p:cNvPr id="91" name="" descr=""/>
          <p:cNvPicPr/>
          <p:nvPr/>
        </p:nvPicPr>
        <p:blipFill>
          <a:blip r:embed="rId5"/>
          <a:stretch/>
        </p:blipFill>
        <p:spPr>
          <a:xfrm>
            <a:off x="217800" y="688680"/>
            <a:ext cx="653040" cy="27000"/>
          </a:xfrm>
          <a:prstGeom prst="rect">
            <a:avLst/>
          </a:prstGeom>
          <a:noFill/>
          <a:ln w="0">
            <a:noFill/>
          </a:ln>
        </p:spPr>
      </p:pic>
      <p:sp>
        <p:nvSpPr>
          <p:cNvPr id="92" name=""/>
          <p:cNvSpPr txBox="1"/>
          <p:nvPr/>
        </p:nvSpPr>
        <p:spPr>
          <a:xfrm>
            <a:off x="8274240" y="4840920"/>
            <a:ext cx="277200" cy="111960"/>
          </a:xfrm>
          <a:prstGeom prst="rect">
            <a:avLst/>
          </a:prstGeom>
          <a:noFill/>
          <a:ln w="0">
            <a:noFill/>
          </a:ln>
        </p:spPr>
        <p:txBody>
          <a:bodyPr wrap="none" lIns="0" rIns="0" tIns="0" bIns="0" anchor="t">
            <a:spAutoFit/>
          </a:bodyPr>
          <a:p>
            <a:r>
              <a:rPr b="0" lang="en-US" sz="750" strike="noStrike" u="none">
                <a:solidFill>
                  <a:srgbClr val="6b7280"/>
                </a:solidFill>
                <a:effectLst/>
                <a:uFillTx/>
                <a:latin typeface="DejaVuSans"/>
                <a:ea typeface="DejaVuSans"/>
              </a:rPr>
              <a:t>3 / 15</a:t>
            </a:r>
            <a:endParaRPr b="0" lang="en-US" sz="750" strike="noStrike" u="none">
              <a:solidFill>
                <a:srgbClr val="000000"/>
              </a:solidFill>
              <a:effectLst/>
              <a:uFillTx/>
              <a:latin typeface="Times New Roman"/>
            </a:endParaRPr>
          </a:p>
        </p:txBody>
      </p:sp>
      <p:sp>
        <p:nvSpPr>
          <p:cNvPr id="93" name=""/>
          <p:cNvSpPr/>
          <p:nvPr/>
        </p:nvSpPr>
        <p:spPr>
          <a:xfrm>
            <a:off x="217800" y="824760"/>
            <a:ext cx="8276760" cy="599400"/>
          </a:xfrm>
          <a:custGeom>
            <a:avLst/>
            <a:gdLst/>
            <a:ahLst/>
            <a:rect l="0" t="0" r="r" b="b"/>
            <a:pathLst>
              <a:path w="22991" h="1665">
                <a:moveTo>
                  <a:pt x="0" y="1513"/>
                </a:moveTo>
                <a:lnTo>
                  <a:pt x="0" y="151"/>
                </a:lnTo>
                <a:cubicBezTo>
                  <a:pt x="0" y="141"/>
                  <a:pt x="0" y="131"/>
                  <a:pt x="2" y="122"/>
                </a:cubicBezTo>
                <a:cubicBezTo>
                  <a:pt x="4" y="112"/>
                  <a:pt x="7" y="102"/>
                  <a:pt x="11" y="93"/>
                </a:cubicBezTo>
                <a:cubicBezTo>
                  <a:pt x="15" y="84"/>
                  <a:pt x="19" y="75"/>
                  <a:pt x="25" y="67"/>
                </a:cubicBezTo>
                <a:cubicBezTo>
                  <a:pt x="31" y="59"/>
                  <a:pt x="37" y="51"/>
                  <a:pt x="44" y="44"/>
                </a:cubicBezTo>
                <a:cubicBezTo>
                  <a:pt x="51" y="37"/>
                  <a:pt x="58" y="31"/>
                  <a:pt x="67" y="25"/>
                </a:cubicBezTo>
                <a:cubicBezTo>
                  <a:pt x="75" y="20"/>
                  <a:pt x="84" y="15"/>
                  <a:pt x="93" y="11"/>
                </a:cubicBezTo>
                <a:cubicBezTo>
                  <a:pt x="102" y="8"/>
                  <a:pt x="112" y="5"/>
                  <a:pt x="121" y="3"/>
                </a:cubicBezTo>
                <a:cubicBezTo>
                  <a:pt x="131" y="1"/>
                  <a:pt x="141" y="0"/>
                  <a:pt x="151" y="0"/>
                </a:cubicBezTo>
                <a:lnTo>
                  <a:pt x="22840" y="0"/>
                </a:lnTo>
                <a:cubicBezTo>
                  <a:pt x="22850" y="0"/>
                  <a:pt x="22860" y="1"/>
                  <a:pt x="22870" y="3"/>
                </a:cubicBezTo>
                <a:cubicBezTo>
                  <a:pt x="22879" y="5"/>
                  <a:pt x="22889" y="8"/>
                  <a:pt x="22898" y="11"/>
                </a:cubicBezTo>
                <a:cubicBezTo>
                  <a:pt x="22907" y="15"/>
                  <a:pt x="22916" y="20"/>
                  <a:pt x="22924" y="25"/>
                </a:cubicBezTo>
                <a:cubicBezTo>
                  <a:pt x="22932" y="31"/>
                  <a:pt x="22940" y="37"/>
                  <a:pt x="22947" y="44"/>
                </a:cubicBezTo>
                <a:cubicBezTo>
                  <a:pt x="22954" y="51"/>
                  <a:pt x="22960" y="59"/>
                  <a:pt x="22966" y="67"/>
                </a:cubicBezTo>
                <a:cubicBezTo>
                  <a:pt x="22971" y="75"/>
                  <a:pt x="22976" y="84"/>
                  <a:pt x="22980" y="93"/>
                </a:cubicBezTo>
                <a:cubicBezTo>
                  <a:pt x="22984" y="102"/>
                  <a:pt x="22986" y="112"/>
                  <a:pt x="22988" y="122"/>
                </a:cubicBezTo>
                <a:cubicBezTo>
                  <a:pt x="22990" y="131"/>
                  <a:pt x="22991" y="141"/>
                  <a:pt x="22991" y="151"/>
                </a:cubicBezTo>
                <a:lnTo>
                  <a:pt x="22991" y="1513"/>
                </a:lnTo>
                <a:cubicBezTo>
                  <a:pt x="22991" y="1523"/>
                  <a:pt x="22990" y="1533"/>
                  <a:pt x="22988" y="1543"/>
                </a:cubicBezTo>
                <a:cubicBezTo>
                  <a:pt x="22986" y="1553"/>
                  <a:pt x="22984" y="1562"/>
                  <a:pt x="22980" y="1571"/>
                </a:cubicBezTo>
                <a:cubicBezTo>
                  <a:pt x="22976" y="1580"/>
                  <a:pt x="22971" y="1589"/>
                  <a:pt x="22966" y="1597"/>
                </a:cubicBezTo>
                <a:cubicBezTo>
                  <a:pt x="22960" y="1606"/>
                  <a:pt x="22954" y="1613"/>
                  <a:pt x="22947" y="1620"/>
                </a:cubicBezTo>
                <a:cubicBezTo>
                  <a:pt x="22940" y="1627"/>
                  <a:pt x="22932" y="1634"/>
                  <a:pt x="22924" y="1639"/>
                </a:cubicBezTo>
                <a:cubicBezTo>
                  <a:pt x="22916" y="1645"/>
                  <a:pt x="22907" y="1649"/>
                  <a:pt x="22898" y="1653"/>
                </a:cubicBezTo>
                <a:cubicBezTo>
                  <a:pt x="22889" y="1657"/>
                  <a:pt x="22879" y="1660"/>
                  <a:pt x="22870" y="1662"/>
                </a:cubicBezTo>
                <a:cubicBezTo>
                  <a:pt x="22860" y="1664"/>
                  <a:pt x="22850" y="1665"/>
                  <a:pt x="22840" y="1665"/>
                </a:cubicBezTo>
                <a:lnTo>
                  <a:pt x="151" y="1665"/>
                </a:lnTo>
                <a:cubicBezTo>
                  <a:pt x="141" y="1665"/>
                  <a:pt x="131" y="1664"/>
                  <a:pt x="121" y="1662"/>
                </a:cubicBezTo>
                <a:cubicBezTo>
                  <a:pt x="112" y="1660"/>
                  <a:pt x="102" y="1657"/>
                  <a:pt x="93" y="1653"/>
                </a:cubicBezTo>
                <a:cubicBezTo>
                  <a:pt x="84" y="1649"/>
                  <a:pt x="75" y="1645"/>
                  <a:pt x="67" y="1639"/>
                </a:cubicBezTo>
                <a:cubicBezTo>
                  <a:pt x="58" y="1634"/>
                  <a:pt x="51" y="1627"/>
                  <a:pt x="44" y="1620"/>
                </a:cubicBezTo>
                <a:cubicBezTo>
                  <a:pt x="37" y="1613"/>
                  <a:pt x="31" y="1606"/>
                  <a:pt x="25" y="1597"/>
                </a:cubicBezTo>
                <a:cubicBezTo>
                  <a:pt x="19" y="1589"/>
                  <a:pt x="15" y="1580"/>
                  <a:pt x="11" y="1571"/>
                </a:cubicBezTo>
                <a:cubicBezTo>
                  <a:pt x="7" y="1562"/>
                  <a:pt x="4" y="1553"/>
                  <a:pt x="2" y="1543"/>
                </a:cubicBezTo>
                <a:cubicBezTo>
                  <a:pt x="0" y="1533"/>
                  <a:pt x="0" y="1523"/>
                  <a:pt x="0" y="1513"/>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94" name=""/>
          <p:cNvSpPr/>
          <p:nvPr/>
        </p:nvSpPr>
        <p:spPr>
          <a:xfrm>
            <a:off x="2715480" y="933480"/>
            <a:ext cx="293040" cy="381600"/>
          </a:xfrm>
          <a:custGeom>
            <a:avLst/>
            <a:gdLst/>
            <a:ahLst/>
            <a:rect l="0" t="0" r="r" b="b"/>
            <a:pathLst>
              <a:path w="814" h="1060">
                <a:moveTo>
                  <a:pt x="0" y="654"/>
                </a:moveTo>
                <a:lnTo>
                  <a:pt x="0" y="408"/>
                </a:lnTo>
                <a:cubicBezTo>
                  <a:pt x="0" y="381"/>
                  <a:pt x="3" y="355"/>
                  <a:pt x="8" y="329"/>
                </a:cubicBezTo>
                <a:cubicBezTo>
                  <a:pt x="13" y="302"/>
                  <a:pt x="21" y="277"/>
                  <a:pt x="31" y="252"/>
                </a:cubicBezTo>
                <a:cubicBezTo>
                  <a:pt x="41" y="228"/>
                  <a:pt x="54" y="204"/>
                  <a:pt x="69" y="182"/>
                </a:cubicBezTo>
                <a:cubicBezTo>
                  <a:pt x="84" y="160"/>
                  <a:pt x="101" y="139"/>
                  <a:pt x="119" y="120"/>
                </a:cubicBezTo>
                <a:cubicBezTo>
                  <a:pt x="138" y="102"/>
                  <a:pt x="159" y="85"/>
                  <a:pt x="182" y="70"/>
                </a:cubicBezTo>
                <a:cubicBezTo>
                  <a:pt x="204" y="55"/>
                  <a:pt x="228" y="41"/>
                  <a:pt x="252" y="31"/>
                </a:cubicBezTo>
                <a:cubicBezTo>
                  <a:pt x="277" y="21"/>
                  <a:pt x="302" y="13"/>
                  <a:pt x="329" y="8"/>
                </a:cubicBezTo>
                <a:cubicBezTo>
                  <a:pt x="355" y="3"/>
                  <a:pt x="381" y="0"/>
                  <a:pt x="408" y="0"/>
                </a:cubicBezTo>
                <a:cubicBezTo>
                  <a:pt x="435" y="0"/>
                  <a:pt x="461" y="3"/>
                  <a:pt x="487" y="8"/>
                </a:cubicBezTo>
                <a:cubicBezTo>
                  <a:pt x="513" y="13"/>
                  <a:pt x="539" y="21"/>
                  <a:pt x="563" y="31"/>
                </a:cubicBezTo>
                <a:cubicBezTo>
                  <a:pt x="588" y="41"/>
                  <a:pt x="611" y="55"/>
                  <a:pt x="634" y="70"/>
                </a:cubicBezTo>
                <a:cubicBezTo>
                  <a:pt x="656" y="85"/>
                  <a:pt x="676" y="102"/>
                  <a:pt x="695" y="120"/>
                </a:cubicBezTo>
                <a:cubicBezTo>
                  <a:pt x="714" y="139"/>
                  <a:pt x="731" y="160"/>
                  <a:pt x="746" y="182"/>
                </a:cubicBezTo>
                <a:cubicBezTo>
                  <a:pt x="761" y="204"/>
                  <a:pt x="773" y="228"/>
                  <a:pt x="783" y="252"/>
                </a:cubicBezTo>
                <a:cubicBezTo>
                  <a:pt x="794" y="277"/>
                  <a:pt x="801" y="302"/>
                  <a:pt x="807" y="329"/>
                </a:cubicBezTo>
                <a:cubicBezTo>
                  <a:pt x="812" y="355"/>
                  <a:pt x="814" y="381"/>
                  <a:pt x="814" y="408"/>
                </a:cubicBezTo>
                <a:lnTo>
                  <a:pt x="814" y="654"/>
                </a:lnTo>
                <a:cubicBezTo>
                  <a:pt x="814" y="680"/>
                  <a:pt x="812" y="707"/>
                  <a:pt x="807" y="733"/>
                </a:cubicBezTo>
                <a:cubicBezTo>
                  <a:pt x="801" y="759"/>
                  <a:pt x="794" y="785"/>
                  <a:pt x="783" y="809"/>
                </a:cubicBezTo>
                <a:cubicBezTo>
                  <a:pt x="773" y="834"/>
                  <a:pt x="761" y="857"/>
                  <a:pt x="746" y="879"/>
                </a:cubicBezTo>
                <a:cubicBezTo>
                  <a:pt x="731" y="902"/>
                  <a:pt x="714" y="922"/>
                  <a:pt x="695" y="941"/>
                </a:cubicBezTo>
                <a:cubicBezTo>
                  <a:pt x="676" y="960"/>
                  <a:pt x="656" y="977"/>
                  <a:pt x="634" y="992"/>
                </a:cubicBezTo>
                <a:cubicBezTo>
                  <a:pt x="611" y="1006"/>
                  <a:pt x="588" y="1019"/>
                  <a:pt x="563" y="1029"/>
                </a:cubicBezTo>
                <a:cubicBezTo>
                  <a:pt x="539" y="1039"/>
                  <a:pt x="513" y="1047"/>
                  <a:pt x="487" y="1052"/>
                </a:cubicBezTo>
                <a:cubicBezTo>
                  <a:pt x="461" y="1057"/>
                  <a:pt x="435" y="1060"/>
                  <a:pt x="408" y="1060"/>
                </a:cubicBezTo>
                <a:cubicBezTo>
                  <a:pt x="381" y="1060"/>
                  <a:pt x="355" y="1057"/>
                  <a:pt x="329" y="1052"/>
                </a:cubicBezTo>
                <a:cubicBezTo>
                  <a:pt x="302" y="1047"/>
                  <a:pt x="277" y="1039"/>
                  <a:pt x="252" y="1029"/>
                </a:cubicBezTo>
                <a:cubicBezTo>
                  <a:pt x="228" y="1019"/>
                  <a:pt x="204" y="1006"/>
                  <a:pt x="182" y="992"/>
                </a:cubicBezTo>
                <a:cubicBezTo>
                  <a:pt x="159" y="977"/>
                  <a:pt x="138" y="960"/>
                  <a:pt x="119" y="941"/>
                </a:cubicBezTo>
                <a:cubicBezTo>
                  <a:pt x="101" y="922"/>
                  <a:pt x="84" y="902"/>
                  <a:pt x="69" y="879"/>
                </a:cubicBezTo>
                <a:cubicBezTo>
                  <a:pt x="54" y="857"/>
                  <a:pt x="41" y="834"/>
                  <a:pt x="31" y="809"/>
                </a:cubicBezTo>
                <a:cubicBezTo>
                  <a:pt x="21" y="785"/>
                  <a:pt x="13" y="759"/>
                  <a:pt x="8" y="733"/>
                </a:cubicBezTo>
                <a:cubicBezTo>
                  <a:pt x="3" y="707"/>
                  <a:pt x="0" y="680"/>
                  <a:pt x="0" y="654"/>
                </a:cubicBezTo>
                <a:close/>
              </a:path>
            </a:pathLst>
          </a:custGeom>
          <a:solidFill>
            <a:srgbClr val="dbea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95" name="" descr=""/>
          <p:cNvPicPr/>
          <p:nvPr/>
        </p:nvPicPr>
        <p:blipFill>
          <a:blip r:embed="rId6"/>
          <a:stretch/>
        </p:blipFill>
        <p:spPr>
          <a:xfrm>
            <a:off x="2770200" y="995040"/>
            <a:ext cx="183240" cy="244800"/>
          </a:xfrm>
          <a:prstGeom prst="rect">
            <a:avLst/>
          </a:prstGeom>
          <a:noFill/>
          <a:ln w="0">
            <a:noFill/>
          </a:ln>
        </p:spPr>
      </p:pic>
      <p:sp>
        <p:nvSpPr>
          <p:cNvPr id="96" name=""/>
          <p:cNvSpPr txBox="1"/>
          <p:nvPr/>
        </p:nvSpPr>
        <p:spPr>
          <a:xfrm>
            <a:off x="217800" y="383040"/>
            <a:ext cx="1843560" cy="257760"/>
          </a:xfrm>
          <a:prstGeom prst="rect">
            <a:avLst/>
          </a:prstGeom>
          <a:noFill/>
          <a:ln w="0">
            <a:noFill/>
          </a:ln>
        </p:spPr>
        <p:txBody>
          <a:bodyPr wrap="none" lIns="0" rIns="0" tIns="0" bIns="0" anchor="t">
            <a:spAutoFit/>
          </a:bodyPr>
          <a:p>
            <a:r>
              <a:rPr b="0" lang="zh-CN" sz="1610" strike="noStrike" u="none">
                <a:solidFill>
                  <a:srgbClr val="1e40af"/>
                </a:solidFill>
                <a:effectLst/>
                <a:uFillTx/>
                <a:latin typeface="WenQuanYiZenHei"/>
                <a:ea typeface="WenQuanYiZenHei"/>
              </a:rPr>
              <a:t>保険点数制度の基本</a:t>
            </a:r>
            <a:endParaRPr b="0" lang="en-US" sz="1610" strike="noStrike" u="none">
              <a:solidFill>
                <a:srgbClr val="000000"/>
              </a:solidFill>
              <a:effectLst/>
              <a:uFillTx/>
              <a:latin typeface="Times New Roman"/>
            </a:endParaRPr>
          </a:p>
        </p:txBody>
      </p:sp>
      <p:sp>
        <p:nvSpPr>
          <p:cNvPr id="97" name=""/>
          <p:cNvSpPr txBox="1"/>
          <p:nvPr/>
        </p:nvSpPr>
        <p:spPr>
          <a:xfrm>
            <a:off x="3089880" y="978480"/>
            <a:ext cx="244800" cy="285480"/>
          </a:xfrm>
          <a:prstGeom prst="rect">
            <a:avLst/>
          </a:prstGeom>
          <a:noFill/>
          <a:ln w="0">
            <a:noFill/>
          </a:ln>
        </p:spPr>
        <p:txBody>
          <a:bodyPr wrap="none" lIns="0" rIns="0" tIns="0" bIns="0" anchor="t">
            <a:spAutoFit/>
          </a:bodyPr>
          <a:p>
            <a:r>
              <a:rPr b="1" lang="en-US" sz="1929" strike="noStrike" u="none">
                <a:solidFill>
                  <a:srgbClr val="2563eb"/>
                </a:solidFill>
                <a:effectLst/>
                <a:uFillTx/>
                <a:latin typeface="DejaVuSans"/>
                <a:ea typeface="DejaVuSans"/>
              </a:rPr>
              <a:t>1</a:t>
            </a:r>
            <a:endParaRPr b="0" lang="en-US" sz="1929" strike="noStrike" u="none">
              <a:solidFill>
                <a:srgbClr val="000000"/>
              </a:solidFill>
              <a:effectLst/>
              <a:uFillTx/>
              <a:latin typeface="Times New Roman"/>
            </a:endParaRPr>
          </a:p>
        </p:txBody>
      </p:sp>
      <p:sp>
        <p:nvSpPr>
          <p:cNvPr id="98" name=""/>
          <p:cNvSpPr txBox="1"/>
          <p:nvPr/>
        </p:nvSpPr>
        <p:spPr>
          <a:xfrm>
            <a:off x="3260160" y="970200"/>
            <a:ext cx="246240" cy="309600"/>
          </a:xfrm>
          <a:prstGeom prst="rect">
            <a:avLst/>
          </a:prstGeom>
          <a:noFill/>
          <a:ln w="0">
            <a:noFill/>
          </a:ln>
        </p:spPr>
        <p:txBody>
          <a:bodyPr wrap="none" lIns="0" rIns="0" tIns="0" bIns="0" anchor="t">
            <a:spAutoFit/>
          </a:bodyPr>
          <a:p>
            <a:r>
              <a:rPr b="0" lang="zh-CN" sz="1929" strike="noStrike" u="none">
                <a:solidFill>
                  <a:srgbClr val="2563eb"/>
                </a:solidFill>
                <a:effectLst/>
                <a:uFillTx/>
                <a:latin typeface="WenQuanYiZenHei"/>
                <a:ea typeface="WenQuanYiZenHei"/>
              </a:rPr>
              <a:t>点</a:t>
            </a:r>
            <a:endParaRPr b="0" lang="en-US" sz="1929" strike="noStrike" u="none">
              <a:solidFill>
                <a:srgbClr val="000000"/>
              </a:solidFill>
              <a:effectLst/>
              <a:uFillTx/>
              <a:latin typeface="Times New Roman"/>
            </a:endParaRPr>
          </a:p>
        </p:txBody>
      </p:sp>
      <p:sp>
        <p:nvSpPr>
          <p:cNvPr id="99" name=""/>
          <p:cNvSpPr txBox="1"/>
          <p:nvPr/>
        </p:nvSpPr>
        <p:spPr>
          <a:xfrm>
            <a:off x="3505320" y="978480"/>
            <a:ext cx="718560" cy="285480"/>
          </a:xfrm>
          <a:prstGeom prst="rect">
            <a:avLst/>
          </a:prstGeom>
          <a:noFill/>
          <a:ln w="0">
            <a:noFill/>
          </a:ln>
        </p:spPr>
        <p:txBody>
          <a:bodyPr wrap="none" lIns="0" rIns="0" tIns="0" bIns="0" anchor="t">
            <a:spAutoFit/>
          </a:bodyPr>
          <a:p>
            <a:r>
              <a:rPr b="1" lang="en-US" sz="1929" strike="noStrike" u="none">
                <a:solidFill>
                  <a:srgbClr val="2563eb"/>
                </a:solidFill>
                <a:effectLst/>
                <a:uFillTx/>
                <a:latin typeface="DejaVuSans"/>
                <a:ea typeface="DejaVuSans"/>
              </a:rPr>
              <a:t> = 10</a:t>
            </a:r>
            <a:endParaRPr b="0" lang="en-US" sz="1929" strike="noStrike" u="none">
              <a:solidFill>
                <a:srgbClr val="000000"/>
              </a:solidFill>
              <a:effectLst/>
              <a:uFillTx/>
              <a:latin typeface="Times New Roman"/>
            </a:endParaRPr>
          </a:p>
        </p:txBody>
      </p:sp>
      <p:sp>
        <p:nvSpPr>
          <p:cNvPr id="100" name=""/>
          <p:cNvSpPr txBox="1"/>
          <p:nvPr/>
        </p:nvSpPr>
        <p:spPr>
          <a:xfrm>
            <a:off x="4222080" y="970200"/>
            <a:ext cx="246240" cy="309600"/>
          </a:xfrm>
          <a:prstGeom prst="rect">
            <a:avLst/>
          </a:prstGeom>
          <a:noFill/>
          <a:ln w="0">
            <a:noFill/>
          </a:ln>
        </p:spPr>
        <p:txBody>
          <a:bodyPr wrap="none" lIns="0" rIns="0" tIns="0" bIns="0" anchor="t">
            <a:spAutoFit/>
          </a:bodyPr>
          <a:p>
            <a:r>
              <a:rPr b="0" lang="zh-CN" sz="1929" strike="noStrike" u="none">
                <a:solidFill>
                  <a:srgbClr val="2563eb"/>
                </a:solidFill>
                <a:effectLst/>
                <a:uFillTx/>
                <a:latin typeface="WenQuanYiZenHei"/>
                <a:ea typeface="WenQuanYiZenHei"/>
              </a:rPr>
              <a:t>円</a:t>
            </a:r>
            <a:endParaRPr b="0" lang="en-US" sz="1929" strike="noStrike" u="none">
              <a:solidFill>
                <a:srgbClr val="000000"/>
              </a:solidFill>
              <a:effectLst/>
              <a:uFillTx/>
              <a:latin typeface="Times New Roman"/>
            </a:endParaRPr>
          </a:p>
        </p:txBody>
      </p:sp>
      <p:sp>
        <p:nvSpPr>
          <p:cNvPr id="101" name=""/>
          <p:cNvSpPr txBox="1"/>
          <p:nvPr/>
        </p:nvSpPr>
        <p:spPr>
          <a:xfrm>
            <a:off x="4603320" y="1057320"/>
            <a:ext cx="108720" cy="128520"/>
          </a:xfrm>
          <a:prstGeom prst="rect">
            <a:avLst/>
          </a:prstGeom>
          <a:noFill/>
          <a:ln w="0">
            <a:noFill/>
          </a:ln>
        </p:spPr>
        <p:txBody>
          <a:bodyPr wrap="none" lIns="0" rIns="0" tIns="0" bIns="0" anchor="t">
            <a:spAutoFit/>
          </a:bodyPr>
          <a:p>
            <a:r>
              <a:rPr b="0" lang="en-US" sz="860" strike="noStrike" u="none">
                <a:solidFill>
                  <a:srgbClr val="9ca3af"/>
                </a:solidFill>
                <a:effectLst/>
                <a:uFillTx/>
                <a:latin typeface="DejaVuSans"/>
                <a:ea typeface="DejaVuSans"/>
              </a:rPr>
              <a:t>|</a:t>
            </a:r>
            <a:endParaRPr b="0" lang="en-US" sz="860" strike="noStrike" u="none">
              <a:solidFill>
                <a:srgbClr val="000000"/>
              </a:solidFill>
              <a:effectLst/>
              <a:uFillTx/>
              <a:latin typeface="Times New Roman"/>
            </a:endParaRPr>
          </a:p>
        </p:txBody>
      </p:sp>
      <p:sp>
        <p:nvSpPr>
          <p:cNvPr id="102" name=""/>
          <p:cNvSpPr txBox="1"/>
          <p:nvPr/>
        </p:nvSpPr>
        <p:spPr>
          <a:xfrm>
            <a:off x="4776120" y="1047240"/>
            <a:ext cx="122760" cy="154440"/>
          </a:xfrm>
          <a:prstGeom prst="rect">
            <a:avLst/>
          </a:prstGeom>
          <a:noFill/>
          <a:ln w="0">
            <a:noFill/>
          </a:ln>
        </p:spPr>
        <p:txBody>
          <a:bodyPr wrap="none" lIns="0" rIns="0" tIns="0" bIns="0" anchor="t">
            <a:spAutoFit/>
          </a:bodyPr>
          <a:p>
            <a:r>
              <a:rPr b="0" lang="zh-CN" sz="960" strike="noStrike" u="none">
                <a:solidFill>
                  <a:srgbClr val="374151"/>
                </a:solidFill>
                <a:effectLst/>
                <a:uFillTx/>
                <a:latin typeface="WenQuanYiZenHei"/>
                <a:ea typeface="WenQuanYiZenHei"/>
              </a:rPr>
              <a:t>例</a:t>
            </a:r>
            <a:endParaRPr b="0" lang="en-US" sz="960" strike="noStrike" u="none">
              <a:solidFill>
                <a:srgbClr val="000000"/>
              </a:solidFill>
              <a:effectLst/>
              <a:uFillTx/>
              <a:latin typeface="Times New Roman"/>
            </a:endParaRPr>
          </a:p>
        </p:txBody>
      </p:sp>
      <p:sp>
        <p:nvSpPr>
          <p:cNvPr id="103" name=""/>
          <p:cNvSpPr txBox="1"/>
          <p:nvPr/>
        </p:nvSpPr>
        <p:spPr>
          <a:xfrm>
            <a:off x="4898880" y="1051560"/>
            <a:ext cx="324360" cy="142200"/>
          </a:xfrm>
          <a:prstGeom prst="rect">
            <a:avLst/>
          </a:prstGeom>
          <a:noFill/>
          <a:ln w="0">
            <a:noFill/>
          </a:ln>
        </p:spPr>
        <p:txBody>
          <a:bodyPr wrap="none" lIns="0" rIns="0" tIns="0" bIns="0" anchor="t">
            <a:spAutoFit/>
          </a:bodyPr>
          <a:p>
            <a:r>
              <a:rPr b="1" lang="en-US" sz="960" strike="noStrike" u="none">
                <a:solidFill>
                  <a:srgbClr val="374151"/>
                </a:solidFill>
                <a:effectLst/>
                <a:uFillTx/>
                <a:latin typeface="DejaVuSans"/>
                <a:ea typeface="DejaVuSans"/>
              </a:rPr>
              <a:t>: </a:t>
            </a:r>
            <a:r>
              <a:rPr b="0" lang="en-US" sz="960" strike="noStrike" u="none">
                <a:solidFill>
                  <a:srgbClr val="374151"/>
                </a:solidFill>
                <a:effectLst/>
                <a:uFillTx/>
                <a:latin typeface="DejaVuSans"/>
                <a:ea typeface="DejaVuSans"/>
              </a:rPr>
              <a:t>200</a:t>
            </a:r>
            <a:endParaRPr b="0" lang="en-US" sz="960" strike="noStrike" u="none">
              <a:solidFill>
                <a:srgbClr val="000000"/>
              </a:solidFill>
              <a:effectLst/>
              <a:uFillTx/>
              <a:latin typeface="Times New Roman"/>
            </a:endParaRPr>
          </a:p>
        </p:txBody>
      </p:sp>
      <p:sp>
        <p:nvSpPr>
          <p:cNvPr id="104" name=""/>
          <p:cNvSpPr txBox="1"/>
          <p:nvPr/>
        </p:nvSpPr>
        <p:spPr>
          <a:xfrm>
            <a:off x="5220720" y="1047240"/>
            <a:ext cx="122760" cy="154440"/>
          </a:xfrm>
          <a:prstGeom prst="rect">
            <a:avLst/>
          </a:prstGeom>
          <a:noFill/>
          <a:ln w="0">
            <a:noFill/>
          </a:ln>
        </p:spPr>
        <p:txBody>
          <a:bodyPr wrap="none" lIns="0" rIns="0" tIns="0" bIns="0" anchor="t">
            <a:spAutoFit/>
          </a:bodyPr>
          <a:p>
            <a:r>
              <a:rPr b="0" lang="zh-CN" sz="960" strike="noStrike" u="none">
                <a:solidFill>
                  <a:srgbClr val="374151"/>
                </a:solidFill>
                <a:effectLst/>
                <a:uFillTx/>
                <a:latin typeface="WenQuanYiZenHei"/>
                <a:ea typeface="WenQuanYiZenHei"/>
              </a:rPr>
              <a:t>点</a:t>
            </a:r>
            <a:endParaRPr b="0" lang="en-US" sz="960" strike="noStrike" u="none">
              <a:solidFill>
                <a:srgbClr val="000000"/>
              </a:solidFill>
              <a:effectLst/>
              <a:uFillTx/>
              <a:latin typeface="Times New Roman"/>
            </a:endParaRPr>
          </a:p>
        </p:txBody>
      </p:sp>
      <p:sp>
        <p:nvSpPr>
          <p:cNvPr id="105" name=""/>
          <p:cNvSpPr txBox="1"/>
          <p:nvPr/>
        </p:nvSpPr>
        <p:spPr>
          <a:xfrm>
            <a:off x="5343120" y="1051560"/>
            <a:ext cx="529560" cy="142200"/>
          </a:xfrm>
          <a:prstGeom prst="rect">
            <a:avLst/>
          </a:prstGeom>
          <a:noFill/>
          <a:ln w="0">
            <a:noFill/>
          </a:ln>
        </p:spPr>
        <p:txBody>
          <a:bodyPr wrap="none" lIns="0" rIns="0" tIns="0" bIns="0" anchor="t">
            <a:spAutoFit/>
          </a:bodyPr>
          <a:p>
            <a:r>
              <a:rPr b="0" lang="en-US" sz="960" strike="noStrike" u="none">
                <a:solidFill>
                  <a:srgbClr val="374151"/>
                </a:solidFill>
                <a:effectLst/>
                <a:uFillTx/>
                <a:latin typeface="DejaVuSans"/>
                <a:ea typeface="DejaVuSans"/>
              </a:rPr>
              <a:t> = 2,000</a:t>
            </a:r>
            <a:endParaRPr b="0" lang="en-US" sz="960" strike="noStrike" u="none">
              <a:solidFill>
                <a:srgbClr val="000000"/>
              </a:solidFill>
              <a:effectLst/>
              <a:uFillTx/>
              <a:latin typeface="Times New Roman"/>
            </a:endParaRPr>
          </a:p>
        </p:txBody>
      </p:sp>
      <p:sp>
        <p:nvSpPr>
          <p:cNvPr id="106" name=""/>
          <p:cNvSpPr/>
          <p:nvPr/>
        </p:nvSpPr>
        <p:spPr>
          <a:xfrm>
            <a:off x="217800" y="1478160"/>
            <a:ext cx="4056840" cy="1797120"/>
          </a:xfrm>
          <a:custGeom>
            <a:avLst/>
            <a:gdLst/>
            <a:ahLst/>
            <a:rect l="0" t="0" r="r" b="b"/>
            <a:pathLst>
              <a:path w="11269" h="4992">
                <a:moveTo>
                  <a:pt x="0" y="4841"/>
                </a:moveTo>
                <a:lnTo>
                  <a:pt x="0" y="151"/>
                </a:lnTo>
                <a:cubicBezTo>
                  <a:pt x="0" y="141"/>
                  <a:pt x="0" y="131"/>
                  <a:pt x="2" y="122"/>
                </a:cubicBezTo>
                <a:cubicBezTo>
                  <a:pt x="4" y="112"/>
                  <a:pt x="7" y="102"/>
                  <a:pt x="11" y="93"/>
                </a:cubicBezTo>
                <a:cubicBezTo>
                  <a:pt x="15" y="84"/>
                  <a:pt x="19" y="75"/>
                  <a:pt x="25" y="67"/>
                </a:cubicBezTo>
                <a:cubicBezTo>
                  <a:pt x="31" y="59"/>
                  <a:pt x="37" y="51"/>
                  <a:pt x="44" y="44"/>
                </a:cubicBezTo>
                <a:cubicBezTo>
                  <a:pt x="51" y="37"/>
                  <a:pt x="58" y="31"/>
                  <a:pt x="67" y="25"/>
                </a:cubicBezTo>
                <a:cubicBezTo>
                  <a:pt x="75" y="20"/>
                  <a:pt x="84" y="15"/>
                  <a:pt x="93" y="11"/>
                </a:cubicBezTo>
                <a:cubicBezTo>
                  <a:pt x="102" y="8"/>
                  <a:pt x="112" y="5"/>
                  <a:pt x="121" y="3"/>
                </a:cubicBezTo>
                <a:cubicBezTo>
                  <a:pt x="131" y="1"/>
                  <a:pt x="141" y="0"/>
                  <a:pt x="151" y="0"/>
                </a:cubicBezTo>
                <a:lnTo>
                  <a:pt x="11118" y="0"/>
                </a:lnTo>
                <a:cubicBezTo>
                  <a:pt x="11128" y="0"/>
                  <a:pt x="11138" y="1"/>
                  <a:pt x="11147" y="3"/>
                </a:cubicBezTo>
                <a:cubicBezTo>
                  <a:pt x="11157" y="5"/>
                  <a:pt x="11166" y="8"/>
                  <a:pt x="11176" y="11"/>
                </a:cubicBezTo>
                <a:cubicBezTo>
                  <a:pt x="11185" y="15"/>
                  <a:pt x="11194" y="20"/>
                  <a:pt x="11202" y="25"/>
                </a:cubicBezTo>
                <a:cubicBezTo>
                  <a:pt x="11210" y="31"/>
                  <a:pt x="11218" y="37"/>
                  <a:pt x="11225" y="44"/>
                </a:cubicBezTo>
                <a:cubicBezTo>
                  <a:pt x="11232" y="51"/>
                  <a:pt x="11238" y="59"/>
                  <a:pt x="11244" y="67"/>
                </a:cubicBezTo>
                <a:cubicBezTo>
                  <a:pt x="11249" y="75"/>
                  <a:pt x="11254" y="84"/>
                  <a:pt x="11257" y="93"/>
                </a:cubicBezTo>
                <a:cubicBezTo>
                  <a:pt x="11261" y="102"/>
                  <a:pt x="11264" y="112"/>
                  <a:pt x="11266" y="122"/>
                </a:cubicBezTo>
                <a:cubicBezTo>
                  <a:pt x="11268" y="131"/>
                  <a:pt x="11269" y="141"/>
                  <a:pt x="11269" y="151"/>
                </a:cubicBezTo>
                <a:lnTo>
                  <a:pt x="11269" y="4841"/>
                </a:lnTo>
                <a:cubicBezTo>
                  <a:pt x="11269" y="4851"/>
                  <a:pt x="11268" y="4861"/>
                  <a:pt x="11266" y="4871"/>
                </a:cubicBezTo>
                <a:cubicBezTo>
                  <a:pt x="11264" y="4880"/>
                  <a:pt x="11261" y="4890"/>
                  <a:pt x="11257" y="4899"/>
                </a:cubicBezTo>
                <a:cubicBezTo>
                  <a:pt x="11254" y="4908"/>
                  <a:pt x="11249" y="4917"/>
                  <a:pt x="11244" y="4925"/>
                </a:cubicBezTo>
                <a:cubicBezTo>
                  <a:pt x="11238" y="4933"/>
                  <a:pt x="11232" y="4941"/>
                  <a:pt x="11225" y="4948"/>
                </a:cubicBezTo>
                <a:cubicBezTo>
                  <a:pt x="11218" y="4955"/>
                  <a:pt x="11210" y="4961"/>
                  <a:pt x="11202" y="4967"/>
                </a:cubicBezTo>
                <a:cubicBezTo>
                  <a:pt x="11194" y="4972"/>
                  <a:pt x="11185" y="4977"/>
                  <a:pt x="11176" y="4981"/>
                </a:cubicBezTo>
                <a:cubicBezTo>
                  <a:pt x="11166" y="4985"/>
                  <a:pt x="11157" y="4987"/>
                  <a:pt x="11147" y="4989"/>
                </a:cubicBezTo>
                <a:cubicBezTo>
                  <a:pt x="11138" y="4991"/>
                  <a:pt x="11128" y="4992"/>
                  <a:pt x="11118" y="4992"/>
                </a:cubicBezTo>
                <a:lnTo>
                  <a:pt x="151" y="4992"/>
                </a:lnTo>
                <a:cubicBezTo>
                  <a:pt x="141" y="4992"/>
                  <a:pt x="131" y="4991"/>
                  <a:pt x="121" y="4989"/>
                </a:cubicBezTo>
                <a:cubicBezTo>
                  <a:pt x="112" y="4987"/>
                  <a:pt x="102" y="4985"/>
                  <a:pt x="93" y="4981"/>
                </a:cubicBezTo>
                <a:cubicBezTo>
                  <a:pt x="84" y="4977"/>
                  <a:pt x="75" y="4972"/>
                  <a:pt x="67" y="4967"/>
                </a:cubicBezTo>
                <a:cubicBezTo>
                  <a:pt x="58" y="4961"/>
                  <a:pt x="51" y="4955"/>
                  <a:pt x="44" y="4948"/>
                </a:cubicBezTo>
                <a:cubicBezTo>
                  <a:pt x="37" y="4941"/>
                  <a:pt x="31" y="4933"/>
                  <a:pt x="25" y="4925"/>
                </a:cubicBezTo>
                <a:cubicBezTo>
                  <a:pt x="19" y="4917"/>
                  <a:pt x="15" y="4908"/>
                  <a:pt x="11" y="4899"/>
                </a:cubicBezTo>
                <a:cubicBezTo>
                  <a:pt x="7" y="4890"/>
                  <a:pt x="4" y="4880"/>
                  <a:pt x="2" y="4871"/>
                </a:cubicBezTo>
                <a:cubicBezTo>
                  <a:pt x="0" y="4861"/>
                  <a:pt x="0" y="4851"/>
                  <a:pt x="0" y="4841"/>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07" name="" descr=""/>
          <p:cNvPicPr/>
          <p:nvPr/>
        </p:nvPicPr>
        <p:blipFill>
          <a:blip r:embed="rId7"/>
          <a:stretch/>
        </p:blipFill>
        <p:spPr>
          <a:xfrm>
            <a:off x="326880" y="1614600"/>
            <a:ext cx="135720" cy="135720"/>
          </a:xfrm>
          <a:prstGeom prst="rect">
            <a:avLst/>
          </a:prstGeom>
          <a:noFill/>
          <a:ln w="0">
            <a:noFill/>
          </a:ln>
        </p:spPr>
      </p:pic>
      <p:sp>
        <p:nvSpPr>
          <p:cNvPr id="108" name=""/>
          <p:cNvSpPr txBox="1"/>
          <p:nvPr/>
        </p:nvSpPr>
        <p:spPr>
          <a:xfrm>
            <a:off x="5874480" y="1047240"/>
            <a:ext cx="122760" cy="154440"/>
          </a:xfrm>
          <a:prstGeom prst="rect">
            <a:avLst/>
          </a:prstGeom>
          <a:noFill/>
          <a:ln w="0">
            <a:noFill/>
          </a:ln>
        </p:spPr>
        <p:txBody>
          <a:bodyPr wrap="none" lIns="0" rIns="0" tIns="0" bIns="0" anchor="t">
            <a:spAutoFit/>
          </a:bodyPr>
          <a:p>
            <a:r>
              <a:rPr b="0" lang="zh-CN" sz="960" strike="noStrike" u="none">
                <a:solidFill>
                  <a:srgbClr val="374151"/>
                </a:solidFill>
                <a:effectLst/>
                <a:uFillTx/>
                <a:latin typeface="WenQuanYiZenHei"/>
                <a:ea typeface="WenQuanYiZenHei"/>
              </a:rPr>
              <a:t>円</a:t>
            </a:r>
            <a:endParaRPr b="0" lang="en-US" sz="960" strike="noStrike" u="none">
              <a:solidFill>
                <a:srgbClr val="000000"/>
              </a:solidFill>
              <a:effectLst/>
              <a:uFillTx/>
              <a:latin typeface="Times New Roman"/>
            </a:endParaRPr>
          </a:p>
        </p:txBody>
      </p:sp>
      <p:pic>
        <p:nvPicPr>
          <p:cNvPr id="109" name="" descr=""/>
          <p:cNvPicPr/>
          <p:nvPr/>
        </p:nvPicPr>
        <p:blipFill>
          <a:blip r:embed="rId8"/>
          <a:stretch/>
        </p:blipFill>
        <p:spPr>
          <a:xfrm>
            <a:off x="326880" y="1886760"/>
            <a:ext cx="108720" cy="108720"/>
          </a:xfrm>
          <a:prstGeom prst="rect">
            <a:avLst/>
          </a:prstGeom>
          <a:noFill/>
          <a:ln w="0">
            <a:noFill/>
          </a:ln>
        </p:spPr>
      </p:pic>
      <p:sp>
        <p:nvSpPr>
          <p:cNvPr id="110" name=""/>
          <p:cNvSpPr txBox="1"/>
          <p:nvPr/>
        </p:nvSpPr>
        <p:spPr>
          <a:xfrm>
            <a:off x="517320" y="1599120"/>
            <a:ext cx="820800" cy="171000"/>
          </a:xfrm>
          <a:prstGeom prst="rect">
            <a:avLst/>
          </a:prstGeom>
          <a:noFill/>
          <a:ln w="0">
            <a:noFill/>
          </a:ln>
        </p:spPr>
        <p:txBody>
          <a:bodyPr wrap="none" lIns="0" rIns="0" tIns="0" bIns="0" anchor="t">
            <a:spAutoFit/>
          </a:bodyPr>
          <a:p>
            <a:r>
              <a:rPr b="0" lang="zh-CN" sz="1070" strike="noStrike" u="none">
                <a:solidFill>
                  <a:srgbClr val="1d4ed8"/>
                </a:solidFill>
                <a:effectLst/>
                <a:uFillTx/>
                <a:latin typeface="WenQuanYiZenHei"/>
                <a:ea typeface="WenQuanYiZenHei"/>
              </a:rPr>
              <a:t>点数の仕組み</a:t>
            </a:r>
            <a:endParaRPr b="0" lang="en-US" sz="1070" strike="noStrike" u="none">
              <a:solidFill>
                <a:srgbClr val="000000"/>
              </a:solidFill>
              <a:effectLst/>
              <a:uFillTx/>
              <a:latin typeface="Times New Roman"/>
            </a:endParaRPr>
          </a:p>
        </p:txBody>
      </p:sp>
      <p:sp>
        <p:nvSpPr>
          <p:cNvPr id="111" name=""/>
          <p:cNvSpPr txBox="1"/>
          <p:nvPr/>
        </p:nvSpPr>
        <p:spPr>
          <a:xfrm>
            <a:off x="489960" y="1869840"/>
            <a:ext cx="578880" cy="122400"/>
          </a:xfrm>
          <a:prstGeom prst="rect">
            <a:avLst/>
          </a:prstGeom>
          <a:noFill/>
          <a:ln w="0">
            <a:noFill/>
          </a:ln>
        </p:spPr>
        <p:txBody>
          <a:bodyPr wrap="none" lIns="0" rIns="0" tIns="0" bIns="0" anchor="t">
            <a:spAutoFit/>
          </a:bodyPr>
          <a:p>
            <a:r>
              <a:rPr b="0" lang="zh-CN" sz="750" strike="noStrike" u="none">
                <a:solidFill>
                  <a:srgbClr val="000000"/>
                </a:solidFill>
                <a:effectLst/>
                <a:uFillTx/>
                <a:latin typeface="WenQuanYiZenHei"/>
                <a:ea typeface="WenQuanYiZenHei"/>
              </a:rPr>
              <a:t>出来高払い制</a:t>
            </a:r>
            <a:endParaRPr b="0" lang="en-US" sz="750" strike="noStrike" u="none">
              <a:solidFill>
                <a:srgbClr val="000000"/>
              </a:solidFill>
              <a:effectLst/>
              <a:uFillTx/>
              <a:latin typeface="Times New Roman"/>
            </a:endParaRPr>
          </a:p>
        </p:txBody>
      </p:sp>
      <p:sp>
        <p:nvSpPr>
          <p:cNvPr id="112" name=""/>
          <p:cNvSpPr txBox="1"/>
          <p:nvPr/>
        </p:nvSpPr>
        <p:spPr>
          <a:xfrm>
            <a:off x="489960" y="1998720"/>
            <a:ext cx="366228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医師が行った個々の診療行為ごとに点数が設定され、それらを積み上げて総点数を計算する方式で</a:t>
            </a:r>
            <a:endParaRPr b="0" lang="en-US" sz="650" strike="noStrike" u="none">
              <a:solidFill>
                <a:srgbClr val="000000"/>
              </a:solidFill>
              <a:effectLst/>
              <a:uFillTx/>
              <a:latin typeface="Times New Roman"/>
            </a:endParaRPr>
          </a:p>
        </p:txBody>
      </p:sp>
      <p:pic>
        <p:nvPicPr>
          <p:cNvPr id="113" name="" descr=""/>
          <p:cNvPicPr/>
          <p:nvPr/>
        </p:nvPicPr>
        <p:blipFill>
          <a:blip r:embed="rId9"/>
          <a:stretch/>
        </p:blipFill>
        <p:spPr>
          <a:xfrm>
            <a:off x="326880" y="2322360"/>
            <a:ext cx="108720" cy="108720"/>
          </a:xfrm>
          <a:prstGeom prst="rect">
            <a:avLst/>
          </a:prstGeom>
          <a:noFill/>
          <a:ln w="0">
            <a:noFill/>
          </a:ln>
        </p:spPr>
      </p:pic>
      <p:sp>
        <p:nvSpPr>
          <p:cNvPr id="114" name=""/>
          <p:cNvSpPr txBox="1"/>
          <p:nvPr/>
        </p:nvSpPr>
        <p:spPr>
          <a:xfrm>
            <a:off x="489960" y="2107440"/>
            <a:ext cx="16740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す。</a:t>
            </a:r>
            <a:endParaRPr b="0" lang="en-US" sz="650" strike="noStrike" u="none">
              <a:solidFill>
                <a:srgbClr val="000000"/>
              </a:solidFill>
              <a:effectLst/>
              <a:uFillTx/>
              <a:latin typeface="Times New Roman"/>
            </a:endParaRPr>
          </a:p>
        </p:txBody>
      </p:sp>
      <p:sp>
        <p:nvSpPr>
          <p:cNvPr id="115" name=""/>
          <p:cNvSpPr txBox="1"/>
          <p:nvPr/>
        </p:nvSpPr>
        <p:spPr>
          <a:xfrm>
            <a:off x="489960" y="2305440"/>
            <a:ext cx="867240" cy="122400"/>
          </a:xfrm>
          <a:prstGeom prst="rect">
            <a:avLst/>
          </a:prstGeom>
          <a:noFill/>
          <a:ln w="0">
            <a:noFill/>
          </a:ln>
        </p:spPr>
        <p:txBody>
          <a:bodyPr wrap="none" lIns="0" rIns="0" tIns="0" bIns="0" anchor="t">
            <a:spAutoFit/>
          </a:bodyPr>
          <a:p>
            <a:r>
              <a:rPr b="0" lang="zh-CN" sz="750" strike="noStrike" u="none">
                <a:solidFill>
                  <a:srgbClr val="000000"/>
                </a:solidFill>
                <a:effectLst/>
                <a:uFillTx/>
                <a:latin typeface="WenQuanYiZenHei"/>
                <a:ea typeface="WenQuanYiZenHei"/>
              </a:rPr>
              <a:t>全国一律の点数制度</a:t>
            </a:r>
            <a:endParaRPr b="0" lang="en-US" sz="750" strike="noStrike" u="none">
              <a:solidFill>
                <a:srgbClr val="000000"/>
              </a:solidFill>
              <a:effectLst/>
              <a:uFillTx/>
              <a:latin typeface="Times New Roman"/>
            </a:endParaRPr>
          </a:p>
        </p:txBody>
      </p:sp>
      <p:pic>
        <p:nvPicPr>
          <p:cNvPr id="116" name="" descr=""/>
          <p:cNvPicPr/>
          <p:nvPr/>
        </p:nvPicPr>
        <p:blipFill>
          <a:blip r:embed="rId10"/>
          <a:stretch/>
        </p:blipFill>
        <p:spPr>
          <a:xfrm>
            <a:off x="326880" y="2648880"/>
            <a:ext cx="108720" cy="108720"/>
          </a:xfrm>
          <a:prstGeom prst="rect">
            <a:avLst/>
          </a:prstGeom>
          <a:noFill/>
          <a:ln w="0">
            <a:noFill/>
          </a:ln>
        </p:spPr>
      </p:pic>
      <p:sp>
        <p:nvSpPr>
          <p:cNvPr id="117" name=""/>
          <p:cNvSpPr txBox="1"/>
          <p:nvPr/>
        </p:nvSpPr>
        <p:spPr>
          <a:xfrm>
            <a:off x="489960" y="2434320"/>
            <a:ext cx="307260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診療報酬における点数は全国一律で、医療機関の規模や地域に関わらず同一です。</a:t>
            </a:r>
            <a:endParaRPr b="0" lang="en-US" sz="650" strike="noStrike" u="none">
              <a:solidFill>
                <a:srgbClr val="000000"/>
              </a:solidFill>
              <a:effectLst/>
              <a:uFillTx/>
              <a:latin typeface="Times New Roman"/>
            </a:endParaRPr>
          </a:p>
        </p:txBody>
      </p:sp>
      <p:sp>
        <p:nvSpPr>
          <p:cNvPr id="118" name=""/>
          <p:cNvSpPr txBox="1"/>
          <p:nvPr/>
        </p:nvSpPr>
        <p:spPr>
          <a:xfrm>
            <a:off x="489960" y="2631960"/>
            <a:ext cx="1255680" cy="122400"/>
          </a:xfrm>
          <a:prstGeom prst="rect">
            <a:avLst/>
          </a:prstGeom>
          <a:noFill/>
          <a:ln w="0">
            <a:noFill/>
          </a:ln>
        </p:spPr>
        <p:txBody>
          <a:bodyPr wrap="none" lIns="0" rIns="0" tIns="0" bIns="0" anchor="t">
            <a:spAutoFit/>
          </a:bodyPr>
          <a:p>
            <a:r>
              <a:rPr b="0" lang="zh-CN" sz="750" strike="noStrike" u="none">
                <a:solidFill>
                  <a:srgbClr val="000000"/>
                </a:solidFill>
                <a:effectLst/>
                <a:uFillTx/>
                <a:latin typeface="WenQuanYiZenHei"/>
                <a:ea typeface="WenQuanYiZenHei"/>
              </a:rPr>
              <a:t>診療報酬点数表に基づく算定</a:t>
            </a:r>
            <a:endParaRPr b="0" lang="en-US" sz="750" strike="noStrike" u="none">
              <a:solidFill>
                <a:srgbClr val="000000"/>
              </a:solidFill>
              <a:effectLst/>
              <a:uFillTx/>
              <a:latin typeface="Times New Roman"/>
            </a:endParaRPr>
          </a:p>
        </p:txBody>
      </p:sp>
      <p:sp>
        <p:nvSpPr>
          <p:cNvPr id="119" name=""/>
          <p:cNvSpPr/>
          <p:nvPr/>
        </p:nvSpPr>
        <p:spPr>
          <a:xfrm>
            <a:off x="4437720" y="1478160"/>
            <a:ext cx="4056840" cy="1797120"/>
          </a:xfrm>
          <a:custGeom>
            <a:avLst/>
            <a:gdLst/>
            <a:ahLst/>
            <a:rect l="0" t="0" r="r" b="b"/>
            <a:pathLst>
              <a:path w="11269" h="4992">
                <a:moveTo>
                  <a:pt x="0" y="4841"/>
                </a:moveTo>
                <a:lnTo>
                  <a:pt x="0" y="151"/>
                </a:lnTo>
                <a:cubicBezTo>
                  <a:pt x="0" y="141"/>
                  <a:pt x="1" y="131"/>
                  <a:pt x="3" y="122"/>
                </a:cubicBezTo>
                <a:cubicBezTo>
                  <a:pt x="5" y="112"/>
                  <a:pt x="7" y="102"/>
                  <a:pt x="11" y="93"/>
                </a:cubicBezTo>
                <a:cubicBezTo>
                  <a:pt x="15" y="84"/>
                  <a:pt x="20" y="75"/>
                  <a:pt x="25" y="67"/>
                </a:cubicBezTo>
                <a:cubicBezTo>
                  <a:pt x="31" y="59"/>
                  <a:pt x="37" y="51"/>
                  <a:pt x="44" y="44"/>
                </a:cubicBezTo>
                <a:cubicBezTo>
                  <a:pt x="51" y="37"/>
                  <a:pt x="59" y="31"/>
                  <a:pt x="67" y="25"/>
                </a:cubicBezTo>
                <a:cubicBezTo>
                  <a:pt x="75" y="20"/>
                  <a:pt x="84" y="15"/>
                  <a:pt x="93" y="11"/>
                </a:cubicBezTo>
                <a:cubicBezTo>
                  <a:pt x="102" y="8"/>
                  <a:pt x="112" y="5"/>
                  <a:pt x="122" y="3"/>
                </a:cubicBezTo>
                <a:cubicBezTo>
                  <a:pt x="131" y="1"/>
                  <a:pt x="141" y="0"/>
                  <a:pt x="151" y="0"/>
                </a:cubicBezTo>
                <a:lnTo>
                  <a:pt x="11118" y="0"/>
                </a:lnTo>
                <a:cubicBezTo>
                  <a:pt x="11128" y="0"/>
                  <a:pt x="11138" y="1"/>
                  <a:pt x="11148" y="3"/>
                </a:cubicBezTo>
                <a:cubicBezTo>
                  <a:pt x="11157" y="5"/>
                  <a:pt x="11167" y="8"/>
                  <a:pt x="11176" y="11"/>
                </a:cubicBezTo>
                <a:cubicBezTo>
                  <a:pt x="11185" y="15"/>
                  <a:pt x="11194" y="20"/>
                  <a:pt x="11202" y="25"/>
                </a:cubicBezTo>
                <a:cubicBezTo>
                  <a:pt x="11210" y="31"/>
                  <a:pt x="11218" y="37"/>
                  <a:pt x="11225" y="44"/>
                </a:cubicBezTo>
                <a:cubicBezTo>
                  <a:pt x="11232" y="51"/>
                  <a:pt x="11238" y="59"/>
                  <a:pt x="11244" y="67"/>
                </a:cubicBezTo>
                <a:cubicBezTo>
                  <a:pt x="11249" y="75"/>
                  <a:pt x="11254" y="84"/>
                  <a:pt x="11258" y="93"/>
                </a:cubicBezTo>
                <a:cubicBezTo>
                  <a:pt x="11262" y="102"/>
                  <a:pt x="11264" y="112"/>
                  <a:pt x="11266" y="122"/>
                </a:cubicBezTo>
                <a:cubicBezTo>
                  <a:pt x="11268" y="131"/>
                  <a:pt x="11269" y="141"/>
                  <a:pt x="11269" y="151"/>
                </a:cubicBezTo>
                <a:lnTo>
                  <a:pt x="11269" y="4841"/>
                </a:lnTo>
                <a:cubicBezTo>
                  <a:pt x="11269" y="4851"/>
                  <a:pt x="11268" y="4861"/>
                  <a:pt x="11266" y="4871"/>
                </a:cubicBezTo>
                <a:cubicBezTo>
                  <a:pt x="11264" y="4880"/>
                  <a:pt x="11262" y="4890"/>
                  <a:pt x="11258" y="4899"/>
                </a:cubicBezTo>
                <a:cubicBezTo>
                  <a:pt x="11254" y="4908"/>
                  <a:pt x="11249" y="4917"/>
                  <a:pt x="11244" y="4925"/>
                </a:cubicBezTo>
                <a:cubicBezTo>
                  <a:pt x="11238" y="4933"/>
                  <a:pt x="11232" y="4941"/>
                  <a:pt x="11225" y="4948"/>
                </a:cubicBezTo>
                <a:cubicBezTo>
                  <a:pt x="11218" y="4955"/>
                  <a:pt x="11210" y="4961"/>
                  <a:pt x="11202" y="4967"/>
                </a:cubicBezTo>
                <a:cubicBezTo>
                  <a:pt x="11194" y="4972"/>
                  <a:pt x="11185" y="4977"/>
                  <a:pt x="11176" y="4981"/>
                </a:cubicBezTo>
                <a:cubicBezTo>
                  <a:pt x="11167" y="4985"/>
                  <a:pt x="11157" y="4987"/>
                  <a:pt x="11148" y="4989"/>
                </a:cubicBezTo>
                <a:cubicBezTo>
                  <a:pt x="11138" y="4991"/>
                  <a:pt x="11128" y="4992"/>
                  <a:pt x="11118" y="4992"/>
                </a:cubicBezTo>
                <a:lnTo>
                  <a:pt x="151" y="4992"/>
                </a:lnTo>
                <a:cubicBezTo>
                  <a:pt x="141" y="4992"/>
                  <a:pt x="131" y="4991"/>
                  <a:pt x="122" y="4989"/>
                </a:cubicBezTo>
                <a:cubicBezTo>
                  <a:pt x="112" y="4987"/>
                  <a:pt x="102" y="4985"/>
                  <a:pt x="93" y="4981"/>
                </a:cubicBezTo>
                <a:cubicBezTo>
                  <a:pt x="84" y="4977"/>
                  <a:pt x="75" y="4972"/>
                  <a:pt x="67" y="4967"/>
                </a:cubicBezTo>
                <a:cubicBezTo>
                  <a:pt x="59" y="4961"/>
                  <a:pt x="51" y="4955"/>
                  <a:pt x="44" y="4948"/>
                </a:cubicBezTo>
                <a:cubicBezTo>
                  <a:pt x="37" y="4941"/>
                  <a:pt x="31" y="4933"/>
                  <a:pt x="25" y="4925"/>
                </a:cubicBezTo>
                <a:cubicBezTo>
                  <a:pt x="20" y="4917"/>
                  <a:pt x="15" y="4908"/>
                  <a:pt x="11" y="4899"/>
                </a:cubicBezTo>
                <a:cubicBezTo>
                  <a:pt x="7" y="4890"/>
                  <a:pt x="5" y="4880"/>
                  <a:pt x="3" y="4871"/>
                </a:cubicBezTo>
                <a:cubicBezTo>
                  <a:pt x="1" y="4861"/>
                  <a:pt x="0" y="4851"/>
                  <a:pt x="0" y="4841"/>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20" name=""/>
          <p:cNvSpPr/>
          <p:nvPr/>
        </p:nvSpPr>
        <p:spPr>
          <a:xfrm>
            <a:off x="4560120" y="1859400"/>
            <a:ext cx="3825720" cy="599040"/>
          </a:xfrm>
          <a:custGeom>
            <a:avLst/>
            <a:gdLst/>
            <a:ahLst/>
            <a:rect l="0" t="0" r="r" b="b"/>
            <a:pathLst>
              <a:path w="10627" h="1664">
                <a:moveTo>
                  <a:pt x="0" y="1513"/>
                </a:moveTo>
                <a:lnTo>
                  <a:pt x="0" y="151"/>
                </a:lnTo>
                <a:cubicBezTo>
                  <a:pt x="0" y="131"/>
                  <a:pt x="3" y="112"/>
                  <a:pt x="9" y="93"/>
                </a:cubicBezTo>
                <a:cubicBezTo>
                  <a:pt x="14" y="74"/>
                  <a:pt x="23" y="58"/>
                  <a:pt x="33" y="44"/>
                </a:cubicBezTo>
                <a:cubicBezTo>
                  <a:pt x="44" y="30"/>
                  <a:pt x="56" y="19"/>
                  <a:pt x="70" y="11"/>
                </a:cubicBezTo>
                <a:cubicBezTo>
                  <a:pt x="84" y="3"/>
                  <a:pt x="98" y="0"/>
                  <a:pt x="114" y="0"/>
                </a:cubicBezTo>
                <a:lnTo>
                  <a:pt x="10476" y="0"/>
                </a:lnTo>
                <a:cubicBezTo>
                  <a:pt x="10485" y="0"/>
                  <a:pt x="10495" y="1"/>
                  <a:pt x="10505" y="3"/>
                </a:cubicBezTo>
                <a:cubicBezTo>
                  <a:pt x="10515" y="4"/>
                  <a:pt x="10524" y="7"/>
                  <a:pt x="10533" y="11"/>
                </a:cubicBezTo>
                <a:cubicBezTo>
                  <a:pt x="10543" y="15"/>
                  <a:pt x="10551" y="20"/>
                  <a:pt x="10560" y="25"/>
                </a:cubicBezTo>
                <a:cubicBezTo>
                  <a:pt x="10568" y="31"/>
                  <a:pt x="10575" y="37"/>
                  <a:pt x="10582" y="44"/>
                </a:cubicBezTo>
                <a:cubicBezTo>
                  <a:pt x="10589" y="51"/>
                  <a:pt x="10596" y="59"/>
                  <a:pt x="10601" y="67"/>
                </a:cubicBezTo>
                <a:cubicBezTo>
                  <a:pt x="10607" y="75"/>
                  <a:pt x="10611" y="84"/>
                  <a:pt x="10615" y="93"/>
                </a:cubicBezTo>
                <a:cubicBezTo>
                  <a:pt x="10619" y="102"/>
                  <a:pt x="10622" y="112"/>
                  <a:pt x="10624" y="121"/>
                </a:cubicBezTo>
                <a:cubicBezTo>
                  <a:pt x="10626" y="131"/>
                  <a:pt x="10627" y="141"/>
                  <a:pt x="10627" y="151"/>
                </a:cubicBezTo>
                <a:lnTo>
                  <a:pt x="10627" y="1513"/>
                </a:lnTo>
                <a:cubicBezTo>
                  <a:pt x="10627" y="1523"/>
                  <a:pt x="10626" y="1533"/>
                  <a:pt x="10624" y="1543"/>
                </a:cubicBezTo>
                <a:cubicBezTo>
                  <a:pt x="10622" y="1552"/>
                  <a:pt x="10619" y="1562"/>
                  <a:pt x="10615" y="1571"/>
                </a:cubicBezTo>
                <a:cubicBezTo>
                  <a:pt x="10611" y="1580"/>
                  <a:pt x="10607" y="1589"/>
                  <a:pt x="10601" y="1597"/>
                </a:cubicBezTo>
                <a:cubicBezTo>
                  <a:pt x="10596" y="1605"/>
                  <a:pt x="10589" y="1613"/>
                  <a:pt x="10582" y="1620"/>
                </a:cubicBezTo>
                <a:cubicBezTo>
                  <a:pt x="10575" y="1627"/>
                  <a:pt x="10568" y="1633"/>
                  <a:pt x="10560" y="1639"/>
                </a:cubicBezTo>
                <a:cubicBezTo>
                  <a:pt x="10551" y="1644"/>
                  <a:pt x="10543" y="1649"/>
                  <a:pt x="10533" y="1653"/>
                </a:cubicBezTo>
                <a:cubicBezTo>
                  <a:pt x="10524" y="1657"/>
                  <a:pt x="10515" y="1660"/>
                  <a:pt x="10505" y="1662"/>
                </a:cubicBezTo>
                <a:cubicBezTo>
                  <a:pt x="10495" y="1663"/>
                  <a:pt x="10485" y="1664"/>
                  <a:pt x="10476" y="1664"/>
                </a:cubicBezTo>
                <a:lnTo>
                  <a:pt x="114" y="1664"/>
                </a:lnTo>
                <a:cubicBezTo>
                  <a:pt x="98" y="1664"/>
                  <a:pt x="84" y="1661"/>
                  <a:pt x="70" y="1653"/>
                </a:cubicBezTo>
                <a:cubicBezTo>
                  <a:pt x="56" y="1645"/>
                  <a:pt x="44" y="1634"/>
                  <a:pt x="33" y="1620"/>
                </a:cubicBezTo>
                <a:cubicBezTo>
                  <a:pt x="23" y="1606"/>
                  <a:pt x="14" y="1590"/>
                  <a:pt x="9" y="1571"/>
                </a:cubicBezTo>
                <a:cubicBezTo>
                  <a:pt x="3" y="1553"/>
                  <a:pt x="0" y="1533"/>
                  <a:pt x="0" y="1513"/>
                </a:cubicBezTo>
                <a:close/>
              </a:path>
            </a:pathLst>
          </a:custGeom>
          <a:solidFill>
            <a:srgbClr val="eff6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21" name=""/>
          <p:cNvSpPr/>
          <p:nvPr/>
        </p:nvSpPr>
        <p:spPr>
          <a:xfrm>
            <a:off x="4546440" y="1859400"/>
            <a:ext cx="55080" cy="599040"/>
          </a:xfrm>
          <a:custGeom>
            <a:avLst/>
            <a:gdLst/>
            <a:ahLst/>
            <a:rect l="0" t="0" r="r" b="b"/>
            <a:pathLst>
              <a:path w="153" h="1664">
                <a:moveTo>
                  <a:pt x="0" y="0"/>
                </a:moveTo>
                <a:lnTo>
                  <a:pt x="153" y="0"/>
                </a:lnTo>
                <a:lnTo>
                  <a:pt x="153" y="1664"/>
                </a:lnTo>
                <a:lnTo>
                  <a:pt x="0" y="1664"/>
                </a:lnTo>
                <a:lnTo>
                  <a:pt x="0" y="0"/>
                </a:lnTo>
                <a:close/>
              </a:path>
            </a:pathLst>
          </a:custGeom>
          <a:solidFill>
            <a:srgbClr val="3b82f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22" name=""/>
          <p:cNvSpPr/>
          <p:nvPr/>
        </p:nvSpPr>
        <p:spPr>
          <a:xfrm>
            <a:off x="4560120" y="2567160"/>
            <a:ext cx="3825720" cy="599400"/>
          </a:xfrm>
          <a:custGeom>
            <a:avLst/>
            <a:gdLst/>
            <a:ahLst/>
            <a:rect l="0" t="0" r="r" b="b"/>
            <a:pathLst>
              <a:path w="10627" h="1665">
                <a:moveTo>
                  <a:pt x="0" y="1514"/>
                </a:moveTo>
                <a:lnTo>
                  <a:pt x="0" y="151"/>
                </a:lnTo>
                <a:cubicBezTo>
                  <a:pt x="0" y="131"/>
                  <a:pt x="3" y="112"/>
                  <a:pt x="9" y="93"/>
                </a:cubicBezTo>
                <a:cubicBezTo>
                  <a:pt x="14" y="75"/>
                  <a:pt x="23" y="58"/>
                  <a:pt x="33" y="44"/>
                </a:cubicBezTo>
                <a:cubicBezTo>
                  <a:pt x="44" y="30"/>
                  <a:pt x="56" y="19"/>
                  <a:pt x="70" y="11"/>
                </a:cubicBezTo>
                <a:cubicBezTo>
                  <a:pt x="84" y="4"/>
                  <a:pt x="98" y="0"/>
                  <a:pt x="114" y="0"/>
                </a:cubicBezTo>
                <a:lnTo>
                  <a:pt x="10476" y="0"/>
                </a:lnTo>
                <a:cubicBezTo>
                  <a:pt x="10485" y="0"/>
                  <a:pt x="10495" y="1"/>
                  <a:pt x="10505" y="3"/>
                </a:cubicBezTo>
                <a:cubicBezTo>
                  <a:pt x="10515" y="5"/>
                  <a:pt x="10524" y="8"/>
                  <a:pt x="10533" y="11"/>
                </a:cubicBezTo>
                <a:cubicBezTo>
                  <a:pt x="10543" y="15"/>
                  <a:pt x="10551" y="20"/>
                  <a:pt x="10560" y="25"/>
                </a:cubicBezTo>
                <a:cubicBezTo>
                  <a:pt x="10568" y="31"/>
                  <a:pt x="10575" y="37"/>
                  <a:pt x="10582" y="44"/>
                </a:cubicBezTo>
                <a:cubicBezTo>
                  <a:pt x="10589" y="51"/>
                  <a:pt x="10596" y="59"/>
                  <a:pt x="10601" y="67"/>
                </a:cubicBezTo>
                <a:cubicBezTo>
                  <a:pt x="10607" y="75"/>
                  <a:pt x="10611" y="84"/>
                  <a:pt x="10615" y="93"/>
                </a:cubicBezTo>
                <a:cubicBezTo>
                  <a:pt x="10619" y="103"/>
                  <a:pt x="10622" y="112"/>
                  <a:pt x="10624" y="122"/>
                </a:cubicBezTo>
                <a:cubicBezTo>
                  <a:pt x="10626" y="131"/>
                  <a:pt x="10627" y="141"/>
                  <a:pt x="10627" y="151"/>
                </a:cubicBezTo>
                <a:lnTo>
                  <a:pt x="10627" y="1514"/>
                </a:lnTo>
                <a:cubicBezTo>
                  <a:pt x="10627" y="1523"/>
                  <a:pt x="10626" y="1533"/>
                  <a:pt x="10624" y="1543"/>
                </a:cubicBezTo>
                <a:cubicBezTo>
                  <a:pt x="10622" y="1553"/>
                  <a:pt x="10619" y="1562"/>
                  <a:pt x="10615" y="1571"/>
                </a:cubicBezTo>
                <a:cubicBezTo>
                  <a:pt x="10611" y="1581"/>
                  <a:pt x="10607" y="1589"/>
                  <a:pt x="10601" y="1598"/>
                </a:cubicBezTo>
                <a:cubicBezTo>
                  <a:pt x="10596" y="1606"/>
                  <a:pt x="10589" y="1613"/>
                  <a:pt x="10582" y="1620"/>
                </a:cubicBezTo>
                <a:cubicBezTo>
                  <a:pt x="10575" y="1627"/>
                  <a:pt x="10568" y="1634"/>
                  <a:pt x="10560" y="1639"/>
                </a:cubicBezTo>
                <a:cubicBezTo>
                  <a:pt x="10551" y="1645"/>
                  <a:pt x="10543" y="1649"/>
                  <a:pt x="10533" y="1653"/>
                </a:cubicBezTo>
                <a:cubicBezTo>
                  <a:pt x="10524" y="1657"/>
                  <a:pt x="10515" y="1660"/>
                  <a:pt x="10505" y="1662"/>
                </a:cubicBezTo>
                <a:cubicBezTo>
                  <a:pt x="10495" y="1664"/>
                  <a:pt x="10485" y="1665"/>
                  <a:pt x="10476" y="1665"/>
                </a:cubicBezTo>
                <a:lnTo>
                  <a:pt x="114" y="1665"/>
                </a:lnTo>
                <a:cubicBezTo>
                  <a:pt x="98" y="1665"/>
                  <a:pt x="84" y="1661"/>
                  <a:pt x="70" y="1653"/>
                </a:cubicBezTo>
                <a:cubicBezTo>
                  <a:pt x="56" y="1646"/>
                  <a:pt x="44" y="1635"/>
                  <a:pt x="33" y="1620"/>
                </a:cubicBezTo>
                <a:cubicBezTo>
                  <a:pt x="23" y="1606"/>
                  <a:pt x="14" y="1590"/>
                  <a:pt x="9" y="1571"/>
                </a:cubicBezTo>
                <a:cubicBezTo>
                  <a:pt x="3" y="1553"/>
                  <a:pt x="0" y="1534"/>
                  <a:pt x="0" y="1514"/>
                </a:cubicBezTo>
                <a:close/>
              </a:path>
            </a:pathLst>
          </a:custGeom>
          <a:solidFill>
            <a:srgbClr val="ecfdf5"/>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23" name=""/>
          <p:cNvSpPr/>
          <p:nvPr/>
        </p:nvSpPr>
        <p:spPr>
          <a:xfrm>
            <a:off x="4546440" y="2567160"/>
            <a:ext cx="55080" cy="599400"/>
          </a:xfrm>
          <a:custGeom>
            <a:avLst/>
            <a:gdLst/>
            <a:ahLst/>
            <a:rect l="0" t="0" r="r" b="b"/>
            <a:pathLst>
              <a:path w="153" h="1665">
                <a:moveTo>
                  <a:pt x="0" y="0"/>
                </a:moveTo>
                <a:lnTo>
                  <a:pt x="153" y="0"/>
                </a:lnTo>
                <a:lnTo>
                  <a:pt x="153" y="1665"/>
                </a:lnTo>
                <a:lnTo>
                  <a:pt x="0" y="1665"/>
                </a:lnTo>
                <a:lnTo>
                  <a:pt x="0" y="0"/>
                </a:lnTo>
                <a:close/>
              </a:path>
            </a:pathLst>
          </a:custGeom>
          <a:solidFill>
            <a:srgbClr val="10b981"/>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24" name="" descr=""/>
          <p:cNvPicPr/>
          <p:nvPr/>
        </p:nvPicPr>
        <p:blipFill>
          <a:blip r:embed="rId11"/>
          <a:stretch/>
        </p:blipFill>
        <p:spPr>
          <a:xfrm>
            <a:off x="4546800" y="1614600"/>
            <a:ext cx="156240" cy="135720"/>
          </a:xfrm>
          <a:prstGeom prst="rect">
            <a:avLst/>
          </a:prstGeom>
          <a:noFill/>
          <a:ln w="0">
            <a:noFill/>
          </a:ln>
        </p:spPr>
      </p:pic>
      <p:sp>
        <p:nvSpPr>
          <p:cNvPr id="125" name=""/>
          <p:cNvSpPr txBox="1"/>
          <p:nvPr/>
        </p:nvSpPr>
        <p:spPr>
          <a:xfrm>
            <a:off x="489960" y="2760840"/>
            <a:ext cx="257328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厚生労働大臣が定める「診療報酬点数表」に基づいて算定されます。</a:t>
            </a:r>
            <a:endParaRPr b="0" lang="en-US" sz="650" strike="noStrike" u="none">
              <a:solidFill>
                <a:srgbClr val="000000"/>
              </a:solidFill>
              <a:effectLst/>
              <a:uFillTx/>
              <a:latin typeface="Times New Roman"/>
            </a:endParaRPr>
          </a:p>
        </p:txBody>
      </p:sp>
      <p:sp>
        <p:nvSpPr>
          <p:cNvPr id="126" name=""/>
          <p:cNvSpPr txBox="1"/>
          <p:nvPr/>
        </p:nvSpPr>
        <p:spPr>
          <a:xfrm>
            <a:off x="4757760" y="1599120"/>
            <a:ext cx="953280" cy="171000"/>
          </a:xfrm>
          <a:prstGeom prst="rect">
            <a:avLst/>
          </a:prstGeom>
          <a:noFill/>
          <a:ln w="0">
            <a:noFill/>
          </a:ln>
        </p:spPr>
        <p:txBody>
          <a:bodyPr wrap="none" lIns="0" rIns="0" tIns="0" bIns="0" anchor="t">
            <a:spAutoFit/>
          </a:bodyPr>
          <a:p>
            <a:r>
              <a:rPr b="0" lang="zh-CN" sz="1070" strike="noStrike" u="none">
                <a:solidFill>
                  <a:srgbClr val="1d4ed8"/>
                </a:solidFill>
                <a:effectLst/>
                <a:uFillTx/>
                <a:latin typeface="WenQuanYiZenHei"/>
                <a:ea typeface="WenQuanYiZenHei"/>
              </a:rPr>
              <a:t>診療報酬の区分</a:t>
            </a:r>
            <a:endParaRPr b="0" lang="en-US" sz="1070" strike="noStrike" u="none">
              <a:solidFill>
                <a:srgbClr val="000000"/>
              </a:solidFill>
              <a:effectLst/>
              <a:uFillTx/>
              <a:latin typeface="Times New Roman"/>
            </a:endParaRPr>
          </a:p>
        </p:txBody>
      </p:sp>
      <p:sp>
        <p:nvSpPr>
          <p:cNvPr id="127" name=""/>
          <p:cNvSpPr txBox="1"/>
          <p:nvPr/>
        </p:nvSpPr>
        <p:spPr>
          <a:xfrm>
            <a:off x="4655520" y="1959120"/>
            <a:ext cx="610200" cy="154440"/>
          </a:xfrm>
          <a:prstGeom prst="rect">
            <a:avLst/>
          </a:prstGeom>
          <a:noFill/>
          <a:ln w="0">
            <a:noFill/>
          </a:ln>
        </p:spPr>
        <p:txBody>
          <a:bodyPr wrap="none" lIns="0" rIns="0" tIns="0" bIns="0" anchor="t">
            <a:spAutoFit/>
          </a:bodyPr>
          <a:p>
            <a:r>
              <a:rPr b="0" lang="zh-CN" sz="960" strike="noStrike" u="none">
                <a:solidFill>
                  <a:srgbClr val="1d4ed8"/>
                </a:solidFill>
                <a:effectLst/>
                <a:uFillTx/>
                <a:latin typeface="WenQuanYiZenHei"/>
                <a:ea typeface="WenQuanYiZenHei"/>
              </a:rPr>
              <a:t>基本診療料</a:t>
            </a:r>
            <a:endParaRPr b="0" lang="en-US" sz="960" strike="noStrike" u="none">
              <a:solidFill>
                <a:srgbClr val="000000"/>
              </a:solidFill>
              <a:effectLst/>
              <a:uFillTx/>
              <a:latin typeface="Times New Roman"/>
            </a:endParaRPr>
          </a:p>
        </p:txBody>
      </p:sp>
      <p:sp>
        <p:nvSpPr>
          <p:cNvPr id="128" name=""/>
          <p:cNvSpPr txBox="1"/>
          <p:nvPr/>
        </p:nvSpPr>
        <p:spPr>
          <a:xfrm>
            <a:off x="4655520" y="2161800"/>
            <a:ext cx="364860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初診料、再診料、入院基本料など、基本的な診療行為に対して算定される点数です。患者さんが医</a:t>
            </a:r>
            <a:endParaRPr b="0" lang="en-US" sz="650" strike="noStrike" u="none">
              <a:solidFill>
                <a:srgbClr val="000000"/>
              </a:solidFill>
              <a:effectLst/>
              <a:uFillTx/>
              <a:latin typeface="Times New Roman"/>
            </a:endParaRPr>
          </a:p>
        </p:txBody>
      </p:sp>
      <p:sp>
        <p:nvSpPr>
          <p:cNvPr id="129" name=""/>
          <p:cNvSpPr txBox="1"/>
          <p:nvPr/>
        </p:nvSpPr>
        <p:spPr>
          <a:xfrm>
            <a:off x="4655520" y="2270880"/>
            <a:ext cx="233208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療機関を受診した際に、診療内容にかかわらず算定されます。</a:t>
            </a:r>
            <a:endParaRPr b="0" lang="en-US" sz="650" strike="noStrike" u="none">
              <a:solidFill>
                <a:srgbClr val="000000"/>
              </a:solidFill>
              <a:effectLst/>
              <a:uFillTx/>
              <a:latin typeface="Times New Roman"/>
            </a:endParaRPr>
          </a:p>
        </p:txBody>
      </p:sp>
      <p:sp>
        <p:nvSpPr>
          <p:cNvPr id="130" name=""/>
          <p:cNvSpPr txBox="1"/>
          <p:nvPr/>
        </p:nvSpPr>
        <p:spPr>
          <a:xfrm>
            <a:off x="4655520" y="2667240"/>
            <a:ext cx="610200" cy="154440"/>
          </a:xfrm>
          <a:prstGeom prst="rect">
            <a:avLst/>
          </a:prstGeom>
          <a:noFill/>
          <a:ln w="0">
            <a:noFill/>
          </a:ln>
        </p:spPr>
        <p:txBody>
          <a:bodyPr wrap="none" lIns="0" rIns="0" tIns="0" bIns="0" anchor="t">
            <a:spAutoFit/>
          </a:bodyPr>
          <a:p>
            <a:r>
              <a:rPr b="0" lang="zh-CN" sz="960" strike="noStrike" u="none">
                <a:solidFill>
                  <a:srgbClr val="047857"/>
                </a:solidFill>
                <a:effectLst/>
                <a:uFillTx/>
                <a:latin typeface="WenQuanYiZenHei"/>
                <a:ea typeface="WenQuanYiZenHei"/>
              </a:rPr>
              <a:t>特掲診療料</a:t>
            </a:r>
            <a:endParaRPr b="0" lang="en-US" sz="960" strike="noStrike" u="none">
              <a:solidFill>
                <a:srgbClr val="000000"/>
              </a:solidFill>
              <a:effectLst/>
              <a:uFillTx/>
              <a:latin typeface="Times New Roman"/>
            </a:endParaRPr>
          </a:p>
        </p:txBody>
      </p:sp>
      <p:sp>
        <p:nvSpPr>
          <p:cNvPr id="131" name=""/>
          <p:cNvSpPr txBox="1"/>
          <p:nvPr/>
        </p:nvSpPr>
        <p:spPr>
          <a:xfrm>
            <a:off x="4655520" y="2869920"/>
            <a:ext cx="364860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検査、画像診断、投薬、注射、リハビリテーション、処置、手術など、個別の医療行為に対して算</a:t>
            </a:r>
            <a:endParaRPr b="0" lang="en-US" sz="650" strike="noStrike" u="none">
              <a:solidFill>
                <a:srgbClr val="000000"/>
              </a:solidFill>
              <a:effectLst/>
              <a:uFillTx/>
              <a:latin typeface="Times New Roman"/>
            </a:endParaRPr>
          </a:p>
        </p:txBody>
      </p:sp>
      <p:sp>
        <p:nvSpPr>
          <p:cNvPr id="132" name=""/>
          <p:cNvSpPr txBox="1"/>
          <p:nvPr/>
        </p:nvSpPr>
        <p:spPr>
          <a:xfrm>
            <a:off x="4655520" y="2978640"/>
            <a:ext cx="299988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定される点数です。行為の専門性や難易度などが考慮されて設定されています。</a:t>
            </a:r>
            <a:endParaRPr b="0" lang="en-US" sz="650" strike="noStrike" u="none">
              <a:solidFill>
                <a:srgbClr val="000000"/>
              </a:solidFill>
              <a:effectLst/>
              <a:uFillTx/>
              <a:latin typeface="Times New Roman"/>
            </a:endParaRPr>
          </a:p>
        </p:txBody>
      </p:sp>
      <p:sp>
        <p:nvSpPr>
          <p:cNvPr id="133" name=""/>
          <p:cNvSpPr txBox="1"/>
          <p:nvPr/>
        </p:nvSpPr>
        <p:spPr>
          <a:xfrm>
            <a:off x="2044440" y="3394440"/>
            <a:ext cx="4825800" cy="123840"/>
          </a:xfrm>
          <a:prstGeom prst="rect">
            <a:avLst/>
          </a:prstGeom>
          <a:noFill/>
          <a:ln w="0">
            <a:noFill/>
          </a:ln>
        </p:spPr>
        <p:txBody>
          <a:bodyPr wrap="none" lIns="0" rIns="0" tIns="0" bIns="0" anchor="t">
            <a:spAutoFit/>
          </a:bodyPr>
          <a:p>
            <a:r>
              <a:rPr b="0" lang="zh-CN" sz="770" strike="noStrike" u="none">
                <a:solidFill>
                  <a:srgbClr val="4b5563"/>
                </a:solidFill>
                <a:effectLst/>
                <a:uFillTx/>
                <a:latin typeface="WenQuanYiZenHei"/>
                <a:ea typeface="WenQuanYiZenHei"/>
              </a:rPr>
              <a:t>医療機関は、患者さんに対して行った診療行為に応じて、基本診療料と特掲診療料を組み合わせて算定します</a:t>
            </a:r>
            <a:endParaRPr b="0" lang="en-US" sz="77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4" name="" descr=""/>
          <p:cNvPicPr/>
          <p:nvPr/>
        </p:nvPicPr>
        <p:blipFill>
          <a:blip r:embed="rId1"/>
          <a:stretch/>
        </p:blipFill>
        <p:spPr>
          <a:xfrm>
            <a:off x="0" y="419040"/>
            <a:ext cx="9392400" cy="5283000"/>
          </a:xfrm>
          <a:prstGeom prst="rect">
            <a:avLst/>
          </a:prstGeom>
          <a:noFill/>
          <a:ln w="0">
            <a:noFill/>
          </a:ln>
        </p:spPr>
      </p:pic>
      <p:pic>
        <p:nvPicPr>
          <p:cNvPr id="135" name="" descr=""/>
          <p:cNvPicPr/>
          <p:nvPr/>
        </p:nvPicPr>
        <p:blipFill>
          <a:blip r:embed="rId2"/>
          <a:stretch/>
        </p:blipFill>
        <p:spPr>
          <a:xfrm>
            <a:off x="733680" y="-1048680"/>
            <a:ext cx="3301920" cy="3301920"/>
          </a:xfrm>
          <a:prstGeom prst="rect">
            <a:avLst/>
          </a:prstGeom>
          <a:noFill/>
          <a:ln w="0">
            <a:noFill/>
          </a:ln>
        </p:spPr>
      </p:pic>
      <p:pic>
        <p:nvPicPr>
          <p:cNvPr id="136" name="" descr=""/>
          <p:cNvPicPr/>
          <p:nvPr/>
        </p:nvPicPr>
        <p:blipFill>
          <a:blip r:embed="rId3"/>
          <a:stretch/>
        </p:blipFill>
        <p:spPr>
          <a:xfrm>
            <a:off x="7191360" y="4601880"/>
            <a:ext cx="1834200" cy="1834200"/>
          </a:xfrm>
          <a:prstGeom prst="rect">
            <a:avLst/>
          </a:prstGeom>
          <a:noFill/>
          <a:ln w="0">
            <a:noFill/>
          </a:ln>
        </p:spPr>
      </p:pic>
      <p:pic>
        <p:nvPicPr>
          <p:cNvPr id="137" name="" descr=""/>
          <p:cNvPicPr/>
          <p:nvPr/>
        </p:nvPicPr>
        <p:blipFill>
          <a:blip r:embed="rId4"/>
          <a:stretch/>
        </p:blipFill>
        <p:spPr>
          <a:xfrm>
            <a:off x="7411680" y="5489640"/>
            <a:ext cx="131760" cy="102240"/>
          </a:xfrm>
          <a:prstGeom prst="rect">
            <a:avLst/>
          </a:prstGeom>
          <a:noFill/>
          <a:ln w="0">
            <a:noFill/>
          </a:ln>
        </p:spPr>
      </p:pic>
      <p:sp>
        <p:nvSpPr>
          <p:cNvPr id="138" name=""/>
          <p:cNvSpPr txBox="1"/>
          <p:nvPr/>
        </p:nvSpPr>
        <p:spPr>
          <a:xfrm>
            <a:off x="7606080" y="5478840"/>
            <a:ext cx="415080" cy="129960"/>
          </a:xfrm>
          <a:prstGeom prst="rect">
            <a:avLst/>
          </a:prstGeom>
          <a:noFill/>
          <a:ln w="0">
            <a:noFill/>
          </a:ln>
        </p:spPr>
        <p:txBody>
          <a:bodyPr wrap="none" lIns="0" rIns="0" tIns="0" bIns="0" anchor="t">
            <a:spAutoFit/>
          </a:bodyPr>
          <a:p>
            <a:r>
              <a:rPr b="0" lang="zh-CN" sz="810" strike="noStrike" u="none">
                <a:solidFill>
                  <a:srgbClr val="6b7280"/>
                </a:solidFill>
                <a:effectLst/>
                <a:uFillTx/>
                <a:latin typeface="WenQuanYiZenHei"/>
                <a:ea typeface="WenQuanYiZenHei"/>
              </a:rPr>
              <a:t>東和病院</a:t>
            </a:r>
            <a:endParaRPr b="0" lang="en-US" sz="810" strike="noStrike" u="none">
              <a:solidFill>
                <a:srgbClr val="000000"/>
              </a:solidFill>
              <a:effectLst/>
              <a:uFillTx/>
              <a:latin typeface="Times New Roman"/>
            </a:endParaRPr>
          </a:p>
        </p:txBody>
      </p:sp>
      <p:sp>
        <p:nvSpPr>
          <p:cNvPr id="139" name=""/>
          <p:cNvSpPr txBox="1"/>
          <p:nvPr/>
        </p:nvSpPr>
        <p:spPr>
          <a:xfrm>
            <a:off x="8016840" y="5482440"/>
            <a:ext cx="102240" cy="120960"/>
          </a:xfrm>
          <a:prstGeom prst="rect">
            <a:avLst/>
          </a:prstGeom>
          <a:noFill/>
          <a:ln w="0">
            <a:noFill/>
          </a:ln>
        </p:spPr>
        <p:txBody>
          <a:bodyPr wrap="none" lIns="0" rIns="0" tIns="0" bIns="0" anchor="t">
            <a:spAutoFit/>
          </a:bodyPr>
          <a:p>
            <a:r>
              <a:rPr b="0" lang="en-US" sz="810" strike="noStrike" u="none">
                <a:solidFill>
                  <a:srgbClr val="6b7280"/>
                </a:solidFill>
                <a:effectLst/>
                <a:uFillTx/>
                <a:latin typeface="DejaVuSans"/>
                <a:ea typeface="DejaVuSans"/>
              </a:rPr>
              <a:t> </a:t>
            </a:r>
            <a:endParaRPr b="0" lang="en-US" sz="810" strike="noStrike" u="none">
              <a:solidFill>
                <a:srgbClr val="000000"/>
              </a:solidFill>
              <a:effectLst/>
              <a:uFillTx/>
              <a:latin typeface="Times New Roman"/>
            </a:endParaRPr>
          </a:p>
        </p:txBody>
      </p:sp>
      <p:sp>
        <p:nvSpPr>
          <p:cNvPr id="140" name=""/>
          <p:cNvSpPr txBox="1"/>
          <p:nvPr/>
        </p:nvSpPr>
        <p:spPr>
          <a:xfrm>
            <a:off x="8049600" y="5478840"/>
            <a:ext cx="726120" cy="129960"/>
          </a:xfrm>
          <a:prstGeom prst="rect">
            <a:avLst/>
          </a:prstGeom>
          <a:noFill/>
          <a:ln w="0">
            <a:noFill/>
          </a:ln>
        </p:spPr>
        <p:txBody>
          <a:bodyPr wrap="none" lIns="0" rIns="0" tIns="0" bIns="0" anchor="t">
            <a:spAutoFit/>
          </a:bodyPr>
          <a:p>
            <a:r>
              <a:rPr b="0" lang="zh-CN" sz="810" strike="noStrike" u="none">
                <a:solidFill>
                  <a:srgbClr val="6b7280"/>
                </a:solidFill>
                <a:effectLst/>
                <a:uFillTx/>
                <a:latin typeface="WenQuanYiZenHei"/>
                <a:ea typeface="WenQuanYiZenHei"/>
              </a:rPr>
              <a:t>保険点数勉強会</a:t>
            </a:r>
            <a:endParaRPr b="0" lang="en-US" sz="810" strike="noStrike" u="none">
              <a:solidFill>
                <a:srgbClr val="000000"/>
              </a:solidFill>
              <a:effectLst/>
              <a:uFillTx/>
              <a:latin typeface="Times New Roman"/>
            </a:endParaRPr>
          </a:p>
        </p:txBody>
      </p:sp>
      <p:sp>
        <p:nvSpPr>
          <p:cNvPr id="141" name=""/>
          <p:cNvSpPr txBox="1"/>
          <p:nvPr/>
        </p:nvSpPr>
        <p:spPr>
          <a:xfrm>
            <a:off x="8827560" y="5482440"/>
            <a:ext cx="102240" cy="120960"/>
          </a:xfrm>
          <a:prstGeom prst="rect">
            <a:avLst/>
          </a:prstGeom>
          <a:noFill/>
          <a:ln w="0">
            <a:noFill/>
          </a:ln>
        </p:spPr>
        <p:txBody>
          <a:bodyPr wrap="none" lIns="0" rIns="0" tIns="0" bIns="0" anchor="t">
            <a:spAutoFit/>
          </a:bodyPr>
          <a:p>
            <a:r>
              <a:rPr b="0" lang="en-US" sz="810" strike="noStrike" u="none">
                <a:solidFill>
                  <a:srgbClr val="6b7280"/>
                </a:solidFill>
                <a:effectLst/>
                <a:uFillTx/>
                <a:latin typeface="DejaVuSans"/>
                <a:ea typeface="DejaVuSans"/>
              </a:rPr>
              <a:t>|</a:t>
            </a:r>
            <a:endParaRPr b="0" lang="en-US" sz="810" strike="noStrike" u="none">
              <a:solidFill>
                <a:srgbClr val="000000"/>
              </a:solidFill>
              <a:effectLst/>
              <a:uFillTx/>
              <a:latin typeface="Times New Roman"/>
            </a:endParaRPr>
          </a:p>
        </p:txBody>
      </p:sp>
      <p:pic>
        <p:nvPicPr>
          <p:cNvPr id="142" name="" descr=""/>
          <p:cNvPicPr/>
          <p:nvPr/>
        </p:nvPicPr>
        <p:blipFill>
          <a:blip r:embed="rId5"/>
          <a:stretch/>
        </p:blipFill>
        <p:spPr>
          <a:xfrm>
            <a:off x="234720" y="947520"/>
            <a:ext cx="704160" cy="29160"/>
          </a:xfrm>
          <a:prstGeom prst="rect">
            <a:avLst/>
          </a:prstGeom>
          <a:noFill/>
          <a:ln w="0">
            <a:noFill/>
          </a:ln>
        </p:spPr>
      </p:pic>
      <p:sp>
        <p:nvSpPr>
          <p:cNvPr id="143" name=""/>
          <p:cNvSpPr txBox="1"/>
          <p:nvPr/>
        </p:nvSpPr>
        <p:spPr>
          <a:xfrm>
            <a:off x="8920800" y="5482440"/>
            <a:ext cx="299160" cy="120960"/>
          </a:xfrm>
          <a:prstGeom prst="rect">
            <a:avLst/>
          </a:prstGeom>
          <a:noFill/>
          <a:ln w="0">
            <a:noFill/>
          </a:ln>
        </p:spPr>
        <p:txBody>
          <a:bodyPr wrap="none" lIns="0" rIns="0" tIns="0" bIns="0" anchor="t">
            <a:spAutoFit/>
          </a:bodyPr>
          <a:p>
            <a:r>
              <a:rPr b="0" lang="en-US" sz="810" strike="noStrike" u="none">
                <a:solidFill>
                  <a:srgbClr val="6b7280"/>
                </a:solidFill>
                <a:effectLst/>
                <a:uFillTx/>
                <a:latin typeface="DejaVuSans"/>
                <a:ea typeface="DejaVuSans"/>
              </a:rPr>
              <a:t>4 / 15</a:t>
            </a:r>
            <a:endParaRPr b="0" lang="en-US" sz="810" strike="noStrike" u="none">
              <a:solidFill>
                <a:srgbClr val="000000"/>
              </a:solidFill>
              <a:effectLst/>
              <a:uFillTx/>
              <a:latin typeface="Times New Roman"/>
            </a:endParaRPr>
          </a:p>
        </p:txBody>
      </p:sp>
      <p:sp>
        <p:nvSpPr>
          <p:cNvPr id="144" name=""/>
          <p:cNvSpPr txBox="1"/>
          <p:nvPr/>
        </p:nvSpPr>
        <p:spPr>
          <a:xfrm>
            <a:off x="234720" y="647280"/>
            <a:ext cx="1994760" cy="279360"/>
          </a:xfrm>
          <a:prstGeom prst="rect">
            <a:avLst/>
          </a:prstGeom>
          <a:noFill/>
          <a:ln w="0">
            <a:noFill/>
          </a:ln>
        </p:spPr>
        <p:txBody>
          <a:bodyPr wrap="none" lIns="0" rIns="0" tIns="0" bIns="0" anchor="t">
            <a:spAutoFit/>
          </a:bodyPr>
          <a:p>
            <a:r>
              <a:rPr b="0" lang="zh-CN" sz="1729" strike="noStrike" u="none">
                <a:solidFill>
                  <a:srgbClr val="1e40af"/>
                </a:solidFill>
                <a:effectLst/>
                <a:uFillTx/>
                <a:latin typeface="WenQuanYiZenHei"/>
                <a:ea typeface="WenQuanYiZenHei"/>
              </a:rPr>
              <a:t>診療報酬の構成要素</a:t>
            </a:r>
            <a:endParaRPr b="0" lang="en-US" sz="1729" strike="noStrike" u="none">
              <a:solidFill>
                <a:srgbClr val="000000"/>
              </a:solidFill>
              <a:effectLst/>
              <a:uFillTx/>
              <a:latin typeface="Times New Roman"/>
            </a:endParaRPr>
          </a:p>
        </p:txBody>
      </p:sp>
      <p:sp>
        <p:nvSpPr>
          <p:cNvPr id="145" name=""/>
          <p:cNvSpPr txBox="1"/>
          <p:nvPr/>
        </p:nvSpPr>
        <p:spPr>
          <a:xfrm>
            <a:off x="234720" y="1076400"/>
            <a:ext cx="2473200" cy="148320"/>
          </a:xfrm>
          <a:prstGeom prst="rect">
            <a:avLst/>
          </a:prstGeom>
          <a:noFill/>
          <a:ln w="0">
            <a:noFill/>
          </a:ln>
        </p:spPr>
        <p:txBody>
          <a:bodyPr wrap="none" lIns="0" rIns="0" tIns="0" bIns="0" anchor="t">
            <a:spAutoFit/>
          </a:bodyPr>
          <a:p>
            <a:r>
              <a:rPr b="0" lang="zh-CN" sz="920" strike="noStrike" u="none">
                <a:solidFill>
                  <a:srgbClr val="374151"/>
                </a:solidFill>
                <a:effectLst/>
                <a:uFillTx/>
                <a:latin typeface="WenQuanYiZenHei"/>
                <a:ea typeface="WenQuanYiZenHei"/>
              </a:rPr>
              <a:t>診療報酬は「基本診療料」と「特掲診療料」の</a:t>
            </a:r>
            <a:endParaRPr b="0" lang="en-US" sz="920" strike="noStrike" u="none">
              <a:solidFill>
                <a:srgbClr val="000000"/>
              </a:solidFill>
              <a:effectLst/>
              <a:uFillTx/>
              <a:latin typeface="Times New Roman"/>
            </a:endParaRPr>
          </a:p>
        </p:txBody>
      </p:sp>
      <p:sp>
        <p:nvSpPr>
          <p:cNvPr id="146" name=""/>
          <p:cNvSpPr txBox="1"/>
          <p:nvPr/>
        </p:nvSpPr>
        <p:spPr>
          <a:xfrm>
            <a:off x="2700360" y="1080720"/>
            <a:ext cx="117000" cy="136080"/>
          </a:xfrm>
          <a:prstGeom prst="rect">
            <a:avLst/>
          </a:prstGeom>
          <a:noFill/>
          <a:ln w="0">
            <a:noFill/>
          </a:ln>
        </p:spPr>
        <p:txBody>
          <a:bodyPr wrap="none" lIns="0" rIns="0" tIns="0" bIns="0" anchor="t">
            <a:spAutoFit/>
          </a:bodyPr>
          <a:p>
            <a:r>
              <a:rPr b="0" lang="en-US" sz="920" strike="noStrike" u="none">
                <a:solidFill>
                  <a:srgbClr val="374151"/>
                </a:solidFill>
                <a:effectLst/>
                <a:uFillTx/>
                <a:latin typeface="DejaVuSans"/>
                <a:ea typeface="DejaVuSans"/>
              </a:rPr>
              <a:t>2</a:t>
            </a:r>
            <a:endParaRPr b="0" lang="en-US" sz="920" strike="noStrike" u="none">
              <a:solidFill>
                <a:srgbClr val="000000"/>
              </a:solidFill>
              <a:effectLst/>
              <a:uFillTx/>
              <a:latin typeface="Times New Roman"/>
            </a:endParaRPr>
          </a:p>
        </p:txBody>
      </p:sp>
      <p:sp>
        <p:nvSpPr>
          <p:cNvPr id="147" name=""/>
          <p:cNvSpPr/>
          <p:nvPr/>
        </p:nvSpPr>
        <p:spPr>
          <a:xfrm>
            <a:off x="234720" y="1358280"/>
            <a:ext cx="4388400" cy="2700720"/>
          </a:xfrm>
          <a:custGeom>
            <a:avLst/>
            <a:gdLst/>
            <a:ahLst/>
            <a:rect l="0" t="0" r="r" b="b"/>
            <a:pathLst>
              <a:path w="12190" h="7502">
                <a:moveTo>
                  <a:pt x="0" y="7257"/>
                </a:moveTo>
                <a:lnTo>
                  <a:pt x="0" y="244"/>
                </a:lnTo>
                <a:cubicBezTo>
                  <a:pt x="0" y="228"/>
                  <a:pt x="1" y="212"/>
                  <a:pt x="4" y="197"/>
                </a:cubicBezTo>
                <a:cubicBezTo>
                  <a:pt x="8" y="181"/>
                  <a:pt x="12" y="166"/>
                  <a:pt x="18" y="151"/>
                </a:cubicBezTo>
                <a:cubicBezTo>
                  <a:pt x="25" y="136"/>
                  <a:pt x="32" y="122"/>
                  <a:pt x="41" y="109"/>
                </a:cubicBezTo>
                <a:cubicBezTo>
                  <a:pt x="50" y="95"/>
                  <a:pt x="60" y="83"/>
                  <a:pt x="71" y="71"/>
                </a:cubicBezTo>
                <a:cubicBezTo>
                  <a:pt x="83" y="60"/>
                  <a:pt x="95" y="50"/>
                  <a:pt x="108" y="41"/>
                </a:cubicBezTo>
                <a:cubicBezTo>
                  <a:pt x="122" y="32"/>
                  <a:pt x="136" y="25"/>
                  <a:pt x="151" y="18"/>
                </a:cubicBezTo>
                <a:cubicBezTo>
                  <a:pt x="166" y="12"/>
                  <a:pt x="181" y="8"/>
                  <a:pt x="197" y="5"/>
                </a:cubicBezTo>
                <a:cubicBezTo>
                  <a:pt x="212" y="1"/>
                  <a:pt x="228" y="0"/>
                  <a:pt x="244" y="0"/>
                </a:cubicBezTo>
                <a:lnTo>
                  <a:pt x="11946" y="0"/>
                </a:lnTo>
                <a:cubicBezTo>
                  <a:pt x="11962" y="0"/>
                  <a:pt x="11978" y="1"/>
                  <a:pt x="11994" y="5"/>
                </a:cubicBezTo>
                <a:cubicBezTo>
                  <a:pt x="12009" y="8"/>
                  <a:pt x="12025" y="12"/>
                  <a:pt x="12039" y="18"/>
                </a:cubicBezTo>
                <a:cubicBezTo>
                  <a:pt x="12054" y="25"/>
                  <a:pt x="12068" y="32"/>
                  <a:pt x="12082" y="41"/>
                </a:cubicBezTo>
                <a:cubicBezTo>
                  <a:pt x="12095" y="50"/>
                  <a:pt x="12107" y="60"/>
                  <a:pt x="12119" y="71"/>
                </a:cubicBezTo>
                <a:cubicBezTo>
                  <a:pt x="12130" y="83"/>
                  <a:pt x="12140" y="95"/>
                  <a:pt x="12149" y="109"/>
                </a:cubicBezTo>
                <a:cubicBezTo>
                  <a:pt x="12158" y="122"/>
                  <a:pt x="12166" y="136"/>
                  <a:pt x="12172" y="151"/>
                </a:cubicBezTo>
                <a:cubicBezTo>
                  <a:pt x="12178" y="166"/>
                  <a:pt x="12183" y="181"/>
                  <a:pt x="12186" y="197"/>
                </a:cubicBezTo>
                <a:cubicBezTo>
                  <a:pt x="12189" y="212"/>
                  <a:pt x="12190" y="228"/>
                  <a:pt x="12190" y="244"/>
                </a:cubicBezTo>
                <a:lnTo>
                  <a:pt x="12190" y="7257"/>
                </a:lnTo>
                <a:cubicBezTo>
                  <a:pt x="12190" y="7273"/>
                  <a:pt x="12189" y="7288"/>
                  <a:pt x="12186" y="7304"/>
                </a:cubicBezTo>
                <a:cubicBezTo>
                  <a:pt x="12183" y="7320"/>
                  <a:pt x="12178" y="7335"/>
                  <a:pt x="12172" y="7350"/>
                </a:cubicBezTo>
                <a:cubicBezTo>
                  <a:pt x="12166" y="7365"/>
                  <a:pt x="12158" y="7379"/>
                  <a:pt x="12149" y="7392"/>
                </a:cubicBezTo>
                <a:cubicBezTo>
                  <a:pt x="12140" y="7406"/>
                  <a:pt x="12130" y="7418"/>
                  <a:pt x="12119" y="7429"/>
                </a:cubicBezTo>
                <a:cubicBezTo>
                  <a:pt x="12107" y="7441"/>
                  <a:pt x="12095" y="7451"/>
                  <a:pt x="12082" y="7460"/>
                </a:cubicBezTo>
                <a:cubicBezTo>
                  <a:pt x="12068" y="7469"/>
                  <a:pt x="12054" y="7476"/>
                  <a:pt x="12039" y="7483"/>
                </a:cubicBezTo>
                <a:cubicBezTo>
                  <a:pt x="12025" y="7490"/>
                  <a:pt x="12009" y="7494"/>
                  <a:pt x="11994" y="7497"/>
                </a:cubicBezTo>
                <a:cubicBezTo>
                  <a:pt x="11978" y="7501"/>
                  <a:pt x="11962" y="7502"/>
                  <a:pt x="11946" y="7502"/>
                </a:cubicBezTo>
                <a:lnTo>
                  <a:pt x="244" y="7502"/>
                </a:lnTo>
                <a:cubicBezTo>
                  <a:pt x="228" y="7502"/>
                  <a:pt x="212" y="7501"/>
                  <a:pt x="197" y="7497"/>
                </a:cubicBezTo>
                <a:cubicBezTo>
                  <a:pt x="181" y="7494"/>
                  <a:pt x="166" y="7490"/>
                  <a:pt x="151" y="7483"/>
                </a:cubicBezTo>
                <a:cubicBezTo>
                  <a:pt x="136" y="7476"/>
                  <a:pt x="122" y="7469"/>
                  <a:pt x="108" y="7460"/>
                </a:cubicBezTo>
                <a:cubicBezTo>
                  <a:pt x="95" y="7451"/>
                  <a:pt x="83" y="7441"/>
                  <a:pt x="71" y="7429"/>
                </a:cubicBezTo>
                <a:cubicBezTo>
                  <a:pt x="60" y="7418"/>
                  <a:pt x="50" y="7406"/>
                  <a:pt x="41" y="7392"/>
                </a:cubicBezTo>
                <a:cubicBezTo>
                  <a:pt x="32" y="7379"/>
                  <a:pt x="25" y="7365"/>
                  <a:pt x="18" y="7350"/>
                </a:cubicBezTo>
                <a:cubicBezTo>
                  <a:pt x="12" y="7335"/>
                  <a:pt x="8" y="7320"/>
                  <a:pt x="4" y="7304"/>
                </a:cubicBezTo>
                <a:cubicBezTo>
                  <a:pt x="1" y="7288"/>
                  <a:pt x="0" y="7273"/>
                  <a:pt x="0" y="7257"/>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48" name=""/>
          <p:cNvSpPr/>
          <p:nvPr/>
        </p:nvSpPr>
        <p:spPr>
          <a:xfrm>
            <a:off x="366840" y="3530160"/>
            <a:ext cx="4138920" cy="411480"/>
          </a:xfrm>
          <a:custGeom>
            <a:avLst/>
            <a:gdLst/>
            <a:ahLst/>
            <a:rect l="0" t="0" r="r" b="b"/>
            <a:pathLst>
              <a:path w="11497" h="1143">
                <a:moveTo>
                  <a:pt x="0" y="979"/>
                </a:moveTo>
                <a:lnTo>
                  <a:pt x="0" y="164"/>
                </a:lnTo>
                <a:cubicBezTo>
                  <a:pt x="0" y="153"/>
                  <a:pt x="0" y="142"/>
                  <a:pt x="2" y="132"/>
                </a:cubicBezTo>
                <a:cubicBezTo>
                  <a:pt x="4" y="121"/>
                  <a:pt x="6" y="111"/>
                  <a:pt x="9" y="101"/>
                </a:cubicBezTo>
                <a:cubicBezTo>
                  <a:pt x="12" y="91"/>
                  <a:pt x="16" y="82"/>
                  <a:pt x="20" y="73"/>
                </a:cubicBezTo>
                <a:cubicBezTo>
                  <a:pt x="25" y="64"/>
                  <a:pt x="30" y="56"/>
                  <a:pt x="36" y="48"/>
                </a:cubicBezTo>
                <a:cubicBezTo>
                  <a:pt x="41" y="41"/>
                  <a:pt x="47" y="34"/>
                  <a:pt x="54" y="28"/>
                </a:cubicBezTo>
                <a:cubicBezTo>
                  <a:pt x="61" y="22"/>
                  <a:pt x="68" y="17"/>
                  <a:pt x="75" y="13"/>
                </a:cubicBezTo>
                <a:cubicBezTo>
                  <a:pt x="83" y="9"/>
                  <a:pt x="90" y="6"/>
                  <a:pt x="98" y="4"/>
                </a:cubicBezTo>
                <a:cubicBezTo>
                  <a:pt x="106" y="2"/>
                  <a:pt x="114" y="0"/>
                  <a:pt x="122" y="0"/>
                </a:cubicBezTo>
                <a:lnTo>
                  <a:pt x="11334" y="0"/>
                </a:lnTo>
                <a:cubicBezTo>
                  <a:pt x="11345" y="0"/>
                  <a:pt x="11355" y="2"/>
                  <a:pt x="11366" y="4"/>
                </a:cubicBezTo>
                <a:cubicBezTo>
                  <a:pt x="11376" y="6"/>
                  <a:pt x="11387" y="9"/>
                  <a:pt x="11397" y="13"/>
                </a:cubicBezTo>
                <a:cubicBezTo>
                  <a:pt x="11406" y="17"/>
                  <a:pt x="11416" y="22"/>
                  <a:pt x="11425" y="28"/>
                </a:cubicBezTo>
                <a:cubicBezTo>
                  <a:pt x="11434" y="34"/>
                  <a:pt x="11442" y="41"/>
                  <a:pt x="11449" y="48"/>
                </a:cubicBezTo>
                <a:cubicBezTo>
                  <a:pt x="11457" y="56"/>
                  <a:pt x="11464" y="64"/>
                  <a:pt x="11470" y="73"/>
                </a:cubicBezTo>
                <a:cubicBezTo>
                  <a:pt x="11476" y="82"/>
                  <a:pt x="11481" y="91"/>
                  <a:pt x="11485" y="101"/>
                </a:cubicBezTo>
                <a:cubicBezTo>
                  <a:pt x="11489" y="111"/>
                  <a:pt x="11492" y="121"/>
                  <a:pt x="11494" y="132"/>
                </a:cubicBezTo>
                <a:cubicBezTo>
                  <a:pt x="11496" y="142"/>
                  <a:pt x="11497" y="153"/>
                  <a:pt x="11497" y="164"/>
                </a:cubicBezTo>
                <a:lnTo>
                  <a:pt x="11497" y="979"/>
                </a:lnTo>
                <a:cubicBezTo>
                  <a:pt x="11497" y="990"/>
                  <a:pt x="11496" y="1000"/>
                  <a:pt x="11494" y="1011"/>
                </a:cubicBezTo>
                <a:cubicBezTo>
                  <a:pt x="11492" y="1021"/>
                  <a:pt x="11489" y="1031"/>
                  <a:pt x="11485" y="1042"/>
                </a:cubicBezTo>
                <a:cubicBezTo>
                  <a:pt x="11481" y="1052"/>
                  <a:pt x="11476" y="1062"/>
                  <a:pt x="11470" y="1070"/>
                </a:cubicBezTo>
                <a:cubicBezTo>
                  <a:pt x="11464" y="1079"/>
                  <a:pt x="11457" y="1088"/>
                  <a:pt x="11449" y="1095"/>
                </a:cubicBezTo>
                <a:cubicBezTo>
                  <a:pt x="11442" y="1103"/>
                  <a:pt x="11434" y="1110"/>
                  <a:pt x="11425" y="1115"/>
                </a:cubicBezTo>
                <a:cubicBezTo>
                  <a:pt x="11416" y="1121"/>
                  <a:pt x="11406" y="1126"/>
                  <a:pt x="11397" y="1131"/>
                </a:cubicBezTo>
                <a:cubicBezTo>
                  <a:pt x="11387" y="1135"/>
                  <a:pt x="11376" y="1138"/>
                  <a:pt x="11366" y="1140"/>
                </a:cubicBezTo>
                <a:cubicBezTo>
                  <a:pt x="11355" y="1142"/>
                  <a:pt x="11345" y="1143"/>
                  <a:pt x="11334" y="1143"/>
                </a:cubicBezTo>
                <a:lnTo>
                  <a:pt x="122" y="1143"/>
                </a:lnTo>
                <a:cubicBezTo>
                  <a:pt x="114" y="1143"/>
                  <a:pt x="106" y="1142"/>
                  <a:pt x="98" y="1140"/>
                </a:cubicBezTo>
                <a:cubicBezTo>
                  <a:pt x="90" y="1138"/>
                  <a:pt x="83" y="1135"/>
                  <a:pt x="75" y="1131"/>
                </a:cubicBezTo>
                <a:cubicBezTo>
                  <a:pt x="68" y="1126"/>
                  <a:pt x="61" y="1121"/>
                  <a:pt x="54" y="1115"/>
                </a:cubicBezTo>
                <a:cubicBezTo>
                  <a:pt x="47" y="1110"/>
                  <a:pt x="41" y="1103"/>
                  <a:pt x="36" y="1095"/>
                </a:cubicBezTo>
                <a:cubicBezTo>
                  <a:pt x="30" y="1088"/>
                  <a:pt x="25" y="1079"/>
                  <a:pt x="20" y="1070"/>
                </a:cubicBezTo>
                <a:cubicBezTo>
                  <a:pt x="16" y="1062"/>
                  <a:pt x="12" y="1052"/>
                  <a:pt x="9" y="1042"/>
                </a:cubicBezTo>
                <a:cubicBezTo>
                  <a:pt x="6" y="1031"/>
                  <a:pt x="4" y="1021"/>
                  <a:pt x="2" y="1011"/>
                </a:cubicBezTo>
                <a:cubicBezTo>
                  <a:pt x="0" y="1000"/>
                  <a:pt x="0" y="990"/>
                  <a:pt x="0" y="979"/>
                </a:cubicBezTo>
                <a:close/>
              </a:path>
            </a:pathLst>
          </a:custGeom>
          <a:solidFill>
            <a:srgbClr val="eff6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49" name=""/>
          <p:cNvSpPr/>
          <p:nvPr/>
        </p:nvSpPr>
        <p:spPr>
          <a:xfrm>
            <a:off x="352080" y="3530160"/>
            <a:ext cx="59040" cy="411480"/>
          </a:xfrm>
          <a:custGeom>
            <a:avLst/>
            <a:gdLst/>
            <a:ahLst/>
            <a:rect l="0" t="0" r="r" b="b"/>
            <a:pathLst>
              <a:path w="164" h="1143">
                <a:moveTo>
                  <a:pt x="0" y="0"/>
                </a:moveTo>
                <a:lnTo>
                  <a:pt x="164" y="0"/>
                </a:lnTo>
                <a:lnTo>
                  <a:pt x="164" y="1143"/>
                </a:lnTo>
                <a:lnTo>
                  <a:pt x="0" y="1143"/>
                </a:lnTo>
                <a:lnTo>
                  <a:pt x="0" y="0"/>
                </a:lnTo>
                <a:close/>
              </a:path>
            </a:pathLst>
          </a:custGeom>
          <a:solidFill>
            <a:srgbClr val="60a5fa"/>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50" name="" descr=""/>
          <p:cNvPicPr/>
          <p:nvPr/>
        </p:nvPicPr>
        <p:blipFill>
          <a:blip r:embed="rId6"/>
          <a:stretch/>
        </p:blipFill>
        <p:spPr>
          <a:xfrm>
            <a:off x="352080" y="1497960"/>
            <a:ext cx="131760" cy="175680"/>
          </a:xfrm>
          <a:prstGeom prst="rect">
            <a:avLst/>
          </a:prstGeom>
          <a:noFill/>
          <a:ln w="0">
            <a:noFill/>
          </a:ln>
        </p:spPr>
      </p:pic>
      <p:sp>
        <p:nvSpPr>
          <p:cNvPr id="151" name=""/>
          <p:cNvSpPr txBox="1"/>
          <p:nvPr/>
        </p:nvSpPr>
        <p:spPr>
          <a:xfrm>
            <a:off x="2775240" y="1076400"/>
            <a:ext cx="2972880" cy="148320"/>
          </a:xfrm>
          <a:prstGeom prst="rect">
            <a:avLst/>
          </a:prstGeom>
          <a:noFill/>
          <a:ln w="0">
            <a:noFill/>
          </a:ln>
        </p:spPr>
        <p:txBody>
          <a:bodyPr wrap="none" lIns="0" rIns="0" tIns="0" bIns="0" anchor="t">
            <a:spAutoFit/>
          </a:bodyPr>
          <a:p>
            <a:r>
              <a:rPr b="0" lang="zh-CN" sz="920" strike="noStrike" u="none">
                <a:solidFill>
                  <a:srgbClr val="374151"/>
                </a:solidFill>
                <a:effectLst/>
                <a:uFillTx/>
                <a:latin typeface="WenQuanYiZenHei"/>
                <a:ea typeface="WenQuanYiZenHei"/>
              </a:rPr>
              <a:t>つの区分で構成され、それぞれ算定方法が異なります。</a:t>
            </a:r>
            <a:endParaRPr b="0" lang="en-US" sz="920" strike="noStrike" u="none">
              <a:solidFill>
                <a:srgbClr val="000000"/>
              </a:solidFill>
              <a:effectLst/>
              <a:uFillTx/>
              <a:latin typeface="Times New Roman"/>
            </a:endParaRPr>
          </a:p>
        </p:txBody>
      </p:sp>
      <p:sp>
        <p:nvSpPr>
          <p:cNvPr id="152" name=""/>
          <p:cNvSpPr txBox="1"/>
          <p:nvPr/>
        </p:nvSpPr>
        <p:spPr>
          <a:xfrm>
            <a:off x="542880" y="1503360"/>
            <a:ext cx="732240" cy="184680"/>
          </a:xfrm>
          <a:prstGeom prst="rect">
            <a:avLst/>
          </a:prstGeom>
          <a:noFill/>
          <a:ln w="0">
            <a:noFill/>
          </a:ln>
        </p:spPr>
        <p:txBody>
          <a:bodyPr wrap="none" lIns="0" rIns="0" tIns="0" bIns="0" anchor="t">
            <a:spAutoFit/>
          </a:bodyPr>
          <a:p>
            <a:r>
              <a:rPr b="0" lang="zh-CN" sz="1150" strike="noStrike" u="none">
                <a:solidFill>
                  <a:srgbClr val="1d4ed8"/>
                </a:solidFill>
                <a:effectLst/>
                <a:uFillTx/>
                <a:latin typeface="WenQuanYiZenHei"/>
                <a:ea typeface="WenQuanYiZenHei"/>
              </a:rPr>
              <a:t>基本診療料</a:t>
            </a:r>
            <a:endParaRPr b="0" lang="en-US" sz="1150" strike="noStrike" u="none">
              <a:solidFill>
                <a:srgbClr val="000000"/>
              </a:solidFill>
              <a:effectLst/>
              <a:uFillTx/>
              <a:latin typeface="Times New Roman"/>
            </a:endParaRPr>
          </a:p>
        </p:txBody>
      </p:sp>
      <p:sp>
        <p:nvSpPr>
          <p:cNvPr id="153" name=""/>
          <p:cNvSpPr txBox="1"/>
          <p:nvPr/>
        </p:nvSpPr>
        <p:spPr>
          <a:xfrm>
            <a:off x="352080" y="1780560"/>
            <a:ext cx="4187160" cy="129960"/>
          </a:xfrm>
          <a:prstGeom prst="rect">
            <a:avLst/>
          </a:prstGeom>
          <a:noFill/>
          <a:ln w="0">
            <a:noFill/>
          </a:ln>
        </p:spPr>
        <p:txBody>
          <a:bodyPr wrap="none" lIns="0" rIns="0" tIns="0" bIns="0" anchor="t">
            <a:spAutoFit/>
          </a:bodyPr>
          <a:p>
            <a:r>
              <a:rPr b="0" lang="zh-CN" sz="810" strike="noStrike" u="none">
                <a:solidFill>
                  <a:srgbClr val="4b5563"/>
                </a:solidFill>
                <a:effectLst/>
                <a:uFillTx/>
                <a:latin typeface="WenQuanYiZenHei"/>
                <a:ea typeface="WenQuanYiZenHei"/>
              </a:rPr>
              <a:t>患者さんが医療機関を受診した際に、診療内容にかかわらず基本的な診療行為に対して算</a:t>
            </a:r>
            <a:endParaRPr b="0" lang="en-US" sz="810" strike="noStrike" u="none">
              <a:solidFill>
                <a:srgbClr val="000000"/>
              </a:solidFill>
              <a:effectLst/>
              <a:uFillTx/>
              <a:latin typeface="Times New Roman"/>
            </a:endParaRPr>
          </a:p>
        </p:txBody>
      </p:sp>
      <p:pic>
        <p:nvPicPr>
          <p:cNvPr id="154" name="" descr=""/>
          <p:cNvPicPr/>
          <p:nvPr/>
        </p:nvPicPr>
        <p:blipFill>
          <a:blip r:embed="rId7"/>
          <a:stretch/>
        </p:blipFill>
        <p:spPr>
          <a:xfrm>
            <a:off x="396360" y="2238840"/>
            <a:ext cx="168480" cy="131760"/>
          </a:xfrm>
          <a:prstGeom prst="rect">
            <a:avLst/>
          </a:prstGeom>
          <a:noFill/>
          <a:ln w="0">
            <a:noFill/>
          </a:ln>
        </p:spPr>
      </p:pic>
      <p:sp>
        <p:nvSpPr>
          <p:cNvPr id="155" name=""/>
          <p:cNvSpPr txBox="1"/>
          <p:nvPr/>
        </p:nvSpPr>
        <p:spPr>
          <a:xfrm>
            <a:off x="352080" y="1927080"/>
            <a:ext cx="945720" cy="129960"/>
          </a:xfrm>
          <a:prstGeom prst="rect">
            <a:avLst/>
          </a:prstGeom>
          <a:noFill/>
          <a:ln w="0">
            <a:noFill/>
          </a:ln>
        </p:spPr>
        <p:txBody>
          <a:bodyPr wrap="none" lIns="0" rIns="0" tIns="0" bIns="0" anchor="t">
            <a:spAutoFit/>
          </a:bodyPr>
          <a:p>
            <a:r>
              <a:rPr b="0" lang="zh-CN" sz="810" strike="noStrike" u="none">
                <a:solidFill>
                  <a:srgbClr val="4b5563"/>
                </a:solidFill>
                <a:effectLst/>
                <a:uFillTx/>
                <a:latin typeface="WenQuanYiZenHei"/>
                <a:ea typeface="WenQuanYiZenHei"/>
              </a:rPr>
              <a:t>定される点数です。</a:t>
            </a:r>
            <a:endParaRPr b="0" lang="en-US" sz="810" strike="noStrike" u="none">
              <a:solidFill>
                <a:srgbClr val="000000"/>
              </a:solidFill>
              <a:effectLst/>
              <a:uFillTx/>
              <a:latin typeface="Times New Roman"/>
            </a:endParaRPr>
          </a:p>
        </p:txBody>
      </p:sp>
      <p:sp>
        <p:nvSpPr>
          <p:cNvPr id="156" name=""/>
          <p:cNvSpPr txBox="1"/>
          <p:nvPr/>
        </p:nvSpPr>
        <p:spPr>
          <a:xfrm>
            <a:off x="623880" y="2206800"/>
            <a:ext cx="352800" cy="148320"/>
          </a:xfrm>
          <a:prstGeom prst="rect">
            <a:avLst/>
          </a:prstGeom>
          <a:noFill/>
          <a:ln w="0">
            <a:noFill/>
          </a:ln>
        </p:spPr>
        <p:txBody>
          <a:bodyPr wrap="none" lIns="0" rIns="0" tIns="0" bIns="0" anchor="t">
            <a:spAutoFit/>
          </a:bodyPr>
          <a:p>
            <a:r>
              <a:rPr b="0" lang="zh-CN" sz="920" strike="noStrike" u="none">
                <a:solidFill>
                  <a:srgbClr val="2563eb"/>
                </a:solidFill>
                <a:effectLst/>
                <a:uFillTx/>
                <a:latin typeface="WenQuanYiZenHei"/>
                <a:ea typeface="WenQuanYiZenHei"/>
              </a:rPr>
              <a:t>初診料</a:t>
            </a:r>
            <a:endParaRPr b="0" lang="en-US" sz="920" strike="noStrike" u="none">
              <a:solidFill>
                <a:srgbClr val="000000"/>
              </a:solidFill>
              <a:effectLst/>
              <a:uFillTx/>
              <a:latin typeface="Times New Roman"/>
            </a:endParaRPr>
          </a:p>
        </p:txBody>
      </p:sp>
      <p:pic>
        <p:nvPicPr>
          <p:cNvPr id="157" name="" descr=""/>
          <p:cNvPicPr/>
          <p:nvPr/>
        </p:nvPicPr>
        <p:blipFill>
          <a:blip r:embed="rId8"/>
          <a:stretch/>
        </p:blipFill>
        <p:spPr>
          <a:xfrm>
            <a:off x="396360" y="2679120"/>
            <a:ext cx="168480" cy="131760"/>
          </a:xfrm>
          <a:prstGeom prst="rect">
            <a:avLst/>
          </a:prstGeom>
          <a:noFill/>
          <a:ln w="0">
            <a:noFill/>
          </a:ln>
        </p:spPr>
      </p:pic>
      <p:sp>
        <p:nvSpPr>
          <p:cNvPr id="158" name=""/>
          <p:cNvSpPr txBox="1"/>
          <p:nvPr/>
        </p:nvSpPr>
        <p:spPr>
          <a:xfrm>
            <a:off x="623880" y="2374200"/>
            <a:ext cx="2584800" cy="111600"/>
          </a:xfrm>
          <a:prstGeom prst="rect">
            <a:avLst/>
          </a:prstGeom>
          <a:noFill/>
          <a:ln w="0">
            <a:noFill/>
          </a:ln>
        </p:spPr>
        <p:txBody>
          <a:bodyPr wrap="none" lIns="0" rIns="0" tIns="0" bIns="0" anchor="t">
            <a:spAutoFit/>
          </a:bodyPr>
          <a:p>
            <a:r>
              <a:rPr b="0" lang="zh-CN" sz="690" strike="noStrike" u="none">
                <a:solidFill>
                  <a:srgbClr val="6b7280"/>
                </a:solidFill>
                <a:effectLst/>
                <a:uFillTx/>
                <a:latin typeface="WenQuanYiZenHei"/>
                <a:ea typeface="WenQuanYiZenHei"/>
              </a:rPr>
              <a:t>初めて受診する場合や前回受診から一定期間経過した場合に算定</a:t>
            </a:r>
            <a:endParaRPr b="0" lang="en-US" sz="690" strike="noStrike" u="none">
              <a:solidFill>
                <a:srgbClr val="000000"/>
              </a:solidFill>
              <a:effectLst/>
              <a:uFillTx/>
              <a:latin typeface="Times New Roman"/>
            </a:endParaRPr>
          </a:p>
        </p:txBody>
      </p:sp>
      <p:sp>
        <p:nvSpPr>
          <p:cNvPr id="159" name=""/>
          <p:cNvSpPr txBox="1"/>
          <p:nvPr/>
        </p:nvSpPr>
        <p:spPr>
          <a:xfrm>
            <a:off x="623880" y="2647080"/>
            <a:ext cx="352800" cy="148320"/>
          </a:xfrm>
          <a:prstGeom prst="rect">
            <a:avLst/>
          </a:prstGeom>
          <a:noFill/>
          <a:ln w="0">
            <a:noFill/>
          </a:ln>
        </p:spPr>
        <p:txBody>
          <a:bodyPr wrap="none" lIns="0" rIns="0" tIns="0" bIns="0" anchor="t">
            <a:spAutoFit/>
          </a:bodyPr>
          <a:p>
            <a:r>
              <a:rPr b="0" lang="zh-CN" sz="920" strike="noStrike" u="none">
                <a:solidFill>
                  <a:srgbClr val="2563eb"/>
                </a:solidFill>
                <a:effectLst/>
                <a:uFillTx/>
                <a:latin typeface="WenQuanYiZenHei"/>
                <a:ea typeface="WenQuanYiZenHei"/>
              </a:rPr>
              <a:t>再診料</a:t>
            </a:r>
            <a:endParaRPr b="0" lang="en-US" sz="920" strike="noStrike" u="none">
              <a:solidFill>
                <a:srgbClr val="000000"/>
              </a:solidFill>
              <a:effectLst/>
              <a:uFillTx/>
              <a:latin typeface="Times New Roman"/>
            </a:endParaRPr>
          </a:p>
        </p:txBody>
      </p:sp>
      <p:pic>
        <p:nvPicPr>
          <p:cNvPr id="160" name="" descr=""/>
          <p:cNvPicPr/>
          <p:nvPr/>
        </p:nvPicPr>
        <p:blipFill>
          <a:blip r:embed="rId9"/>
          <a:stretch/>
        </p:blipFill>
        <p:spPr>
          <a:xfrm>
            <a:off x="396360" y="3119400"/>
            <a:ext cx="168480" cy="131760"/>
          </a:xfrm>
          <a:prstGeom prst="rect">
            <a:avLst/>
          </a:prstGeom>
          <a:noFill/>
          <a:ln w="0">
            <a:noFill/>
          </a:ln>
        </p:spPr>
      </p:pic>
      <p:sp>
        <p:nvSpPr>
          <p:cNvPr id="161" name=""/>
          <p:cNvSpPr txBox="1"/>
          <p:nvPr/>
        </p:nvSpPr>
        <p:spPr>
          <a:xfrm>
            <a:off x="623880" y="2814480"/>
            <a:ext cx="1339200" cy="111600"/>
          </a:xfrm>
          <a:prstGeom prst="rect">
            <a:avLst/>
          </a:prstGeom>
          <a:noFill/>
          <a:ln w="0">
            <a:noFill/>
          </a:ln>
        </p:spPr>
        <p:txBody>
          <a:bodyPr wrap="none" lIns="0" rIns="0" tIns="0" bIns="0" anchor="t">
            <a:spAutoFit/>
          </a:bodyPr>
          <a:p>
            <a:r>
              <a:rPr b="0" lang="zh-CN" sz="690" strike="noStrike" u="none">
                <a:solidFill>
                  <a:srgbClr val="6b7280"/>
                </a:solidFill>
                <a:effectLst/>
                <a:uFillTx/>
                <a:latin typeface="WenQuanYiZenHei"/>
                <a:ea typeface="WenQuanYiZenHei"/>
              </a:rPr>
              <a:t>継続的に通院している場合に算定</a:t>
            </a:r>
            <a:endParaRPr b="0" lang="en-US" sz="690" strike="noStrike" u="none">
              <a:solidFill>
                <a:srgbClr val="000000"/>
              </a:solidFill>
              <a:effectLst/>
              <a:uFillTx/>
              <a:latin typeface="Times New Roman"/>
            </a:endParaRPr>
          </a:p>
        </p:txBody>
      </p:sp>
      <p:sp>
        <p:nvSpPr>
          <p:cNvPr id="162" name=""/>
          <p:cNvSpPr txBox="1"/>
          <p:nvPr/>
        </p:nvSpPr>
        <p:spPr>
          <a:xfrm>
            <a:off x="623880" y="3087360"/>
            <a:ext cx="587520" cy="148320"/>
          </a:xfrm>
          <a:prstGeom prst="rect">
            <a:avLst/>
          </a:prstGeom>
          <a:noFill/>
          <a:ln w="0">
            <a:noFill/>
          </a:ln>
        </p:spPr>
        <p:txBody>
          <a:bodyPr wrap="none" lIns="0" rIns="0" tIns="0" bIns="0" anchor="t">
            <a:spAutoFit/>
          </a:bodyPr>
          <a:p>
            <a:r>
              <a:rPr b="0" lang="zh-CN" sz="920" strike="noStrike" u="none">
                <a:solidFill>
                  <a:srgbClr val="2563eb"/>
                </a:solidFill>
                <a:effectLst/>
                <a:uFillTx/>
                <a:latin typeface="WenQuanYiZenHei"/>
                <a:ea typeface="WenQuanYiZenHei"/>
              </a:rPr>
              <a:t>入院基本料</a:t>
            </a:r>
            <a:endParaRPr b="0" lang="en-US" sz="920" strike="noStrike" u="none">
              <a:solidFill>
                <a:srgbClr val="000000"/>
              </a:solidFill>
              <a:effectLst/>
              <a:uFillTx/>
              <a:latin typeface="Times New Roman"/>
            </a:endParaRPr>
          </a:p>
        </p:txBody>
      </p:sp>
      <p:pic>
        <p:nvPicPr>
          <p:cNvPr id="163" name="" descr=""/>
          <p:cNvPicPr/>
          <p:nvPr/>
        </p:nvPicPr>
        <p:blipFill>
          <a:blip r:embed="rId10"/>
          <a:stretch/>
        </p:blipFill>
        <p:spPr>
          <a:xfrm>
            <a:off x="469800" y="3633120"/>
            <a:ext cx="87840" cy="87840"/>
          </a:xfrm>
          <a:prstGeom prst="rect">
            <a:avLst/>
          </a:prstGeom>
          <a:noFill/>
          <a:ln w="0">
            <a:noFill/>
          </a:ln>
        </p:spPr>
      </p:pic>
      <p:sp>
        <p:nvSpPr>
          <p:cNvPr id="164" name=""/>
          <p:cNvSpPr txBox="1"/>
          <p:nvPr/>
        </p:nvSpPr>
        <p:spPr>
          <a:xfrm>
            <a:off x="623880" y="3254760"/>
            <a:ext cx="1879920" cy="111600"/>
          </a:xfrm>
          <a:prstGeom prst="rect">
            <a:avLst/>
          </a:prstGeom>
          <a:noFill/>
          <a:ln w="0">
            <a:noFill/>
          </a:ln>
        </p:spPr>
        <p:txBody>
          <a:bodyPr wrap="none" lIns="0" rIns="0" tIns="0" bIns="0" anchor="t">
            <a:spAutoFit/>
          </a:bodyPr>
          <a:p>
            <a:r>
              <a:rPr b="0" lang="zh-CN" sz="690" strike="noStrike" u="none">
                <a:solidFill>
                  <a:srgbClr val="6b7280"/>
                </a:solidFill>
                <a:effectLst/>
                <a:uFillTx/>
                <a:latin typeface="WenQuanYiZenHei"/>
                <a:ea typeface="WenQuanYiZenHei"/>
              </a:rPr>
              <a:t>入院時の基本的なケアやサービスに対して算定</a:t>
            </a:r>
            <a:endParaRPr b="0" lang="en-US" sz="690" strike="noStrike" u="none">
              <a:solidFill>
                <a:srgbClr val="000000"/>
              </a:solidFill>
              <a:effectLst/>
              <a:uFillTx/>
              <a:latin typeface="Times New Roman"/>
            </a:endParaRPr>
          </a:p>
        </p:txBody>
      </p:sp>
      <p:sp>
        <p:nvSpPr>
          <p:cNvPr id="165" name=""/>
          <p:cNvSpPr txBox="1"/>
          <p:nvPr/>
        </p:nvSpPr>
        <p:spPr>
          <a:xfrm>
            <a:off x="587160" y="3621960"/>
            <a:ext cx="630000" cy="111600"/>
          </a:xfrm>
          <a:prstGeom prst="rect">
            <a:avLst/>
          </a:prstGeom>
          <a:noFill/>
          <a:ln w="0">
            <a:noFill/>
          </a:ln>
        </p:spPr>
        <p:txBody>
          <a:bodyPr wrap="none" lIns="0" rIns="0" tIns="0" bIns="0" anchor="t">
            <a:spAutoFit/>
          </a:bodyPr>
          <a:p>
            <a:r>
              <a:rPr b="0" lang="zh-CN" sz="690" strike="noStrike" u="none">
                <a:solidFill>
                  <a:srgbClr val="1d4ed8"/>
                </a:solidFill>
                <a:effectLst/>
                <a:uFillTx/>
                <a:latin typeface="WenQuanYiZenHei"/>
                <a:ea typeface="WenQuanYiZenHei"/>
              </a:rPr>
              <a:t>算定のポイント</a:t>
            </a:r>
            <a:endParaRPr b="0" lang="en-US" sz="690" strike="noStrike" u="none">
              <a:solidFill>
                <a:srgbClr val="000000"/>
              </a:solidFill>
              <a:effectLst/>
              <a:uFillTx/>
              <a:latin typeface="Times New Roman"/>
            </a:endParaRPr>
          </a:p>
        </p:txBody>
      </p:sp>
      <p:sp>
        <p:nvSpPr>
          <p:cNvPr id="166" name=""/>
          <p:cNvSpPr txBox="1"/>
          <p:nvPr/>
        </p:nvSpPr>
        <p:spPr>
          <a:xfrm>
            <a:off x="1203480" y="3624840"/>
            <a:ext cx="87840" cy="104040"/>
          </a:xfrm>
          <a:prstGeom prst="rect">
            <a:avLst/>
          </a:prstGeom>
          <a:noFill/>
          <a:ln w="0">
            <a:noFill/>
          </a:ln>
        </p:spPr>
        <p:txBody>
          <a:bodyPr wrap="none" lIns="0" rIns="0" tIns="0" bIns="0" anchor="t">
            <a:spAutoFit/>
          </a:bodyPr>
          <a:p>
            <a:r>
              <a:rPr b="0" lang="en-US" sz="690" strike="noStrike" u="none">
                <a:solidFill>
                  <a:srgbClr val="1d4ed8"/>
                </a:solidFill>
                <a:effectLst/>
                <a:uFillTx/>
                <a:latin typeface="DejaVuSans"/>
                <a:ea typeface="DejaVuSans"/>
              </a:rPr>
              <a:t>: </a:t>
            </a:r>
            <a:endParaRPr b="0" lang="en-US" sz="690" strike="noStrike" u="none">
              <a:solidFill>
                <a:srgbClr val="000000"/>
              </a:solidFill>
              <a:effectLst/>
              <a:uFillTx/>
              <a:latin typeface="Times New Roman"/>
            </a:endParaRPr>
          </a:p>
        </p:txBody>
      </p:sp>
      <p:sp>
        <p:nvSpPr>
          <p:cNvPr id="167" name=""/>
          <p:cNvSpPr txBox="1"/>
          <p:nvPr/>
        </p:nvSpPr>
        <p:spPr>
          <a:xfrm>
            <a:off x="1261080" y="3621960"/>
            <a:ext cx="3117240" cy="111600"/>
          </a:xfrm>
          <a:prstGeom prst="rect">
            <a:avLst/>
          </a:prstGeom>
          <a:noFill/>
          <a:ln w="0">
            <a:noFill/>
          </a:ln>
        </p:spPr>
        <p:txBody>
          <a:bodyPr wrap="none" lIns="0" rIns="0" tIns="0" bIns="0" anchor="t">
            <a:spAutoFit/>
          </a:bodyPr>
          <a:p>
            <a:r>
              <a:rPr b="0" lang="zh-CN" sz="690" strike="noStrike" u="none">
                <a:solidFill>
                  <a:srgbClr val="1d4ed8"/>
                </a:solidFill>
                <a:effectLst/>
                <a:uFillTx/>
                <a:latin typeface="WenQuanYiZenHei"/>
                <a:ea typeface="WenQuanYiZenHei"/>
              </a:rPr>
              <a:t>診察や医学管理の基本的な部分を評価するものです。時間外・休日・深夜の加</a:t>
            </a:r>
            <a:endParaRPr b="0" lang="en-US" sz="690" strike="noStrike" u="none">
              <a:solidFill>
                <a:srgbClr val="000000"/>
              </a:solidFill>
              <a:effectLst/>
              <a:uFillTx/>
              <a:latin typeface="Times New Roman"/>
            </a:endParaRPr>
          </a:p>
        </p:txBody>
      </p:sp>
      <p:sp>
        <p:nvSpPr>
          <p:cNvPr id="168" name=""/>
          <p:cNvSpPr/>
          <p:nvPr/>
        </p:nvSpPr>
        <p:spPr>
          <a:xfrm>
            <a:off x="4769640" y="1358280"/>
            <a:ext cx="4388760" cy="2700720"/>
          </a:xfrm>
          <a:custGeom>
            <a:avLst/>
            <a:gdLst/>
            <a:ahLst/>
            <a:rect l="0" t="0" r="r" b="b"/>
            <a:pathLst>
              <a:path w="12191" h="7502">
                <a:moveTo>
                  <a:pt x="0" y="7257"/>
                </a:moveTo>
                <a:lnTo>
                  <a:pt x="0" y="244"/>
                </a:lnTo>
                <a:cubicBezTo>
                  <a:pt x="0" y="228"/>
                  <a:pt x="2" y="212"/>
                  <a:pt x="5" y="197"/>
                </a:cubicBezTo>
                <a:cubicBezTo>
                  <a:pt x="8" y="181"/>
                  <a:pt x="13" y="166"/>
                  <a:pt x="19" y="151"/>
                </a:cubicBezTo>
                <a:cubicBezTo>
                  <a:pt x="25" y="136"/>
                  <a:pt x="32" y="122"/>
                  <a:pt x="41" y="109"/>
                </a:cubicBezTo>
                <a:cubicBezTo>
                  <a:pt x="50" y="95"/>
                  <a:pt x="60" y="83"/>
                  <a:pt x="72" y="71"/>
                </a:cubicBezTo>
                <a:cubicBezTo>
                  <a:pt x="83" y="60"/>
                  <a:pt x="95" y="50"/>
                  <a:pt x="109" y="41"/>
                </a:cubicBezTo>
                <a:cubicBezTo>
                  <a:pt x="122" y="32"/>
                  <a:pt x="136" y="25"/>
                  <a:pt x="151" y="18"/>
                </a:cubicBezTo>
                <a:cubicBezTo>
                  <a:pt x="166" y="12"/>
                  <a:pt x="181" y="8"/>
                  <a:pt x="197" y="5"/>
                </a:cubicBezTo>
                <a:cubicBezTo>
                  <a:pt x="213" y="1"/>
                  <a:pt x="229" y="0"/>
                  <a:pt x="245" y="0"/>
                </a:cubicBezTo>
                <a:lnTo>
                  <a:pt x="11946" y="0"/>
                </a:lnTo>
                <a:cubicBezTo>
                  <a:pt x="11962" y="0"/>
                  <a:pt x="11978" y="1"/>
                  <a:pt x="11994" y="5"/>
                </a:cubicBezTo>
                <a:cubicBezTo>
                  <a:pt x="12010" y="8"/>
                  <a:pt x="12025" y="12"/>
                  <a:pt x="12040" y="18"/>
                </a:cubicBezTo>
                <a:cubicBezTo>
                  <a:pt x="12055" y="25"/>
                  <a:pt x="12069" y="32"/>
                  <a:pt x="12082" y="41"/>
                </a:cubicBezTo>
                <a:cubicBezTo>
                  <a:pt x="12095" y="50"/>
                  <a:pt x="12108" y="60"/>
                  <a:pt x="12119" y="71"/>
                </a:cubicBezTo>
                <a:cubicBezTo>
                  <a:pt x="12130" y="83"/>
                  <a:pt x="12141" y="95"/>
                  <a:pt x="12149" y="109"/>
                </a:cubicBezTo>
                <a:cubicBezTo>
                  <a:pt x="12158" y="122"/>
                  <a:pt x="12166" y="136"/>
                  <a:pt x="12172" y="151"/>
                </a:cubicBezTo>
                <a:cubicBezTo>
                  <a:pt x="12178" y="166"/>
                  <a:pt x="12183" y="181"/>
                  <a:pt x="12186" y="197"/>
                </a:cubicBezTo>
                <a:cubicBezTo>
                  <a:pt x="12189" y="212"/>
                  <a:pt x="12191" y="228"/>
                  <a:pt x="12191" y="244"/>
                </a:cubicBezTo>
                <a:lnTo>
                  <a:pt x="12191" y="7257"/>
                </a:lnTo>
                <a:cubicBezTo>
                  <a:pt x="12191" y="7273"/>
                  <a:pt x="12189" y="7288"/>
                  <a:pt x="12186" y="7304"/>
                </a:cubicBezTo>
                <a:cubicBezTo>
                  <a:pt x="12183" y="7320"/>
                  <a:pt x="12178" y="7335"/>
                  <a:pt x="12172" y="7350"/>
                </a:cubicBezTo>
                <a:cubicBezTo>
                  <a:pt x="12166" y="7365"/>
                  <a:pt x="12158" y="7379"/>
                  <a:pt x="12149" y="7392"/>
                </a:cubicBezTo>
                <a:cubicBezTo>
                  <a:pt x="12141" y="7406"/>
                  <a:pt x="12130" y="7418"/>
                  <a:pt x="12119" y="7429"/>
                </a:cubicBezTo>
                <a:cubicBezTo>
                  <a:pt x="12108" y="7441"/>
                  <a:pt x="12095" y="7451"/>
                  <a:pt x="12082" y="7460"/>
                </a:cubicBezTo>
                <a:cubicBezTo>
                  <a:pt x="12069" y="7469"/>
                  <a:pt x="12055" y="7476"/>
                  <a:pt x="12040" y="7483"/>
                </a:cubicBezTo>
                <a:cubicBezTo>
                  <a:pt x="12025" y="7490"/>
                  <a:pt x="12010" y="7494"/>
                  <a:pt x="11994" y="7497"/>
                </a:cubicBezTo>
                <a:cubicBezTo>
                  <a:pt x="11978" y="7501"/>
                  <a:pt x="11962" y="7502"/>
                  <a:pt x="11946" y="7502"/>
                </a:cubicBezTo>
                <a:lnTo>
                  <a:pt x="245" y="7502"/>
                </a:lnTo>
                <a:cubicBezTo>
                  <a:pt x="229" y="7502"/>
                  <a:pt x="213" y="7501"/>
                  <a:pt x="197" y="7497"/>
                </a:cubicBezTo>
                <a:cubicBezTo>
                  <a:pt x="181" y="7494"/>
                  <a:pt x="166" y="7490"/>
                  <a:pt x="151" y="7483"/>
                </a:cubicBezTo>
                <a:cubicBezTo>
                  <a:pt x="136" y="7476"/>
                  <a:pt x="122" y="7469"/>
                  <a:pt x="109" y="7460"/>
                </a:cubicBezTo>
                <a:cubicBezTo>
                  <a:pt x="95" y="7451"/>
                  <a:pt x="83" y="7441"/>
                  <a:pt x="72" y="7429"/>
                </a:cubicBezTo>
                <a:cubicBezTo>
                  <a:pt x="60" y="7418"/>
                  <a:pt x="50" y="7406"/>
                  <a:pt x="41" y="7392"/>
                </a:cubicBezTo>
                <a:cubicBezTo>
                  <a:pt x="32" y="7379"/>
                  <a:pt x="25" y="7365"/>
                  <a:pt x="19" y="7350"/>
                </a:cubicBezTo>
                <a:cubicBezTo>
                  <a:pt x="13" y="7335"/>
                  <a:pt x="8" y="7320"/>
                  <a:pt x="5" y="7304"/>
                </a:cubicBezTo>
                <a:cubicBezTo>
                  <a:pt x="2" y="7288"/>
                  <a:pt x="0" y="7273"/>
                  <a:pt x="0" y="7257"/>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69" name=""/>
          <p:cNvSpPr/>
          <p:nvPr/>
        </p:nvSpPr>
        <p:spPr>
          <a:xfrm>
            <a:off x="4901760" y="3457080"/>
            <a:ext cx="4139280" cy="411120"/>
          </a:xfrm>
          <a:custGeom>
            <a:avLst/>
            <a:gdLst/>
            <a:ahLst/>
            <a:rect l="0" t="0" r="r" b="b"/>
            <a:pathLst>
              <a:path w="11498" h="1142">
                <a:moveTo>
                  <a:pt x="0" y="979"/>
                </a:moveTo>
                <a:lnTo>
                  <a:pt x="0" y="164"/>
                </a:lnTo>
                <a:cubicBezTo>
                  <a:pt x="0" y="153"/>
                  <a:pt x="1" y="142"/>
                  <a:pt x="2" y="132"/>
                </a:cubicBezTo>
                <a:cubicBezTo>
                  <a:pt x="4" y="121"/>
                  <a:pt x="6" y="111"/>
                  <a:pt x="9" y="101"/>
                </a:cubicBezTo>
                <a:cubicBezTo>
                  <a:pt x="12" y="90"/>
                  <a:pt x="16" y="81"/>
                  <a:pt x="21" y="72"/>
                </a:cubicBezTo>
                <a:cubicBezTo>
                  <a:pt x="25" y="63"/>
                  <a:pt x="30" y="55"/>
                  <a:pt x="36" y="47"/>
                </a:cubicBezTo>
                <a:cubicBezTo>
                  <a:pt x="41" y="40"/>
                  <a:pt x="48" y="33"/>
                  <a:pt x="54" y="27"/>
                </a:cubicBezTo>
                <a:cubicBezTo>
                  <a:pt x="61" y="21"/>
                  <a:pt x="68" y="16"/>
                  <a:pt x="75" y="12"/>
                </a:cubicBezTo>
                <a:cubicBezTo>
                  <a:pt x="83" y="8"/>
                  <a:pt x="91" y="5"/>
                  <a:pt x="98" y="3"/>
                </a:cubicBezTo>
                <a:cubicBezTo>
                  <a:pt x="106" y="1"/>
                  <a:pt x="114" y="0"/>
                  <a:pt x="122" y="0"/>
                </a:cubicBezTo>
                <a:lnTo>
                  <a:pt x="11334" y="0"/>
                </a:lnTo>
                <a:cubicBezTo>
                  <a:pt x="11345" y="0"/>
                  <a:pt x="11356" y="1"/>
                  <a:pt x="11366" y="3"/>
                </a:cubicBezTo>
                <a:cubicBezTo>
                  <a:pt x="11377" y="5"/>
                  <a:pt x="11387" y="8"/>
                  <a:pt x="11397" y="12"/>
                </a:cubicBezTo>
                <a:cubicBezTo>
                  <a:pt x="11407" y="16"/>
                  <a:pt x="11416" y="21"/>
                  <a:pt x="11425" y="27"/>
                </a:cubicBezTo>
                <a:cubicBezTo>
                  <a:pt x="11434" y="33"/>
                  <a:pt x="11442" y="40"/>
                  <a:pt x="11450" y="47"/>
                </a:cubicBezTo>
                <a:cubicBezTo>
                  <a:pt x="11457" y="55"/>
                  <a:pt x="11464" y="63"/>
                  <a:pt x="11470" y="72"/>
                </a:cubicBezTo>
                <a:cubicBezTo>
                  <a:pt x="11476" y="81"/>
                  <a:pt x="11481" y="90"/>
                  <a:pt x="11485" y="101"/>
                </a:cubicBezTo>
                <a:cubicBezTo>
                  <a:pt x="11489" y="111"/>
                  <a:pt x="11492" y="121"/>
                  <a:pt x="11494" y="132"/>
                </a:cubicBezTo>
                <a:cubicBezTo>
                  <a:pt x="11496" y="142"/>
                  <a:pt x="11498" y="153"/>
                  <a:pt x="11498" y="164"/>
                </a:cubicBezTo>
                <a:lnTo>
                  <a:pt x="11498" y="979"/>
                </a:lnTo>
                <a:cubicBezTo>
                  <a:pt x="11498" y="990"/>
                  <a:pt x="11496" y="1000"/>
                  <a:pt x="11494" y="1011"/>
                </a:cubicBezTo>
                <a:cubicBezTo>
                  <a:pt x="11492" y="1021"/>
                  <a:pt x="11489" y="1032"/>
                  <a:pt x="11485" y="1041"/>
                </a:cubicBezTo>
                <a:cubicBezTo>
                  <a:pt x="11481" y="1051"/>
                  <a:pt x="11476" y="1061"/>
                  <a:pt x="11470" y="1070"/>
                </a:cubicBezTo>
                <a:cubicBezTo>
                  <a:pt x="11464" y="1079"/>
                  <a:pt x="11457" y="1087"/>
                  <a:pt x="11450" y="1094"/>
                </a:cubicBezTo>
                <a:cubicBezTo>
                  <a:pt x="11442" y="1102"/>
                  <a:pt x="11434" y="1109"/>
                  <a:pt x="11425" y="1115"/>
                </a:cubicBezTo>
                <a:cubicBezTo>
                  <a:pt x="11416" y="1121"/>
                  <a:pt x="11407" y="1126"/>
                  <a:pt x="11397" y="1130"/>
                </a:cubicBezTo>
                <a:cubicBezTo>
                  <a:pt x="11387" y="1134"/>
                  <a:pt x="11377" y="1137"/>
                  <a:pt x="11366" y="1139"/>
                </a:cubicBezTo>
                <a:cubicBezTo>
                  <a:pt x="11356" y="1141"/>
                  <a:pt x="11345" y="1142"/>
                  <a:pt x="11334" y="1142"/>
                </a:cubicBezTo>
                <a:lnTo>
                  <a:pt x="122" y="1142"/>
                </a:lnTo>
                <a:cubicBezTo>
                  <a:pt x="114" y="1142"/>
                  <a:pt x="106" y="1141"/>
                  <a:pt x="98" y="1139"/>
                </a:cubicBezTo>
                <a:cubicBezTo>
                  <a:pt x="91" y="1137"/>
                  <a:pt x="83" y="1134"/>
                  <a:pt x="75" y="1130"/>
                </a:cubicBezTo>
                <a:cubicBezTo>
                  <a:pt x="68" y="1126"/>
                  <a:pt x="61" y="1121"/>
                  <a:pt x="54" y="1115"/>
                </a:cubicBezTo>
                <a:cubicBezTo>
                  <a:pt x="48" y="1109"/>
                  <a:pt x="41" y="1102"/>
                  <a:pt x="36" y="1094"/>
                </a:cubicBezTo>
                <a:cubicBezTo>
                  <a:pt x="30" y="1087"/>
                  <a:pt x="25" y="1079"/>
                  <a:pt x="21" y="1070"/>
                </a:cubicBezTo>
                <a:cubicBezTo>
                  <a:pt x="16" y="1061"/>
                  <a:pt x="12" y="1051"/>
                  <a:pt x="9" y="1041"/>
                </a:cubicBezTo>
                <a:cubicBezTo>
                  <a:pt x="6" y="1032"/>
                  <a:pt x="4" y="1021"/>
                  <a:pt x="2" y="1011"/>
                </a:cubicBezTo>
                <a:cubicBezTo>
                  <a:pt x="1" y="1000"/>
                  <a:pt x="0" y="990"/>
                  <a:pt x="0" y="979"/>
                </a:cubicBezTo>
                <a:close/>
              </a:path>
            </a:pathLst>
          </a:custGeom>
          <a:solidFill>
            <a:srgbClr val="ecfdf5"/>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70" name=""/>
          <p:cNvSpPr/>
          <p:nvPr/>
        </p:nvSpPr>
        <p:spPr>
          <a:xfrm>
            <a:off x="4887000" y="3457080"/>
            <a:ext cx="59040" cy="411120"/>
          </a:xfrm>
          <a:custGeom>
            <a:avLst/>
            <a:gdLst/>
            <a:ahLst/>
            <a:rect l="0" t="0" r="r" b="b"/>
            <a:pathLst>
              <a:path w="164" h="1142">
                <a:moveTo>
                  <a:pt x="0" y="0"/>
                </a:moveTo>
                <a:lnTo>
                  <a:pt x="164" y="0"/>
                </a:lnTo>
                <a:lnTo>
                  <a:pt x="164" y="1142"/>
                </a:lnTo>
                <a:lnTo>
                  <a:pt x="0" y="1142"/>
                </a:lnTo>
                <a:lnTo>
                  <a:pt x="0" y="0"/>
                </a:lnTo>
                <a:close/>
              </a:path>
            </a:pathLst>
          </a:custGeom>
          <a:solidFill>
            <a:srgbClr val="34d399"/>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71" name="" descr=""/>
          <p:cNvPicPr/>
          <p:nvPr/>
        </p:nvPicPr>
        <p:blipFill>
          <a:blip r:embed="rId11"/>
          <a:stretch/>
        </p:blipFill>
        <p:spPr>
          <a:xfrm>
            <a:off x="4887360" y="1497960"/>
            <a:ext cx="197640" cy="175680"/>
          </a:xfrm>
          <a:prstGeom prst="rect">
            <a:avLst/>
          </a:prstGeom>
          <a:noFill/>
          <a:ln w="0">
            <a:noFill/>
          </a:ln>
        </p:spPr>
      </p:pic>
      <p:sp>
        <p:nvSpPr>
          <p:cNvPr id="172" name=""/>
          <p:cNvSpPr txBox="1"/>
          <p:nvPr/>
        </p:nvSpPr>
        <p:spPr>
          <a:xfrm>
            <a:off x="469800" y="3739320"/>
            <a:ext cx="1974240" cy="111600"/>
          </a:xfrm>
          <a:prstGeom prst="rect">
            <a:avLst/>
          </a:prstGeom>
          <a:noFill/>
          <a:ln w="0">
            <a:noFill/>
          </a:ln>
        </p:spPr>
        <p:txBody>
          <a:bodyPr wrap="none" lIns="0" rIns="0" tIns="0" bIns="0" anchor="t">
            <a:spAutoFit/>
          </a:bodyPr>
          <a:p>
            <a:r>
              <a:rPr b="0" lang="zh-CN" sz="690" strike="noStrike" u="none">
                <a:solidFill>
                  <a:srgbClr val="1d4ed8"/>
                </a:solidFill>
                <a:effectLst/>
                <a:uFillTx/>
                <a:latin typeface="WenQuanYiZenHei"/>
                <a:ea typeface="WenQuanYiZenHei"/>
              </a:rPr>
              <a:t>算や小児加算などが適用されることがあります。</a:t>
            </a:r>
            <a:endParaRPr b="0" lang="en-US" sz="690" strike="noStrike" u="none">
              <a:solidFill>
                <a:srgbClr val="000000"/>
              </a:solidFill>
              <a:effectLst/>
              <a:uFillTx/>
              <a:latin typeface="Times New Roman"/>
            </a:endParaRPr>
          </a:p>
        </p:txBody>
      </p:sp>
      <p:sp>
        <p:nvSpPr>
          <p:cNvPr id="173" name=""/>
          <p:cNvSpPr txBox="1"/>
          <p:nvPr/>
        </p:nvSpPr>
        <p:spPr>
          <a:xfrm>
            <a:off x="5144040" y="1503360"/>
            <a:ext cx="732240" cy="184680"/>
          </a:xfrm>
          <a:prstGeom prst="rect">
            <a:avLst/>
          </a:prstGeom>
          <a:noFill/>
          <a:ln w="0">
            <a:noFill/>
          </a:ln>
        </p:spPr>
        <p:txBody>
          <a:bodyPr wrap="none" lIns="0" rIns="0" tIns="0" bIns="0" anchor="t">
            <a:spAutoFit/>
          </a:bodyPr>
          <a:p>
            <a:r>
              <a:rPr b="0" lang="zh-CN" sz="1150" strike="noStrike" u="none">
                <a:solidFill>
                  <a:srgbClr val="047857"/>
                </a:solidFill>
                <a:effectLst/>
                <a:uFillTx/>
                <a:latin typeface="WenQuanYiZenHei"/>
                <a:ea typeface="WenQuanYiZenHei"/>
              </a:rPr>
              <a:t>特掲診療料</a:t>
            </a:r>
            <a:endParaRPr b="0" lang="en-US" sz="1150" strike="noStrike" u="none">
              <a:solidFill>
                <a:srgbClr val="000000"/>
              </a:solidFill>
              <a:effectLst/>
              <a:uFillTx/>
              <a:latin typeface="Times New Roman"/>
            </a:endParaRPr>
          </a:p>
        </p:txBody>
      </p:sp>
      <p:sp>
        <p:nvSpPr>
          <p:cNvPr id="174" name=""/>
          <p:cNvSpPr txBox="1"/>
          <p:nvPr/>
        </p:nvSpPr>
        <p:spPr>
          <a:xfrm>
            <a:off x="4887360" y="1780560"/>
            <a:ext cx="4194720" cy="129960"/>
          </a:xfrm>
          <a:prstGeom prst="rect">
            <a:avLst/>
          </a:prstGeom>
          <a:noFill/>
          <a:ln w="0">
            <a:noFill/>
          </a:ln>
        </p:spPr>
        <p:txBody>
          <a:bodyPr wrap="none" lIns="0" rIns="0" tIns="0" bIns="0" anchor="t">
            <a:spAutoFit/>
          </a:bodyPr>
          <a:p>
            <a:r>
              <a:rPr b="0" lang="zh-CN" sz="810" strike="noStrike" u="none">
                <a:solidFill>
                  <a:srgbClr val="4b5563"/>
                </a:solidFill>
                <a:effectLst/>
                <a:uFillTx/>
                <a:latin typeface="WenQuanYiZenHei"/>
                <a:ea typeface="WenQuanYiZenHei"/>
              </a:rPr>
              <a:t>個別の医療行為やサービスに対して算定される点数です。それぞれの行為の専門性や難易</a:t>
            </a:r>
            <a:endParaRPr b="0" lang="en-US" sz="810" strike="noStrike" u="none">
              <a:solidFill>
                <a:srgbClr val="000000"/>
              </a:solidFill>
              <a:effectLst/>
              <a:uFillTx/>
              <a:latin typeface="Times New Roman"/>
            </a:endParaRPr>
          </a:p>
        </p:txBody>
      </p:sp>
      <p:pic>
        <p:nvPicPr>
          <p:cNvPr id="175" name="" descr=""/>
          <p:cNvPicPr/>
          <p:nvPr/>
        </p:nvPicPr>
        <p:blipFill>
          <a:blip r:embed="rId12"/>
          <a:stretch/>
        </p:blipFill>
        <p:spPr>
          <a:xfrm>
            <a:off x="4931280" y="2216880"/>
            <a:ext cx="117000" cy="117000"/>
          </a:xfrm>
          <a:prstGeom prst="rect">
            <a:avLst/>
          </a:prstGeom>
          <a:noFill/>
          <a:ln w="0">
            <a:noFill/>
          </a:ln>
        </p:spPr>
      </p:pic>
      <p:sp>
        <p:nvSpPr>
          <p:cNvPr id="176" name=""/>
          <p:cNvSpPr txBox="1"/>
          <p:nvPr/>
        </p:nvSpPr>
        <p:spPr>
          <a:xfrm>
            <a:off x="4887360" y="1927080"/>
            <a:ext cx="1675800" cy="129960"/>
          </a:xfrm>
          <a:prstGeom prst="rect">
            <a:avLst/>
          </a:prstGeom>
          <a:noFill/>
          <a:ln w="0">
            <a:noFill/>
          </a:ln>
        </p:spPr>
        <p:txBody>
          <a:bodyPr wrap="none" lIns="0" rIns="0" tIns="0" bIns="0" anchor="t">
            <a:spAutoFit/>
          </a:bodyPr>
          <a:p>
            <a:r>
              <a:rPr b="0" lang="zh-CN" sz="810" strike="noStrike" u="none">
                <a:solidFill>
                  <a:srgbClr val="4b5563"/>
                </a:solidFill>
                <a:effectLst/>
                <a:uFillTx/>
                <a:latin typeface="WenQuanYiZenHei"/>
                <a:ea typeface="WenQuanYiZenHei"/>
              </a:rPr>
              <a:t>度、所要時間などが考慮されます。</a:t>
            </a:r>
            <a:endParaRPr b="0" lang="en-US" sz="810" strike="noStrike" u="none">
              <a:solidFill>
                <a:srgbClr val="000000"/>
              </a:solidFill>
              <a:effectLst/>
              <a:uFillTx/>
              <a:latin typeface="Times New Roman"/>
            </a:endParaRPr>
          </a:p>
        </p:txBody>
      </p:sp>
      <p:pic>
        <p:nvPicPr>
          <p:cNvPr id="177" name="" descr=""/>
          <p:cNvPicPr/>
          <p:nvPr/>
        </p:nvPicPr>
        <p:blipFill>
          <a:blip r:embed="rId13"/>
          <a:stretch/>
        </p:blipFill>
        <p:spPr>
          <a:xfrm>
            <a:off x="7030080" y="2216880"/>
            <a:ext cx="117000" cy="117000"/>
          </a:xfrm>
          <a:prstGeom prst="rect">
            <a:avLst/>
          </a:prstGeom>
          <a:noFill/>
          <a:ln w="0">
            <a:noFill/>
          </a:ln>
        </p:spPr>
      </p:pic>
      <p:sp>
        <p:nvSpPr>
          <p:cNvPr id="178" name=""/>
          <p:cNvSpPr txBox="1"/>
          <p:nvPr/>
        </p:nvSpPr>
        <p:spPr>
          <a:xfrm>
            <a:off x="5092560" y="2220840"/>
            <a:ext cx="208080" cy="129960"/>
          </a:xfrm>
          <a:prstGeom prst="rect">
            <a:avLst/>
          </a:prstGeom>
          <a:noFill/>
          <a:ln w="0">
            <a:noFill/>
          </a:ln>
        </p:spPr>
        <p:txBody>
          <a:bodyPr wrap="none" lIns="0" rIns="0" tIns="0" bIns="0" anchor="t">
            <a:spAutoFit/>
          </a:bodyPr>
          <a:p>
            <a:r>
              <a:rPr b="0" lang="zh-CN" sz="810" strike="noStrike" u="none">
                <a:solidFill>
                  <a:srgbClr val="374151"/>
                </a:solidFill>
                <a:effectLst/>
                <a:uFillTx/>
                <a:latin typeface="WenQuanYiZenHei"/>
                <a:ea typeface="WenQuanYiZenHei"/>
              </a:rPr>
              <a:t>検査</a:t>
            </a:r>
            <a:endParaRPr b="0" lang="en-US" sz="810" strike="noStrike" u="none">
              <a:solidFill>
                <a:srgbClr val="000000"/>
              </a:solidFill>
              <a:effectLst/>
              <a:uFillTx/>
              <a:latin typeface="Times New Roman"/>
            </a:endParaRPr>
          </a:p>
        </p:txBody>
      </p:sp>
      <p:pic>
        <p:nvPicPr>
          <p:cNvPr id="179" name="" descr=""/>
          <p:cNvPicPr/>
          <p:nvPr/>
        </p:nvPicPr>
        <p:blipFill>
          <a:blip r:embed="rId14"/>
          <a:stretch/>
        </p:blipFill>
        <p:spPr>
          <a:xfrm>
            <a:off x="4931280" y="2525040"/>
            <a:ext cx="131760" cy="117000"/>
          </a:xfrm>
          <a:prstGeom prst="rect">
            <a:avLst/>
          </a:prstGeom>
          <a:noFill/>
          <a:ln w="0">
            <a:noFill/>
          </a:ln>
        </p:spPr>
      </p:pic>
      <p:sp>
        <p:nvSpPr>
          <p:cNvPr id="180" name=""/>
          <p:cNvSpPr txBox="1"/>
          <p:nvPr/>
        </p:nvSpPr>
        <p:spPr>
          <a:xfrm>
            <a:off x="7191360" y="2220840"/>
            <a:ext cx="415080" cy="129960"/>
          </a:xfrm>
          <a:prstGeom prst="rect">
            <a:avLst/>
          </a:prstGeom>
          <a:noFill/>
          <a:ln w="0">
            <a:noFill/>
          </a:ln>
        </p:spPr>
        <p:txBody>
          <a:bodyPr wrap="none" lIns="0" rIns="0" tIns="0" bIns="0" anchor="t">
            <a:spAutoFit/>
          </a:bodyPr>
          <a:p>
            <a:r>
              <a:rPr b="0" lang="zh-CN" sz="810" strike="noStrike" u="none">
                <a:solidFill>
                  <a:srgbClr val="374151"/>
                </a:solidFill>
                <a:effectLst/>
                <a:uFillTx/>
                <a:latin typeface="WenQuanYiZenHei"/>
                <a:ea typeface="WenQuanYiZenHei"/>
              </a:rPr>
              <a:t>画像診断</a:t>
            </a:r>
            <a:endParaRPr b="0" lang="en-US" sz="810" strike="noStrike" u="none">
              <a:solidFill>
                <a:srgbClr val="000000"/>
              </a:solidFill>
              <a:effectLst/>
              <a:uFillTx/>
              <a:latin typeface="Times New Roman"/>
            </a:endParaRPr>
          </a:p>
        </p:txBody>
      </p:sp>
      <p:pic>
        <p:nvPicPr>
          <p:cNvPr id="181" name="" descr=""/>
          <p:cNvPicPr/>
          <p:nvPr/>
        </p:nvPicPr>
        <p:blipFill>
          <a:blip r:embed="rId15"/>
          <a:stretch/>
        </p:blipFill>
        <p:spPr>
          <a:xfrm>
            <a:off x="7030080" y="2525040"/>
            <a:ext cx="117000" cy="117000"/>
          </a:xfrm>
          <a:prstGeom prst="rect">
            <a:avLst/>
          </a:prstGeom>
          <a:noFill/>
          <a:ln w="0">
            <a:noFill/>
          </a:ln>
        </p:spPr>
      </p:pic>
      <p:sp>
        <p:nvSpPr>
          <p:cNvPr id="182" name=""/>
          <p:cNvSpPr txBox="1"/>
          <p:nvPr/>
        </p:nvSpPr>
        <p:spPr>
          <a:xfrm>
            <a:off x="5107320" y="2529000"/>
            <a:ext cx="208080" cy="129960"/>
          </a:xfrm>
          <a:prstGeom prst="rect">
            <a:avLst/>
          </a:prstGeom>
          <a:noFill/>
          <a:ln w="0">
            <a:noFill/>
          </a:ln>
        </p:spPr>
        <p:txBody>
          <a:bodyPr wrap="none" lIns="0" rIns="0" tIns="0" bIns="0" anchor="t">
            <a:spAutoFit/>
          </a:bodyPr>
          <a:p>
            <a:r>
              <a:rPr b="0" lang="zh-CN" sz="810" strike="noStrike" u="none">
                <a:solidFill>
                  <a:srgbClr val="374151"/>
                </a:solidFill>
                <a:effectLst/>
                <a:uFillTx/>
                <a:latin typeface="WenQuanYiZenHei"/>
                <a:ea typeface="WenQuanYiZenHei"/>
              </a:rPr>
              <a:t>投薬</a:t>
            </a:r>
            <a:endParaRPr b="0" lang="en-US" sz="810" strike="noStrike" u="none">
              <a:solidFill>
                <a:srgbClr val="000000"/>
              </a:solidFill>
              <a:effectLst/>
              <a:uFillTx/>
              <a:latin typeface="Times New Roman"/>
            </a:endParaRPr>
          </a:p>
        </p:txBody>
      </p:sp>
      <p:pic>
        <p:nvPicPr>
          <p:cNvPr id="183" name="" descr=""/>
          <p:cNvPicPr/>
          <p:nvPr/>
        </p:nvPicPr>
        <p:blipFill>
          <a:blip r:embed="rId16"/>
          <a:stretch/>
        </p:blipFill>
        <p:spPr>
          <a:xfrm>
            <a:off x="4931280" y="2833200"/>
            <a:ext cx="73080" cy="117000"/>
          </a:xfrm>
          <a:prstGeom prst="rect">
            <a:avLst/>
          </a:prstGeom>
          <a:noFill/>
          <a:ln w="0">
            <a:noFill/>
          </a:ln>
        </p:spPr>
      </p:pic>
      <p:sp>
        <p:nvSpPr>
          <p:cNvPr id="184" name=""/>
          <p:cNvSpPr txBox="1"/>
          <p:nvPr/>
        </p:nvSpPr>
        <p:spPr>
          <a:xfrm>
            <a:off x="7191360" y="2529000"/>
            <a:ext cx="208080" cy="129960"/>
          </a:xfrm>
          <a:prstGeom prst="rect">
            <a:avLst/>
          </a:prstGeom>
          <a:noFill/>
          <a:ln w="0">
            <a:noFill/>
          </a:ln>
        </p:spPr>
        <p:txBody>
          <a:bodyPr wrap="none" lIns="0" rIns="0" tIns="0" bIns="0" anchor="t">
            <a:spAutoFit/>
          </a:bodyPr>
          <a:p>
            <a:r>
              <a:rPr b="0" lang="zh-CN" sz="810" strike="noStrike" u="none">
                <a:solidFill>
                  <a:srgbClr val="374151"/>
                </a:solidFill>
                <a:effectLst/>
                <a:uFillTx/>
                <a:latin typeface="WenQuanYiZenHei"/>
                <a:ea typeface="WenQuanYiZenHei"/>
              </a:rPr>
              <a:t>注射</a:t>
            </a:r>
            <a:endParaRPr b="0" lang="en-US" sz="810" strike="noStrike" u="none">
              <a:solidFill>
                <a:srgbClr val="000000"/>
              </a:solidFill>
              <a:effectLst/>
              <a:uFillTx/>
              <a:latin typeface="Times New Roman"/>
            </a:endParaRPr>
          </a:p>
        </p:txBody>
      </p:sp>
      <p:pic>
        <p:nvPicPr>
          <p:cNvPr id="185" name="" descr=""/>
          <p:cNvPicPr/>
          <p:nvPr/>
        </p:nvPicPr>
        <p:blipFill>
          <a:blip r:embed="rId17"/>
          <a:stretch/>
        </p:blipFill>
        <p:spPr>
          <a:xfrm>
            <a:off x="7030080" y="2833200"/>
            <a:ext cx="117000" cy="117000"/>
          </a:xfrm>
          <a:prstGeom prst="rect">
            <a:avLst/>
          </a:prstGeom>
          <a:noFill/>
          <a:ln w="0">
            <a:noFill/>
          </a:ln>
        </p:spPr>
      </p:pic>
      <p:sp>
        <p:nvSpPr>
          <p:cNvPr id="186" name=""/>
          <p:cNvSpPr txBox="1"/>
          <p:nvPr/>
        </p:nvSpPr>
        <p:spPr>
          <a:xfrm>
            <a:off x="5048640" y="2837160"/>
            <a:ext cx="952920" cy="129960"/>
          </a:xfrm>
          <a:prstGeom prst="rect">
            <a:avLst/>
          </a:prstGeom>
          <a:noFill/>
          <a:ln w="0">
            <a:noFill/>
          </a:ln>
        </p:spPr>
        <p:txBody>
          <a:bodyPr wrap="none" lIns="0" rIns="0" tIns="0" bIns="0" anchor="t">
            <a:spAutoFit/>
          </a:bodyPr>
          <a:p>
            <a:r>
              <a:rPr b="0" lang="zh-CN" sz="810" strike="noStrike" u="none">
                <a:solidFill>
                  <a:srgbClr val="374151"/>
                </a:solidFill>
                <a:effectLst/>
                <a:uFillTx/>
                <a:latin typeface="WenQuanYiZenHei"/>
                <a:ea typeface="WenQuanYiZenHei"/>
              </a:rPr>
              <a:t>リハビリテーション</a:t>
            </a:r>
            <a:endParaRPr b="0" lang="en-US" sz="810" strike="noStrike" u="none">
              <a:solidFill>
                <a:srgbClr val="000000"/>
              </a:solidFill>
              <a:effectLst/>
              <a:uFillTx/>
              <a:latin typeface="Times New Roman"/>
            </a:endParaRPr>
          </a:p>
        </p:txBody>
      </p:sp>
      <p:pic>
        <p:nvPicPr>
          <p:cNvPr id="187" name="" descr=""/>
          <p:cNvPicPr/>
          <p:nvPr/>
        </p:nvPicPr>
        <p:blipFill>
          <a:blip r:embed="rId18"/>
          <a:stretch/>
        </p:blipFill>
        <p:spPr>
          <a:xfrm>
            <a:off x="4931280" y="3141720"/>
            <a:ext cx="146520" cy="117000"/>
          </a:xfrm>
          <a:prstGeom prst="rect">
            <a:avLst/>
          </a:prstGeom>
          <a:noFill/>
          <a:ln w="0">
            <a:noFill/>
          </a:ln>
        </p:spPr>
      </p:pic>
      <p:sp>
        <p:nvSpPr>
          <p:cNvPr id="188" name=""/>
          <p:cNvSpPr txBox="1"/>
          <p:nvPr/>
        </p:nvSpPr>
        <p:spPr>
          <a:xfrm>
            <a:off x="7191360" y="2837160"/>
            <a:ext cx="726120" cy="129960"/>
          </a:xfrm>
          <a:prstGeom prst="rect">
            <a:avLst/>
          </a:prstGeom>
          <a:noFill/>
          <a:ln w="0">
            <a:noFill/>
          </a:ln>
        </p:spPr>
        <p:txBody>
          <a:bodyPr wrap="none" lIns="0" rIns="0" tIns="0" bIns="0" anchor="t">
            <a:spAutoFit/>
          </a:bodyPr>
          <a:p>
            <a:r>
              <a:rPr b="0" lang="zh-CN" sz="810" strike="noStrike" u="none">
                <a:solidFill>
                  <a:srgbClr val="374151"/>
                </a:solidFill>
                <a:effectLst/>
                <a:uFillTx/>
                <a:latin typeface="WenQuanYiZenHei"/>
                <a:ea typeface="WenQuanYiZenHei"/>
              </a:rPr>
              <a:t>精神科専門療法</a:t>
            </a:r>
            <a:endParaRPr b="0" lang="en-US" sz="810" strike="noStrike" u="none">
              <a:solidFill>
                <a:srgbClr val="000000"/>
              </a:solidFill>
              <a:effectLst/>
              <a:uFillTx/>
              <a:latin typeface="Times New Roman"/>
            </a:endParaRPr>
          </a:p>
        </p:txBody>
      </p:sp>
      <p:pic>
        <p:nvPicPr>
          <p:cNvPr id="189" name="" descr=""/>
          <p:cNvPicPr/>
          <p:nvPr/>
        </p:nvPicPr>
        <p:blipFill>
          <a:blip r:embed="rId19"/>
          <a:stretch/>
        </p:blipFill>
        <p:spPr>
          <a:xfrm>
            <a:off x="7030080" y="3141720"/>
            <a:ext cx="146520" cy="117000"/>
          </a:xfrm>
          <a:prstGeom prst="rect">
            <a:avLst/>
          </a:prstGeom>
          <a:noFill/>
          <a:ln w="0">
            <a:noFill/>
          </a:ln>
        </p:spPr>
      </p:pic>
      <p:sp>
        <p:nvSpPr>
          <p:cNvPr id="190" name=""/>
          <p:cNvSpPr txBox="1"/>
          <p:nvPr/>
        </p:nvSpPr>
        <p:spPr>
          <a:xfrm>
            <a:off x="5122080" y="3145320"/>
            <a:ext cx="208080" cy="129960"/>
          </a:xfrm>
          <a:prstGeom prst="rect">
            <a:avLst/>
          </a:prstGeom>
          <a:noFill/>
          <a:ln w="0">
            <a:noFill/>
          </a:ln>
        </p:spPr>
        <p:txBody>
          <a:bodyPr wrap="none" lIns="0" rIns="0" tIns="0" bIns="0" anchor="t">
            <a:spAutoFit/>
          </a:bodyPr>
          <a:p>
            <a:r>
              <a:rPr b="0" lang="zh-CN" sz="810" strike="noStrike" u="none">
                <a:solidFill>
                  <a:srgbClr val="374151"/>
                </a:solidFill>
                <a:effectLst/>
                <a:uFillTx/>
                <a:latin typeface="WenQuanYiZenHei"/>
                <a:ea typeface="WenQuanYiZenHei"/>
              </a:rPr>
              <a:t>処置</a:t>
            </a:r>
            <a:endParaRPr b="0" lang="en-US" sz="810" strike="noStrike" u="none">
              <a:solidFill>
                <a:srgbClr val="000000"/>
              </a:solidFill>
              <a:effectLst/>
              <a:uFillTx/>
              <a:latin typeface="Times New Roman"/>
            </a:endParaRPr>
          </a:p>
        </p:txBody>
      </p:sp>
      <p:pic>
        <p:nvPicPr>
          <p:cNvPr id="191" name="" descr=""/>
          <p:cNvPicPr/>
          <p:nvPr/>
        </p:nvPicPr>
        <p:blipFill>
          <a:blip r:embed="rId20"/>
          <a:stretch/>
        </p:blipFill>
        <p:spPr>
          <a:xfrm>
            <a:off x="5004720" y="3560040"/>
            <a:ext cx="87840" cy="87840"/>
          </a:xfrm>
          <a:prstGeom prst="rect">
            <a:avLst/>
          </a:prstGeom>
          <a:noFill/>
          <a:ln w="0">
            <a:noFill/>
          </a:ln>
        </p:spPr>
      </p:pic>
      <p:sp>
        <p:nvSpPr>
          <p:cNvPr id="192" name=""/>
          <p:cNvSpPr txBox="1"/>
          <p:nvPr/>
        </p:nvSpPr>
        <p:spPr>
          <a:xfrm>
            <a:off x="7220880" y="3145320"/>
            <a:ext cx="208080" cy="129960"/>
          </a:xfrm>
          <a:prstGeom prst="rect">
            <a:avLst/>
          </a:prstGeom>
          <a:noFill/>
          <a:ln w="0">
            <a:noFill/>
          </a:ln>
        </p:spPr>
        <p:txBody>
          <a:bodyPr wrap="none" lIns="0" rIns="0" tIns="0" bIns="0" anchor="t">
            <a:spAutoFit/>
          </a:bodyPr>
          <a:p>
            <a:r>
              <a:rPr b="0" lang="zh-CN" sz="810" strike="noStrike" u="none">
                <a:solidFill>
                  <a:srgbClr val="374151"/>
                </a:solidFill>
                <a:effectLst/>
                <a:uFillTx/>
                <a:latin typeface="WenQuanYiZenHei"/>
                <a:ea typeface="WenQuanYiZenHei"/>
              </a:rPr>
              <a:t>手術</a:t>
            </a:r>
            <a:endParaRPr b="0" lang="en-US" sz="810" strike="noStrike" u="none">
              <a:solidFill>
                <a:srgbClr val="000000"/>
              </a:solidFill>
              <a:effectLst/>
              <a:uFillTx/>
              <a:latin typeface="Times New Roman"/>
            </a:endParaRPr>
          </a:p>
        </p:txBody>
      </p:sp>
      <p:sp>
        <p:nvSpPr>
          <p:cNvPr id="193" name=""/>
          <p:cNvSpPr txBox="1"/>
          <p:nvPr/>
        </p:nvSpPr>
        <p:spPr>
          <a:xfrm>
            <a:off x="5122080" y="3548520"/>
            <a:ext cx="630000" cy="111600"/>
          </a:xfrm>
          <a:prstGeom prst="rect">
            <a:avLst/>
          </a:prstGeom>
          <a:noFill/>
          <a:ln w="0">
            <a:noFill/>
          </a:ln>
        </p:spPr>
        <p:txBody>
          <a:bodyPr wrap="none" lIns="0" rIns="0" tIns="0" bIns="0" anchor="t">
            <a:spAutoFit/>
          </a:bodyPr>
          <a:p>
            <a:r>
              <a:rPr b="0" lang="zh-CN" sz="690" strike="noStrike" u="none">
                <a:solidFill>
                  <a:srgbClr val="047857"/>
                </a:solidFill>
                <a:effectLst/>
                <a:uFillTx/>
                <a:latin typeface="WenQuanYiZenHei"/>
                <a:ea typeface="WenQuanYiZenHei"/>
              </a:rPr>
              <a:t>算定のポイント</a:t>
            </a:r>
            <a:endParaRPr b="0" lang="en-US" sz="690" strike="noStrike" u="none">
              <a:solidFill>
                <a:srgbClr val="000000"/>
              </a:solidFill>
              <a:effectLst/>
              <a:uFillTx/>
              <a:latin typeface="Times New Roman"/>
            </a:endParaRPr>
          </a:p>
        </p:txBody>
      </p:sp>
      <p:sp>
        <p:nvSpPr>
          <p:cNvPr id="194" name=""/>
          <p:cNvSpPr txBox="1"/>
          <p:nvPr/>
        </p:nvSpPr>
        <p:spPr>
          <a:xfrm>
            <a:off x="5738400" y="3551400"/>
            <a:ext cx="87840" cy="104040"/>
          </a:xfrm>
          <a:prstGeom prst="rect">
            <a:avLst/>
          </a:prstGeom>
          <a:noFill/>
          <a:ln w="0">
            <a:noFill/>
          </a:ln>
        </p:spPr>
        <p:txBody>
          <a:bodyPr wrap="none" lIns="0" rIns="0" tIns="0" bIns="0" anchor="t">
            <a:spAutoFit/>
          </a:bodyPr>
          <a:p>
            <a:r>
              <a:rPr b="0" lang="en-US" sz="690" strike="noStrike" u="none">
                <a:solidFill>
                  <a:srgbClr val="047857"/>
                </a:solidFill>
                <a:effectLst/>
                <a:uFillTx/>
                <a:latin typeface="DejaVuSans"/>
                <a:ea typeface="DejaVuSans"/>
              </a:rPr>
              <a:t>: </a:t>
            </a:r>
            <a:endParaRPr b="0" lang="en-US" sz="690" strike="noStrike" u="none">
              <a:solidFill>
                <a:srgbClr val="000000"/>
              </a:solidFill>
              <a:effectLst/>
              <a:uFillTx/>
              <a:latin typeface="Times New Roman"/>
            </a:endParaRPr>
          </a:p>
        </p:txBody>
      </p:sp>
      <p:sp>
        <p:nvSpPr>
          <p:cNvPr id="195" name=""/>
          <p:cNvSpPr txBox="1"/>
          <p:nvPr/>
        </p:nvSpPr>
        <p:spPr>
          <a:xfrm>
            <a:off x="5796000" y="3548520"/>
            <a:ext cx="3127680" cy="111600"/>
          </a:xfrm>
          <a:prstGeom prst="rect">
            <a:avLst/>
          </a:prstGeom>
          <a:noFill/>
          <a:ln w="0">
            <a:noFill/>
          </a:ln>
        </p:spPr>
        <p:txBody>
          <a:bodyPr wrap="none" lIns="0" rIns="0" tIns="0" bIns="0" anchor="t">
            <a:spAutoFit/>
          </a:bodyPr>
          <a:p>
            <a:r>
              <a:rPr b="0" lang="zh-CN" sz="690" strike="noStrike" u="none">
                <a:solidFill>
                  <a:srgbClr val="047857"/>
                </a:solidFill>
                <a:effectLst/>
                <a:uFillTx/>
                <a:latin typeface="WenQuanYiZenHei"/>
                <a:ea typeface="WenQuanYiZenHei"/>
              </a:rPr>
              <a:t>各診療行為に対して「出来高払い制」で点数が設定されており、それらを積み</a:t>
            </a:r>
            <a:endParaRPr b="0" lang="en-US" sz="690" strike="noStrike" u="none">
              <a:solidFill>
                <a:srgbClr val="000000"/>
              </a:solidFill>
              <a:effectLst/>
              <a:uFillTx/>
              <a:latin typeface="Times New Roman"/>
            </a:endParaRPr>
          </a:p>
        </p:txBody>
      </p:sp>
      <p:sp>
        <p:nvSpPr>
          <p:cNvPr id="196" name=""/>
          <p:cNvSpPr txBox="1"/>
          <p:nvPr/>
        </p:nvSpPr>
        <p:spPr>
          <a:xfrm>
            <a:off x="5004720" y="3665880"/>
            <a:ext cx="3758760" cy="111600"/>
          </a:xfrm>
          <a:prstGeom prst="rect">
            <a:avLst/>
          </a:prstGeom>
          <a:noFill/>
          <a:ln w="0">
            <a:noFill/>
          </a:ln>
        </p:spPr>
        <p:txBody>
          <a:bodyPr wrap="none" lIns="0" rIns="0" tIns="0" bIns="0" anchor="t">
            <a:spAutoFit/>
          </a:bodyPr>
          <a:p>
            <a:r>
              <a:rPr b="0" lang="zh-CN" sz="690" strike="noStrike" u="none">
                <a:solidFill>
                  <a:srgbClr val="047857"/>
                </a:solidFill>
                <a:effectLst/>
                <a:uFillTx/>
                <a:latin typeface="WenQuanYiZenHei"/>
                <a:ea typeface="WenQuanYiZenHei"/>
              </a:rPr>
              <a:t>上げて総点数を計算します。施設基準や患者の状態により加算が適用されることがあります。</a:t>
            </a:r>
            <a:endParaRPr b="0" lang="en-US" sz="69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7" name="" descr=""/>
          <p:cNvPicPr/>
          <p:nvPr/>
        </p:nvPicPr>
        <p:blipFill>
          <a:blip r:embed="rId1"/>
          <a:stretch/>
        </p:blipFill>
        <p:spPr>
          <a:xfrm>
            <a:off x="0" y="57240"/>
            <a:ext cx="8407440" cy="4728960"/>
          </a:xfrm>
          <a:prstGeom prst="rect">
            <a:avLst/>
          </a:prstGeom>
          <a:noFill/>
          <a:ln w="0">
            <a:noFill/>
          </a:ln>
        </p:spPr>
      </p:pic>
      <p:pic>
        <p:nvPicPr>
          <p:cNvPr id="198" name="" descr=""/>
          <p:cNvPicPr/>
          <p:nvPr/>
        </p:nvPicPr>
        <p:blipFill>
          <a:blip r:embed="rId2"/>
          <a:stretch/>
        </p:blipFill>
        <p:spPr>
          <a:xfrm>
            <a:off x="6108840" y="-928080"/>
            <a:ext cx="3283920" cy="3283920"/>
          </a:xfrm>
          <a:prstGeom prst="rect">
            <a:avLst/>
          </a:prstGeom>
          <a:noFill/>
          <a:ln w="0">
            <a:noFill/>
          </a:ln>
        </p:spPr>
      </p:pic>
      <p:pic>
        <p:nvPicPr>
          <p:cNvPr id="199" name="" descr=""/>
          <p:cNvPicPr/>
          <p:nvPr/>
        </p:nvPicPr>
        <p:blipFill>
          <a:blip r:embed="rId3"/>
          <a:stretch/>
        </p:blipFill>
        <p:spPr>
          <a:xfrm>
            <a:off x="-657000" y="3144240"/>
            <a:ext cx="2298600" cy="2298600"/>
          </a:xfrm>
          <a:prstGeom prst="rect">
            <a:avLst/>
          </a:prstGeom>
          <a:noFill/>
          <a:ln w="0">
            <a:noFill/>
          </a:ln>
        </p:spPr>
      </p:pic>
      <p:pic>
        <p:nvPicPr>
          <p:cNvPr id="200" name="" descr=""/>
          <p:cNvPicPr/>
          <p:nvPr/>
        </p:nvPicPr>
        <p:blipFill>
          <a:blip r:embed="rId4"/>
          <a:stretch/>
        </p:blipFill>
        <p:spPr>
          <a:xfrm>
            <a:off x="6634080" y="4569840"/>
            <a:ext cx="117720" cy="91440"/>
          </a:xfrm>
          <a:prstGeom prst="rect">
            <a:avLst/>
          </a:prstGeom>
          <a:noFill/>
          <a:ln w="0">
            <a:noFill/>
          </a:ln>
        </p:spPr>
      </p:pic>
      <p:sp>
        <p:nvSpPr>
          <p:cNvPr id="201" name=""/>
          <p:cNvSpPr txBox="1"/>
          <p:nvPr/>
        </p:nvSpPr>
        <p:spPr>
          <a:xfrm>
            <a:off x="6807960" y="4560120"/>
            <a:ext cx="366480" cy="116280"/>
          </a:xfrm>
          <a:prstGeom prst="rect">
            <a:avLst/>
          </a:prstGeom>
          <a:noFill/>
          <a:ln w="0">
            <a:noFill/>
          </a:ln>
        </p:spPr>
        <p:txBody>
          <a:bodyPr wrap="none" lIns="0" rIns="0" tIns="0" bIns="0" anchor="t">
            <a:spAutoFit/>
          </a:bodyPr>
          <a:p>
            <a:r>
              <a:rPr b="0" lang="zh-CN" sz="730" strike="noStrike" u="none">
                <a:solidFill>
                  <a:srgbClr val="6b7280"/>
                </a:solidFill>
                <a:effectLst/>
                <a:uFillTx/>
                <a:latin typeface="WenQuanYiZenHei"/>
                <a:ea typeface="WenQuanYiZenHei"/>
              </a:rPr>
              <a:t>東和病院</a:t>
            </a:r>
            <a:endParaRPr b="0" lang="en-US" sz="730" strike="noStrike" u="none">
              <a:solidFill>
                <a:srgbClr val="000000"/>
              </a:solidFill>
              <a:effectLst/>
              <a:uFillTx/>
              <a:latin typeface="Times New Roman"/>
            </a:endParaRPr>
          </a:p>
        </p:txBody>
      </p:sp>
      <p:sp>
        <p:nvSpPr>
          <p:cNvPr id="202" name=""/>
          <p:cNvSpPr txBox="1"/>
          <p:nvPr/>
        </p:nvSpPr>
        <p:spPr>
          <a:xfrm>
            <a:off x="7175880" y="4563360"/>
            <a:ext cx="91440" cy="106920"/>
          </a:xfrm>
          <a:prstGeom prst="rect">
            <a:avLst/>
          </a:prstGeom>
          <a:noFill/>
          <a:ln w="0">
            <a:noFill/>
          </a:ln>
        </p:spPr>
        <p:txBody>
          <a:bodyPr wrap="none" lIns="0" rIns="0" tIns="0" bIns="0" anchor="t">
            <a:spAutoFit/>
          </a:bodyPr>
          <a:p>
            <a:r>
              <a:rPr b="0" lang="en-US" sz="730" strike="noStrike" u="none">
                <a:solidFill>
                  <a:srgbClr val="6b7280"/>
                </a:solidFill>
                <a:effectLst/>
                <a:uFillTx/>
                <a:latin typeface="DejaVuSans"/>
                <a:ea typeface="DejaVuSans"/>
              </a:rPr>
              <a:t> </a:t>
            </a:r>
            <a:endParaRPr b="0" lang="en-US" sz="730" strike="noStrike" u="none">
              <a:solidFill>
                <a:srgbClr val="000000"/>
              </a:solidFill>
              <a:effectLst/>
              <a:uFillTx/>
              <a:latin typeface="Times New Roman"/>
            </a:endParaRPr>
          </a:p>
        </p:txBody>
      </p:sp>
      <p:sp>
        <p:nvSpPr>
          <p:cNvPr id="203" name=""/>
          <p:cNvSpPr txBox="1"/>
          <p:nvPr/>
        </p:nvSpPr>
        <p:spPr>
          <a:xfrm>
            <a:off x="7205040" y="4560120"/>
            <a:ext cx="640800" cy="116280"/>
          </a:xfrm>
          <a:prstGeom prst="rect">
            <a:avLst/>
          </a:prstGeom>
          <a:noFill/>
          <a:ln w="0">
            <a:noFill/>
          </a:ln>
        </p:spPr>
        <p:txBody>
          <a:bodyPr wrap="none" lIns="0" rIns="0" tIns="0" bIns="0" anchor="t">
            <a:spAutoFit/>
          </a:bodyPr>
          <a:p>
            <a:r>
              <a:rPr b="0" lang="zh-CN" sz="730" strike="noStrike" u="none">
                <a:solidFill>
                  <a:srgbClr val="6b7280"/>
                </a:solidFill>
                <a:effectLst/>
                <a:uFillTx/>
                <a:latin typeface="WenQuanYiZenHei"/>
                <a:ea typeface="WenQuanYiZenHei"/>
              </a:rPr>
              <a:t>保険点数勉強会</a:t>
            </a:r>
            <a:endParaRPr b="0" lang="en-US" sz="730" strike="noStrike" u="none">
              <a:solidFill>
                <a:srgbClr val="000000"/>
              </a:solidFill>
              <a:effectLst/>
              <a:uFillTx/>
              <a:latin typeface="Times New Roman"/>
            </a:endParaRPr>
          </a:p>
        </p:txBody>
      </p:sp>
      <p:sp>
        <p:nvSpPr>
          <p:cNvPr id="204" name=""/>
          <p:cNvSpPr txBox="1"/>
          <p:nvPr/>
        </p:nvSpPr>
        <p:spPr>
          <a:xfrm>
            <a:off x="7901640" y="4563360"/>
            <a:ext cx="91440" cy="106920"/>
          </a:xfrm>
          <a:prstGeom prst="rect">
            <a:avLst/>
          </a:prstGeom>
          <a:noFill/>
          <a:ln w="0">
            <a:noFill/>
          </a:ln>
        </p:spPr>
        <p:txBody>
          <a:bodyPr wrap="none" lIns="0" rIns="0" tIns="0" bIns="0" anchor="t">
            <a:spAutoFit/>
          </a:bodyPr>
          <a:p>
            <a:r>
              <a:rPr b="0" lang="en-US" sz="730" strike="noStrike" u="none">
                <a:solidFill>
                  <a:srgbClr val="6b7280"/>
                </a:solidFill>
                <a:effectLst/>
                <a:uFillTx/>
                <a:latin typeface="DejaVuSans"/>
                <a:ea typeface="DejaVuSans"/>
              </a:rPr>
              <a:t>|</a:t>
            </a:r>
            <a:endParaRPr b="0" lang="en-US" sz="730" strike="noStrike" u="none">
              <a:solidFill>
                <a:srgbClr val="000000"/>
              </a:solidFill>
              <a:effectLst/>
              <a:uFillTx/>
              <a:latin typeface="Times New Roman"/>
            </a:endParaRPr>
          </a:p>
        </p:txBody>
      </p:sp>
      <p:pic>
        <p:nvPicPr>
          <p:cNvPr id="205" name="" descr=""/>
          <p:cNvPicPr/>
          <p:nvPr/>
        </p:nvPicPr>
        <p:blipFill>
          <a:blip r:embed="rId5"/>
          <a:stretch/>
        </p:blipFill>
        <p:spPr>
          <a:xfrm>
            <a:off x="210240" y="556200"/>
            <a:ext cx="630360" cy="25920"/>
          </a:xfrm>
          <a:prstGeom prst="rect">
            <a:avLst/>
          </a:prstGeom>
          <a:noFill/>
          <a:ln w="0">
            <a:noFill/>
          </a:ln>
        </p:spPr>
      </p:pic>
      <p:pic>
        <p:nvPicPr>
          <p:cNvPr id="206" name="" descr=""/>
          <p:cNvPicPr/>
          <p:nvPr/>
        </p:nvPicPr>
        <p:blipFill>
          <a:blip r:embed="rId6"/>
          <a:stretch/>
        </p:blipFill>
        <p:spPr>
          <a:xfrm>
            <a:off x="210240" y="306720"/>
            <a:ext cx="177120" cy="157320"/>
          </a:xfrm>
          <a:prstGeom prst="rect">
            <a:avLst/>
          </a:prstGeom>
          <a:noFill/>
          <a:ln w="0">
            <a:noFill/>
          </a:ln>
        </p:spPr>
      </p:pic>
      <p:sp>
        <p:nvSpPr>
          <p:cNvPr id="207" name=""/>
          <p:cNvSpPr txBox="1"/>
          <p:nvPr/>
        </p:nvSpPr>
        <p:spPr>
          <a:xfrm>
            <a:off x="7985160" y="4563360"/>
            <a:ext cx="264240" cy="106920"/>
          </a:xfrm>
          <a:prstGeom prst="rect">
            <a:avLst/>
          </a:prstGeom>
          <a:noFill/>
          <a:ln w="0">
            <a:noFill/>
          </a:ln>
        </p:spPr>
        <p:txBody>
          <a:bodyPr wrap="none" lIns="0" rIns="0" tIns="0" bIns="0" anchor="t">
            <a:spAutoFit/>
          </a:bodyPr>
          <a:p>
            <a:r>
              <a:rPr b="0" lang="en-US" sz="730" strike="noStrike" u="none">
                <a:solidFill>
                  <a:srgbClr val="6b7280"/>
                </a:solidFill>
                <a:effectLst/>
                <a:uFillTx/>
                <a:latin typeface="DejaVuSans"/>
                <a:ea typeface="DejaVuSans"/>
              </a:rPr>
              <a:t>5 / 15</a:t>
            </a:r>
            <a:endParaRPr b="0" lang="en-US" sz="730" strike="noStrike" u="none">
              <a:solidFill>
                <a:srgbClr val="000000"/>
              </a:solidFill>
              <a:effectLst/>
              <a:uFillTx/>
              <a:latin typeface="Times New Roman"/>
            </a:endParaRPr>
          </a:p>
        </p:txBody>
      </p:sp>
      <p:sp>
        <p:nvSpPr>
          <p:cNvPr id="208" name=""/>
          <p:cNvSpPr txBox="1"/>
          <p:nvPr/>
        </p:nvSpPr>
        <p:spPr>
          <a:xfrm>
            <a:off x="466200" y="261360"/>
            <a:ext cx="1774800" cy="247320"/>
          </a:xfrm>
          <a:prstGeom prst="rect">
            <a:avLst/>
          </a:prstGeom>
          <a:noFill/>
          <a:ln w="0">
            <a:noFill/>
          </a:ln>
        </p:spPr>
        <p:txBody>
          <a:bodyPr wrap="none" lIns="0" rIns="0" tIns="0" bIns="0" anchor="t">
            <a:spAutoFit/>
          </a:bodyPr>
          <a:p>
            <a:r>
              <a:rPr b="0" lang="zh-CN" sz="1550" strike="noStrike" u="none">
                <a:solidFill>
                  <a:srgbClr val="1e40af"/>
                </a:solidFill>
                <a:effectLst/>
                <a:uFillTx/>
                <a:latin typeface="WenQuanYiZenHei"/>
                <a:ea typeface="WenQuanYiZenHei"/>
              </a:rPr>
              <a:t>整形外科の保険点数</a:t>
            </a:r>
            <a:endParaRPr b="0" lang="en-US" sz="1550" strike="noStrike" u="none">
              <a:solidFill>
                <a:srgbClr val="000000"/>
              </a:solidFill>
              <a:effectLst/>
              <a:uFillTx/>
              <a:latin typeface="Times New Roman"/>
            </a:endParaRPr>
          </a:p>
        </p:txBody>
      </p:sp>
      <p:sp>
        <p:nvSpPr>
          <p:cNvPr id="209" name=""/>
          <p:cNvSpPr txBox="1"/>
          <p:nvPr/>
        </p:nvSpPr>
        <p:spPr>
          <a:xfrm>
            <a:off x="2246400" y="268560"/>
            <a:ext cx="314280" cy="228960"/>
          </a:xfrm>
          <a:prstGeom prst="rect">
            <a:avLst/>
          </a:prstGeom>
          <a:noFill/>
          <a:ln w="0">
            <a:noFill/>
          </a:ln>
        </p:spPr>
        <p:txBody>
          <a:bodyPr wrap="none" lIns="0" rIns="0" tIns="0" bIns="0" anchor="t">
            <a:spAutoFit/>
          </a:bodyPr>
          <a:p>
            <a:r>
              <a:rPr b="1" lang="en-US" sz="1550" strike="noStrike" u="none">
                <a:solidFill>
                  <a:srgbClr val="1e40af"/>
                </a:solidFill>
                <a:effectLst/>
                <a:uFillTx/>
                <a:latin typeface="DejaVuSans"/>
                <a:ea typeface="DejaVuSans"/>
              </a:rPr>
              <a:t>①: </a:t>
            </a:r>
            <a:endParaRPr b="0" lang="en-US" sz="1550" strike="noStrike" u="none">
              <a:solidFill>
                <a:srgbClr val="000000"/>
              </a:solidFill>
              <a:effectLst/>
              <a:uFillTx/>
              <a:latin typeface="Times New Roman"/>
            </a:endParaRPr>
          </a:p>
        </p:txBody>
      </p:sp>
      <p:sp>
        <p:nvSpPr>
          <p:cNvPr id="210" name=""/>
          <p:cNvSpPr/>
          <p:nvPr/>
        </p:nvSpPr>
        <p:spPr>
          <a:xfrm>
            <a:off x="209880" y="687600"/>
            <a:ext cx="4598280" cy="2686680"/>
          </a:xfrm>
          <a:custGeom>
            <a:avLst/>
            <a:gdLst/>
            <a:ahLst/>
            <a:rect l="0" t="0" r="r" b="b"/>
            <a:pathLst>
              <a:path w="12773" h="7463">
                <a:moveTo>
                  <a:pt x="0" y="7317"/>
                </a:moveTo>
                <a:lnTo>
                  <a:pt x="0" y="146"/>
                </a:lnTo>
                <a:cubicBezTo>
                  <a:pt x="0" y="136"/>
                  <a:pt x="1" y="127"/>
                  <a:pt x="3" y="117"/>
                </a:cubicBezTo>
                <a:cubicBezTo>
                  <a:pt x="5" y="108"/>
                  <a:pt x="8" y="99"/>
                  <a:pt x="11" y="90"/>
                </a:cubicBezTo>
                <a:cubicBezTo>
                  <a:pt x="15" y="81"/>
                  <a:pt x="20" y="73"/>
                  <a:pt x="25" y="65"/>
                </a:cubicBezTo>
                <a:cubicBezTo>
                  <a:pt x="30" y="57"/>
                  <a:pt x="36" y="49"/>
                  <a:pt x="43" y="43"/>
                </a:cubicBezTo>
                <a:cubicBezTo>
                  <a:pt x="50" y="36"/>
                  <a:pt x="57" y="30"/>
                  <a:pt x="65" y="24"/>
                </a:cubicBezTo>
                <a:cubicBezTo>
                  <a:pt x="73" y="19"/>
                  <a:pt x="82" y="15"/>
                  <a:pt x="90" y="11"/>
                </a:cubicBezTo>
                <a:cubicBezTo>
                  <a:pt x="99" y="7"/>
                  <a:pt x="108" y="5"/>
                  <a:pt x="118" y="3"/>
                </a:cubicBezTo>
                <a:cubicBezTo>
                  <a:pt x="127" y="1"/>
                  <a:pt x="137" y="0"/>
                  <a:pt x="146" y="0"/>
                </a:cubicBezTo>
                <a:lnTo>
                  <a:pt x="12627" y="0"/>
                </a:lnTo>
                <a:cubicBezTo>
                  <a:pt x="12637" y="0"/>
                  <a:pt x="12647" y="1"/>
                  <a:pt x="12656" y="3"/>
                </a:cubicBezTo>
                <a:cubicBezTo>
                  <a:pt x="12665" y="5"/>
                  <a:pt x="12674" y="7"/>
                  <a:pt x="12683" y="11"/>
                </a:cubicBezTo>
                <a:cubicBezTo>
                  <a:pt x="12692" y="15"/>
                  <a:pt x="12701" y="19"/>
                  <a:pt x="12709" y="24"/>
                </a:cubicBezTo>
                <a:cubicBezTo>
                  <a:pt x="12717" y="30"/>
                  <a:pt x="12724" y="36"/>
                  <a:pt x="12731" y="43"/>
                </a:cubicBezTo>
                <a:cubicBezTo>
                  <a:pt x="12737" y="49"/>
                  <a:pt x="12743" y="57"/>
                  <a:pt x="12749" y="65"/>
                </a:cubicBezTo>
                <a:cubicBezTo>
                  <a:pt x="12754" y="73"/>
                  <a:pt x="12759" y="81"/>
                  <a:pt x="12762" y="90"/>
                </a:cubicBezTo>
                <a:cubicBezTo>
                  <a:pt x="12766" y="99"/>
                  <a:pt x="12769" y="108"/>
                  <a:pt x="12771" y="117"/>
                </a:cubicBezTo>
                <a:cubicBezTo>
                  <a:pt x="12772" y="127"/>
                  <a:pt x="12773" y="136"/>
                  <a:pt x="12773" y="146"/>
                </a:cubicBezTo>
                <a:lnTo>
                  <a:pt x="12773" y="7317"/>
                </a:lnTo>
                <a:cubicBezTo>
                  <a:pt x="12773" y="7327"/>
                  <a:pt x="12772" y="7336"/>
                  <a:pt x="12771" y="7346"/>
                </a:cubicBezTo>
                <a:cubicBezTo>
                  <a:pt x="12769" y="7355"/>
                  <a:pt x="12766" y="7364"/>
                  <a:pt x="12762" y="7373"/>
                </a:cubicBezTo>
                <a:cubicBezTo>
                  <a:pt x="12759" y="7382"/>
                  <a:pt x="12754" y="7391"/>
                  <a:pt x="12749" y="7398"/>
                </a:cubicBezTo>
                <a:cubicBezTo>
                  <a:pt x="12743" y="7406"/>
                  <a:pt x="12737" y="7414"/>
                  <a:pt x="12731" y="7421"/>
                </a:cubicBezTo>
                <a:cubicBezTo>
                  <a:pt x="12724" y="7427"/>
                  <a:pt x="12717" y="7433"/>
                  <a:pt x="12709" y="7439"/>
                </a:cubicBezTo>
                <a:cubicBezTo>
                  <a:pt x="12701" y="7444"/>
                  <a:pt x="12692" y="7449"/>
                  <a:pt x="12683" y="7452"/>
                </a:cubicBezTo>
                <a:cubicBezTo>
                  <a:pt x="12674" y="7456"/>
                  <a:pt x="12665" y="7459"/>
                  <a:pt x="12656" y="7461"/>
                </a:cubicBezTo>
                <a:cubicBezTo>
                  <a:pt x="12647" y="7462"/>
                  <a:pt x="12637" y="7463"/>
                  <a:pt x="12627" y="7463"/>
                </a:cubicBezTo>
                <a:lnTo>
                  <a:pt x="146" y="7463"/>
                </a:lnTo>
                <a:cubicBezTo>
                  <a:pt x="137" y="7463"/>
                  <a:pt x="127" y="7462"/>
                  <a:pt x="118" y="7461"/>
                </a:cubicBezTo>
                <a:cubicBezTo>
                  <a:pt x="108" y="7459"/>
                  <a:pt x="99" y="7456"/>
                  <a:pt x="90" y="7452"/>
                </a:cubicBezTo>
                <a:cubicBezTo>
                  <a:pt x="82" y="7449"/>
                  <a:pt x="73" y="7444"/>
                  <a:pt x="65" y="7439"/>
                </a:cubicBezTo>
                <a:cubicBezTo>
                  <a:pt x="57" y="7433"/>
                  <a:pt x="50" y="7427"/>
                  <a:pt x="43" y="7421"/>
                </a:cubicBezTo>
                <a:cubicBezTo>
                  <a:pt x="36" y="7414"/>
                  <a:pt x="30" y="7406"/>
                  <a:pt x="25" y="7398"/>
                </a:cubicBezTo>
                <a:cubicBezTo>
                  <a:pt x="20" y="7391"/>
                  <a:pt x="15" y="7382"/>
                  <a:pt x="11" y="7373"/>
                </a:cubicBezTo>
                <a:cubicBezTo>
                  <a:pt x="8" y="7364"/>
                  <a:pt x="5" y="7355"/>
                  <a:pt x="3" y="7346"/>
                </a:cubicBezTo>
                <a:cubicBezTo>
                  <a:pt x="1" y="7336"/>
                  <a:pt x="0" y="7327"/>
                  <a:pt x="0" y="7317"/>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11" name=""/>
          <p:cNvSpPr/>
          <p:nvPr/>
        </p:nvSpPr>
        <p:spPr>
          <a:xfrm>
            <a:off x="315000" y="1029240"/>
            <a:ext cx="1097280" cy="158040"/>
          </a:xfrm>
          <a:custGeom>
            <a:avLst/>
            <a:gdLst/>
            <a:ahLst/>
            <a:rect l="0" t="0" r="r" b="b"/>
            <a:pathLst>
              <a:path w="3048" h="439">
                <a:moveTo>
                  <a:pt x="0" y="0"/>
                </a:moveTo>
                <a:lnTo>
                  <a:pt x="3048" y="0"/>
                </a:lnTo>
                <a:lnTo>
                  <a:pt x="3048" y="439"/>
                </a:lnTo>
                <a:lnTo>
                  <a:pt x="0" y="439"/>
                </a:lnTo>
                <a:lnTo>
                  <a:pt x="0" y="0"/>
                </a:lnTo>
                <a:close/>
              </a:path>
            </a:pathLst>
          </a:custGeom>
          <a:solidFill>
            <a:srgbClr val="dbea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12" name=""/>
          <p:cNvSpPr/>
          <p:nvPr/>
        </p:nvSpPr>
        <p:spPr>
          <a:xfrm>
            <a:off x="1411920" y="1029240"/>
            <a:ext cx="506160" cy="158040"/>
          </a:xfrm>
          <a:custGeom>
            <a:avLst/>
            <a:gdLst/>
            <a:ahLst/>
            <a:rect l="0" t="0" r="r" b="b"/>
            <a:pathLst>
              <a:path w="1406" h="439">
                <a:moveTo>
                  <a:pt x="0" y="0"/>
                </a:moveTo>
                <a:lnTo>
                  <a:pt x="1406" y="0"/>
                </a:lnTo>
                <a:lnTo>
                  <a:pt x="1406" y="439"/>
                </a:lnTo>
                <a:lnTo>
                  <a:pt x="0" y="439"/>
                </a:lnTo>
                <a:lnTo>
                  <a:pt x="0" y="0"/>
                </a:lnTo>
                <a:close/>
              </a:path>
            </a:pathLst>
          </a:custGeom>
          <a:solidFill>
            <a:srgbClr val="dbea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13" name=""/>
          <p:cNvSpPr/>
          <p:nvPr/>
        </p:nvSpPr>
        <p:spPr>
          <a:xfrm>
            <a:off x="1917720" y="1029240"/>
            <a:ext cx="2785320" cy="158040"/>
          </a:xfrm>
          <a:custGeom>
            <a:avLst/>
            <a:gdLst/>
            <a:ahLst/>
            <a:rect l="0" t="0" r="r" b="b"/>
            <a:pathLst>
              <a:path w="7737" h="439">
                <a:moveTo>
                  <a:pt x="0" y="0"/>
                </a:moveTo>
                <a:lnTo>
                  <a:pt x="7737" y="0"/>
                </a:lnTo>
                <a:lnTo>
                  <a:pt x="7737" y="439"/>
                </a:lnTo>
                <a:lnTo>
                  <a:pt x="0" y="439"/>
                </a:lnTo>
                <a:lnTo>
                  <a:pt x="0" y="0"/>
                </a:lnTo>
                <a:close/>
              </a:path>
            </a:pathLst>
          </a:custGeom>
          <a:solidFill>
            <a:srgbClr val="dbea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14" name=""/>
          <p:cNvSpPr/>
          <p:nvPr/>
        </p:nvSpPr>
        <p:spPr>
          <a:xfrm>
            <a:off x="315000" y="1508760"/>
            <a:ext cx="1097280" cy="322200"/>
          </a:xfrm>
          <a:custGeom>
            <a:avLst/>
            <a:gdLst/>
            <a:ahLst/>
            <a:rect l="0" t="0" r="r" b="b"/>
            <a:pathLst>
              <a:path w="3048" h="895">
                <a:moveTo>
                  <a:pt x="0" y="0"/>
                </a:moveTo>
                <a:lnTo>
                  <a:pt x="3048" y="0"/>
                </a:lnTo>
                <a:lnTo>
                  <a:pt x="3048" y="895"/>
                </a:lnTo>
                <a:lnTo>
                  <a:pt x="0" y="895"/>
                </a:lnTo>
                <a:lnTo>
                  <a:pt x="0" y="0"/>
                </a:lnTo>
                <a:close/>
              </a:path>
            </a:pathLst>
          </a:custGeom>
          <a:solidFill>
            <a:srgbClr val="dbeafe">
              <a:alpha val="3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15" name=""/>
          <p:cNvSpPr/>
          <p:nvPr/>
        </p:nvSpPr>
        <p:spPr>
          <a:xfrm>
            <a:off x="1411920" y="1508760"/>
            <a:ext cx="506160" cy="322200"/>
          </a:xfrm>
          <a:custGeom>
            <a:avLst/>
            <a:gdLst/>
            <a:ahLst/>
            <a:rect l="0" t="0" r="r" b="b"/>
            <a:pathLst>
              <a:path w="1406" h="895">
                <a:moveTo>
                  <a:pt x="0" y="0"/>
                </a:moveTo>
                <a:lnTo>
                  <a:pt x="1406" y="0"/>
                </a:lnTo>
                <a:lnTo>
                  <a:pt x="1406" y="895"/>
                </a:lnTo>
                <a:lnTo>
                  <a:pt x="0" y="895"/>
                </a:lnTo>
                <a:lnTo>
                  <a:pt x="0" y="0"/>
                </a:lnTo>
                <a:close/>
              </a:path>
            </a:pathLst>
          </a:custGeom>
          <a:solidFill>
            <a:srgbClr val="dbeafe">
              <a:alpha val="3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16" name=""/>
          <p:cNvSpPr/>
          <p:nvPr/>
        </p:nvSpPr>
        <p:spPr>
          <a:xfrm>
            <a:off x="1917720" y="1508760"/>
            <a:ext cx="2785320" cy="322200"/>
          </a:xfrm>
          <a:custGeom>
            <a:avLst/>
            <a:gdLst/>
            <a:ahLst/>
            <a:rect l="0" t="0" r="r" b="b"/>
            <a:pathLst>
              <a:path w="7737" h="895">
                <a:moveTo>
                  <a:pt x="0" y="0"/>
                </a:moveTo>
                <a:lnTo>
                  <a:pt x="7737" y="0"/>
                </a:lnTo>
                <a:lnTo>
                  <a:pt x="7737" y="895"/>
                </a:lnTo>
                <a:lnTo>
                  <a:pt x="0" y="895"/>
                </a:lnTo>
                <a:lnTo>
                  <a:pt x="0" y="0"/>
                </a:lnTo>
                <a:close/>
              </a:path>
            </a:pathLst>
          </a:custGeom>
          <a:solidFill>
            <a:srgbClr val="dbeafe">
              <a:alpha val="3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17" name=""/>
          <p:cNvSpPr/>
          <p:nvPr/>
        </p:nvSpPr>
        <p:spPr>
          <a:xfrm>
            <a:off x="315000" y="2362680"/>
            <a:ext cx="1097280" cy="322200"/>
          </a:xfrm>
          <a:custGeom>
            <a:avLst/>
            <a:gdLst/>
            <a:ahLst/>
            <a:rect l="0" t="0" r="r" b="b"/>
            <a:pathLst>
              <a:path w="3048" h="895">
                <a:moveTo>
                  <a:pt x="0" y="0"/>
                </a:moveTo>
                <a:lnTo>
                  <a:pt x="3048" y="0"/>
                </a:lnTo>
                <a:lnTo>
                  <a:pt x="3048" y="895"/>
                </a:lnTo>
                <a:lnTo>
                  <a:pt x="0" y="895"/>
                </a:lnTo>
                <a:lnTo>
                  <a:pt x="0" y="0"/>
                </a:lnTo>
                <a:close/>
              </a:path>
            </a:pathLst>
          </a:custGeom>
          <a:solidFill>
            <a:srgbClr val="dbeafe">
              <a:alpha val="3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18" name=""/>
          <p:cNvSpPr/>
          <p:nvPr/>
        </p:nvSpPr>
        <p:spPr>
          <a:xfrm>
            <a:off x="1411920" y="2362680"/>
            <a:ext cx="506160" cy="322200"/>
          </a:xfrm>
          <a:custGeom>
            <a:avLst/>
            <a:gdLst/>
            <a:ahLst/>
            <a:rect l="0" t="0" r="r" b="b"/>
            <a:pathLst>
              <a:path w="1406" h="895">
                <a:moveTo>
                  <a:pt x="0" y="0"/>
                </a:moveTo>
                <a:lnTo>
                  <a:pt x="1406" y="0"/>
                </a:lnTo>
                <a:lnTo>
                  <a:pt x="1406" y="895"/>
                </a:lnTo>
                <a:lnTo>
                  <a:pt x="0" y="895"/>
                </a:lnTo>
                <a:lnTo>
                  <a:pt x="0" y="0"/>
                </a:lnTo>
                <a:close/>
              </a:path>
            </a:pathLst>
          </a:custGeom>
          <a:solidFill>
            <a:srgbClr val="dbeafe">
              <a:alpha val="3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19" name=""/>
          <p:cNvSpPr/>
          <p:nvPr/>
        </p:nvSpPr>
        <p:spPr>
          <a:xfrm>
            <a:off x="1917720" y="2362680"/>
            <a:ext cx="2785320" cy="322200"/>
          </a:xfrm>
          <a:custGeom>
            <a:avLst/>
            <a:gdLst/>
            <a:ahLst/>
            <a:rect l="0" t="0" r="r" b="b"/>
            <a:pathLst>
              <a:path w="7737" h="895">
                <a:moveTo>
                  <a:pt x="0" y="0"/>
                </a:moveTo>
                <a:lnTo>
                  <a:pt x="7737" y="0"/>
                </a:lnTo>
                <a:lnTo>
                  <a:pt x="7737" y="895"/>
                </a:lnTo>
                <a:lnTo>
                  <a:pt x="0" y="895"/>
                </a:lnTo>
                <a:lnTo>
                  <a:pt x="0" y="0"/>
                </a:lnTo>
                <a:close/>
              </a:path>
            </a:pathLst>
          </a:custGeom>
          <a:solidFill>
            <a:srgbClr val="dbeafe">
              <a:alpha val="3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20" name=""/>
          <p:cNvSpPr/>
          <p:nvPr/>
        </p:nvSpPr>
        <p:spPr>
          <a:xfrm>
            <a:off x="315000" y="1501920"/>
            <a:ext cx="1097280" cy="7200"/>
          </a:xfrm>
          <a:custGeom>
            <a:avLst/>
            <a:gdLst/>
            <a:ahLst/>
            <a:rect l="0" t="0" r="r" b="b"/>
            <a:pathLst>
              <a:path w="3048" h="20">
                <a:moveTo>
                  <a:pt x="0" y="0"/>
                </a:moveTo>
                <a:lnTo>
                  <a:pt x="3048" y="0"/>
                </a:lnTo>
                <a:lnTo>
                  <a:pt x="3048"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21" name=""/>
          <p:cNvSpPr/>
          <p:nvPr/>
        </p:nvSpPr>
        <p:spPr>
          <a:xfrm>
            <a:off x="1411920" y="1501920"/>
            <a:ext cx="506160" cy="7200"/>
          </a:xfrm>
          <a:custGeom>
            <a:avLst/>
            <a:gdLst/>
            <a:ahLst/>
            <a:rect l="0" t="0" r="r" b="b"/>
            <a:pathLst>
              <a:path w="1406" h="20">
                <a:moveTo>
                  <a:pt x="0" y="0"/>
                </a:moveTo>
                <a:lnTo>
                  <a:pt x="1406" y="0"/>
                </a:lnTo>
                <a:lnTo>
                  <a:pt x="1406"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22" name=""/>
          <p:cNvSpPr/>
          <p:nvPr/>
        </p:nvSpPr>
        <p:spPr>
          <a:xfrm>
            <a:off x="1917720" y="1501920"/>
            <a:ext cx="2785320" cy="7200"/>
          </a:xfrm>
          <a:custGeom>
            <a:avLst/>
            <a:gdLst/>
            <a:ahLst/>
            <a:rect l="0" t="0" r="r" b="b"/>
            <a:pathLst>
              <a:path w="7737" h="20">
                <a:moveTo>
                  <a:pt x="0" y="0"/>
                </a:moveTo>
                <a:lnTo>
                  <a:pt x="7737" y="0"/>
                </a:lnTo>
                <a:lnTo>
                  <a:pt x="7737"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23" name=""/>
          <p:cNvSpPr/>
          <p:nvPr/>
        </p:nvSpPr>
        <p:spPr>
          <a:xfrm>
            <a:off x="315000" y="1823760"/>
            <a:ext cx="1097280" cy="7560"/>
          </a:xfrm>
          <a:custGeom>
            <a:avLst/>
            <a:gdLst/>
            <a:ahLst/>
            <a:rect l="0" t="0" r="r" b="b"/>
            <a:pathLst>
              <a:path w="3048" h="21">
                <a:moveTo>
                  <a:pt x="0" y="0"/>
                </a:moveTo>
                <a:lnTo>
                  <a:pt x="3048" y="0"/>
                </a:lnTo>
                <a:lnTo>
                  <a:pt x="3048" y="21"/>
                </a:lnTo>
                <a:lnTo>
                  <a:pt x="0" y="21"/>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24" name=""/>
          <p:cNvSpPr/>
          <p:nvPr/>
        </p:nvSpPr>
        <p:spPr>
          <a:xfrm>
            <a:off x="1411920" y="1823760"/>
            <a:ext cx="506160" cy="7560"/>
          </a:xfrm>
          <a:custGeom>
            <a:avLst/>
            <a:gdLst/>
            <a:ahLst/>
            <a:rect l="0" t="0" r="r" b="b"/>
            <a:pathLst>
              <a:path w="1406" h="21">
                <a:moveTo>
                  <a:pt x="0" y="0"/>
                </a:moveTo>
                <a:lnTo>
                  <a:pt x="1406" y="0"/>
                </a:lnTo>
                <a:lnTo>
                  <a:pt x="1406" y="21"/>
                </a:lnTo>
                <a:lnTo>
                  <a:pt x="0" y="21"/>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25" name=""/>
          <p:cNvSpPr/>
          <p:nvPr/>
        </p:nvSpPr>
        <p:spPr>
          <a:xfrm>
            <a:off x="1917720" y="1823760"/>
            <a:ext cx="2785320" cy="7560"/>
          </a:xfrm>
          <a:custGeom>
            <a:avLst/>
            <a:gdLst/>
            <a:ahLst/>
            <a:rect l="0" t="0" r="r" b="b"/>
            <a:pathLst>
              <a:path w="7737" h="21">
                <a:moveTo>
                  <a:pt x="0" y="0"/>
                </a:moveTo>
                <a:lnTo>
                  <a:pt x="7737" y="0"/>
                </a:lnTo>
                <a:lnTo>
                  <a:pt x="7737" y="21"/>
                </a:lnTo>
                <a:lnTo>
                  <a:pt x="0" y="21"/>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26" name=""/>
          <p:cNvSpPr/>
          <p:nvPr/>
        </p:nvSpPr>
        <p:spPr>
          <a:xfrm>
            <a:off x="315000" y="2355840"/>
            <a:ext cx="1097280" cy="7200"/>
          </a:xfrm>
          <a:custGeom>
            <a:avLst/>
            <a:gdLst/>
            <a:ahLst/>
            <a:rect l="0" t="0" r="r" b="b"/>
            <a:pathLst>
              <a:path w="3048" h="20">
                <a:moveTo>
                  <a:pt x="0" y="0"/>
                </a:moveTo>
                <a:lnTo>
                  <a:pt x="3048" y="0"/>
                </a:lnTo>
                <a:lnTo>
                  <a:pt x="3048"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27" name=""/>
          <p:cNvSpPr/>
          <p:nvPr/>
        </p:nvSpPr>
        <p:spPr>
          <a:xfrm>
            <a:off x="1411920" y="2355840"/>
            <a:ext cx="506160" cy="7200"/>
          </a:xfrm>
          <a:custGeom>
            <a:avLst/>
            <a:gdLst/>
            <a:ahLst/>
            <a:rect l="0" t="0" r="r" b="b"/>
            <a:pathLst>
              <a:path w="1406" h="20">
                <a:moveTo>
                  <a:pt x="0" y="0"/>
                </a:moveTo>
                <a:lnTo>
                  <a:pt x="1406" y="0"/>
                </a:lnTo>
                <a:lnTo>
                  <a:pt x="1406"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28" name=""/>
          <p:cNvSpPr/>
          <p:nvPr/>
        </p:nvSpPr>
        <p:spPr>
          <a:xfrm>
            <a:off x="1917720" y="2355840"/>
            <a:ext cx="2785320" cy="7200"/>
          </a:xfrm>
          <a:custGeom>
            <a:avLst/>
            <a:gdLst/>
            <a:ahLst/>
            <a:rect l="0" t="0" r="r" b="b"/>
            <a:pathLst>
              <a:path w="7737" h="20">
                <a:moveTo>
                  <a:pt x="0" y="0"/>
                </a:moveTo>
                <a:lnTo>
                  <a:pt x="7737" y="0"/>
                </a:lnTo>
                <a:lnTo>
                  <a:pt x="7737"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29" name=""/>
          <p:cNvSpPr/>
          <p:nvPr/>
        </p:nvSpPr>
        <p:spPr>
          <a:xfrm>
            <a:off x="315000" y="2677680"/>
            <a:ext cx="1097280" cy="7200"/>
          </a:xfrm>
          <a:custGeom>
            <a:avLst/>
            <a:gdLst/>
            <a:ahLst/>
            <a:rect l="0" t="0" r="r" b="b"/>
            <a:pathLst>
              <a:path w="3048" h="20">
                <a:moveTo>
                  <a:pt x="0" y="0"/>
                </a:moveTo>
                <a:lnTo>
                  <a:pt x="3048" y="0"/>
                </a:lnTo>
                <a:lnTo>
                  <a:pt x="3048"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30" name=""/>
          <p:cNvSpPr/>
          <p:nvPr/>
        </p:nvSpPr>
        <p:spPr>
          <a:xfrm>
            <a:off x="1411920" y="2677680"/>
            <a:ext cx="506160" cy="7200"/>
          </a:xfrm>
          <a:custGeom>
            <a:avLst/>
            <a:gdLst/>
            <a:ahLst/>
            <a:rect l="0" t="0" r="r" b="b"/>
            <a:pathLst>
              <a:path w="1406" h="20">
                <a:moveTo>
                  <a:pt x="0" y="0"/>
                </a:moveTo>
                <a:lnTo>
                  <a:pt x="1406" y="0"/>
                </a:lnTo>
                <a:lnTo>
                  <a:pt x="1406"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31" name=""/>
          <p:cNvSpPr/>
          <p:nvPr/>
        </p:nvSpPr>
        <p:spPr>
          <a:xfrm>
            <a:off x="1917720" y="2677680"/>
            <a:ext cx="2785320" cy="7200"/>
          </a:xfrm>
          <a:custGeom>
            <a:avLst/>
            <a:gdLst/>
            <a:ahLst/>
            <a:rect l="0" t="0" r="r" b="b"/>
            <a:pathLst>
              <a:path w="7737" h="20">
                <a:moveTo>
                  <a:pt x="0" y="0"/>
                </a:moveTo>
                <a:lnTo>
                  <a:pt x="7737" y="0"/>
                </a:lnTo>
                <a:lnTo>
                  <a:pt x="7737"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32" name=""/>
          <p:cNvSpPr/>
          <p:nvPr/>
        </p:nvSpPr>
        <p:spPr>
          <a:xfrm>
            <a:off x="315000" y="2999520"/>
            <a:ext cx="1097280" cy="7200"/>
          </a:xfrm>
          <a:custGeom>
            <a:avLst/>
            <a:gdLst/>
            <a:ahLst/>
            <a:rect l="0" t="0" r="r" b="b"/>
            <a:pathLst>
              <a:path w="3048" h="20">
                <a:moveTo>
                  <a:pt x="0" y="0"/>
                </a:moveTo>
                <a:lnTo>
                  <a:pt x="3048" y="0"/>
                </a:lnTo>
                <a:lnTo>
                  <a:pt x="3048"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33" name=""/>
          <p:cNvSpPr/>
          <p:nvPr/>
        </p:nvSpPr>
        <p:spPr>
          <a:xfrm>
            <a:off x="1411920" y="2999520"/>
            <a:ext cx="506160" cy="7200"/>
          </a:xfrm>
          <a:custGeom>
            <a:avLst/>
            <a:gdLst/>
            <a:ahLst/>
            <a:rect l="0" t="0" r="r" b="b"/>
            <a:pathLst>
              <a:path w="1406" h="20">
                <a:moveTo>
                  <a:pt x="0" y="0"/>
                </a:moveTo>
                <a:lnTo>
                  <a:pt x="1406" y="0"/>
                </a:lnTo>
                <a:lnTo>
                  <a:pt x="1406"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34" name=""/>
          <p:cNvSpPr/>
          <p:nvPr/>
        </p:nvSpPr>
        <p:spPr>
          <a:xfrm>
            <a:off x="1917720" y="2999520"/>
            <a:ext cx="2785320" cy="7200"/>
          </a:xfrm>
          <a:custGeom>
            <a:avLst/>
            <a:gdLst/>
            <a:ahLst/>
            <a:rect l="0" t="0" r="r" b="b"/>
            <a:pathLst>
              <a:path w="7737" h="20">
                <a:moveTo>
                  <a:pt x="0" y="0"/>
                </a:moveTo>
                <a:lnTo>
                  <a:pt x="7737" y="0"/>
                </a:lnTo>
                <a:lnTo>
                  <a:pt x="7737"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235" name="" descr=""/>
          <p:cNvPicPr/>
          <p:nvPr/>
        </p:nvPicPr>
        <p:blipFill>
          <a:blip r:embed="rId7"/>
          <a:stretch/>
        </p:blipFill>
        <p:spPr>
          <a:xfrm>
            <a:off x="315360" y="825840"/>
            <a:ext cx="150840" cy="117720"/>
          </a:xfrm>
          <a:prstGeom prst="rect">
            <a:avLst/>
          </a:prstGeom>
          <a:noFill/>
          <a:ln w="0">
            <a:noFill/>
          </a:ln>
        </p:spPr>
      </p:pic>
      <p:sp>
        <p:nvSpPr>
          <p:cNvPr id="236" name=""/>
          <p:cNvSpPr txBox="1"/>
          <p:nvPr/>
        </p:nvSpPr>
        <p:spPr>
          <a:xfrm>
            <a:off x="2560680" y="261360"/>
            <a:ext cx="983880" cy="247320"/>
          </a:xfrm>
          <a:prstGeom prst="rect">
            <a:avLst/>
          </a:prstGeom>
          <a:noFill/>
          <a:ln w="0">
            <a:noFill/>
          </a:ln>
        </p:spPr>
        <p:txBody>
          <a:bodyPr wrap="none" lIns="0" rIns="0" tIns="0" bIns="0" anchor="t">
            <a:spAutoFit/>
          </a:bodyPr>
          <a:p>
            <a:r>
              <a:rPr b="0" lang="zh-CN" sz="1550" strike="noStrike" u="none">
                <a:solidFill>
                  <a:srgbClr val="1e40af"/>
                </a:solidFill>
                <a:effectLst/>
                <a:uFillTx/>
                <a:latin typeface="WenQuanYiZenHei"/>
                <a:ea typeface="WenQuanYiZenHei"/>
              </a:rPr>
              <a:t>手術・処置</a:t>
            </a:r>
            <a:endParaRPr b="0" lang="en-US" sz="1550" strike="noStrike" u="none">
              <a:solidFill>
                <a:srgbClr val="000000"/>
              </a:solidFill>
              <a:effectLst/>
              <a:uFillTx/>
              <a:latin typeface="Times New Roman"/>
            </a:endParaRPr>
          </a:p>
        </p:txBody>
      </p:sp>
      <p:sp>
        <p:nvSpPr>
          <p:cNvPr id="237" name=""/>
          <p:cNvSpPr txBox="1"/>
          <p:nvPr/>
        </p:nvSpPr>
        <p:spPr>
          <a:xfrm>
            <a:off x="518760" y="810360"/>
            <a:ext cx="1062360" cy="148320"/>
          </a:xfrm>
          <a:prstGeom prst="rect">
            <a:avLst/>
          </a:prstGeom>
          <a:noFill/>
          <a:ln w="0">
            <a:noFill/>
          </a:ln>
        </p:spPr>
        <p:txBody>
          <a:bodyPr wrap="none" lIns="0" rIns="0" tIns="0" bIns="0" anchor="t">
            <a:spAutoFit/>
          </a:bodyPr>
          <a:p>
            <a:r>
              <a:rPr b="0" lang="zh-CN" sz="930" strike="noStrike" u="none">
                <a:solidFill>
                  <a:srgbClr val="1d4ed8"/>
                </a:solidFill>
                <a:effectLst/>
                <a:uFillTx/>
                <a:latin typeface="WenQuanYiZenHei"/>
                <a:ea typeface="WenQuanYiZenHei"/>
              </a:rPr>
              <a:t>主な手術と保険点数</a:t>
            </a:r>
            <a:endParaRPr b="0" lang="en-US" sz="930" strike="noStrike" u="none">
              <a:solidFill>
                <a:srgbClr val="000000"/>
              </a:solidFill>
              <a:effectLst/>
              <a:uFillTx/>
              <a:latin typeface="Times New Roman"/>
            </a:endParaRPr>
          </a:p>
        </p:txBody>
      </p:sp>
      <p:sp>
        <p:nvSpPr>
          <p:cNvPr id="238" name=""/>
          <p:cNvSpPr txBox="1"/>
          <p:nvPr/>
        </p:nvSpPr>
        <p:spPr>
          <a:xfrm>
            <a:off x="367920" y="1058400"/>
            <a:ext cx="238320" cy="99720"/>
          </a:xfrm>
          <a:prstGeom prst="rect">
            <a:avLst/>
          </a:prstGeom>
          <a:noFill/>
          <a:ln w="0">
            <a:noFill/>
          </a:ln>
        </p:spPr>
        <p:txBody>
          <a:bodyPr wrap="none" lIns="0" rIns="0" tIns="0" bIns="0" anchor="t">
            <a:spAutoFit/>
          </a:bodyPr>
          <a:p>
            <a:r>
              <a:rPr b="0" lang="zh-CN" sz="620" strike="noStrike" u="none">
                <a:solidFill>
                  <a:srgbClr val="1e40af"/>
                </a:solidFill>
                <a:effectLst/>
                <a:uFillTx/>
                <a:latin typeface="WenQuanYiZenHei"/>
                <a:ea typeface="WenQuanYiZenHei"/>
              </a:rPr>
              <a:t>手術名</a:t>
            </a:r>
            <a:endParaRPr b="0" lang="en-US" sz="620" strike="noStrike" u="none">
              <a:solidFill>
                <a:srgbClr val="000000"/>
              </a:solidFill>
              <a:effectLst/>
              <a:uFillTx/>
              <a:latin typeface="Times New Roman"/>
            </a:endParaRPr>
          </a:p>
        </p:txBody>
      </p:sp>
      <p:sp>
        <p:nvSpPr>
          <p:cNvPr id="239" name=""/>
          <p:cNvSpPr txBox="1"/>
          <p:nvPr/>
        </p:nvSpPr>
        <p:spPr>
          <a:xfrm>
            <a:off x="1466280" y="1058400"/>
            <a:ext cx="238320" cy="99720"/>
          </a:xfrm>
          <a:prstGeom prst="rect">
            <a:avLst/>
          </a:prstGeom>
          <a:noFill/>
          <a:ln w="0">
            <a:noFill/>
          </a:ln>
        </p:spPr>
        <p:txBody>
          <a:bodyPr wrap="none" lIns="0" rIns="0" tIns="0" bIns="0" anchor="t">
            <a:spAutoFit/>
          </a:bodyPr>
          <a:p>
            <a:r>
              <a:rPr b="0" lang="zh-CN" sz="620" strike="noStrike" u="none">
                <a:solidFill>
                  <a:srgbClr val="1e40af"/>
                </a:solidFill>
                <a:effectLst/>
                <a:uFillTx/>
                <a:latin typeface="WenQuanYiZenHei"/>
                <a:ea typeface="WenQuanYiZenHei"/>
              </a:rPr>
              <a:t>手技料</a:t>
            </a:r>
            <a:endParaRPr b="0" lang="en-US" sz="620" strike="noStrike" u="none">
              <a:solidFill>
                <a:srgbClr val="000000"/>
              </a:solidFill>
              <a:effectLst/>
              <a:uFillTx/>
              <a:latin typeface="Times New Roman"/>
            </a:endParaRPr>
          </a:p>
        </p:txBody>
      </p:sp>
      <p:sp>
        <p:nvSpPr>
          <p:cNvPr id="240" name=""/>
          <p:cNvSpPr txBox="1"/>
          <p:nvPr/>
        </p:nvSpPr>
        <p:spPr>
          <a:xfrm>
            <a:off x="1702800" y="1061280"/>
            <a:ext cx="78480" cy="91800"/>
          </a:xfrm>
          <a:prstGeom prst="rect">
            <a:avLst/>
          </a:prstGeom>
          <a:noFill/>
          <a:ln w="0">
            <a:noFill/>
          </a:ln>
        </p:spPr>
        <p:txBody>
          <a:bodyPr wrap="none" lIns="0" rIns="0" tIns="0" bIns="0" anchor="t">
            <a:spAutoFit/>
          </a:bodyPr>
          <a:p>
            <a:r>
              <a:rPr b="1" lang="en-US" sz="620" strike="noStrike" u="none">
                <a:solidFill>
                  <a:srgbClr val="1e40af"/>
                </a:solidFill>
                <a:effectLst/>
                <a:uFillTx/>
                <a:latin typeface="DejaVuSans"/>
                <a:ea typeface="DejaVuSans"/>
              </a:rPr>
              <a:t>(</a:t>
            </a:r>
            <a:endParaRPr b="0" lang="en-US" sz="620" strike="noStrike" u="none">
              <a:solidFill>
                <a:srgbClr val="000000"/>
              </a:solidFill>
              <a:effectLst/>
              <a:uFillTx/>
              <a:latin typeface="Times New Roman"/>
            </a:endParaRPr>
          </a:p>
        </p:txBody>
      </p:sp>
      <p:sp>
        <p:nvSpPr>
          <p:cNvPr id="241" name=""/>
          <p:cNvSpPr txBox="1"/>
          <p:nvPr/>
        </p:nvSpPr>
        <p:spPr>
          <a:xfrm>
            <a:off x="1738800" y="1058400"/>
            <a:ext cx="79920" cy="99720"/>
          </a:xfrm>
          <a:prstGeom prst="rect">
            <a:avLst/>
          </a:prstGeom>
          <a:noFill/>
          <a:ln w="0">
            <a:noFill/>
          </a:ln>
        </p:spPr>
        <p:txBody>
          <a:bodyPr wrap="none" lIns="0" rIns="0" tIns="0" bIns="0" anchor="t">
            <a:spAutoFit/>
          </a:bodyPr>
          <a:p>
            <a:r>
              <a:rPr b="0" lang="zh-CN" sz="620" strike="noStrike" u="none">
                <a:solidFill>
                  <a:srgbClr val="1e40af"/>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242" name=""/>
          <p:cNvSpPr txBox="1"/>
          <p:nvPr/>
        </p:nvSpPr>
        <p:spPr>
          <a:xfrm>
            <a:off x="1817640" y="1061280"/>
            <a:ext cx="78480" cy="91800"/>
          </a:xfrm>
          <a:prstGeom prst="rect">
            <a:avLst/>
          </a:prstGeom>
          <a:noFill/>
          <a:ln w="0">
            <a:noFill/>
          </a:ln>
        </p:spPr>
        <p:txBody>
          <a:bodyPr wrap="none" lIns="0" rIns="0" tIns="0" bIns="0" anchor="t">
            <a:spAutoFit/>
          </a:bodyPr>
          <a:p>
            <a:r>
              <a:rPr b="1" lang="en-US" sz="620" strike="noStrike" u="none">
                <a:solidFill>
                  <a:srgbClr val="1e40af"/>
                </a:solidFill>
                <a:effectLst/>
                <a:uFillTx/>
                <a:latin typeface="DejaVuSans"/>
                <a:ea typeface="DejaVuSans"/>
              </a:rPr>
              <a:t>)</a:t>
            </a:r>
            <a:endParaRPr b="0" lang="en-US" sz="620" strike="noStrike" u="none">
              <a:solidFill>
                <a:srgbClr val="000000"/>
              </a:solidFill>
              <a:effectLst/>
              <a:uFillTx/>
              <a:latin typeface="Times New Roman"/>
            </a:endParaRPr>
          </a:p>
        </p:txBody>
      </p:sp>
      <p:sp>
        <p:nvSpPr>
          <p:cNvPr id="243" name=""/>
          <p:cNvSpPr txBox="1"/>
          <p:nvPr/>
        </p:nvSpPr>
        <p:spPr>
          <a:xfrm>
            <a:off x="1972440" y="1058400"/>
            <a:ext cx="715680" cy="99720"/>
          </a:xfrm>
          <a:prstGeom prst="rect">
            <a:avLst/>
          </a:prstGeom>
          <a:noFill/>
          <a:ln w="0">
            <a:noFill/>
          </a:ln>
        </p:spPr>
        <p:txBody>
          <a:bodyPr wrap="none" lIns="0" rIns="0" tIns="0" bIns="0" anchor="t">
            <a:spAutoFit/>
          </a:bodyPr>
          <a:p>
            <a:r>
              <a:rPr b="0" lang="zh-CN" sz="620" strike="noStrike" u="none">
                <a:solidFill>
                  <a:srgbClr val="1e40af"/>
                </a:solidFill>
                <a:effectLst/>
                <a:uFillTx/>
                <a:latin typeface="WenQuanYiZenHei"/>
                <a:ea typeface="WenQuanYiZenHei"/>
              </a:rPr>
              <a:t>主な加算・関連費用</a:t>
            </a:r>
            <a:endParaRPr b="0" lang="en-US" sz="620" strike="noStrike" u="none">
              <a:solidFill>
                <a:srgbClr val="000000"/>
              </a:solidFill>
              <a:effectLst/>
              <a:uFillTx/>
              <a:latin typeface="Times New Roman"/>
            </a:endParaRPr>
          </a:p>
        </p:txBody>
      </p:sp>
      <p:sp>
        <p:nvSpPr>
          <p:cNvPr id="244" name=""/>
          <p:cNvSpPr txBox="1"/>
          <p:nvPr/>
        </p:nvSpPr>
        <p:spPr>
          <a:xfrm>
            <a:off x="367920" y="1242360"/>
            <a:ext cx="8722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人工股関節全置換術（片</a:t>
            </a:r>
            <a:endParaRPr b="0" lang="en-US" sz="620" strike="noStrike" u="none">
              <a:solidFill>
                <a:srgbClr val="000000"/>
              </a:solidFill>
              <a:effectLst/>
              <a:uFillTx/>
              <a:latin typeface="Times New Roman"/>
            </a:endParaRPr>
          </a:p>
        </p:txBody>
      </p:sp>
      <p:sp>
        <p:nvSpPr>
          <p:cNvPr id="245" name=""/>
          <p:cNvSpPr txBox="1"/>
          <p:nvPr/>
        </p:nvSpPr>
        <p:spPr>
          <a:xfrm>
            <a:off x="367920" y="1347480"/>
            <a:ext cx="1591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側）</a:t>
            </a:r>
            <a:endParaRPr b="0" lang="en-US" sz="620" strike="noStrike" u="none">
              <a:solidFill>
                <a:srgbClr val="000000"/>
              </a:solidFill>
              <a:effectLst/>
              <a:uFillTx/>
              <a:latin typeface="Times New Roman"/>
            </a:endParaRPr>
          </a:p>
        </p:txBody>
      </p:sp>
      <p:sp>
        <p:nvSpPr>
          <p:cNvPr id="246" name=""/>
          <p:cNvSpPr txBox="1"/>
          <p:nvPr/>
        </p:nvSpPr>
        <p:spPr>
          <a:xfrm>
            <a:off x="1466280" y="1245240"/>
            <a:ext cx="3049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K082 1.</a:t>
            </a:r>
            <a:endParaRPr b="0" lang="en-US" sz="620" strike="noStrike" u="none">
              <a:solidFill>
                <a:srgbClr val="000000"/>
              </a:solidFill>
              <a:effectLst/>
              <a:uFillTx/>
              <a:latin typeface="Times New Roman"/>
            </a:endParaRPr>
          </a:p>
        </p:txBody>
      </p:sp>
      <p:sp>
        <p:nvSpPr>
          <p:cNvPr id="247" name=""/>
          <p:cNvSpPr txBox="1"/>
          <p:nvPr/>
        </p:nvSpPr>
        <p:spPr>
          <a:xfrm>
            <a:off x="1466280" y="1350360"/>
            <a:ext cx="306360" cy="91800"/>
          </a:xfrm>
          <a:prstGeom prst="rect">
            <a:avLst/>
          </a:prstGeom>
          <a:noFill/>
          <a:ln w="0">
            <a:noFill/>
          </a:ln>
        </p:spPr>
        <p:txBody>
          <a:bodyPr wrap="none" lIns="0" rIns="0" tIns="0" bIns="0" anchor="t">
            <a:spAutoFit/>
          </a:bodyPr>
          <a:p>
            <a:r>
              <a:rPr b="1" lang="en-US" sz="620" strike="noStrike" u="none">
                <a:solidFill>
                  <a:srgbClr val="dc2626"/>
                </a:solidFill>
                <a:effectLst/>
                <a:uFillTx/>
                <a:latin typeface="DejaVuSans"/>
                <a:ea typeface="DejaVuSans"/>
              </a:rPr>
              <a:t>53,850</a:t>
            </a:r>
            <a:endParaRPr b="0" lang="en-US" sz="620" strike="noStrike" u="none">
              <a:solidFill>
                <a:srgbClr val="000000"/>
              </a:solidFill>
              <a:effectLst/>
              <a:uFillTx/>
              <a:latin typeface="Times New Roman"/>
            </a:endParaRPr>
          </a:p>
        </p:txBody>
      </p:sp>
      <p:sp>
        <p:nvSpPr>
          <p:cNvPr id="248" name=""/>
          <p:cNvSpPr txBox="1"/>
          <p:nvPr/>
        </p:nvSpPr>
        <p:spPr>
          <a:xfrm>
            <a:off x="1770480" y="1347480"/>
            <a:ext cx="79920" cy="99720"/>
          </a:xfrm>
          <a:prstGeom prst="rect">
            <a:avLst/>
          </a:prstGeom>
          <a:noFill/>
          <a:ln w="0">
            <a:noFill/>
          </a:ln>
        </p:spPr>
        <p:txBody>
          <a:bodyPr wrap="none" lIns="0" rIns="0" tIns="0" bIns="0" anchor="t">
            <a:spAutoFit/>
          </a:bodyPr>
          <a:p>
            <a:r>
              <a:rPr b="0" lang="zh-CN" sz="620" strike="noStrike" u="none">
                <a:solidFill>
                  <a:srgbClr val="dc2626"/>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249" name=""/>
          <p:cNvSpPr txBox="1"/>
          <p:nvPr/>
        </p:nvSpPr>
        <p:spPr>
          <a:xfrm>
            <a:off x="1972440" y="1242360"/>
            <a:ext cx="397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麻酔管理料</a:t>
            </a:r>
            <a:endParaRPr b="0" lang="en-US" sz="620" strike="noStrike" u="none">
              <a:solidFill>
                <a:srgbClr val="000000"/>
              </a:solidFill>
              <a:effectLst/>
              <a:uFillTx/>
              <a:latin typeface="Times New Roman"/>
            </a:endParaRPr>
          </a:p>
        </p:txBody>
      </p:sp>
      <p:sp>
        <p:nvSpPr>
          <p:cNvPr id="250" name=""/>
          <p:cNvSpPr txBox="1"/>
          <p:nvPr/>
        </p:nvSpPr>
        <p:spPr>
          <a:xfrm>
            <a:off x="2366640" y="1245240"/>
            <a:ext cx="8604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(I)</a:t>
            </a:r>
            <a:endParaRPr b="0" lang="en-US" sz="620" strike="noStrike" u="none">
              <a:solidFill>
                <a:srgbClr val="000000"/>
              </a:solidFill>
              <a:effectLst/>
              <a:uFillTx/>
              <a:latin typeface="Times New Roman"/>
            </a:endParaRPr>
          </a:p>
        </p:txBody>
      </p:sp>
      <p:sp>
        <p:nvSpPr>
          <p:cNvPr id="251" name=""/>
          <p:cNvSpPr txBox="1"/>
          <p:nvPr/>
        </p:nvSpPr>
        <p:spPr>
          <a:xfrm>
            <a:off x="2451240" y="1242360"/>
            <a:ext cx="244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または</a:t>
            </a:r>
            <a:endParaRPr b="0" lang="en-US" sz="620" strike="noStrike" u="none">
              <a:solidFill>
                <a:srgbClr val="000000"/>
              </a:solidFill>
              <a:effectLst/>
              <a:uFillTx/>
              <a:latin typeface="Times New Roman"/>
            </a:endParaRPr>
          </a:p>
        </p:txBody>
      </p:sp>
      <p:sp>
        <p:nvSpPr>
          <p:cNvPr id="252" name=""/>
          <p:cNvSpPr txBox="1"/>
          <p:nvPr/>
        </p:nvSpPr>
        <p:spPr>
          <a:xfrm>
            <a:off x="2687760" y="1245240"/>
            <a:ext cx="10944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(II)</a:t>
            </a:r>
            <a:endParaRPr b="0" lang="en-US" sz="620" strike="noStrike" u="none">
              <a:solidFill>
                <a:srgbClr val="000000"/>
              </a:solidFill>
              <a:effectLst/>
              <a:uFillTx/>
              <a:latin typeface="Times New Roman"/>
            </a:endParaRPr>
          </a:p>
        </p:txBody>
      </p:sp>
      <p:sp>
        <p:nvSpPr>
          <p:cNvPr id="253" name=""/>
          <p:cNvSpPr txBox="1"/>
          <p:nvPr/>
        </p:nvSpPr>
        <p:spPr>
          <a:xfrm>
            <a:off x="2795760" y="1242360"/>
            <a:ext cx="182340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、特定保険医療材料（人工骨頭・臼蓋等）、輸血料</a:t>
            </a:r>
            <a:endParaRPr b="0" lang="en-US" sz="620" strike="noStrike" u="none">
              <a:solidFill>
                <a:srgbClr val="000000"/>
              </a:solidFill>
              <a:effectLst/>
              <a:uFillTx/>
              <a:latin typeface="Times New Roman"/>
            </a:endParaRPr>
          </a:p>
        </p:txBody>
      </p:sp>
      <p:sp>
        <p:nvSpPr>
          <p:cNvPr id="254" name=""/>
          <p:cNvSpPr txBox="1"/>
          <p:nvPr/>
        </p:nvSpPr>
        <p:spPr>
          <a:xfrm>
            <a:off x="1972440" y="1347480"/>
            <a:ext cx="159876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（必要な場合）、術中神経モニタリング加算</a:t>
            </a:r>
            <a:endParaRPr b="0" lang="en-US" sz="620" strike="noStrike" u="none">
              <a:solidFill>
                <a:srgbClr val="000000"/>
              </a:solidFill>
              <a:effectLst/>
              <a:uFillTx/>
              <a:latin typeface="Times New Roman"/>
            </a:endParaRPr>
          </a:p>
        </p:txBody>
      </p:sp>
      <p:sp>
        <p:nvSpPr>
          <p:cNvPr id="255" name=""/>
          <p:cNvSpPr txBox="1"/>
          <p:nvPr/>
        </p:nvSpPr>
        <p:spPr>
          <a:xfrm>
            <a:off x="367920" y="1564200"/>
            <a:ext cx="8722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人工膝関節全置換術（片</a:t>
            </a:r>
            <a:endParaRPr b="0" lang="en-US" sz="620" strike="noStrike" u="none">
              <a:solidFill>
                <a:srgbClr val="000000"/>
              </a:solidFill>
              <a:effectLst/>
              <a:uFillTx/>
              <a:latin typeface="Times New Roman"/>
            </a:endParaRPr>
          </a:p>
        </p:txBody>
      </p:sp>
      <p:sp>
        <p:nvSpPr>
          <p:cNvPr id="256" name=""/>
          <p:cNvSpPr txBox="1"/>
          <p:nvPr/>
        </p:nvSpPr>
        <p:spPr>
          <a:xfrm>
            <a:off x="367920" y="1669320"/>
            <a:ext cx="1591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側）</a:t>
            </a:r>
            <a:endParaRPr b="0" lang="en-US" sz="620" strike="noStrike" u="none">
              <a:solidFill>
                <a:srgbClr val="000000"/>
              </a:solidFill>
              <a:effectLst/>
              <a:uFillTx/>
              <a:latin typeface="Times New Roman"/>
            </a:endParaRPr>
          </a:p>
        </p:txBody>
      </p:sp>
      <p:sp>
        <p:nvSpPr>
          <p:cNvPr id="257" name=""/>
          <p:cNvSpPr txBox="1"/>
          <p:nvPr/>
        </p:nvSpPr>
        <p:spPr>
          <a:xfrm>
            <a:off x="1466280" y="1567080"/>
            <a:ext cx="3049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K082 3.</a:t>
            </a:r>
            <a:endParaRPr b="0" lang="en-US" sz="620" strike="noStrike" u="none">
              <a:solidFill>
                <a:srgbClr val="000000"/>
              </a:solidFill>
              <a:effectLst/>
              <a:uFillTx/>
              <a:latin typeface="Times New Roman"/>
            </a:endParaRPr>
          </a:p>
        </p:txBody>
      </p:sp>
      <p:sp>
        <p:nvSpPr>
          <p:cNvPr id="258" name=""/>
          <p:cNvSpPr txBox="1"/>
          <p:nvPr/>
        </p:nvSpPr>
        <p:spPr>
          <a:xfrm>
            <a:off x="1466280" y="1672200"/>
            <a:ext cx="306360" cy="91800"/>
          </a:xfrm>
          <a:prstGeom prst="rect">
            <a:avLst/>
          </a:prstGeom>
          <a:noFill/>
          <a:ln w="0">
            <a:noFill/>
          </a:ln>
        </p:spPr>
        <p:txBody>
          <a:bodyPr wrap="none" lIns="0" rIns="0" tIns="0" bIns="0" anchor="t">
            <a:spAutoFit/>
          </a:bodyPr>
          <a:p>
            <a:r>
              <a:rPr b="1" lang="en-US" sz="620" strike="noStrike" u="none">
                <a:solidFill>
                  <a:srgbClr val="dc2626"/>
                </a:solidFill>
                <a:effectLst/>
                <a:uFillTx/>
                <a:latin typeface="DejaVuSans"/>
                <a:ea typeface="DejaVuSans"/>
              </a:rPr>
              <a:t>51,370</a:t>
            </a:r>
            <a:endParaRPr b="0" lang="en-US" sz="620" strike="noStrike" u="none">
              <a:solidFill>
                <a:srgbClr val="000000"/>
              </a:solidFill>
              <a:effectLst/>
              <a:uFillTx/>
              <a:latin typeface="Times New Roman"/>
            </a:endParaRPr>
          </a:p>
        </p:txBody>
      </p:sp>
      <p:sp>
        <p:nvSpPr>
          <p:cNvPr id="259" name=""/>
          <p:cNvSpPr txBox="1"/>
          <p:nvPr/>
        </p:nvSpPr>
        <p:spPr>
          <a:xfrm>
            <a:off x="1770480" y="1669320"/>
            <a:ext cx="79920" cy="99720"/>
          </a:xfrm>
          <a:prstGeom prst="rect">
            <a:avLst/>
          </a:prstGeom>
          <a:noFill/>
          <a:ln w="0">
            <a:noFill/>
          </a:ln>
        </p:spPr>
        <p:txBody>
          <a:bodyPr wrap="none" lIns="0" rIns="0" tIns="0" bIns="0" anchor="t">
            <a:spAutoFit/>
          </a:bodyPr>
          <a:p>
            <a:r>
              <a:rPr b="0" lang="zh-CN" sz="620" strike="noStrike" u="none">
                <a:solidFill>
                  <a:srgbClr val="dc2626"/>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260" name=""/>
          <p:cNvSpPr txBox="1"/>
          <p:nvPr/>
        </p:nvSpPr>
        <p:spPr>
          <a:xfrm>
            <a:off x="1972440" y="1564200"/>
            <a:ext cx="397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麻酔管理料</a:t>
            </a:r>
            <a:endParaRPr b="0" lang="en-US" sz="620" strike="noStrike" u="none">
              <a:solidFill>
                <a:srgbClr val="000000"/>
              </a:solidFill>
              <a:effectLst/>
              <a:uFillTx/>
              <a:latin typeface="Times New Roman"/>
            </a:endParaRPr>
          </a:p>
        </p:txBody>
      </p:sp>
      <p:sp>
        <p:nvSpPr>
          <p:cNvPr id="261" name=""/>
          <p:cNvSpPr txBox="1"/>
          <p:nvPr/>
        </p:nvSpPr>
        <p:spPr>
          <a:xfrm>
            <a:off x="2366640" y="1567080"/>
            <a:ext cx="8604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(I)</a:t>
            </a:r>
            <a:endParaRPr b="0" lang="en-US" sz="620" strike="noStrike" u="none">
              <a:solidFill>
                <a:srgbClr val="000000"/>
              </a:solidFill>
              <a:effectLst/>
              <a:uFillTx/>
              <a:latin typeface="Times New Roman"/>
            </a:endParaRPr>
          </a:p>
        </p:txBody>
      </p:sp>
      <p:sp>
        <p:nvSpPr>
          <p:cNvPr id="262" name=""/>
          <p:cNvSpPr txBox="1"/>
          <p:nvPr/>
        </p:nvSpPr>
        <p:spPr>
          <a:xfrm>
            <a:off x="2451240" y="1564200"/>
            <a:ext cx="244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または</a:t>
            </a:r>
            <a:endParaRPr b="0" lang="en-US" sz="620" strike="noStrike" u="none">
              <a:solidFill>
                <a:srgbClr val="000000"/>
              </a:solidFill>
              <a:effectLst/>
              <a:uFillTx/>
              <a:latin typeface="Times New Roman"/>
            </a:endParaRPr>
          </a:p>
        </p:txBody>
      </p:sp>
      <p:sp>
        <p:nvSpPr>
          <p:cNvPr id="263" name=""/>
          <p:cNvSpPr txBox="1"/>
          <p:nvPr/>
        </p:nvSpPr>
        <p:spPr>
          <a:xfrm>
            <a:off x="2687760" y="1567080"/>
            <a:ext cx="10944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(II)</a:t>
            </a:r>
            <a:endParaRPr b="0" lang="en-US" sz="620" strike="noStrike" u="none">
              <a:solidFill>
                <a:srgbClr val="000000"/>
              </a:solidFill>
              <a:effectLst/>
              <a:uFillTx/>
              <a:latin typeface="Times New Roman"/>
            </a:endParaRPr>
          </a:p>
        </p:txBody>
      </p:sp>
      <p:sp>
        <p:nvSpPr>
          <p:cNvPr id="264" name=""/>
          <p:cNvSpPr txBox="1"/>
          <p:nvPr/>
        </p:nvSpPr>
        <p:spPr>
          <a:xfrm>
            <a:off x="2795760" y="1564200"/>
            <a:ext cx="182520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、特定保険医療材料（人工関節）、輸血料（必要な</a:t>
            </a:r>
            <a:endParaRPr b="0" lang="en-US" sz="620" strike="noStrike" u="none">
              <a:solidFill>
                <a:srgbClr val="000000"/>
              </a:solidFill>
              <a:effectLst/>
              <a:uFillTx/>
              <a:latin typeface="Times New Roman"/>
            </a:endParaRPr>
          </a:p>
        </p:txBody>
      </p:sp>
      <p:sp>
        <p:nvSpPr>
          <p:cNvPr id="265" name=""/>
          <p:cNvSpPr txBox="1"/>
          <p:nvPr/>
        </p:nvSpPr>
        <p:spPr>
          <a:xfrm>
            <a:off x="1972440" y="1669320"/>
            <a:ext cx="2383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場合）</a:t>
            </a:r>
            <a:endParaRPr b="0" lang="en-US" sz="620" strike="noStrike" u="none">
              <a:solidFill>
                <a:srgbClr val="000000"/>
              </a:solidFill>
              <a:effectLst/>
              <a:uFillTx/>
              <a:latin typeface="Times New Roman"/>
            </a:endParaRPr>
          </a:p>
        </p:txBody>
      </p:sp>
      <p:sp>
        <p:nvSpPr>
          <p:cNvPr id="266" name=""/>
          <p:cNvSpPr txBox="1"/>
          <p:nvPr/>
        </p:nvSpPr>
        <p:spPr>
          <a:xfrm>
            <a:off x="367920" y="1991160"/>
            <a:ext cx="8722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脊椎固定術（例：後方固</a:t>
            </a:r>
            <a:endParaRPr b="0" lang="en-US" sz="620" strike="noStrike" u="none">
              <a:solidFill>
                <a:srgbClr val="000000"/>
              </a:solidFill>
              <a:effectLst/>
              <a:uFillTx/>
              <a:latin typeface="Times New Roman"/>
            </a:endParaRPr>
          </a:p>
        </p:txBody>
      </p:sp>
      <p:sp>
        <p:nvSpPr>
          <p:cNvPr id="267" name=""/>
          <p:cNvSpPr txBox="1"/>
          <p:nvPr/>
        </p:nvSpPr>
        <p:spPr>
          <a:xfrm>
            <a:off x="367920" y="2096280"/>
            <a:ext cx="1591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定・</a:t>
            </a:r>
            <a:endParaRPr b="0" lang="en-US" sz="620" strike="noStrike" u="none">
              <a:solidFill>
                <a:srgbClr val="000000"/>
              </a:solidFill>
              <a:effectLst/>
              <a:uFillTx/>
              <a:latin typeface="Times New Roman"/>
            </a:endParaRPr>
          </a:p>
        </p:txBody>
      </p:sp>
      <p:sp>
        <p:nvSpPr>
          <p:cNvPr id="268" name=""/>
          <p:cNvSpPr txBox="1"/>
          <p:nvPr/>
        </p:nvSpPr>
        <p:spPr>
          <a:xfrm>
            <a:off x="525600" y="2099160"/>
            <a:ext cx="7848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2</a:t>
            </a:r>
            <a:endParaRPr b="0" lang="en-US" sz="620" strike="noStrike" u="none">
              <a:solidFill>
                <a:srgbClr val="000000"/>
              </a:solidFill>
              <a:effectLst/>
              <a:uFillTx/>
              <a:latin typeface="Times New Roman"/>
            </a:endParaRPr>
          </a:p>
        </p:txBody>
      </p:sp>
      <p:sp>
        <p:nvSpPr>
          <p:cNvPr id="269" name=""/>
          <p:cNvSpPr txBox="1"/>
          <p:nvPr/>
        </p:nvSpPr>
        <p:spPr>
          <a:xfrm>
            <a:off x="575640" y="2096280"/>
            <a:ext cx="2383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椎間）</a:t>
            </a:r>
            <a:endParaRPr b="0" lang="en-US" sz="620" strike="noStrike" u="none">
              <a:solidFill>
                <a:srgbClr val="000000"/>
              </a:solidFill>
              <a:effectLst/>
              <a:uFillTx/>
              <a:latin typeface="Times New Roman"/>
            </a:endParaRPr>
          </a:p>
        </p:txBody>
      </p:sp>
      <p:sp>
        <p:nvSpPr>
          <p:cNvPr id="270" name=""/>
          <p:cNvSpPr txBox="1"/>
          <p:nvPr/>
        </p:nvSpPr>
        <p:spPr>
          <a:xfrm>
            <a:off x="1466280" y="1888920"/>
            <a:ext cx="28296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K134-2</a:t>
            </a:r>
            <a:endParaRPr b="0" lang="en-US" sz="620" strike="noStrike" u="none">
              <a:solidFill>
                <a:srgbClr val="000000"/>
              </a:solidFill>
              <a:effectLst/>
              <a:uFillTx/>
              <a:latin typeface="Times New Roman"/>
            </a:endParaRPr>
          </a:p>
        </p:txBody>
      </p:sp>
      <p:sp>
        <p:nvSpPr>
          <p:cNvPr id="271" name=""/>
          <p:cNvSpPr txBox="1"/>
          <p:nvPr/>
        </p:nvSpPr>
        <p:spPr>
          <a:xfrm>
            <a:off x="1747080" y="1886040"/>
            <a:ext cx="817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な</a:t>
            </a:r>
            <a:endParaRPr b="0" lang="en-US" sz="620" strike="noStrike" u="none">
              <a:solidFill>
                <a:srgbClr val="000000"/>
              </a:solidFill>
              <a:effectLst/>
              <a:uFillTx/>
              <a:latin typeface="Times New Roman"/>
            </a:endParaRPr>
          </a:p>
        </p:txBody>
      </p:sp>
      <p:sp>
        <p:nvSpPr>
          <p:cNvPr id="272" name=""/>
          <p:cNvSpPr txBox="1"/>
          <p:nvPr/>
        </p:nvSpPr>
        <p:spPr>
          <a:xfrm>
            <a:off x="1466280" y="1991160"/>
            <a:ext cx="817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ど</a:t>
            </a:r>
            <a:endParaRPr b="0" lang="en-US" sz="620" strike="noStrike" u="none">
              <a:solidFill>
                <a:srgbClr val="000000"/>
              </a:solidFill>
              <a:effectLst/>
              <a:uFillTx/>
              <a:latin typeface="Times New Roman"/>
            </a:endParaRPr>
          </a:p>
        </p:txBody>
      </p:sp>
      <p:sp>
        <p:nvSpPr>
          <p:cNvPr id="273" name=""/>
          <p:cNvSpPr txBox="1"/>
          <p:nvPr/>
        </p:nvSpPr>
        <p:spPr>
          <a:xfrm>
            <a:off x="1466280" y="2099160"/>
            <a:ext cx="306360" cy="91800"/>
          </a:xfrm>
          <a:prstGeom prst="rect">
            <a:avLst/>
          </a:prstGeom>
          <a:noFill/>
          <a:ln w="0">
            <a:noFill/>
          </a:ln>
        </p:spPr>
        <p:txBody>
          <a:bodyPr wrap="none" lIns="0" rIns="0" tIns="0" bIns="0" anchor="t">
            <a:spAutoFit/>
          </a:bodyPr>
          <a:p>
            <a:r>
              <a:rPr b="1" lang="en-US" sz="620" strike="noStrike" u="none">
                <a:solidFill>
                  <a:srgbClr val="dc2626"/>
                </a:solidFill>
                <a:effectLst/>
                <a:uFillTx/>
                <a:latin typeface="DejaVuSans"/>
                <a:ea typeface="DejaVuSans"/>
              </a:rPr>
              <a:t>59,180</a:t>
            </a:r>
            <a:endParaRPr b="0" lang="en-US" sz="620" strike="noStrike" u="none">
              <a:solidFill>
                <a:srgbClr val="000000"/>
              </a:solidFill>
              <a:effectLst/>
              <a:uFillTx/>
              <a:latin typeface="Times New Roman"/>
            </a:endParaRPr>
          </a:p>
        </p:txBody>
      </p:sp>
      <p:sp>
        <p:nvSpPr>
          <p:cNvPr id="274" name=""/>
          <p:cNvSpPr txBox="1"/>
          <p:nvPr/>
        </p:nvSpPr>
        <p:spPr>
          <a:xfrm>
            <a:off x="1770480" y="2096280"/>
            <a:ext cx="79920" cy="99720"/>
          </a:xfrm>
          <a:prstGeom prst="rect">
            <a:avLst/>
          </a:prstGeom>
          <a:noFill/>
          <a:ln w="0">
            <a:noFill/>
          </a:ln>
        </p:spPr>
        <p:txBody>
          <a:bodyPr wrap="none" lIns="0" rIns="0" tIns="0" bIns="0" anchor="t">
            <a:spAutoFit/>
          </a:bodyPr>
          <a:p>
            <a:r>
              <a:rPr b="0" lang="zh-CN" sz="620" strike="noStrike" u="none">
                <a:solidFill>
                  <a:srgbClr val="dc2626"/>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275" name=""/>
          <p:cNvSpPr txBox="1"/>
          <p:nvPr/>
        </p:nvSpPr>
        <p:spPr>
          <a:xfrm>
            <a:off x="1466280" y="2201400"/>
            <a:ext cx="79920" cy="99720"/>
          </a:xfrm>
          <a:prstGeom prst="rect">
            <a:avLst/>
          </a:prstGeom>
          <a:noFill/>
          <a:ln w="0">
            <a:noFill/>
          </a:ln>
        </p:spPr>
        <p:txBody>
          <a:bodyPr wrap="none" lIns="0" rIns="0" tIns="0" bIns="0" anchor="t">
            <a:spAutoFit/>
          </a:bodyPr>
          <a:p>
            <a:r>
              <a:rPr b="0" lang="zh-CN" sz="620" strike="noStrike" u="none">
                <a:solidFill>
                  <a:srgbClr val="dc2626"/>
                </a:solidFill>
                <a:effectLst/>
                <a:uFillTx/>
                <a:latin typeface="WenQuanYiZenHei"/>
                <a:ea typeface="WenQuanYiZenHei"/>
              </a:rPr>
              <a:t>～</a:t>
            </a:r>
            <a:endParaRPr b="0" lang="en-US" sz="620" strike="noStrike" u="none">
              <a:solidFill>
                <a:srgbClr val="000000"/>
              </a:solidFill>
              <a:effectLst/>
              <a:uFillTx/>
              <a:latin typeface="Times New Roman"/>
            </a:endParaRPr>
          </a:p>
        </p:txBody>
      </p:sp>
      <p:sp>
        <p:nvSpPr>
          <p:cNvPr id="276" name=""/>
          <p:cNvSpPr txBox="1"/>
          <p:nvPr/>
        </p:nvSpPr>
        <p:spPr>
          <a:xfrm>
            <a:off x="1972440" y="1991160"/>
            <a:ext cx="397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麻酔管理料</a:t>
            </a:r>
            <a:endParaRPr b="0" lang="en-US" sz="620" strike="noStrike" u="none">
              <a:solidFill>
                <a:srgbClr val="000000"/>
              </a:solidFill>
              <a:effectLst/>
              <a:uFillTx/>
              <a:latin typeface="Times New Roman"/>
            </a:endParaRPr>
          </a:p>
        </p:txBody>
      </p:sp>
      <p:sp>
        <p:nvSpPr>
          <p:cNvPr id="277" name=""/>
          <p:cNvSpPr txBox="1"/>
          <p:nvPr/>
        </p:nvSpPr>
        <p:spPr>
          <a:xfrm>
            <a:off x="2366640" y="1994040"/>
            <a:ext cx="8604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(I)</a:t>
            </a:r>
            <a:endParaRPr b="0" lang="en-US" sz="620" strike="noStrike" u="none">
              <a:solidFill>
                <a:srgbClr val="000000"/>
              </a:solidFill>
              <a:effectLst/>
              <a:uFillTx/>
              <a:latin typeface="Times New Roman"/>
            </a:endParaRPr>
          </a:p>
        </p:txBody>
      </p:sp>
      <p:sp>
        <p:nvSpPr>
          <p:cNvPr id="278" name=""/>
          <p:cNvSpPr txBox="1"/>
          <p:nvPr/>
        </p:nvSpPr>
        <p:spPr>
          <a:xfrm>
            <a:off x="2451240" y="1991160"/>
            <a:ext cx="244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または</a:t>
            </a:r>
            <a:endParaRPr b="0" lang="en-US" sz="620" strike="noStrike" u="none">
              <a:solidFill>
                <a:srgbClr val="000000"/>
              </a:solidFill>
              <a:effectLst/>
              <a:uFillTx/>
              <a:latin typeface="Times New Roman"/>
            </a:endParaRPr>
          </a:p>
        </p:txBody>
      </p:sp>
      <p:sp>
        <p:nvSpPr>
          <p:cNvPr id="279" name=""/>
          <p:cNvSpPr txBox="1"/>
          <p:nvPr/>
        </p:nvSpPr>
        <p:spPr>
          <a:xfrm>
            <a:off x="2687760" y="1994040"/>
            <a:ext cx="10944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(II)</a:t>
            </a:r>
            <a:endParaRPr b="0" lang="en-US" sz="620" strike="noStrike" u="none">
              <a:solidFill>
                <a:srgbClr val="000000"/>
              </a:solidFill>
              <a:effectLst/>
              <a:uFillTx/>
              <a:latin typeface="Times New Roman"/>
            </a:endParaRPr>
          </a:p>
        </p:txBody>
      </p:sp>
      <p:sp>
        <p:nvSpPr>
          <p:cNvPr id="280" name=""/>
          <p:cNvSpPr txBox="1"/>
          <p:nvPr/>
        </p:nvSpPr>
        <p:spPr>
          <a:xfrm>
            <a:off x="2795760" y="1991160"/>
            <a:ext cx="183636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、特定保険医療材料（スクリュー、ロッド等）、輸</a:t>
            </a:r>
            <a:endParaRPr b="0" lang="en-US" sz="620" strike="noStrike" u="none">
              <a:solidFill>
                <a:srgbClr val="000000"/>
              </a:solidFill>
              <a:effectLst/>
              <a:uFillTx/>
              <a:latin typeface="Times New Roman"/>
            </a:endParaRPr>
          </a:p>
        </p:txBody>
      </p:sp>
      <p:sp>
        <p:nvSpPr>
          <p:cNvPr id="281" name=""/>
          <p:cNvSpPr txBox="1"/>
          <p:nvPr/>
        </p:nvSpPr>
        <p:spPr>
          <a:xfrm>
            <a:off x="1972440" y="2096280"/>
            <a:ext cx="120060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血料、術中神経モニタリング加算</a:t>
            </a:r>
            <a:endParaRPr b="0" lang="en-US" sz="620" strike="noStrike" u="none">
              <a:solidFill>
                <a:srgbClr val="000000"/>
              </a:solidFill>
              <a:effectLst/>
              <a:uFillTx/>
              <a:latin typeface="Times New Roman"/>
            </a:endParaRPr>
          </a:p>
        </p:txBody>
      </p:sp>
      <p:sp>
        <p:nvSpPr>
          <p:cNvPr id="282" name=""/>
          <p:cNvSpPr txBox="1"/>
          <p:nvPr/>
        </p:nvSpPr>
        <p:spPr>
          <a:xfrm>
            <a:off x="367920" y="2418120"/>
            <a:ext cx="6346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経皮的椎体形成術</a:t>
            </a:r>
            <a:endParaRPr b="0" lang="en-US" sz="620" strike="noStrike" u="none">
              <a:solidFill>
                <a:srgbClr val="000000"/>
              </a:solidFill>
              <a:effectLst/>
              <a:uFillTx/>
              <a:latin typeface="Times New Roman"/>
            </a:endParaRPr>
          </a:p>
        </p:txBody>
      </p:sp>
      <p:sp>
        <p:nvSpPr>
          <p:cNvPr id="283" name=""/>
          <p:cNvSpPr txBox="1"/>
          <p:nvPr/>
        </p:nvSpPr>
        <p:spPr>
          <a:xfrm>
            <a:off x="367920" y="252324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a:t>
            </a:r>
            <a:endParaRPr b="0" lang="en-US" sz="620" strike="noStrike" u="none">
              <a:solidFill>
                <a:srgbClr val="000000"/>
              </a:solidFill>
              <a:effectLst/>
              <a:uFillTx/>
              <a:latin typeface="Times New Roman"/>
            </a:endParaRPr>
          </a:p>
        </p:txBody>
      </p:sp>
      <p:sp>
        <p:nvSpPr>
          <p:cNvPr id="284" name=""/>
          <p:cNvSpPr txBox="1"/>
          <p:nvPr/>
        </p:nvSpPr>
        <p:spPr>
          <a:xfrm>
            <a:off x="446760" y="2526120"/>
            <a:ext cx="3319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BKP/VTP</a:t>
            </a:r>
            <a:endParaRPr b="0" lang="en-US" sz="620" strike="noStrike" u="none">
              <a:solidFill>
                <a:srgbClr val="000000"/>
              </a:solidFill>
              <a:effectLst/>
              <a:uFillTx/>
              <a:latin typeface="Times New Roman"/>
            </a:endParaRPr>
          </a:p>
        </p:txBody>
      </p:sp>
      <p:sp>
        <p:nvSpPr>
          <p:cNvPr id="285" name=""/>
          <p:cNvSpPr txBox="1"/>
          <p:nvPr/>
        </p:nvSpPr>
        <p:spPr>
          <a:xfrm>
            <a:off x="776160" y="252324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a:t>
            </a:r>
            <a:endParaRPr b="0" lang="en-US" sz="620" strike="noStrike" u="none">
              <a:solidFill>
                <a:srgbClr val="000000"/>
              </a:solidFill>
              <a:effectLst/>
              <a:uFillTx/>
              <a:latin typeface="Times New Roman"/>
            </a:endParaRPr>
          </a:p>
        </p:txBody>
      </p:sp>
      <p:sp>
        <p:nvSpPr>
          <p:cNvPr id="286" name=""/>
          <p:cNvSpPr txBox="1"/>
          <p:nvPr/>
        </p:nvSpPr>
        <p:spPr>
          <a:xfrm>
            <a:off x="1466280" y="2421000"/>
            <a:ext cx="3049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K130 1.</a:t>
            </a:r>
            <a:endParaRPr b="0" lang="en-US" sz="620" strike="noStrike" u="none">
              <a:solidFill>
                <a:srgbClr val="000000"/>
              </a:solidFill>
              <a:effectLst/>
              <a:uFillTx/>
              <a:latin typeface="Times New Roman"/>
            </a:endParaRPr>
          </a:p>
        </p:txBody>
      </p:sp>
      <p:sp>
        <p:nvSpPr>
          <p:cNvPr id="287" name=""/>
          <p:cNvSpPr txBox="1"/>
          <p:nvPr/>
        </p:nvSpPr>
        <p:spPr>
          <a:xfrm>
            <a:off x="1466280" y="2526120"/>
            <a:ext cx="306360" cy="91800"/>
          </a:xfrm>
          <a:prstGeom prst="rect">
            <a:avLst/>
          </a:prstGeom>
          <a:noFill/>
          <a:ln w="0">
            <a:noFill/>
          </a:ln>
        </p:spPr>
        <p:txBody>
          <a:bodyPr wrap="none" lIns="0" rIns="0" tIns="0" bIns="0" anchor="t">
            <a:spAutoFit/>
          </a:bodyPr>
          <a:p>
            <a:r>
              <a:rPr b="1" lang="en-US" sz="620" strike="noStrike" u="none">
                <a:solidFill>
                  <a:srgbClr val="dc2626"/>
                </a:solidFill>
                <a:effectLst/>
                <a:uFillTx/>
                <a:latin typeface="DejaVuSans"/>
                <a:ea typeface="DejaVuSans"/>
              </a:rPr>
              <a:t>23,400</a:t>
            </a:r>
            <a:endParaRPr b="0" lang="en-US" sz="620" strike="noStrike" u="none">
              <a:solidFill>
                <a:srgbClr val="000000"/>
              </a:solidFill>
              <a:effectLst/>
              <a:uFillTx/>
              <a:latin typeface="Times New Roman"/>
            </a:endParaRPr>
          </a:p>
        </p:txBody>
      </p:sp>
      <p:sp>
        <p:nvSpPr>
          <p:cNvPr id="288" name=""/>
          <p:cNvSpPr txBox="1"/>
          <p:nvPr/>
        </p:nvSpPr>
        <p:spPr>
          <a:xfrm>
            <a:off x="1770480" y="2523240"/>
            <a:ext cx="79920" cy="99720"/>
          </a:xfrm>
          <a:prstGeom prst="rect">
            <a:avLst/>
          </a:prstGeom>
          <a:noFill/>
          <a:ln w="0">
            <a:noFill/>
          </a:ln>
        </p:spPr>
        <p:txBody>
          <a:bodyPr wrap="none" lIns="0" rIns="0" tIns="0" bIns="0" anchor="t">
            <a:spAutoFit/>
          </a:bodyPr>
          <a:p>
            <a:r>
              <a:rPr b="0" lang="zh-CN" sz="620" strike="noStrike" u="none">
                <a:solidFill>
                  <a:srgbClr val="dc2626"/>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289" name=""/>
          <p:cNvSpPr txBox="1"/>
          <p:nvPr/>
        </p:nvSpPr>
        <p:spPr>
          <a:xfrm>
            <a:off x="1972440" y="2470680"/>
            <a:ext cx="397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麻酔管理料</a:t>
            </a:r>
            <a:endParaRPr b="0" lang="en-US" sz="620" strike="noStrike" u="none">
              <a:solidFill>
                <a:srgbClr val="000000"/>
              </a:solidFill>
              <a:effectLst/>
              <a:uFillTx/>
              <a:latin typeface="Times New Roman"/>
            </a:endParaRPr>
          </a:p>
        </p:txBody>
      </p:sp>
      <p:sp>
        <p:nvSpPr>
          <p:cNvPr id="290" name=""/>
          <p:cNvSpPr txBox="1"/>
          <p:nvPr/>
        </p:nvSpPr>
        <p:spPr>
          <a:xfrm>
            <a:off x="2366640" y="2473560"/>
            <a:ext cx="8604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(I)</a:t>
            </a:r>
            <a:endParaRPr b="0" lang="en-US" sz="620" strike="noStrike" u="none">
              <a:solidFill>
                <a:srgbClr val="000000"/>
              </a:solidFill>
              <a:effectLst/>
              <a:uFillTx/>
              <a:latin typeface="Times New Roman"/>
            </a:endParaRPr>
          </a:p>
        </p:txBody>
      </p:sp>
      <p:sp>
        <p:nvSpPr>
          <p:cNvPr id="291" name=""/>
          <p:cNvSpPr txBox="1"/>
          <p:nvPr/>
        </p:nvSpPr>
        <p:spPr>
          <a:xfrm>
            <a:off x="2451240" y="2470680"/>
            <a:ext cx="244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または</a:t>
            </a:r>
            <a:endParaRPr b="0" lang="en-US" sz="620" strike="noStrike" u="none">
              <a:solidFill>
                <a:srgbClr val="000000"/>
              </a:solidFill>
              <a:effectLst/>
              <a:uFillTx/>
              <a:latin typeface="Times New Roman"/>
            </a:endParaRPr>
          </a:p>
        </p:txBody>
      </p:sp>
      <p:sp>
        <p:nvSpPr>
          <p:cNvPr id="292" name=""/>
          <p:cNvSpPr txBox="1"/>
          <p:nvPr/>
        </p:nvSpPr>
        <p:spPr>
          <a:xfrm>
            <a:off x="2687760" y="2473560"/>
            <a:ext cx="10944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(II)</a:t>
            </a:r>
            <a:endParaRPr b="0" lang="en-US" sz="620" strike="noStrike" u="none">
              <a:solidFill>
                <a:srgbClr val="000000"/>
              </a:solidFill>
              <a:effectLst/>
              <a:uFillTx/>
              <a:latin typeface="Times New Roman"/>
            </a:endParaRPr>
          </a:p>
        </p:txBody>
      </p:sp>
      <p:sp>
        <p:nvSpPr>
          <p:cNvPr id="293" name=""/>
          <p:cNvSpPr txBox="1"/>
          <p:nvPr/>
        </p:nvSpPr>
        <p:spPr>
          <a:xfrm>
            <a:off x="2795760" y="2470680"/>
            <a:ext cx="183096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、特定保険医療材料（骨セメント等）、画像診断料</a:t>
            </a:r>
            <a:endParaRPr b="0" lang="en-US" sz="620" strike="noStrike" u="none">
              <a:solidFill>
                <a:srgbClr val="000000"/>
              </a:solidFill>
              <a:effectLst/>
              <a:uFillTx/>
              <a:latin typeface="Times New Roman"/>
            </a:endParaRPr>
          </a:p>
        </p:txBody>
      </p:sp>
      <p:sp>
        <p:nvSpPr>
          <p:cNvPr id="294" name=""/>
          <p:cNvSpPr txBox="1"/>
          <p:nvPr/>
        </p:nvSpPr>
        <p:spPr>
          <a:xfrm>
            <a:off x="367920" y="2739960"/>
            <a:ext cx="793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関節鏡下半月板切除術</a:t>
            </a:r>
            <a:endParaRPr b="0" lang="en-US" sz="620" strike="noStrike" u="none">
              <a:solidFill>
                <a:srgbClr val="000000"/>
              </a:solidFill>
              <a:effectLst/>
              <a:uFillTx/>
              <a:latin typeface="Times New Roman"/>
            </a:endParaRPr>
          </a:p>
        </p:txBody>
      </p:sp>
      <p:sp>
        <p:nvSpPr>
          <p:cNvPr id="295" name=""/>
          <p:cNvSpPr txBox="1"/>
          <p:nvPr/>
        </p:nvSpPr>
        <p:spPr>
          <a:xfrm>
            <a:off x="367920" y="2845080"/>
            <a:ext cx="2383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（膝）</a:t>
            </a:r>
            <a:endParaRPr b="0" lang="en-US" sz="620" strike="noStrike" u="none">
              <a:solidFill>
                <a:srgbClr val="000000"/>
              </a:solidFill>
              <a:effectLst/>
              <a:uFillTx/>
              <a:latin typeface="Times New Roman"/>
            </a:endParaRPr>
          </a:p>
        </p:txBody>
      </p:sp>
      <p:sp>
        <p:nvSpPr>
          <p:cNvPr id="296" name=""/>
          <p:cNvSpPr txBox="1"/>
          <p:nvPr/>
        </p:nvSpPr>
        <p:spPr>
          <a:xfrm>
            <a:off x="1466280" y="2742840"/>
            <a:ext cx="3049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K067 2.</a:t>
            </a:r>
            <a:endParaRPr b="0" lang="en-US" sz="620" strike="noStrike" u="none">
              <a:solidFill>
                <a:srgbClr val="000000"/>
              </a:solidFill>
              <a:effectLst/>
              <a:uFillTx/>
              <a:latin typeface="Times New Roman"/>
            </a:endParaRPr>
          </a:p>
        </p:txBody>
      </p:sp>
      <p:sp>
        <p:nvSpPr>
          <p:cNvPr id="297" name=""/>
          <p:cNvSpPr txBox="1"/>
          <p:nvPr/>
        </p:nvSpPr>
        <p:spPr>
          <a:xfrm>
            <a:off x="1466280" y="2847960"/>
            <a:ext cx="306360" cy="91800"/>
          </a:xfrm>
          <a:prstGeom prst="rect">
            <a:avLst/>
          </a:prstGeom>
          <a:noFill/>
          <a:ln w="0">
            <a:noFill/>
          </a:ln>
        </p:spPr>
        <p:txBody>
          <a:bodyPr wrap="none" lIns="0" rIns="0" tIns="0" bIns="0" anchor="t">
            <a:spAutoFit/>
          </a:bodyPr>
          <a:p>
            <a:r>
              <a:rPr b="1" lang="en-US" sz="620" strike="noStrike" u="none">
                <a:solidFill>
                  <a:srgbClr val="dc2626"/>
                </a:solidFill>
                <a:effectLst/>
                <a:uFillTx/>
                <a:latin typeface="DejaVuSans"/>
                <a:ea typeface="DejaVuSans"/>
              </a:rPr>
              <a:t>13,020</a:t>
            </a:r>
            <a:endParaRPr b="0" lang="en-US" sz="620" strike="noStrike" u="none">
              <a:solidFill>
                <a:srgbClr val="000000"/>
              </a:solidFill>
              <a:effectLst/>
              <a:uFillTx/>
              <a:latin typeface="Times New Roman"/>
            </a:endParaRPr>
          </a:p>
        </p:txBody>
      </p:sp>
      <p:sp>
        <p:nvSpPr>
          <p:cNvPr id="298" name=""/>
          <p:cNvSpPr txBox="1"/>
          <p:nvPr/>
        </p:nvSpPr>
        <p:spPr>
          <a:xfrm>
            <a:off x="1770480" y="2845080"/>
            <a:ext cx="79920" cy="99720"/>
          </a:xfrm>
          <a:prstGeom prst="rect">
            <a:avLst/>
          </a:prstGeom>
          <a:noFill/>
          <a:ln w="0">
            <a:noFill/>
          </a:ln>
        </p:spPr>
        <p:txBody>
          <a:bodyPr wrap="none" lIns="0" rIns="0" tIns="0" bIns="0" anchor="t">
            <a:spAutoFit/>
          </a:bodyPr>
          <a:p>
            <a:r>
              <a:rPr b="0" lang="zh-CN" sz="620" strike="noStrike" u="none">
                <a:solidFill>
                  <a:srgbClr val="dc2626"/>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299" name=""/>
          <p:cNvSpPr txBox="1"/>
          <p:nvPr/>
        </p:nvSpPr>
        <p:spPr>
          <a:xfrm>
            <a:off x="1972440" y="2739960"/>
            <a:ext cx="397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麻酔管理料</a:t>
            </a:r>
            <a:endParaRPr b="0" lang="en-US" sz="620" strike="noStrike" u="none">
              <a:solidFill>
                <a:srgbClr val="000000"/>
              </a:solidFill>
              <a:effectLst/>
              <a:uFillTx/>
              <a:latin typeface="Times New Roman"/>
            </a:endParaRPr>
          </a:p>
        </p:txBody>
      </p:sp>
      <p:sp>
        <p:nvSpPr>
          <p:cNvPr id="300" name=""/>
          <p:cNvSpPr txBox="1"/>
          <p:nvPr/>
        </p:nvSpPr>
        <p:spPr>
          <a:xfrm>
            <a:off x="2366640" y="2742840"/>
            <a:ext cx="8604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(I)</a:t>
            </a:r>
            <a:endParaRPr b="0" lang="en-US" sz="620" strike="noStrike" u="none">
              <a:solidFill>
                <a:srgbClr val="000000"/>
              </a:solidFill>
              <a:effectLst/>
              <a:uFillTx/>
              <a:latin typeface="Times New Roman"/>
            </a:endParaRPr>
          </a:p>
        </p:txBody>
      </p:sp>
      <p:sp>
        <p:nvSpPr>
          <p:cNvPr id="301" name=""/>
          <p:cNvSpPr txBox="1"/>
          <p:nvPr/>
        </p:nvSpPr>
        <p:spPr>
          <a:xfrm>
            <a:off x="2451240" y="2739960"/>
            <a:ext cx="244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または</a:t>
            </a:r>
            <a:endParaRPr b="0" lang="en-US" sz="620" strike="noStrike" u="none">
              <a:solidFill>
                <a:srgbClr val="000000"/>
              </a:solidFill>
              <a:effectLst/>
              <a:uFillTx/>
              <a:latin typeface="Times New Roman"/>
            </a:endParaRPr>
          </a:p>
        </p:txBody>
      </p:sp>
      <p:sp>
        <p:nvSpPr>
          <p:cNvPr id="302" name=""/>
          <p:cNvSpPr txBox="1"/>
          <p:nvPr/>
        </p:nvSpPr>
        <p:spPr>
          <a:xfrm>
            <a:off x="2687760" y="2742840"/>
            <a:ext cx="10944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(II)</a:t>
            </a:r>
            <a:endParaRPr b="0" lang="en-US" sz="620" strike="noStrike" u="none">
              <a:solidFill>
                <a:srgbClr val="000000"/>
              </a:solidFill>
              <a:effectLst/>
              <a:uFillTx/>
              <a:latin typeface="Times New Roman"/>
            </a:endParaRPr>
          </a:p>
        </p:txBody>
      </p:sp>
      <p:sp>
        <p:nvSpPr>
          <p:cNvPr id="303" name=""/>
          <p:cNvSpPr txBox="1"/>
          <p:nvPr/>
        </p:nvSpPr>
        <p:spPr>
          <a:xfrm>
            <a:off x="2795760" y="2739960"/>
            <a:ext cx="183096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、特定保険医療材料（縫合糸アンカー等：縫合術の</a:t>
            </a:r>
            <a:endParaRPr b="0" lang="en-US" sz="620" strike="noStrike" u="none">
              <a:solidFill>
                <a:srgbClr val="000000"/>
              </a:solidFill>
              <a:effectLst/>
              <a:uFillTx/>
              <a:latin typeface="Times New Roman"/>
            </a:endParaRPr>
          </a:p>
        </p:txBody>
      </p:sp>
      <p:sp>
        <p:nvSpPr>
          <p:cNvPr id="304" name=""/>
          <p:cNvSpPr txBox="1"/>
          <p:nvPr/>
        </p:nvSpPr>
        <p:spPr>
          <a:xfrm>
            <a:off x="1972440" y="2845080"/>
            <a:ext cx="7138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場合）、画像診断料</a:t>
            </a:r>
            <a:endParaRPr b="0" lang="en-US" sz="620" strike="noStrike" u="none">
              <a:solidFill>
                <a:srgbClr val="000000"/>
              </a:solidFill>
              <a:effectLst/>
              <a:uFillTx/>
              <a:latin typeface="Times New Roman"/>
            </a:endParaRPr>
          </a:p>
        </p:txBody>
      </p:sp>
      <p:sp>
        <p:nvSpPr>
          <p:cNvPr id="305" name=""/>
          <p:cNvSpPr txBox="1"/>
          <p:nvPr/>
        </p:nvSpPr>
        <p:spPr>
          <a:xfrm>
            <a:off x="315360" y="3064680"/>
            <a:ext cx="78480" cy="91800"/>
          </a:xfrm>
          <a:prstGeom prst="rect">
            <a:avLst/>
          </a:prstGeom>
          <a:noFill/>
          <a:ln w="0">
            <a:noFill/>
          </a:ln>
        </p:spPr>
        <p:txBody>
          <a:bodyPr wrap="none" lIns="0" rIns="0" tIns="0" bIns="0" anchor="t">
            <a:spAutoFit/>
          </a:bodyPr>
          <a:p>
            <a:r>
              <a:rPr b="0" lang="en-US" sz="620" strike="noStrike" u="none">
                <a:solidFill>
                  <a:srgbClr val="6b7280"/>
                </a:solidFill>
                <a:effectLst/>
                <a:uFillTx/>
                <a:latin typeface="DejaVuSans"/>
                <a:ea typeface="DejaVuSans"/>
              </a:rPr>
              <a:t>※</a:t>
            </a:r>
            <a:endParaRPr b="0" lang="en-US" sz="620" strike="noStrike" u="none">
              <a:solidFill>
                <a:srgbClr val="000000"/>
              </a:solidFill>
              <a:effectLst/>
              <a:uFillTx/>
              <a:latin typeface="Times New Roman"/>
            </a:endParaRPr>
          </a:p>
        </p:txBody>
      </p:sp>
      <p:sp>
        <p:nvSpPr>
          <p:cNvPr id="306" name=""/>
          <p:cNvSpPr txBox="1"/>
          <p:nvPr/>
        </p:nvSpPr>
        <p:spPr>
          <a:xfrm>
            <a:off x="381240" y="3061800"/>
            <a:ext cx="240480" cy="99720"/>
          </a:xfrm>
          <a:prstGeom prst="rect">
            <a:avLst/>
          </a:prstGeom>
          <a:noFill/>
          <a:ln w="0">
            <a:noFill/>
          </a:ln>
        </p:spPr>
        <p:txBody>
          <a:bodyPr wrap="none" lIns="0" rIns="0" tIns="0" bIns="0" anchor="t">
            <a:spAutoFit/>
          </a:bodyPr>
          <a:p>
            <a:r>
              <a:rPr b="0" lang="zh-CN" sz="620" strike="noStrike" u="none">
                <a:solidFill>
                  <a:srgbClr val="6b7280"/>
                </a:solidFill>
                <a:effectLst/>
                <a:uFillTx/>
                <a:latin typeface="WenQuanYiZenHei"/>
                <a:ea typeface="WenQuanYiZenHei"/>
              </a:rPr>
              <a:t>上記は</a:t>
            </a:r>
            <a:endParaRPr b="0" lang="en-US" sz="620" strike="noStrike" u="none">
              <a:solidFill>
                <a:srgbClr val="000000"/>
              </a:solidFill>
              <a:effectLst/>
              <a:uFillTx/>
              <a:latin typeface="Times New Roman"/>
            </a:endParaRPr>
          </a:p>
        </p:txBody>
      </p:sp>
      <p:sp>
        <p:nvSpPr>
          <p:cNvPr id="307" name=""/>
          <p:cNvSpPr txBox="1"/>
          <p:nvPr/>
        </p:nvSpPr>
        <p:spPr>
          <a:xfrm>
            <a:off x="617760" y="3064680"/>
            <a:ext cx="202320" cy="91800"/>
          </a:xfrm>
          <a:prstGeom prst="rect">
            <a:avLst/>
          </a:prstGeom>
          <a:noFill/>
          <a:ln w="0">
            <a:noFill/>
          </a:ln>
        </p:spPr>
        <p:txBody>
          <a:bodyPr wrap="none" lIns="0" rIns="0" tIns="0" bIns="0" anchor="t">
            <a:spAutoFit/>
          </a:bodyPr>
          <a:p>
            <a:r>
              <a:rPr b="0" lang="en-US" sz="620" strike="noStrike" u="none">
                <a:solidFill>
                  <a:srgbClr val="6b7280"/>
                </a:solidFill>
                <a:effectLst/>
                <a:uFillTx/>
                <a:latin typeface="DejaVuSans"/>
                <a:ea typeface="DejaVuSans"/>
              </a:rPr>
              <a:t>2024</a:t>
            </a:r>
            <a:endParaRPr b="0" lang="en-US" sz="620" strike="noStrike" u="none">
              <a:solidFill>
                <a:srgbClr val="000000"/>
              </a:solidFill>
              <a:effectLst/>
              <a:uFillTx/>
              <a:latin typeface="Times New Roman"/>
            </a:endParaRPr>
          </a:p>
        </p:txBody>
      </p:sp>
      <p:sp>
        <p:nvSpPr>
          <p:cNvPr id="308" name=""/>
          <p:cNvSpPr txBox="1"/>
          <p:nvPr/>
        </p:nvSpPr>
        <p:spPr>
          <a:xfrm>
            <a:off x="818280" y="3061800"/>
            <a:ext cx="3904200" cy="99720"/>
          </a:xfrm>
          <a:prstGeom prst="rect">
            <a:avLst/>
          </a:prstGeom>
          <a:noFill/>
          <a:ln w="0">
            <a:noFill/>
          </a:ln>
        </p:spPr>
        <p:txBody>
          <a:bodyPr wrap="none" lIns="0" rIns="0" tIns="0" bIns="0" anchor="t">
            <a:spAutoFit/>
          </a:bodyPr>
          <a:p>
            <a:r>
              <a:rPr b="0" lang="zh-CN" sz="620" strike="noStrike" u="none">
                <a:solidFill>
                  <a:srgbClr val="6b7280"/>
                </a:solidFill>
                <a:effectLst/>
                <a:uFillTx/>
                <a:latin typeface="WenQuanYiZenHei"/>
                <a:ea typeface="WenQuanYiZenHei"/>
              </a:rPr>
              <a:t>年度診療報酬点数表に基づく代表的な手術手技料の例です。実際の算定額は患者の状態、手術の難易度、施設</a:t>
            </a:r>
            <a:endParaRPr b="0" lang="en-US" sz="620" strike="noStrike" u="none">
              <a:solidFill>
                <a:srgbClr val="000000"/>
              </a:solidFill>
              <a:effectLst/>
              <a:uFillTx/>
              <a:latin typeface="Times New Roman"/>
            </a:endParaRPr>
          </a:p>
        </p:txBody>
      </p:sp>
      <p:sp>
        <p:nvSpPr>
          <p:cNvPr id="309" name=""/>
          <p:cNvSpPr/>
          <p:nvPr/>
        </p:nvSpPr>
        <p:spPr>
          <a:xfrm>
            <a:off x="4912920" y="687600"/>
            <a:ext cx="3284640" cy="1208880"/>
          </a:xfrm>
          <a:custGeom>
            <a:avLst/>
            <a:gdLst/>
            <a:ahLst/>
            <a:rect l="0" t="0" r="r" b="b"/>
            <a:pathLst>
              <a:path w="9124" h="3358">
                <a:moveTo>
                  <a:pt x="0" y="3212"/>
                </a:moveTo>
                <a:lnTo>
                  <a:pt x="0" y="146"/>
                </a:lnTo>
                <a:cubicBezTo>
                  <a:pt x="0" y="136"/>
                  <a:pt x="1" y="127"/>
                  <a:pt x="3" y="117"/>
                </a:cubicBezTo>
                <a:cubicBezTo>
                  <a:pt x="5" y="108"/>
                  <a:pt x="8" y="99"/>
                  <a:pt x="11" y="90"/>
                </a:cubicBezTo>
                <a:cubicBezTo>
                  <a:pt x="15" y="81"/>
                  <a:pt x="20" y="73"/>
                  <a:pt x="25" y="65"/>
                </a:cubicBezTo>
                <a:cubicBezTo>
                  <a:pt x="30" y="57"/>
                  <a:pt x="37" y="49"/>
                  <a:pt x="44" y="43"/>
                </a:cubicBezTo>
                <a:cubicBezTo>
                  <a:pt x="51" y="36"/>
                  <a:pt x="58" y="30"/>
                  <a:pt x="66" y="24"/>
                </a:cubicBezTo>
                <a:cubicBezTo>
                  <a:pt x="74" y="19"/>
                  <a:pt x="83" y="15"/>
                  <a:pt x="91" y="11"/>
                </a:cubicBezTo>
                <a:cubicBezTo>
                  <a:pt x="100" y="7"/>
                  <a:pt x="109" y="5"/>
                  <a:pt x="119" y="3"/>
                </a:cubicBezTo>
                <a:cubicBezTo>
                  <a:pt x="128" y="1"/>
                  <a:pt x="138" y="0"/>
                  <a:pt x="147" y="0"/>
                </a:cubicBezTo>
                <a:lnTo>
                  <a:pt x="8978" y="0"/>
                </a:lnTo>
                <a:cubicBezTo>
                  <a:pt x="8988" y="0"/>
                  <a:pt x="8997" y="1"/>
                  <a:pt x="9007" y="3"/>
                </a:cubicBezTo>
                <a:cubicBezTo>
                  <a:pt x="9016" y="5"/>
                  <a:pt x="9025" y="7"/>
                  <a:pt x="9034" y="11"/>
                </a:cubicBezTo>
                <a:cubicBezTo>
                  <a:pt x="9043" y="15"/>
                  <a:pt x="9051" y="19"/>
                  <a:pt x="9059" y="24"/>
                </a:cubicBezTo>
                <a:cubicBezTo>
                  <a:pt x="9067" y="30"/>
                  <a:pt x="9075" y="36"/>
                  <a:pt x="9081" y="43"/>
                </a:cubicBezTo>
                <a:cubicBezTo>
                  <a:pt x="9088" y="49"/>
                  <a:pt x="9094" y="57"/>
                  <a:pt x="9100" y="65"/>
                </a:cubicBezTo>
                <a:cubicBezTo>
                  <a:pt x="9105" y="73"/>
                  <a:pt x="9109" y="81"/>
                  <a:pt x="9113" y="90"/>
                </a:cubicBezTo>
                <a:cubicBezTo>
                  <a:pt x="9117" y="99"/>
                  <a:pt x="9120" y="108"/>
                  <a:pt x="9121" y="117"/>
                </a:cubicBezTo>
                <a:cubicBezTo>
                  <a:pt x="9123" y="127"/>
                  <a:pt x="9124" y="136"/>
                  <a:pt x="9124" y="146"/>
                </a:cubicBezTo>
                <a:lnTo>
                  <a:pt x="9124" y="3212"/>
                </a:lnTo>
                <a:cubicBezTo>
                  <a:pt x="9124" y="3222"/>
                  <a:pt x="9123" y="3231"/>
                  <a:pt x="9121" y="3241"/>
                </a:cubicBezTo>
                <a:cubicBezTo>
                  <a:pt x="9120" y="3250"/>
                  <a:pt x="9117" y="3259"/>
                  <a:pt x="9113" y="3268"/>
                </a:cubicBezTo>
                <a:cubicBezTo>
                  <a:pt x="9109" y="3277"/>
                  <a:pt x="9105" y="3285"/>
                  <a:pt x="9100" y="3293"/>
                </a:cubicBezTo>
                <a:cubicBezTo>
                  <a:pt x="9094" y="3301"/>
                  <a:pt x="9088" y="3309"/>
                  <a:pt x="9081" y="3315"/>
                </a:cubicBezTo>
                <a:cubicBezTo>
                  <a:pt x="9075" y="3322"/>
                  <a:pt x="9067" y="3328"/>
                  <a:pt x="9059" y="3333"/>
                </a:cubicBezTo>
                <a:cubicBezTo>
                  <a:pt x="9051" y="3339"/>
                  <a:pt x="9043" y="3343"/>
                  <a:pt x="9034" y="3347"/>
                </a:cubicBezTo>
                <a:cubicBezTo>
                  <a:pt x="9025" y="3351"/>
                  <a:pt x="9016" y="3353"/>
                  <a:pt x="9007" y="3355"/>
                </a:cubicBezTo>
                <a:cubicBezTo>
                  <a:pt x="8997" y="3357"/>
                  <a:pt x="8988" y="3358"/>
                  <a:pt x="8978" y="3358"/>
                </a:cubicBezTo>
                <a:lnTo>
                  <a:pt x="147" y="3358"/>
                </a:lnTo>
                <a:cubicBezTo>
                  <a:pt x="138" y="3358"/>
                  <a:pt x="128" y="3357"/>
                  <a:pt x="119" y="3355"/>
                </a:cubicBezTo>
                <a:cubicBezTo>
                  <a:pt x="109" y="3353"/>
                  <a:pt x="100" y="3351"/>
                  <a:pt x="91" y="3347"/>
                </a:cubicBezTo>
                <a:cubicBezTo>
                  <a:pt x="83" y="3343"/>
                  <a:pt x="74" y="3339"/>
                  <a:pt x="66" y="3333"/>
                </a:cubicBezTo>
                <a:cubicBezTo>
                  <a:pt x="58" y="3328"/>
                  <a:pt x="51" y="3322"/>
                  <a:pt x="44" y="3315"/>
                </a:cubicBezTo>
                <a:cubicBezTo>
                  <a:pt x="37" y="3309"/>
                  <a:pt x="30" y="3301"/>
                  <a:pt x="25" y="3293"/>
                </a:cubicBezTo>
                <a:cubicBezTo>
                  <a:pt x="20" y="3285"/>
                  <a:pt x="15" y="3277"/>
                  <a:pt x="11" y="3268"/>
                </a:cubicBezTo>
                <a:cubicBezTo>
                  <a:pt x="8" y="3259"/>
                  <a:pt x="5" y="3250"/>
                  <a:pt x="3" y="3241"/>
                </a:cubicBezTo>
                <a:cubicBezTo>
                  <a:pt x="1" y="3231"/>
                  <a:pt x="0" y="3222"/>
                  <a:pt x="0" y="3212"/>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310" name="" descr=""/>
          <p:cNvPicPr/>
          <p:nvPr/>
        </p:nvPicPr>
        <p:blipFill>
          <a:blip r:embed="rId8"/>
          <a:stretch/>
        </p:blipFill>
        <p:spPr>
          <a:xfrm>
            <a:off x="5018400" y="825840"/>
            <a:ext cx="91440" cy="117720"/>
          </a:xfrm>
          <a:prstGeom prst="rect">
            <a:avLst/>
          </a:prstGeom>
          <a:noFill/>
          <a:ln w="0">
            <a:noFill/>
          </a:ln>
        </p:spPr>
      </p:pic>
      <p:sp>
        <p:nvSpPr>
          <p:cNvPr id="311" name=""/>
          <p:cNvSpPr txBox="1"/>
          <p:nvPr/>
        </p:nvSpPr>
        <p:spPr>
          <a:xfrm>
            <a:off x="315360" y="3166920"/>
            <a:ext cx="1047600" cy="99720"/>
          </a:xfrm>
          <a:prstGeom prst="rect">
            <a:avLst/>
          </a:prstGeom>
          <a:noFill/>
          <a:ln w="0">
            <a:noFill/>
          </a:ln>
        </p:spPr>
        <p:txBody>
          <a:bodyPr wrap="none" lIns="0" rIns="0" tIns="0" bIns="0" anchor="t">
            <a:spAutoFit/>
          </a:bodyPr>
          <a:p>
            <a:r>
              <a:rPr b="0" lang="zh-CN" sz="620" strike="noStrike" u="none">
                <a:solidFill>
                  <a:srgbClr val="6b7280"/>
                </a:solidFill>
                <a:effectLst/>
                <a:uFillTx/>
                <a:latin typeface="WenQuanYiZenHei"/>
                <a:ea typeface="WenQuanYiZenHei"/>
              </a:rPr>
              <a:t>基準などにより異なります。</a:t>
            </a:r>
            <a:endParaRPr b="0" lang="en-US" sz="620" strike="noStrike" u="none">
              <a:solidFill>
                <a:srgbClr val="000000"/>
              </a:solidFill>
              <a:effectLst/>
              <a:uFillTx/>
              <a:latin typeface="Times New Roman"/>
            </a:endParaRPr>
          </a:p>
        </p:txBody>
      </p:sp>
      <p:pic>
        <p:nvPicPr>
          <p:cNvPr id="312" name="" descr=""/>
          <p:cNvPicPr/>
          <p:nvPr/>
        </p:nvPicPr>
        <p:blipFill>
          <a:blip r:embed="rId9"/>
          <a:stretch/>
        </p:blipFill>
        <p:spPr>
          <a:xfrm>
            <a:off x="5018400" y="1055520"/>
            <a:ext cx="91440" cy="91440"/>
          </a:xfrm>
          <a:prstGeom prst="rect">
            <a:avLst/>
          </a:prstGeom>
          <a:noFill/>
          <a:ln w="0">
            <a:noFill/>
          </a:ln>
        </p:spPr>
      </p:pic>
      <p:sp>
        <p:nvSpPr>
          <p:cNvPr id="313" name=""/>
          <p:cNvSpPr txBox="1"/>
          <p:nvPr/>
        </p:nvSpPr>
        <p:spPr>
          <a:xfrm>
            <a:off x="5164200" y="810360"/>
            <a:ext cx="1059480" cy="148320"/>
          </a:xfrm>
          <a:prstGeom prst="rect">
            <a:avLst/>
          </a:prstGeom>
          <a:noFill/>
          <a:ln w="0">
            <a:noFill/>
          </a:ln>
        </p:spPr>
        <p:txBody>
          <a:bodyPr wrap="none" lIns="0" rIns="0" tIns="0" bIns="0" anchor="t">
            <a:spAutoFit/>
          </a:bodyPr>
          <a:p>
            <a:r>
              <a:rPr b="0" lang="zh-CN" sz="930" strike="noStrike" u="none">
                <a:solidFill>
                  <a:srgbClr val="047857"/>
                </a:solidFill>
                <a:effectLst/>
                <a:uFillTx/>
                <a:latin typeface="WenQuanYiZenHei"/>
                <a:ea typeface="WenQuanYiZenHei"/>
              </a:rPr>
              <a:t>保険点数の構成要素</a:t>
            </a:r>
            <a:endParaRPr b="0" lang="en-US" sz="930" strike="noStrike" u="none">
              <a:solidFill>
                <a:srgbClr val="000000"/>
              </a:solidFill>
              <a:effectLst/>
              <a:uFillTx/>
              <a:latin typeface="Times New Roman"/>
            </a:endParaRPr>
          </a:p>
        </p:txBody>
      </p:sp>
      <p:sp>
        <p:nvSpPr>
          <p:cNvPr id="314" name=""/>
          <p:cNvSpPr txBox="1"/>
          <p:nvPr/>
        </p:nvSpPr>
        <p:spPr>
          <a:xfrm>
            <a:off x="5164200" y="1039320"/>
            <a:ext cx="27504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手術料</a:t>
            </a:r>
            <a:endParaRPr b="0" lang="en-US" sz="730" strike="noStrike" u="none">
              <a:solidFill>
                <a:srgbClr val="000000"/>
              </a:solidFill>
              <a:effectLst/>
              <a:uFillTx/>
              <a:latin typeface="Times New Roman"/>
            </a:endParaRPr>
          </a:p>
        </p:txBody>
      </p:sp>
      <p:sp>
        <p:nvSpPr>
          <p:cNvPr id="315" name=""/>
          <p:cNvSpPr txBox="1"/>
          <p:nvPr/>
        </p:nvSpPr>
        <p:spPr>
          <a:xfrm>
            <a:off x="5439960" y="1042560"/>
            <a:ext cx="145080" cy="106920"/>
          </a:xfrm>
          <a:prstGeom prst="rect">
            <a:avLst/>
          </a:prstGeom>
          <a:noFill/>
          <a:ln w="0">
            <a:noFill/>
          </a:ln>
        </p:spPr>
        <p:txBody>
          <a:bodyPr wrap="none" lIns="0" rIns="0" tIns="0" bIns="0" anchor="t">
            <a:spAutoFit/>
          </a:bodyPr>
          <a:p>
            <a:r>
              <a:rPr b="1" lang="en-US" sz="730" strike="noStrike" u="none">
                <a:solidFill>
                  <a:srgbClr val="374151"/>
                </a:solidFill>
                <a:effectLst/>
                <a:uFillTx/>
                <a:latin typeface="DejaVuSans"/>
                <a:ea typeface="DejaVuSans"/>
              </a:rPr>
              <a:t> (K</a:t>
            </a:r>
            <a:endParaRPr b="0" lang="en-US" sz="730" strike="noStrike" u="none">
              <a:solidFill>
                <a:srgbClr val="000000"/>
              </a:solidFill>
              <a:effectLst/>
              <a:uFillTx/>
              <a:latin typeface="Times New Roman"/>
            </a:endParaRPr>
          </a:p>
        </p:txBody>
      </p:sp>
      <p:sp>
        <p:nvSpPr>
          <p:cNvPr id="316" name=""/>
          <p:cNvSpPr txBox="1"/>
          <p:nvPr/>
        </p:nvSpPr>
        <p:spPr>
          <a:xfrm>
            <a:off x="5585400" y="1039320"/>
            <a:ext cx="27936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コード</a:t>
            </a:r>
            <a:endParaRPr b="0" lang="en-US" sz="730" strike="noStrike" u="none">
              <a:solidFill>
                <a:srgbClr val="000000"/>
              </a:solidFill>
              <a:effectLst/>
              <a:uFillTx/>
              <a:latin typeface="Times New Roman"/>
            </a:endParaRPr>
          </a:p>
        </p:txBody>
      </p:sp>
      <p:sp>
        <p:nvSpPr>
          <p:cNvPr id="317" name=""/>
          <p:cNvSpPr txBox="1"/>
          <p:nvPr/>
        </p:nvSpPr>
        <p:spPr>
          <a:xfrm>
            <a:off x="5861160" y="1042560"/>
            <a:ext cx="102240" cy="106920"/>
          </a:xfrm>
          <a:prstGeom prst="rect">
            <a:avLst/>
          </a:prstGeom>
          <a:noFill/>
          <a:ln w="0">
            <a:noFill/>
          </a:ln>
        </p:spPr>
        <p:txBody>
          <a:bodyPr wrap="none" lIns="0" rIns="0" tIns="0" bIns="0" anchor="t">
            <a:spAutoFit/>
          </a:bodyPr>
          <a:p>
            <a:r>
              <a:rPr b="1" lang="en-US" sz="730" strike="noStrike" u="none">
                <a:solidFill>
                  <a:srgbClr val="374151"/>
                </a:solidFill>
                <a:effectLst/>
                <a:uFillTx/>
                <a:latin typeface="DejaVuSans"/>
                <a:ea typeface="DejaVuSans"/>
              </a:rPr>
              <a:t>)</a:t>
            </a:r>
            <a:r>
              <a:rPr b="0" lang="en-US" sz="730" strike="noStrike" u="none">
                <a:solidFill>
                  <a:srgbClr val="374151"/>
                </a:solidFill>
                <a:effectLst/>
                <a:uFillTx/>
                <a:latin typeface="DejaVuSans"/>
                <a:ea typeface="DejaVuSans"/>
              </a:rPr>
              <a:t>: </a:t>
            </a:r>
            <a:endParaRPr b="0" lang="en-US" sz="730" strike="noStrike" u="none">
              <a:solidFill>
                <a:srgbClr val="000000"/>
              </a:solidFill>
              <a:effectLst/>
              <a:uFillTx/>
              <a:latin typeface="Times New Roman"/>
            </a:endParaRPr>
          </a:p>
        </p:txBody>
      </p:sp>
      <p:pic>
        <p:nvPicPr>
          <p:cNvPr id="318" name="" descr=""/>
          <p:cNvPicPr/>
          <p:nvPr/>
        </p:nvPicPr>
        <p:blipFill>
          <a:blip r:embed="rId10"/>
          <a:stretch/>
        </p:blipFill>
        <p:spPr>
          <a:xfrm>
            <a:off x="5018400" y="1213200"/>
            <a:ext cx="91440" cy="91440"/>
          </a:xfrm>
          <a:prstGeom prst="rect">
            <a:avLst/>
          </a:prstGeom>
          <a:noFill/>
          <a:ln w="0">
            <a:noFill/>
          </a:ln>
        </p:spPr>
      </p:pic>
      <p:sp>
        <p:nvSpPr>
          <p:cNvPr id="319" name=""/>
          <p:cNvSpPr txBox="1"/>
          <p:nvPr/>
        </p:nvSpPr>
        <p:spPr>
          <a:xfrm>
            <a:off x="5963400" y="1039320"/>
            <a:ext cx="111096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手術手技そのものへの評価</a:t>
            </a:r>
            <a:endParaRPr b="0" lang="en-US" sz="730" strike="noStrike" u="none">
              <a:solidFill>
                <a:srgbClr val="000000"/>
              </a:solidFill>
              <a:effectLst/>
              <a:uFillTx/>
              <a:latin typeface="Times New Roman"/>
            </a:endParaRPr>
          </a:p>
        </p:txBody>
      </p:sp>
      <p:sp>
        <p:nvSpPr>
          <p:cNvPr id="320" name=""/>
          <p:cNvSpPr txBox="1"/>
          <p:nvPr/>
        </p:nvSpPr>
        <p:spPr>
          <a:xfrm>
            <a:off x="5164200" y="1197000"/>
            <a:ext cx="27504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麻酔料</a:t>
            </a:r>
            <a:endParaRPr b="0" lang="en-US" sz="730" strike="noStrike" u="none">
              <a:solidFill>
                <a:srgbClr val="000000"/>
              </a:solidFill>
              <a:effectLst/>
              <a:uFillTx/>
              <a:latin typeface="Times New Roman"/>
            </a:endParaRPr>
          </a:p>
        </p:txBody>
      </p:sp>
      <p:sp>
        <p:nvSpPr>
          <p:cNvPr id="321" name=""/>
          <p:cNvSpPr txBox="1"/>
          <p:nvPr/>
        </p:nvSpPr>
        <p:spPr>
          <a:xfrm>
            <a:off x="5439960" y="1200240"/>
            <a:ext cx="132480" cy="106920"/>
          </a:xfrm>
          <a:prstGeom prst="rect">
            <a:avLst/>
          </a:prstGeom>
          <a:noFill/>
          <a:ln w="0">
            <a:noFill/>
          </a:ln>
        </p:spPr>
        <p:txBody>
          <a:bodyPr wrap="none" lIns="0" rIns="0" tIns="0" bIns="0" anchor="t">
            <a:spAutoFit/>
          </a:bodyPr>
          <a:p>
            <a:r>
              <a:rPr b="1" lang="en-US" sz="730" strike="noStrike" u="none">
                <a:solidFill>
                  <a:srgbClr val="374151"/>
                </a:solidFill>
                <a:effectLst/>
                <a:uFillTx/>
                <a:latin typeface="DejaVuSans"/>
                <a:ea typeface="DejaVuSans"/>
              </a:rPr>
              <a:t> (L</a:t>
            </a:r>
            <a:endParaRPr b="0" lang="en-US" sz="730" strike="noStrike" u="none">
              <a:solidFill>
                <a:srgbClr val="000000"/>
              </a:solidFill>
              <a:effectLst/>
              <a:uFillTx/>
              <a:latin typeface="Times New Roman"/>
            </a:endParaRPr>
          </a:p>
        </p:txBody>
      </p:sp>
      <p:sp>
        <p:nvSpPr>
          <p:cNvPr id="322" name=""/>
          <p:cNvSpPr txBox="1"/>
          <p:nvPr/>
        </p:nvSpPr>
        <p:spPr>
          <a:xfrm>
            <a:off x="5572440" y="1197000"/>
            <a:ext cx="27936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コード</a:t>
            </a:r>
            <a:endParaRPr b="0" lang="en-US" sz="730" strike="noStrike" u="none">
              <a:solidFill>
                <a:srgbClr val="000000"/>
              </a:solidFill>
              <a:effectLst/>
              <a:uFillTx/>
              <a:latin typeface="Times New Roman"/>
            </a:endParaRPr>
          </a:p>
        </p:txBody>
      </p:sp>
      <p:sp>
        <p:nvSpPr>
          <p:cNvPr id="323" name=""/>
          <p:cNvSpPr txBox="1"/>
          <p:nvPr/>
        </p:nvSpPr>
        <p:spPr>
          <a:xfrm>
            <a:off x="5848560" y="1200240"/>
            <a:ext cx="102240" cy="106920"/>
          </a:xfrm>
          <a:prstGeom prst="rect">
            <a:avLst/>
          </a:prstGeom>
          <a:noFill/>
          <a:ln w="0">
            <a:noFill/>
          </a:ln>
        </p:spPr>
        <p:txBody>
          <a:bodyPr wrap="none" lIns="0" rIns="0" tIns="0" bIns="0" anchor="t">
            <a:spAutoFit/>
          </a:bodyPr>
          <a:p>
            <a:r>
              <a:rPr b="1" lang="en-US" sz="730" strike="noStrike" u="none">
                <a:solidFill>
                  <a:srgbClr val="374151"/>
                </a:solidFill>
                <a:effectLst/>
                <a:uFillTx/>
                <a:latin typeface="DejaVuSans"/>
                <a:ea typeface="DejaVuSans"/>
              </a:rPr>
              <a:t>)</a:t>
            </a:r>
            <a:r>
              <a:rPr b="0" lang="en-US" sz="730" strike="noStrike" u="none">
                <a:solidFill>
                  <a:srgbClr val="374151"/>
                </a:solidFill>
                <a:effectLst/>
                <a:uFillTx/>
                <a:latin typeface="DejaVuSans"/>
                <a:ea typeface="DejaVuSans"/>
              </a:rPr>
              <a:t>: </a:t>
            </a:r>
            <a:endParaRPr b="0" lang="en-US" sz="730" strike="noStrike" u="none">
              <a:solidFill>
                <a:srgbClr val="000000"/>
              </a:solidFill>
              <a:effectLst/>
              <a:uFillTx/>
              <a:latin typeface="Times New Roman"/>
            </a:endParaRPr>
          </a:p>
        </p:txBody>
      </p:sp>
      <p:pic>
        <p:nvPicPr>
          <p:cNvPr id="324" name="" descr=""/>
          <p:cNvPicPr/>
          <p:nvPr/>
        </p:nvPicPr>
        <p:blipFill>
          <a:blip r:embed="rId11"/>
          <a:stretch/>
        </p:blipFill>
        <p:spPr>
          <a:xfrm>
            <a:off x="5018400" y="1370880"/>
            <a:ext cx="91440" cy="91440"/>
          </a:xfrm>
          <a:prstGeom prst="rect">
            <a:avLst/>
          </a:prstGeom>
          <a:noFill/>
          <a:ln w="0">
            <a:noFill/>
          </a:ln>
        </p:spPr>
      </p:pic>
      <p:sp>
        <p:nvSpPr>
          <p:cNvPr id="325" name=""/>
          <p:cNvSpPr txBox="1"/>
          <p:nvPr/>
        </p:nvSpPr>
        <p:spPr>
          <a:xfrm>
            <a:off x="5950800" y="1197000"/>
            <a:ext cx="101304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麻酔手技と管理への評価</a:t>
            </a:r>
            <a:endParaRPr b="0" lang="en-US" sz="730" strike="noStrike" u="none">
              <a:solidFill>
                <a:srgbClr val="000000"/>
              </a:solidFill>
              <a:effectLst/>
              <a:uFillTx/>
              <a:latin typeface="Times New Roman"/>
            </a:endParaRPr>
          </a:p>
        </p:txBody>
      </p:sp>
      <p:sp>
        <p:nvSpPr>
          <p:cNvPr id="326" name=""/>
          <p:cNvSpPr txBox="1"/>
          <p:nvPr/>
        </p:nvSpPr>
        <p:spPr>
          <a:xfrm>
            <a:off x="5164200" y="1354680"/>
            <a:ext cx="82368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特定保険医療材料料</a:t>
            </a:r>
            <a:endParaRPr b="0" lang="en-US" sz="730" strike="noStrike" u="none">
              <a:solidFill>
                <a:srgbClr val="000000"/>
              </a:solidFill>
              <a:effectLst/>
              <a:uFillTx/>
              <a:latin typeface="Times New Roman"/>
            </a:endParaRPr>
          </a:p>
        </p:txBody>
      </p:sp>
      <p:sp>
        <p:nvSpPr>
          <p:cNvPr id="327" name=""/>
          <p:cNvSpPr txBox="1"/>
          <p:nvPr/>
        </p:nvSpPr>
        <p:spPr>
          <a:xfrm>
            <a:off x="5991840" y="1357920"/>
            <a:ext cx="91440" cy="106920"/>
          </a:xfrm>
          <a:prstGeom prst="rect">
            <a:avLst/>
          </a:prstGeom>
          <a:noFill/>
          <a:ln w="0">
            <a:noFill/>
          </a:ln>
        </p:spPr>
        <p:txBody>
          <a:bodyPr wrap="none" lIns="0" rIns="0" tIns="0" bIns="0" anchor="t">
            <a:spAutoFit/>
          </a:bodyPr>
          <a:p>
            <a:r>
              <a:rPr b="0" lang="en-US" sz="730" strike="noStrike" u="none">
                <a:solidFill>
                  <a:srgbClr val="374151"/>
                </a:solidFill>
                <a:effectLst/>
                <a:uFillTx/>
                <a:latin typeface="DejaVuSans"/>
                <a:ea typeface="DejaVuSans"/>
              </a:rPr>
              <a:t>: </a:t>
            </a:r>
            <a:endParaRPr b="0" lang="en-US" sz="730" strike="noStrike" u="none">
              <a:solidFill>
                <a:srgbClr val="000000"/>
              </a:solidFill>
              <a:effectLst/>
              <a:uFillTx/>
              <a:latin typeface="Times New Roman"/>
            </a:endParaRPr>
          </a:p>
        </p:txBody>
      </p:sp>
      <p:pic>
        <p:nvPicPr>
          <p:cNvPr id="328" name="" descr=""/>
          <p:cNvPicPr/>
          <p:nvPr/>
        </p:nvPicPr>
        <p:blipFill>
          <a:blip r:embed="rId12"/>
          <a:stretch/>
        </p:blipFill>
        <p:spPr>
          <a:xfrm>
            <a:off x="5018400" y="1528560"/>
            <a:ext cx="91440" cy="91440"/>
          </a:xfrm>
          <a:prstGeom prst="rect">
            <a:avLst/>
          </a:prstGeom>
          <a:noFill/>
          <a:ln w="0">
            <a:noFill/>
          </a:ln>
        </p:spPr>
      </p:pic>
      <p:sp>
        <p:nvSpPr>
          <p:cNvPr id="329" name=""/>
          <p:cNvSpPr txBox="1"/>
          <p:nvPr/>
        </p:nvSpPr>
        <p:spPr>
          <a:xfrm>
            <a:off x="6051960" y="1354680"/>
            <a:ext cx="148104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人工関節、固定用インプラントなど</a:t>
            </a:r>
            <a:endParaRPr b="0" lang="en-US" sz="730" strike="noStrike" u="none">
              <a:solidFill>
                <a:srgbClr val="000000"/>
              </a:solidFill>
              <a:effectLst/>
              <a:uFillTx/>
              <a:latin typeface="Times New Roman"/>
            </a:endParaRPr>
          </a:p>
        </p:txBody>
      </p:sp>
      <p:sp>
        <p:nvSpPr>
          <p:cNvPr id="330" name=""/>
          <p:cNvSpPr txBox="1"/>
          <p:nvPr/>
        </p:nvSpPr>
        <p:spPr>
          <a:xfrm>
            <a:off x="5164200" y="1512360"/>
            <a:ext cx="27504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薬剤料</a:t>
            </a:r>
            <a:endParaRPr b="0" lang="en-US" sz="730" strike="noStrike" u="none">
              <a:solidFill>
                <a:srgbClr val="000000"/>
              </a:solidFill>
              <a:effectLst/>
              <a:uFillTx/>
              <a:latin typeface="Times New Roman"/>
            </a:endParaRPr>
          </a:p>
        </p:txBody>
      </p:sp>
      <p:sp>
        <p:nvSpPr>
          <p:cNvPr id="331" name=""/>
          <p:cNvSpPr txBox="1"/>
          <p:nvPr/>
        </p:nvSpPr>
        <p:spPr>
          <a:xfrm>
            <a:off x="5439960" y="1515240"/>
            <a:ext cx="91440" cy="106920"/>
          </a:xfrm>
          <a:prstGeom prst="rect">
            <a:avLst/>
          </a:prstGeom>
          <a:noFill/>
          <a:ln w="0">
            <a:noFill/>
          </a:ln>
        </p:spPr>
        <p:txBody>
          <a:bodyPr wrap="none" lIns="0" rIns="0" tIns="0" bIns="0" anchor="t">
            <a:spAutoFit/>
          </a:bodyPr>
          <a:p>
            <a:r>
              <a:rPr b="0" lang="en-US" sz="730" strike="noStrike" u="none">
                <a:solidFill>
                  <a:srgbClr val="374151"/>
                </a:solidFill>
                <a:effectLst/>
                <a:uFillTx/>
                <a:latin typeface="DejaVuSans"/>
                <a:ea typeface="DejaVuSans"/>
              </a:rPr>
              <a:t>: </a:t>
            </a:r>
            <a:endParaRPr b="0" lang="en-US" sz="730" strike="noStrike" u="none">
              <a:solidFill>
                <a:srgbClr val="000000"/>
              </a:solidFill>
              <a:effectLst/>
              <a:uFillTx/>
              <a:latin typeface="Times New Roman"/>
            </a:endParaRPr>
          </a:p>
        </p:txBody>
      </p:sp>
      <p:pic>
        <p:nvPicPr>
          <p:cNvPr id="332" name="" descr=""/>
          <p:cNvPicPr/>
          <p:nvPr/>
        </p:nvPicPr>
        <p:blipFill>
          <a:blip r:embed="rId13"/>
          <a:stretch/>
        </p:blipFill>
        <p:spPr>
          <a:xfrm>
            <a:off x="5018400" y="1686240"/>
            <a:ext cx="91440" cy="91440"/>
          </a:xfrm>
          <a:prstGeom prst="rect">
            <a:avLst/>
          </a:prstGeom>
          <a:noFill/>
          <a:ln w="0">
            <a:noFill/>
          </a:ln>
        </p:spPr>
      </p:pic>
      <p:sp>
        <p:nvSpPr>
          <p:cNvPr id="333" name=""/>
          <p:cNvSpPr txBox="1"/>
          <p:nvPr/>
        </p:nvSpPr>
        <p:spPr>
          <a:xfrm>
            <a:off x="5500080" y="1512360"/>
            <a:ext cx="129168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手術中に使用される薬剤の費用</a:t>
            </a:r>
            <a:endParaRPr b="0" lang="en-US" sz="730" strike="noStrike" u="none">
              <a:solidFill>
                <a:srgbClr val="000000"/>
              </a:solidFill>
              <a:effectLst/>
              <a:uFillTx/>
              <a:latin typeface="Times New Roman"/>
            </a:endParaRPr>
          </a:p>
        </p:txBody>
      </p:sp>
      <p:sp>
        <p:nvSpPr>
          <p:cNvPr id="334" name=""/>
          <p:cNvSpPr txBox="1"/>
          <p:nvPr/>
        </p:nvSpPr>
        <p:spPr>
          <a:xfrm>
            <a:off x="5164200" y="1669680"/>
            <a:ext cx="82368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検査料・画像診断料</a:t>
            </a:r>
            <a:endParaRPr b="0" lang="en-US" sz="730" strike="noStrike" u="none">
              <a:solidFill>
                <a:srgbClr val="000000"/>
              </a:solidFill>
              <a:effectLst/>
              <a:uFillTx/>
              <a:latin typeface="Times New Roman"/>
            </a:endParaRPr>
          </a:p>
        </p:txBody>
      </p:sp>
      <p:sp>
        <p:nvSpPr>
          <p:cNvPr id="335" name=""/>
          <p:cNvSpPr txBox="1"/>
          <p:nvPr/>
        </p:nvSpPr>
        <p:spPr>
          <a:xfrm>
            <a:off x="5991840" y="1672920"/>
            <a:ext cx="91440" cy="106920"/>
          </a:xfrm>
          <a:prstGeom prst="rect">
            <a:avLst/>
          </a:prstGeom>
          <a:noFill/>
          <a:ln w="0">
            <a:noFill/>
          </a:ln>
        </p:spPr>
        <p:txBody>
          <a:bodyPr wrap="none" lIns="0" rIns="0" tIns="0" bIns="0" anchor="t">
            <a:spAutoFit/>
          </a:bodyPr>
          <a:p>
            <a:r>
              <a:rPr b="0" lang="en-US" sz="730" strike="noStrike" u="none">
                <a:solidFill>
                  <a:srgbClr val="374151"/>
                </a:solidFill>
                <a:effectLst/>
                <a:uFillTx/>
                <a:latin typeface="DejaVuSans"/>
                <a:ea typeface="DejaVuSans"/>
              </a:rPr>
              <a:t>: </a:t>
            </a:r>
            <a:endParaRPr b="0" lang="en-US" sz="730" strike="noStrike" u="none">
              <a:solidFill>
                <a:srgbClr val="000000"/>
              </a:solidFill>
              <a:effectLst/>
              <a:uFillTx/>
              <a:latin typeface="Times New Roman"/>
            </a:endParaRPr>
          </a:p>
        </p:txBody>
      </p:sp>
      <p:sp>
        <p:nvSpPr>
          <p:cNvPr id="336" name=""/>
          <p:cNvSpPr/>
          <p:nvPr/>
        </p:nvSpPr>
        <p:spPr>
          <a:xfrm>
            <a:off x="4912920" y="1974960"/>
            <a:ext cx="3284640" cy="1340280"/>
          </a:xfrm>
          <a:custGeom>
            <a:avLst/>
            <a:gdLst/>
            <a:ahLst/>
            <a:rect l="0" t="0" r="r" b="b"/>
            <a:pathLst>
              <a:path w="9124" h="3723">
                <a:moveTo>
                  <a:pt x="0" y="3577"/>
                </a:moveTo>
                <a:lnTo>
                  <a:pt x="0" y="147"/>
                </a:lnTo>
                <a:cubicBezTo>
                  <a:pt x="0" y="137"/>
                  <a:pt x="1" y="128"/>
                  <a:pt x="3" y="119"/>
                </a:cubicBezTo>
                <a:cubicBezTo>
                  <a:pt x="5" y="109"/>
                  <a:pt x="8" y="100"/>
                  <a:pt x="11" y="90"/>
                </a:cubicBezTo>
                <a:cubicBezTo>
                  <a:pt x="15" y="81"/>
                  <a:pt x="20" y="73"/>
                  <a:pt x="25" y="65"/>
                </a:cubicBezTo>
                <a:cubicBezTo>
                  <a:pt x="30" y="57"/>
                  <a:pt x="37" y="50"/>
                  <a:pt x="44" y="43"/>
                </a:cubicBezTo>
                <a:cubicBezTo>
                  <a:pt x="51" y="36"/>
                  <a:pt x="58" y="30"/>
                  <a:pt x="66" y="25"/>
                </a:cubicBezTo>
                <a:cubicBezTo>
                  <a:pt x="74" y="19"/>
                  <a:pt x="83" y="15"/>
                  <a:pt x="91" y="11"/>
                </a:cubicBezTo>
                <a:cubicBezTo>
                  <a:pt x="100" y="7"/>
                  <a:pt x="109" y="5"/>
                  <a:pt x="119" y="3"/>
                </a:cubicBezTo>
                <a:cubicBezTo>
                  <a:pt x="128" y="1"/>
                  <a:pt x="138" y="0"/>
                  <a:pt x="147" y="0"/>
                </a:cubicBezTo>
                <a:lnTo>
                  <a:pt x="8978" y="0"/>
                </a:lnTo>
                <a:cubicBezTo>
                  <a:pt x="8988" y="0"/>
                  <a:pt x="8997" y="1"/>
                  <a:pt x="9007" y="3"/>
                </a:cubicBezTo>
                <a:cubicBezTo>
                  <a:pt x="9016" y="5"/>
                  <a:pt x="9025" y="7"/>
                  <a:pt x="9034" y="11"/>
                </a:cubicBezTo>
                <a:cubicBezTo>
                  <a:pt x="9043" y="15"/>
                  <a:pt x="9051" y="19"/>
                  <a:pt x="9059" y="25"/>
                </a:cubicBezTo>
                <a:cubicBezTo>
                  <a:pt x="9067" y="30"/>
                  <a:pt x="9075" y="36"/>
                  <a:pt x="9081" y="43"/>
                </a:cubicBezTo>
                <a:cubicBezTo>
                  <a:pt x="9088" y="50"/>
                  <a:pt x="9094" y="57"/>
                  <a:pt x="9100" y="65"/>
                </a:cubicBezTo>
                <a:cubicBezTo>
                  <a:pt x="9105" y="73"/>
                  <a:pt x="9109" y="81"/>
                  <a:pt x="9113" y="90"/>
                </a:cubicBezTo>
                <a:cubicBezTo>
                  <a:pt x="9117" y="100"/>
                  <a:pt x="9120" y="109"/>
                  <a:pt x="9121" y="119"/>
                </a:cubicBezTo>
                <a:cubicBezTo>
                  <a:pt x="9123" y="128"/>
                  <a:pt x="9124" y="137"/>
                  <a:pt x="9124" y="147"/>
                </a:cubicBezTo>
                <a:lnTo>
                  <a:pt x="9124" y="3577"/>
                </a:lnTo>
                <a:cubicBezTo>
                  <a:pt x="9124" y="3587"/>
                  <a:pt x="9123" y="3596"/>
                  <a:pt x="9121" y="3606"/>
                </a:cubicBezTo>
                <a:cubicBezTo>
                  <a:pt x="9120" y="3615"/>
                  <a:pt x="9117" y="3624"/>
                  <a:pt x="9113" y="3633"/>
                </a:cubicBezTo>
                <a:cubicBezTo>
                  <a:pt x="9109" y="3642"/>
                  <a:pt x="9105" y="3650"/>
                  <a:pt x="9100" y="3658"/>
                </a:cubicBezTo>
                <a:cubicBezTo>
                  <a:pt x="9094" y="3666"/>
                  <a:pt x="9088" y="3674"/>
                  <a:pt x="9081" y="3680"/>
                </a:cubicBezTo>
                <a:cubicBezTo>
                  <a:pt x="9075" y="3687"/>
                  <a:pt x="9067" y="3693"/>
                  <a:pt x="9059" y="3699"/>
                </a:cubicBezTo>
                <a:cubicBezTo>
                  <a:pt x="9051" y="3704"/>
                  <a:pt x="9043" y="3708"/>
                  <a:pt x="9034" y="3712"/>
                </a:cubicBezTo>
                <a:cubicBezTo>
                  <a:pt x="9025" y="3716"/>
                  <a:pt x="9016" y="3718"/>
                  <a:pt x="9007" y="3720"/>
                </a:cubicBezTo>
                <a:cubicBezTo>
                  <a:pt x="8997" y="3722"/>
                  <a:pt x="8988" y="3723"/>
                  <a:pt x="8978" y="3723"/>
                </a:cubicBezTo>
                <a:lnTo>
                  <a:pt x="147" y="3723"/>
                </a:lnTo>
                <a:cubicBezTo>
                  <a:pt x="138" y="3723"/>
                  <a:pt x="128" y="3722"/>
                  <a:pt x="119" y="3720"/>
                </a:cubicBezTo>
                <a:cubicBezTo>
                  <a:pt x="109" y="3718"/>
                  <a:pt x="100" y="3716"/>
                  <a:pt x="91" y="3712"/>
                </a:cubicBezTo>
                <a:cubicBezTo>
                  <a:pt x="83" y="3708"/>
                  <a:pt x="74" y="3704"/>
                  <a:pt x="66" y="3699"/>
                </a:cubicBezTo>
                <a:cubicBezTo>
                  <a:pt x="58" y="3693"/>
                  <a:pt x="51" y="3687"/>
                  <a:pt x="44" y="3680"/>
                </a:cubicBezTo>
                <a:cubicBezTo>
                  <a:pt x="37" y="3674"/>
                  <a:pt x="30" y="3666"/>
                  <a:pt x="25" y="3658"/>
                </a:cubicBezTo>
                <a:cubicBezTo>
                  <a:pt x="20" y="3650"/>
                  <a:pt x="15" y="3642"/>
                  <a:pt x="11" y="3633"/>
                </a:cubicBezTo>
                <a:cubicBezTo>
                  <a:pt x="8" y="3624"/>
                  <a:pt x="5" y="3615"/>
                  <a:pt x="3" y="3606"/>
                </a:cubicBezTo>
                <a:cubicBezTo>
                  <a:pt x="1" y="3596"/>
                  <a:pt x="0" y="3587"/>
                  <a:pt x="0" y="3577"/>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337" name="" descr=""/>
          <p:cNvPicPr/>
          <p:nvPr/>
        </p:nvPicPr>
        <p:blipFill>
          <a:blip r:embed="rId14"/>
          <a:stretch/>
        </p:blipFill>
        <p:spPr>
          <a:xfrm>
            <a:off x="5018400" y="2113200"/>
            <a:ext cx="91440" cy="117720"/>
          </a:xfrm>
          <a:prstGeom prst="rect">
            <a:avLst/>
          </a:prstGeom>
          <a:noFill/>
          <a:ln w="0">
            <a:noFill/>
          </a:ln>
        </p:spPr>
      </p:pic>
      <p:sp>
        <p:nvSpPr>
          <p:cNvPr id="338" name=""/>
          <p:cNvSpPr txBox="1"/>
          <p:nvPr/>
        </p:nvSpPr>
        <p:spPr>
          <a:xfrm>
            <a:off x="6051960" y="1669680"/>
            <a:ext cx="119160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術前・術中・術後の検査費用</a:t>
            </a:r>
            <a:endParaRPr b="0" lang="en-US" sz="730" strike="noStrike" u="none">
              <a:solidFill>
                <a:srgbClr val="000000"/>
              </a:solidFill>
              <a:effectLst/>
              <a:uFillTx/>
              <a:latin typeface="Times New Roman"/>
            </a:endParaRPr>
          </a:p>
        </p:txBody>
      </p:sp>
      <p:pic>
        <p:nvPicPr>
          <p:cNvPr id="339" name="" descr=""/>
          <p:cNvPicPr/>
          <p:nvPr/>
        </p:nvPicPr>
        <p:blipFill>
          <a:blip r:embed="rId15"/>
          <a:stretch/>
        </p:blipFill>
        <p:spPr>
          <a:xfrm>
            <a:off x="5018400" y="2342880"/>
            <a:ext cx="78480" cy="91440"/>
          </a:xfrm>
          <a:prstGeom prst="rect">
            <a:avLst/>
          </a:prstGeom>
          <a:noFill/>
          <a:ln w="0">
            <a:noFill/>
          </a:ln>
        </p:spPr>
      </p:pic>
      <p:sp>
        <p:nvSpPr>
          <p:cNvPr id="340" name=""/>
          <p:cNvSpPr txBox="1"/>
          <p:nvPr/>
        </p:nvSpPr>
        <p:spPr>
          <a:xfrm>
            <a:off x="5164200" y="2097720"/>
            <a:ext cx="1431000" cy="148320"/>
          </a:xfrm>
          <a:prstGeom prst="rect">
            <a:avLst/>
          </a:prstGeom>
          <a:noFill/>
          <a:ln w="0">
            <a:noFill/>
          </a:ln>
        </p:spPr>
        <p:txBody>
          <a:bodyPr wrap="none" lIns="0" rIns="0" tIns="0" bIns="0" anchor="t">
            <a:spAutoFit/>
          </a:bodyPr>
          <a:p>
            <a:r>
              <a:rPr b="0" lang="zh-CN" sz="930" strike="noStrike" u="none">
                <a:solidFill>
                  <a:srgbClr val="000000"/>
                </a:solidFill>
                <a:effectLst/>
                <a:uFillTx/>
                <a:latin typeface="WenQuanYiZenHei"/>
                <a:ea typeface="WenQuanYiZenHei"/>
              </a:rPr>
              <a:t>保険点数アップのポイント</a:t>
            </a:r>
            <a:endParaRPr b="0" lang="en-US" sz="930" strike="noStrike" u="none">
              <a:solidFill>
                <a:srgbClr val="000000"/>
              </a:solidFill>
              <a:effectLst/>
              <a:uFillTx/>
              <a:latin typeface="Times New Roman"/>
            </a:endParaRPr>
          </a:p>
        </p:txBody>
      </p:sp>
      <p:pic>
        <p:nvPicPr>
          <p:cNvPr id="341" name="" descr=""/>
          <p:cNvPicPr/>
          <p:nvPr/>
        </p:nvPicPr>
        <p:blipFill>
          <a:blip r:embed="rId16"/>
          <a:stretch/>
        </p:blipFill>
        <p:spPr>
          <a:xfrm>
            <a:off x="5018400" y="2500560"/>
            <a:ext cx="78480" cy="91440"/>
          </a:xfrm>
          <a:prstGeom prst="rect">
            <a:avLst/>
          </a:prstGeom>
          <a:noFill/>
          <a:ln w="0">
            <a:noFill/>
          </a:ln>
        </p:spPr>
      </p:pic>
      <p:sp>
        <p:nvSpPr>
          <p:cNvPr id="342" name=""/>
          <p:cNvSpPr txBox="1"/>
          <p:nvPr/>
        </p:nvSpPr>
        <p:spPr>
          <a:xfrm>
            <a:off x="5150880" y="2326680"/>
            <a:ext cx="147240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正確な術前診断と適切な術式の選択</a:t>
            </a:r>
            <a:endParaRPr b="0" lang="en-US" sz="730" strike="noStrike" u="none">
              <a:solidFill>
                <a:srgbClr val="000000"/>
              </a:solidFill>
              <a:effectLst/>
              <a:uFillTx/>
              <a:latin typeface="Times New Roman"/>
            </a:endParaRPr>
          </a:p>
        </p:txBody>
      </p:sp>
      <p:pic>
        <p:nvPicPr>
          <p:cNvPr id="343" name="" descr=""/>
          <p:cNvPicPr/>
          <p:nvPr/>
        </p:nvPicPr>
        <p:blipFill>
          <a:blip r:embed="rId17"/>
          <a:stretch/>
        </p:blipFill>
        <p:spPr>
          <a:xfrm>
            <a:off x="5018400" y="2658240"/>
            <a:ext cx="78480" cy="91440"/>
          </a:xfrm>
          <a:prstGeom prst="rect">
            <a:avLst/>
          </a:prstGeom>
          <a:noFill/>
          <a:ln w="0">
            <a:noFill/>
          </a:ln>
        </p:spPr>
      </p:pic>
      <p:sp>
        <p:nvSpPr>
          <p:cNvPr id="344" name=""/>
          <p:cNvSpPr txBox="1"/>
          <p:nvPr/>
        </p:nvSpPr>
        <p:spPr>
          <a:xfrm>
            <a:off x="5150880" y="2484360"/>
            <a:ext cx="229968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手術記録の正確かつ詳細な記載（使用材料・時間など）</a:t>
            </a:r>
            <a:endParaRPr b="0" lang="en-US" sz="730" strike="noStrike" u="none">
              <a:solidFill>
                <a:srgbClr val="000000"/>
              </a:solidFill>
              <a:effectLst/>
              <a:uFillTx/>
              <a:latin typeface="Times New Roman"/>
            </a:endParaRPr>
          </a:p>
        </p:txBody>
      </p:sp>
      <p:sp>
        <p:nvSpPr>
          <p:cNvPr id="345" name=""/>
          <p:cNvSpPr txBox="1"/>
          <p:nvPr/>
        </p:nvSpPr>
        <p:spPr>
          <a:xfrm>
            <a:off x="5150880" y="2642040"/>
            <a:ext cx="276552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算定可能な加算の漏れ防止（麻酔管理料、神経モニタリング加算な</a:t>
            </a:r>
            <a:endParaRPr b="0" lang="en-US" sz="730" strike="noStrike" u="none">
              <a:solidFill>
                <a:srgbClr val="000000"/>
              </a:solidFill>
              <a:effectLst/>
              <a:uFillTx/>
              <a:latin typeface="Times New Roman"/>
            </a:endParaRPr>
          </a:p>
        </p:txBody>
      </p:sp>
      <p:pic>
        <p:nvPicPr>
          <p:cNvPr id="346" name="" descr=""/>
          <p:cNvPicPr/>
          <p:nvPr/>
        </p:nvPicPr>
        <p:blipFill>
          <a:blip r:embed="rId18"/>
          <a:stretch/>
        </p:blipFill>
        <p:spPr>
          <a:xfrm>
            <a:off x="5018400" y="2947320"/>
            <a:ext cx="78480" cy="91440"/>
          </a:xfrm>
          <a:prstGeom prst="rect">
            <a:avLst/>
          </a:prstGeom>
          <a:noFill/>
          <a:ln w="0">
            <a:noFill/>
          </a:ln>
        </p:spPr>
      </p:pic>
      <p:sp>
        <p:nvSpPr>
          <p:cNvPr id="347" name=""/>
          <p:cNvSpPr txBox="1"/>
          <p:nvPr/>
        </p:nvSpPr>
        <p:spPr>
          <a:xfrm>
            <a:off x="5150880" y="2773440"/>
            <a:ext cx="18576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ど）</a:t>
            </a:r>
            <a:endParaRPr b="0" lang="en-US" sz="730" strike="noStrike" u="none">
              <a:solidFill>
                <a:srgbClr val="000000"/>
              </a:solidFill>
              <a:effectLst/>
              <a:uFillTx/>
              <a:latin typeface="Times New Roman"/>
            </a:endParaRPr>
          </a:p>
        </p:txBody>
      </p:sp>
      <p:pic>
        <p:nvPicPr>
          <p:cNvPr id="348" name="" descr=""/>
          <p:cNvPicPr/>
          <p:nvPr/>
        </p:nvPicPr>
        <p:blipFill>
          <a:blip r:embed="rId19"/>
          <a:stretch/>
        </p:blipFill>
        <p:spPr>
          <a:xfrm>
            <a:off x="5018400" y="3105000"/>
            <a:ext cx="78480" cy="91440"/>
          </a:xfrm>
          <a:prstGeom prst="rect">
            <a:avLst/>
          </a:prstGeom>
          <a:noFill/>
          <a:ln w="0">
            <a:noFill/>
          </a:ln>
        </p:spPr>
      </p:pic>
      <p:sp>
        <p:nvSpPr>
          <p:cNvPr id="349" name=""/>
          <p:cNvSpPr txBox="1"/>
          <p:nvPr/>
        </p:nvSpPr>
        <p:spPr>
          <a:xfrm>
            <a:off x="5150880" y="2931120"/>
            <a:ext cx="156168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特定保険医療材料の適切な管理と請求</a:t>
            </a:r>
            <a:endParaRPr b="0" lang="en-US" sz="730" strike="noStrike" u="none">
              <a:solidFill>
                <a:srgbClr val="000000"/>
              </a:solidFill>
              <a:effectLst/>
              <a:uFillTx/>
              <a:latin typeface="Times New Roman"/>
            </a:endParaRPr>
          </a:p>
        </p:txBody>
      </p:sp>
      <p:sp>
        <p:nvSpPr>
          <p:cNvPr id="350" name=""/>
          <p:cNvSpPr txBox="1"/>
          <p:nvPr/>
        </p:nvSpPr>
        <p:spPr>
          <a:xfrm>
            <a:off x="5150880" y="3088800"/>
            <a:ext cx="146808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術後合併症の予防と早期発見・対応</a:t>
            </a:r>
            <a:endParaRPr b="0" lang="en-US" sz="73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1" name="" descr=""/>
          <p:cNvPicPr/>
          <p:nvPr/>
        </p:nvPicPr>
        <p:blipFill>
          <a:blip r:embed="rId1"/>
          <a:stretch/>
        </p:blipFill>
        <p:spPr>
          <a:xfrm>
            <a:off x="0" y="57240"/>
            <a:ext cx="8407440" cy="4728960"/>
          </a:xfrm>
          <a:prstGeom prst="rect">
            <a:avLst/>
          </a:prstGeom>
          <a:noFill/>
          <a:ln w="0">
            <a:noFill/>
          </a:ln>
        </p:spPr>
      </p:pic>
      <p:pic>
        <p:nvPicPr>
          <p:cNvPr id="352" name="" descr=""/>
          <p:cNvPicPr/>
          <p:nvPr/>
        </p:nvPicPr>
        <p:blipFill>
          <a:blip r:embed="rId2"/>
          <a:stretch/>
        </p:blipFill>
        <p:spPr>
          <a:xfrm>
            <a:off x="6108840" y="-928080"/>
            <a:ext cx="3283920" cy="3283920"/>
          </a:xfrm>
          <a:prstGeom prst="rect">
            <a:avLst/>
          </a:prstGeom>
          <a:noFill/>
          <a:ln w="0">
            <a:noFill/>
          </a:ln>
        </p:spPr>
      </p:pic>
      <p:pic>
        <p:nvPicPr>
          <p:cNvPr id="353" name="" descr=""/>
          <p:cNvPicPr/>
          <p:nvPr/>
        </p:nvPicPr>
        <p:blipFill>
          <a:blip r:embed="rId3"/>
          <a:stretch/>
        </p:blipFill>
        <p:spPr>
          <a:xfrm>
            <a:off x="-657000" y="3144240"/>
            <a:ext cx="2298600" cy="2298600"/>
          </a:xfrm>
          <a:prstGeom prst="rect">
            <a:avLst/>
          </a:prstGeom>
          <a:noFill/>
          <a:ln w="0">
            <a:noFill/>
          </a:ln>
        </p:spPr>
      </p:pic>
      <p:pic>
        <p:nvPicPr>
          <p:cNvPr id="354" name="" descr=""/>
          <p:cNvPicPr/>
          <p:nvPr/>
        </p:nvPicPr>
        <p:blipFill>
          <a:blip r:embed="rId4"/>
          <a:stretch/>
        </p:blipFill>
        <p:spPr>
          <a:xfrm>
            <a:off x="6634080" y="4622400"/>
            <a:ext cx="117720" cy="91440"/>
          </a:xfrm>
          <a:prstGeom prst="rect">
            <a:avLst/>
          </a:prstGeom>
          <a:noFill/>
          <a:ln w="0">
            <a:noFill/>
          </a:ln>
        </p:spPr>
      </p:pic>
      <p:sp>
        <p:nvSpPr>
          <p:cNvPr id="355" name=""/>
          <p:cNvSpPr txBox="1"/>
          <p:nvPr/>
        </p:nvSpPr>
        <p:spPr>
          <a:xfrm>
            <a:off x="6807960" y="4612680"/>
            <a:ext cx="366480" cy="116280"/>
          </a:xfrm>
          <a:prstGeom prst="rect">
            <a:avLst/>
          </a:prstGeom>
          <a:noFill/>
          <a:ln w="0">
            <a:noFill/>
          </a:ln>
        </p:spPr>
        <p:txBody>
          <a:bodyPr wrap="none" lIns="0" rIns="0" tIns="0" bIns="0" anchor="t">
            <a:spAutoFit/>
          </a:bodyPr>
          <a:p>
            <a:r>
              <a:rPr b="0" lang="zh-CN" sz="730" strike="noStrike" u="none">
                <a:solidFill>
                  <a:srgbClr val="6b7280"/>
                </a:solidFill>
                <a:effectLst/>
                <a:uFillTx/>
                <a:latin typeface="WenQuanYiZenHei"/>
                <a:ea typeface="WenQuanYiZenHei"/>
              </a:rPr>
              <a:t>東和病院</a:t>
            </a:r>
            <a:endParaRPr b="0" lang="en-US" sz="730" strike="noStrike" u="none">
              <a:solidFill>
                <a:srgbClr val="000000"/>
              </a:solidFill>
              <a:effectLst/>
              <a:uFillTx/>
              <a:latin typeface="Times New Roman"/>
            </a:endParaRPr>
          </a:p>
        </p:txBody>
      </p:sp>
      <p:sp>
        <p:nvSpPr>
          <p:cNvPr id="356" name=""/>
          <p:cNvSpPr txBox="1"/>
          <p:nvPr/>
        </p:nvSpPr>
        <p:spPr>
          <a:xfrm>
            <a:off x="7175880" y="4615560"/>
            <a:ext cx="91440" cy="106920"/>
          </a:xfrm>
          <a:prstGeom prst="rect">
            <a:avLst/>
          </a:prstGeom>
          <a:noFill/>
          <a:ln w="0">
            <a:noFill/>
          </a:ln>
        </p:spPr>
        <p:txBody>
          <a:bodyPr wrap="none" lIns="0" rIns="0" tIns="0" bIns="0" anchor="t">
            <a:spAutoFit/>
          </a:bodyPr>
          <a:p>
            <a:r>
              <a:rPr b="0" lang="en-US" sz="730" strike="noStrike" u="none">
                <a:solidFill>
                  <a:srgbClr val="6b7280"/>
                </a:solidFill>
                <a:effectLst/>
                <a:uFillTx/>
                <a:latin typeface="DejaVuSans"/>
                <a:ea typeface="DejaVuSans"/>
              </a:rPr>
              <a:t> </a:t>
            </a:r>
            <a:endParaRPr b="0" lang="en-US" sz="730" strike="noStrike" u="none">
              <a:solidFill>
                <a:srgbClr val="000000"/>
              </a:solidFill>
              <a:effectLst/>
              <a:uFillTx/>
              <a:latin typeface="Times New Roman"/>
            </a:endParaRPr>
          </a:p>
        </p:txBody>
      </p:sp>
      <p:sp>
        <p:nvSpPr>
          <p:cNvPr id="357" name=""/>
          <p:cNvSpPr txBox="1"/>
          <p:nvPr/>
        </p:nvSpPr>
        <p:spPr>
          <a:xfrm>
            <a:off x="7205040" y="4612680"/>
            <a:ext cx="640800" cy="116280"/>
          </a:xfrm>
          <a:prstGeom prst="rect">
            <a:avLst/>
          </a:prstGeom>
          <a:noFill/>
          <a:ln w="0">
            <a:noFill/>
          </a:ln>
        </p:spPr>
        <p:txBody>
          <a:bodyPr wrap="none" lIns="0" rIns="0" tIns="0" bIns="0" anchor="t">
            <a:spAutoFit/>
          </a:bodyPr>
          <a:p>
            <a:r>
              <a:rPr b="0" lang="zh-CN" sz="730" strike="noStrike" u="none">
                <a:solidFill>
                  <a:srgbClr val="6b7280"/>
                </a:solidFill>
                <a:effectLst/>
                <a:uFillTx/>
                <a:latin typeface="WenQuanYiZenHei"/>
                <a:ea typeface="WenQuanYiZenHei"/>
              </a:rPr>
              <a:t>保険点数勉強会</a:t>
            </a:r>
            <a:endParaRPr b="0" lang="en-US" sz="730" strike="noStrike" u="none">
              <a:solidFill>
                <a:srgbClr val="000000"/>
              </a:solidFill>
              <a:effectLst/>
              <a:uFillTx/>
              <a:latin typeface="Times New Roman"/>
            </a:endParaRPr>
          </a:p>
        </p:txBody>
      </p:sp>
      <p:sp>
        <p:nvSpPr>
          <p:cNvPr id="358" name=""/>
          <p:cNvSpPr txBox="1"/>
          <p:nvPr/>
        </p:nvSpPr>
        <p:spPr>
          <a:xfrm>
            <a:off x="7901640" y="4615560"/>
            <a:ext cx="91440" cy="106920"/>
          </a:xfrm>
          <a:prstGeom prst="rect">
            <a:avLst/>
          </a:prstGeom>
          <a:noFill/>
          <a:ln w="0">
            <a:noFill/>
          </a:ln>
        </p:spPr>
        <p:txBody>
          <a:bodyPr wrap="none" lIns="0" rIns="0" tIns="0" bIns="0" anchor="t">
            <a:spAutoFit/>
          </a:bodyPr>
          <a:p>
            <a:r>
              <a:rPr b="0" lang="en-US" sz="730" strike="noStrike" u="none">
                <a:solidFill>
                  <a:srgbClr val="6b7280"/>
                </a:solidFill>
                <a:effectLst/>
                <a:uFillTx/>
                <a:latin typeface="DejaVuSans"/>
                <a:ea typeface="DejaVuSans"/>
              </a:rPr>
              <a:t>|</a:t>
            </a:r>
            <a:endParaRPr b="0" lang="en-US" sz="730" strike="noStrike" u="none">
              <a:solidFill>
                <a:srgbClr val="000000"/>
              </a:solidFill>
              <a:effectLst/>
              <a:uFillTx/>
              <a:latin typeface="Times New Roman"/>
            </a:endParaRPr>
          </a:p>
        </p:txBody>
      </p:sp>
      <p:pic>
        <p:nvPicPr>
          <p:cNvPr id="359" name="" descr=""/>
          <p:cNvPicPr/>
          <p:nvPr/>
        </p:nvPicPr>
        <p:blipFill>
          <a:blip r:embed="rId5"/>
          <a:stretch/>
        </p:blipFill>
        <p:spPr>
          <a:xfrm>
            <a:off x="157680" y="477360"/>
            <a:ext cx="525240" cy="25920"/>
          </a:xfrm>
          <a:prstGeom prst="rect">
            <a:avLst/>
          </a:prstGeom>
          <a:noFill/>
          <a:ln w="0">
            <a:noFill/>
          </a:ln>
        </p:spPr>
      </p:pic>
      <p:sp>
        <p:nvSpPr>
          <p:cNvPr id="360" name=""/>
          <p:cNvSpPr txBox="1"/>
          <p:nvPr/>
        </p:nvSpPr>
        <p:spPr>
          <a:xfrm>
            <a:off x="7985160" y="4615560"/>
            <a:ext cx="264240" cy="106920"/>
          </a:xfrm>
          <a:prstGeom prst="rect">
            <a:avLst/>
          </a:prstGeom>
          <a:noFill/>
          <a:ln w="0">
            <a:noFill/>
          </a:ln>
        </p:spPr>
        <p:txBody>
          <a:bodyPr wrap="none" lIns="0" rIns="0" tIns="0" bIns="0" anchor="t">
            <a:spAutoFit/>
          </a:bodyPr>
          <a:p>
            <a:r>
              <a:rPr b="0" lang="en-US" sz="730" strike="noStrike" u="none">
                <a:solidFill>
                  <a:srgbClr val="6b7280"/>
                </a:solidFill>
                <a:effectLst/>
                <a:uFillTx/>
                <a:latin typeface="DejaVuSans"/>
                <a:ea typeface="DejaVuSans"/>
              </a:rPr>
              <a:t>6 / 15</a:t>
            </a:r>
            <a:endParaRPr b="0" lang="en-US" sz="730" strike="noStrike" u="none">
              <a:solidFill>
                <a:srgbClr val="000000"/>
              </a:solidFill>
              <a:effectLst/>
              <a:uFillTx/>
              <a:latin typeface="Times New Roman"/>
            </a:endParaRPr>
          </a:p>
        </p:txBody>
      </p:sp>
      <p:sp>
        <p:nvSpPr>
          <p:cNvPr id="361" name=""/>
          <p:cNvSpPr txBox="1"/>
          <p:nvPr/>
        </p:nvSpPr>
        <p:spPr>
          <a:xfrm>
            <a:off x="157680" y="208800"/>
            <a:ext cx="1774800" cy="247320"/>
          </a:xfrm>
          <a:prstGeom prst="rect">
            <a:avLst/>
          </a:prstGeom>
          <a:noFill/>
          <a:ln w="0">
            <a:noFill/>
          </a:ln>
        </p:spPr>
        <p:txBody>
          <a:bodyPr wrap="none" lIns="0" rIns="0" tIns="0" bIns="0" anchor="t">
            <a:spAutoFit/>
          </a:bodyPr>
          <a:p>
            <a:r>
              <a:rPr b="0" lang="zh-CN" sz="1550" strike="noStrike" u="none">
                <a:solidFill>
                  <a:srgbClr val="1e40af"/>
                </a:solidFill>
                <a:effectLst/>
                <a:uFillTx/>
                <a:latin typeface="WenQuanYiZenHei"/>
                <a:ea typeface="WenQuanYiZenHei"/>
              </a:rPr>
              <a:t>整形外科の保険点数</a:t>
            </a:r>
            <a:endParaRPr b="0" lang="en-US" sz="1550" strike="noStrike" u="none">
              <a:solidFill>
                <a:srgbClr val="000000"/>
              </a:solidFill>
              <a:effectLst/>
              <a:uFillTx/>
              <a:latin typeface="Times New Roman"/>
            </a:endParaRPr>
          </a:p>
        </p:txBody>
      </p:sp>
      <p:sp>
        <p:nvSpPr>
          <p:cNvPr id="362" name=""/>
          <p:cNvSpPr txBox="1"/>
          <p:nvPr/>
        </p:nvSpPr>
        <p:spPr>
          <a:xfrm>
            <a:off x="1937880" y="216000"/>
            <a:ext cx="314280" cy="228960"/>
          </a:xfrm>
          <a:prstGeom prst="rect">
            <a:avLst/>
          </a:prstGeom>
          <a:noFill/>
          <a:ln w="0">
            <a:noFill/>
          </a:ln>
        </p:spPr>
        <p:txBody>
          <a:bodyPr wrap="none" lIns="0" rIns="0" tIns="0" bIns="0" anchor="t">
            <a:spAutoFit/>
          </a:bodyPr>
          <a:p>
            <a:r>
              <a:rPr b="1" lang="en-US" sz="1550" strike="noStrike" u="none">
                <a:solidFill>
                  <a:srgbClr val="1e40af"/>
                </a:solidFill>
                <a:effectLst/>
                <a:uFillTx/>
                <a:latin typeface="DejaVuSans"/>
                <a:ea typeface="DejaVuSans"/>
              </a:rPr>
              <a:t>②: </a:t>
            </a:r>
            <a:endParaRPr b="0" lang="en-US" sz="1550" strike="noStrike" u="none">
              <a:solidFill>
                <a:srgbClr val="000000"/>
              </a:solidFill>
              <a:effectLst/>
              <a:uFillTx/>
              <a:latin typeface="Times New Roman"/>
            </a:endParaRPr>
          </a:p>
        </p:txBody>
      </p:sp>
      <p:sp>
        <p:nvSpPr>
          <p:cNvPr id="363" name=""/>
          <p:cNvSpPr/>
          <p:nvPr/>
        </p:nvSpPr>
        <p:spPr>
          <a:xfrm>
            <a:off x="170640" y="582480"/>
            <a:ext cx="3980880" cy="1130040"/>
          </a:xfrm>
          <a:custGeom>
            <a:avLst/>
            <a:gdLst/>
            <a:ahLst/>
            <a:rect l="0" t="0" r="r" b="b"/>
            <a:pathLst>
              <a:path w="11058" h="3139">
                <a:moveTo>
                  <a:pt x="0" y="2992"/>
                </a:moveTo>
                <a:lnTo>
                  <a:pt x="0" y="146"/>
                </a:lnTo>
                <a:cubicBezTo>
                  <a:pt x="0" y="127"/>
                  <a:pt x="3" y="108"/>
                  <a:pt x="8" y="90"/>
                </a:cubicBezTo>
                <a:cubicBezTo>
                  <a:pt x="14" y="72"/>
                  <a:pt x="22" y="56"/>
                  <a:pt x="32" y="43"/>
                </a:cubicBezTo>
                <a:cubicBezTo>
                  <a:pt x="42" y="29"/>
                  <a:pt x="54" y="18"/>
                  <a:pt x="67" y="11"/>
                </a:cubicBezTo>
                <a:cubicBezTo>
                  <a:pt x="81" y="4"/>
                  <a:pt x="95" y="0"/>
                  <a:pt x="109" y="0"/>
                </a:cubicBezTo>
                <a:lnTo>
                  <a:pt x="10912" y="0"/>
                </a:lnTo>
                <a:cubicBezTo>
                  <a:pt x="10921" y="0"/>
                  <a:pt x="10931" y="1"/>
                  <a:pt x="10940" y="3"/>
                </a:cubicBezTo>
                <a:cubicBezTo>
                  <a:pt x="10950" y="5"/>
                  <a:pt x="10959" y="7"/>
                  <a:pt x="10968" y="11"/>
                </a:cubicBezTo>
                <a:cubicBezTo>
                  <a:pt x="10977" y="15"/>
                  <a:pt x="10985" y="19"/>
                  <a:pt x="10993" y="25"/>
                </a:cubicBezTo>
                <a:cubicBezTo>
                  <a:pt x="11001" y="30"/>
                  <a:pt x="11008" y="36"/>
                  <a:pt x="11015" y="43"/>
                </a:cubicBezTo>
                <a:cubicBezTo>
                  <a:pt x="11022" y="49"/>
                  <a:pt x="11028" y="57"/>
                  <a:pt x="11033" y="65"/>
                </a:cubicBezTo>
                <a:cubicBezTo>
                  <a:pt x="11039" y="73"/>
                  <a:pt x="11043" y="81"/>
                  <a:pt x="11047" y="90"/>
                </a:cubicBezTo>
                <a:cubicBezTo>
                  <a:pt x="11050" y="99"/>
                  <a:pt x="11053" y="108"/>
                  <a:pt x="11055" y="117"/>
                </a:cubicBezTo>
                <a:cubicBezTo>
                  <a:pt x="11057" y="127"/>
                  <a:pt x="11058" y="136"/>
                  <a:pt x="11058" y="146"/>
                </a:cubicBezTo>
                <a:lnTo>
                  <a:pt x="11058" y="2992"/>
                </a:lnTo>
                <a:cubicBezTo>
                  <a:pt x="11058" y="3002"/>
                  <a:pt x="11057" y="3011"/>
                  <a:pt x="11055" y="3021"/>
                </a:cubicBezTo>
                <a:cubicBezTo>
                  <a:pt x="11053" y="3030"/>
                  <a:pt x="11050" y="3039"/>
                  <a:pt x="11047" y="3048"/>
                </a:cubicBezTo>
                <a:cubicBezTo>
                  <a:pt x="11043" y="3057"/>
                  <a:pt x="11039" y="3065"/>
                  <a:pt x="11033" y="3073"/>
                </a:cubicBezTo>
                <a:cubicBezTo>
                  <a:pt x="11028" y="3081"/>
                  <a:pt x="11022" y="3090"/>
                  <a:pt x="11015" y="3096"/>
                </a:cubicBezTo>
                <a:cubicBezTo>
                  <a:pt x="11008" y="3103"/>
                  <a:pt x="11001" y="3109"/>
                  <a:pt x="10993" y="3115"/>
                </a:cubicBezTo>
                <a:cubicBezTo>
                  <a:pt x="10985" y="3120"/>
                  <a:pt x="10977" y="3124"/>
                  <a:pt x="10968" y="3128"/>
                </a:cubicBezTo>
                <a:cubicBezTo>
                  <a:pt x="10959" y="3132"/>
                  <a:pt x="10950" y="3135"/>
                  <a:pt x="10940" y="3136"/>
                </a:cubicBezTo>
                <a:cubicBezTo>
                  <a:pt x="10931" y="3138"/>
                  <a:pt x="10921" y="3139"/>
                  <a:pt x="10912" y="3139"/>
                </a:cubicBezTo>
                <a:lnTo>
                  <a:pt x="109" y="3139"/>
                </a:lnTo>
                <a:cubicBezTo>
                  <a:pt x="95" y="3139"/>
                  <a:pt x="81" y="3135"/>
                  <a:pt x="67" y="3128"/>
                </a:cubicBezTo>
                <a:cubicBezTo>
                  <a:pt x="54" y="3121"/>
                  <a:pt x="42" y="3110"/>
                  <a:pt x="32" y="3096"/>
                </a:cubicBezTo>
                <a:cubicBezTo>
                  <a:pt x="22" y="3082"/>
                  <a:pt x="14" y="3066"/>
                  <a:pt x="8" y="3048"/>
                </a:cubicBezTo>
                <a:cubicBezTo>
                  <a:pt x="3" y="3030"/>
                  <a:pt x="0" y="3012"/>
                  <a:pt x="0" y="2992"/>
                </a:cubicBezTo>
                <a:close/>
              </a:path>
            </a:pathLst>
          </a:custGeom>
          <a:solidFill>
            <a:srgbClr val="ffffff">
              <a:alpha val="8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64" name=""/>
          <p:cNvSpPr/>
          <p:nvPr/>
        </p:nvSpPr>
        <p:spPr>
          <a:xfrm>
            <a:off x="157320" y="582480"/>
            <a:ext cx="52920" cy="1130040"/>
          </a:xfrm>
          <a:custGeom>
            <a:avLst/>
            <a:gdLst/>
            <a:ahLst/>
            <a:rect l="0" t="0" r="r" b="b"/>
            <a:pathLst>
              <a:path w="147" h="3139">
                <a:moveTo>
                  <a:pt x="0" y="0"/>
                </a:moveTo>
                <a:lnTo>
                  <a:pt x="147" y="0"/>
                </a:lnTo>
                <a:lnTo>
                  <a:pt x="147" y="3139"/>
                </a:lnTo>
                <a:lnTo>
                  <a:pt x="0" y="3139"/>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365" name=""/>
          <p:cNvSpPr/>
          <p:nvPr/>
        </p:nvSpPr>
        <p:spPr>
          <a:xfrm>
            <a:off x="170640" y="1817280"/>
            <a:ext cx="3980880" cy="972360"/>
          </a:xfrm>
          <a:custGeom>
            <a:avLst/>
            <a:gdLst/>
            <a:ahLst/>
            <a:rect l="0" t="0" r="r" b="b"/>
            <a:pathLst>
              <a:path w="11058" h="2701">
                <a:moveTo>
                  <a:pt x="0" y="2556"/>
                </a:moveTo>
                <a:lnTo>
                  <a:pt x="0" y="146"/>
                </a:lnTo>
                <a:cubicBezTo>
                  <a:pt x="0" y="127"/>
                  <a:pt x="3" y="108"/>
                  <a:pt x="8" y="90"/>
                </a:cubicBezTo>
                <a:cubicBezTo>
                  <a:pt x="14" y="72"/>
                  <a:pt x="22" y="57"/>
                  <a:pt x="32" y="43"/>
                </a:cubicBezTo>
                <a:cubicBezTo>
                  <a:pt x="42" y="29"/>
                  <a:pt x="54" y="19"/>
                  <a:pt x="67" y="11"/>
                </a:cubicBezTo>
                <a:cubicBezTo>
                  <a:pt x="81" y="4"/>
                  <a:pt x="95" y="0"/>
                  <a:pt x="109" y="0"/>
                </a:cubicBezTo>
                <a:lnTo>
                  <a:pt x="10912" y="0"/>
                </a:lnTo>
                <a:cubicBezTo>
                  <a:pt x="10921" y="0"/>
                  <a:pt x="10931" y="1"/>
                  <a:pt x="10940" y="3"/>
                </a:cubicBezTo>
                <a:cubicBezTo>
                  <a:pt x="10950" y="5"/>
                  <a:pt x="10959" y="8"/>
                  <a:pt x="10968" y="11"/>
                </a:cubicBezTo>
                <a:cubicBezTo>
                  <a:pt x="10977" y="15"/>
                  <a:pt x="10985" y="19"/>
                  <a:pt x="10993" y="25"/>
                </a:cubicBezTo>
                <a:cubicBezTo>
                  <a:pt x="11001" y="30"/>
                  <a:pt x="11008" y="36"/>
                  <a:pt x="11015" y="43"/>
                </a:cubicBezTo>
                <a:cubicBezTo>
                  <a:pt x="11022" y="50"/>
                  <a:pt x="11028" y="57"/>
                  <a:pt x="11033" y="65"/>
                </a:cubicBezTo>
                <a:cubicBezTo>
                  <a:pt x="11039" y="73"/>
                  <a:pt x="11043" y="81"/>
                  <a:pt x="11047" y="90"/>
                </a:cubicBezTo>
                <a:cubicBezTo>
                  <a:pt x="11050" y="99"/>
                  <a:pt x="11053" y="108"/>
                  <a:pt x="11055" y="118"/>
                </a:cubicBezTo>
                <a:cubicBezTo>
                  <a:pt x="11057" y="127"/>
                  <a:pt x="11058" y="137"/>
                  <a:pt x="11058" y="146"/>
                </a:cubicBezTo>
                <a:lnTo>
                  <a:pt x="11058" y="2556"/>
                </a:lnTo>
                <a:cubicBezTo>
                  <a:pt x="11058" y="2565"/>
                  <a:pt x="11057" y="2575"/>
                  <a:pt x="11055" y="2584"/>
                </a:cubicBezTo>
                <a:cubicBezTo>
                  <a:pt x="11053" y="2593"/>
                  <a:pt x="11050" y="2603"/>
                  <a:pt x="11047" y="2611"/>
                </a:cubicBezTo>
                <a:cubicBezTo>
                  <a:pt x="11043" y="2620"/>
                  <a:pt x="11039" y="2629"/>
                  <a:pt x="11033" y="2637"/>
                </a:cubicBezTo>
                <a:cubicBezTo>
                  <a:pt x="11028" y="2645"/>
                  <a:pt x="11022" y="2652"/>
                  <a:pt x="11015" y="2659"/>
                </a:cubicBezTo>
                <a:cubicBezTo>
                  <a:pt x="11008" y="2666"/>
                  <a:pt x="11001" y="2672"/>
                  <a:pt x="10993" y="2677"/>
                </a:cubicBezTo>
                <a:cubicBezTo>
                  <a:pt x="10985" y="2682"/>
                  <a:pt x="10977" y="2687"/>
                  <a:pt x="10968" y="2690"/>
                </a:cubicBezTo>
                <a:cubicBezTo>
                  <a:pt x="10959" y="2694"/>
                  <a:pt x="10950" y="2697"/>
                  <a:pt x="10940" y="2699"/>
                </a:cubicBezTo>
                <a:cubicBezTo>
                  <a:pt x="10931" y="2701"/>
                  <a:pt x="10921" y="2701"/>
                  <a:pt x="10912" y="2701"/>
                </a:cubicBezTo>
                <a:lnTo>
                  <a:pt x="109" y="2701"/>
                </a:lnTo>
                <a:cubicBezTo>
                  <a:pt x="95" y="2701"/>
                  <a:pt x="81" y="2698"/>
                  <a:pt x="67" y="2690"/>
                </a:cubicBezTo>
                <a:cubicBezTo>
                  <a:pt x="54" y="2683"/>
                  <a:pt x="42" y="2672"/>
                  <a:pt x="32" y="2659"/>
                </a:cubicBezTo>
                <a:cubicBezTo>
                  <a:pt x="22" y="2645"/>
                  <a:pt x="14" y="2629"/>
                  <a:pt x="8" y="2611"/>
                </a:cubicBezTo>
                <a:cubicBezTo>
                  <a:pt x="3" y="2594"/>
                  <a:pt x="0" y="2575"/>
                  <a:pt x="0" y="2556"/>
                </a:cubicBezTo>
                <a:close/>
              </a:path>
            </a:pathLst>
          </a:custGeom>
          <a:solidFill>
            <a:srgbClr val="ffffff">
              <a:alpha val="8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66" name=""/>
          <p:cNvSpPr/>
          <p:nvPr/>
        </p:nvSpPr>
        <p:spPr>
          <a:xfrm>
            <a:off x="157320" y="1817280"/>
            <a:ext cx="52920" cy="972360"/>
          </a:xfrm>
          <a:custGeom>
            <a:avLst/>
            <a:gdLst/>
            <a:ahLst/>
            <a:rect l="0" t="0" r="r" b="b"/>
            <a:pathLst>
              <a:path w="147" h="2701">
                <a:moveTo>
                  <a:pt x="0" y="0"/>
                </a:moveTo>
                <a:lnTo>
                  <a:pt x="147" y="0"/>
                </a:lnTo>
                <a:lnTo>
                  <a:pt x="147" y="2701"/>
                </a:lnTo>
                <a:lnTo>
                  <a:pt x="0" y="2701"/>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367" name="" descr=""/>
          <p:cNvPicPr/>
          <p:nvPr/>
        </p:nvPicPr>
        <p:blipFill>
          <a:blip r:embed="rId6"/>
          <a:stretch/>
        </p:blipFill>
        <p:spPr>
          <a:xfrm>
            <a:off x="262800" y="681120"/>
            <a:ext cx="196560" cy="157320"/>
          </a:xfrm>
          <a:prstGeom prst="rect">
            <a:avLst/>
          </a:prstGeom>
          <a:noFill/>
          <a:ln w="0">
            <a:noFill/>
          </a:ln>
        </p:spPr>
      </p:pic>
      <p:sp>
        <p:nvSpPr>
          <p:cNvPr id="368" name=""/>
          <p:cNvSpPr txBox="1"/>
          <p:nvPr/>
        </p:nvSpPr>
        <p:spPr>
          <a:xfrm>
            <a:off x="2251800" y="208800"/>
            <a:ext cx="1806840" cy="247320"/>
          </a:xfrm>
          <a:prstGeom prst="rect">
            <a:avLst/>
          </a:prstGeom>
          <a:noFill/>
          <a:ln w="0">
            <a:noFill/>
          </a:ln>
        </p:spPr>
        <p:txBody>
          <a:bodyPr wrap="none" lIns="0" rIns="0" tIns="0" bIns="0" anchor="t">
            <a:spAutoFit/>
          </a:bodyPr>
          <a:p>
            <a:r>
              <a:rPr b="0" lang="zh-CN" sz="1550" strike="noStrike" u="none">
                <a:solidFill>
                  <a:srgbClr val="1e40af"/>
                </a:solidFill>
                <a:effectLst/>
                <a:uFillTx/>
                <a:latin typeface="WenQuanYiZenHei"/>
                <a:ea typeface="WenQuanYiZenHei"/>
              </a:rPr>
              <a:t>リハビリテーション</a:t>
            </a:r>
            <a:endParaRPr b="0" lang="en-US" sz="1550" strike="noStrike" u="none">
              <a:solidFill>
                <a:srgbClr val="000000"/>
              </a:solidFill>
              <a:effectLst/>
              <a:uFillTx/>
              <a:latin typeface="Times New Roman"/>
            </a:endParaRPr>
          </a:p>
        </p:txBody>
      </p:sp>
      <p:pic>
        <p:nvPicPr>
          <p:cNvPr id="369" name="" descr=""/>
          <p:cNvPicPr/>
          <p:nvPr/>
        </p:nvPicPr>
        <p:blipFill>
          <a:blip r:embed="rId7"/>
          <a:stretch/>
        </p:blipFill>
        <p:spPr>
          <a:xfrm>
            <a:off x="538560" y="891360"/>
            <a:ext cx="91440" cy="91440"/>
          </a:xfrm>
          <a:prstGeom prst="rect">
            <a:avLst/>
          </a:prstGeom>
          <a:noFill/>
          <a:ln w="0">
            <a:noFill/>
          </a:ln>
        </p:spPr>
      </p:pic>
      <p:sp>
        <p:nvSpPr>
          <p:cNvPr id="370" name=""/>
          <p:cNvSpPr txBox="1"/>
          <p:nvPr/>
        </p:nvSpPr>
        <p:spPr>
          <a:xfrm>
            <a:off x="538560" y="678960"/>
            <a:ext cx="1902960" cy="148320"/>
          </a:xfrm>
          <a:prstGeom prst="rect">
            <a:avLst/>
          </a:prstGeom>
          <a:noFill/>
          <a:ln w="0">
            <a:noFill/>
          </a:ln>
        </p:spPr>
        <p:txBody>
          <a:bodyPr wrap="none" lIns="0" rIns="0" tIns="0" bIns="0" anchor="t">
            <a:spAutoFit/>
          </a:bodyPr>
          <a:p>
            <a:r>
              <a:rPr b="0" lang="zh-CN" sz="930" strike="noStrike" u="none">
                <a:solidFill>
                  <a:srgbClr val="1d4ed8"/>
                </a:solidFill>
                <a:effectLst/>
                <a:uFillTx/>
                <a:latin typeface="WenQuanYiZenHei"/>
                <a:ea typeface="WenQuanYiZenHei"/>
              </a:rPr>
              <a:t>東和病院のリハビリテーション体制</a:t>
            </a:r>
            <a:endParaRPr b="0" lang="en-US" sz="930" strike="noStrike" u="none">
              <a:solidFill>
                <a:srgbClr val="000000"/>
              </a:solidFill>
              <a:effectLst/>
              <a:uFillTx/>
              <a:latin typeface="Times New Roman"/>
            </a:endParaRPr>
          </a:p>
        </p:txBody>
      </p:sp>
      <p:sp>
        <p:nvSpPr>
          <p:cNvPr id="371" name=""/>
          <p:cNvSpPr txBox="1"/>
          <p:nvPr/>
        </p:nvSpPr>
        <p:spPr>
          <a:xfrm>
            <a:off x="683280" y="881640"/>
            <a:ext cx="120672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運動器リハビリテーション料</a:t>
            </a:r>
            <a:endParaRPr b="0" lang="en-US" sz="730" strike="noStrike" u="none">
              <a:solidFill>
                <a:srgbClr val="000000"/>
              </a:solidFill>
              <a:effectLst/>
              <a:uFillTx/>
              <a:latin typeface="Times New Roman"/>
            </a:endParaRPr>
          </a:p>
        </p:txBody>
      </p:sp>
      <p:sp>
        <p:nvSpPr>
          <p:cNvPr id="372" name=""/>
          <p:cNvSpPr txBox="1"/>
          <p:nvPr/>
        </p:nvSpPr>
        <p:spPr>
          <a:xfrm>
            <a:off x="1878480" y="884880"/>
            <a:ext cx="99000" cy="106920"/>
          </a:xfrm>
          <a:prstGeom prst="rect">
            <a:avLst/>
          </a:prstGeom>
          <a:noFill/>
          <a:ln w="0">
            <a:noFill/>
          </a:ln>
        </p:spPr>
        <p:txBody>
          <a:bodyPr wrap="none" lIns="0" rIns="0" tIns="0" bIns="0" anchor="t">
            <a:spAutoFit/>
          </a:bodyPr>
          <a:p>
            <a:r>
              <a:rPr b="0" lang="en-US" sz="730" strike="noStrike" u="none">
                <a:solidFill>
                  <a:srgbClr val="4b5563"/>
                </a:solidFill>
                <a:effectLst/>
                <a:uFillTx/>
                <a:latin typeface="DejaVuSans"/>
                <a:ea typeface="DejaVuSans"/>
              </a:rPr>
              <a:t>(I)</a:t>
            </a:r>
            <a:endParaRPr b="0" lang="en-US" sz="730" strike="noStrike" u="none">
              <a:solidFill>
                <a:srgbClr val="000000"/>
              </a:solidFill>
              <a:effectLst/>
              <a:uFillTx/>
              <a:latin typeface="Times New Roman"/>
            </a:endParaRPr>
          </a:p>
        </p:txBody>
      </p:sp>
      <p:pic>
        <p:nvPicPr>
          <p:cNvPr id="373" name="" descr=""/>
          <p:cNvPicPr/>
          <p:nvPr/>
        </p:nvPicPr>
        <p:blipFill>
          <a:blip r:embed="rId8"/>
          <a:stretch/>
        </p:blipFill>
        <p:spPr>
          <a:xfrm>
            <a:off x="538560" y="1049040"/>
            <a:ext cx="72000" cy="91440"/>
          </a:xfrm>
          <a:prstGeom prst="rect">
            <a:avLst/>
          </a:prstGeom>
          <a:noFill/>
          <a:ln w="0">
            <a:noFill/>
          </a:ln>
        </p:spPr>
      </p:pic>
      <p:sp>
        <p:nvSpPr>
          <p:cNvPr id="374" name=""/>
          <p:cNvSpPr txBox="1"/>
          <p:nvPr/>
        </p:nvSpPr>
        <p:spPr>
          <a:xfrm>
            <a:off x="1977480" y="881640"/>
            <a:ext cx="64296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の施設基準取得</a:t>
            </a:r>
            <a:endParaRPr b="0" lang="en-US" sz="730" strike="noStrike" u="none">
              <a:solidFill>
                <a:srgbClr val="000000"/>
              </a:solidFill>
              <a:effectLst/>
              <a:uFillTx/>
              <a:latin typeface="Times New Roman"/>
            </a:endParaRPr>
          </a:p>
        </p:txBody>
      </p:sp>
      <p:sp>
        <p:nvSpPr>
          <p:cNvPr id="375" name=""/>
          <p:cNvSpPr txBox="1"/>
          <p:nvPr/>
        </p:nvSpPr>
        <p:spPr>
          <a:xfrm>
            <a:off x="663480" y="1042560"/>
            <a:ext cx="91440" cy="106920"/>
          </a:xfrm>
          <a:prstGeom prst="rect">
            <a:avLst/>
          </a:prstGeom>
          <a:noFill/>
          <a:ln w="0">
            <a:noFill/>
          </a:ln>
        </p:spPr>
        <p:txBody>
          <a:bodyPr wrap="none" lIns="0" rIns="0" tIns="0" bIns="0" anchor="t">
            <a:spAutoFit/>
          </a:bodyPr>
          <a:p>
            <a:r>
              <a:rPr b="0" lang="en-US" sz="730" strike="noStrike" u="none">
                <a:solidFill>
                  <a:srgbClr val="4b5563"/>
                </a:solidFill>
                <a:effectLst/>
                <a:uFillTx/>
                <a:latin typeface="DejaVuSans"/>
                <a:ea typeface="DejaVuSans"/>
              </a:rPr>
              <a:t>1</a:t>
            </a:r>
            <a:endParaRPr b="0" lang="en-US" sz="730" strike="noStrike" u="none">
              <a:solidFill>
                <a:srgbClr val="000000"/>
              </a:solidFill>
              <a:effectLst/>
              <a:uFillTx/>
              <a:latin typeface="Times New Roman"/>
            </a:endParaRPr>
          </a:p>
        </p:txBody>
      </p:sp>
      <p:sp>
        <p:nvSpPr>
          <p:cNvPr id="376" name=""/>
          <p:cNvSpPr txBox="1"/>
          <p:nvPr/>
        </p:nvSpPr>
        <p:spPr>
          <a:xfrm>
            <a:off x="721800" y="1039320"/>
            <a:ext cx="27504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単位（</a:t>
            </a:r>
            <a:endParaRPr b="0" lang="en-US" sz="730" strike="noStrike" u="none">
              <a:solidFill>
                <a:srgbClr val="000000"/>
              </a:solidFill>
              <a:effectLst/>
              <a:uFillTx/>
              <a:latin typeface="Times New Roman"/>
            </a:endParaRPr>
          </a:p>
        </p:txBody>
      </p:sp>
      <p:sp>
        <p:nvSpPr>
          <p:cNvPr id="377" name=""/>
          <p:cNvSpPr txBox="1"/>
          <p:nvPr/>
        </p:nvSpPr>
        <p:spPr>
          <a:xfrm>
            <a:off x="997920" y="1042560"/>
            <a:ext cx="117000" cy="106920"/>
          </a:xfrm>
          <a:prstGeom prst="rect">
            <a:avLst/>
          </a:prstGeom>
          <a:noFill/>
          <a:ln w="0">
            <a:noFill/>
          </a:ln>
        </p:spPr>
        <p:txBody>
          <a:bodyPr wrap="none" lIns="0" rIns="0" tIns="0" bIns="0" anchor="t">
            <a:spAutoFit/>
          </a:bodyPr>
          <a:p>
            <a:r>
              <a:rPr b="0" lang="en-US" sz="730" strike="noStrike" u="none">
                <a:solidFill>
                  <a:srgbClr val="4b5563"/>
                </a:solidFill>
                <a:effectLst/>
                <a:uFillTx/>
                <a:latin typeface="DejaVuSans"/>
                <a:ea typeface="DejaVuSans"/>
              </a:rPr>
              <a:t>20</a:t>
            </a:r>
            <a:endParaRPr b="0" lang="en-US" sz="730" strike="noStrike" u="none">
              <a:solidFill>
                <a:srgbClr val="000000"/>
              </a:solidFill>
              <a:effectLst/>
              <a:uFillTx/>
              <a:latin typeface="Times New Roman"/>
            </a:endParaRPr>
          </a:p>
        </p:txBody>
      </p:sp>
      <p:sp>
        <p:nvSpPr>
          <p:cNvPr id="378" name=""/>
          <p:cNvSpPr txBox="1"/>
          <p:nvPr/>
        </p:nvSpPr>
        <p:spPr>
          <a:xfrm>
            <a:off x="1114920" y="1039320"/>
            <a:ext cx="46440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分）あたり</a:t>
            </a:r>
            <a:endParaRPr b="0" lang="en-US" sz="730" strike="noStrike" u="none">
              <a:solidFill>
                <a:srgbClr val="000000"/>
              </a:solidFill>
              <a:effectLst/>
              <a:uFillTx/>
              <a:latin typeface="Times New Roman"/>
            </a:endParaRPr>
          </a:p>
        </p:txBody>
      </p:sp>
      <p:sp>
        <p:nvSpPr>
          <p:cNvPr id="379" name=""/>
          <p:cNvSpPr txBox="1"/>
          <p:nvPr/>
        </p:nvSpPr>
        <p:spPr>
          <a:xfrm>
            <a:off x="1574640" y="1042560"/>
            <a:ext cx="175320" cy="106920"/>
          </a:xfrm>
          <a:prstGeom prst="rect">
            <a:avLst/>
          </a:prstGeom>
          <a:noFill/>
          <a:ln w="0">
            <a:noFill/>
          </a:ln>
        </p:spPr>
        <p:txBody>
          <a:bodyPr wrap="none" lIns="0" rIns="0" tIns="0" bIns="0" anchor="t">
            <a:spAutoFit/>
          </a:bodyPr>
          <a:p>
            <a:r>
              <a:rPr b="0" lang="en-US" sz="730" strike="noStrike" u="none">
                <a:solidFill>
                  <a:srgbClr val="4b5563"/>
                </a:solidFill>
                <a:effectLst/>
                <a:uFillTx/>
                <a:latin typeface="DejaVuSans"/>
                <a:ea typeface="DejaVuSans"/>
              </a:rPr>
              <a:t>185</a:t>
            </a:r>
            <a:endParaRPr b="0" lang="en-US" sz="730" strike="noStrike" u="none">
              <a:solidFill>
                <a:srgbClr val="000000"/>
              </a:solidFill>
              <a:effectLst/>
              <a:uFillTx/>
              <a:latin typeface="Times New Roman"/>
            </a:endParaRPr>
          </a:p>
        </p:txBody>
      </p:sp>
      <p:pic>
        <p:nvPicPr>
          <p:cNvPr id="380" name="" descr=""/>
          <p:cNvPicPr/>
          <p:nvPr/>
        </p:nvPicPr>
        <p:blipFill>
          <a:blip r:embed="rId9"/>
          <a:stretch/>
        </p:blipFill>
        <p:spPr>
          <a:xfrm>
            <a:off x="538560" y="1206720"/>
            <a:ext cx="91440" cy="91440"/>
          </a:xfrm>
          <a:prstGeom prst="rect">
            <a:avLst/>
          </a:prstGeom>
          <a:noFill/>
          <a:ln w="0">
            <a:noFill/>
          </a:ln>
        </p:spPr>
      </p:pic>
      <p:sp>
        <p:nvSpPr>
          <p:cNvPr id="381" name=""/>
          <p:cNvSpPr txBox="1"/>
          <p:nvPr/>
        </p:nvSpPr>
        <p:spPr>
          <a:xfrm>
            <a:off x="1749960" y="1039320"/>
            <a:ext cx="9216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点</a:t>
            </a:r>
            <a:endParaRPr b="0" lang="en-US" sz="730" strike="noStrike" u="none">
              <a:solidFill>
                <a:srgbClr val="000000"/>
              </a:solidFill>
              <a:effectLst/>
              <a:uFillTx/>
              <a:latin typeface="Times New Roman"/>
            </a:endParaRPr>
          </a:p>
        </p:txBody>
      </p:sp>
      <p:sp>
        <p:nvSpPr>
          <p:cNvPr id="382" name=""/>
          <p:cNvSpPr txBox="1"/>
          <p:nvPr/>
        </p:nvSpPr>
        <p:spPr>
          <a:xfrm>
            <a:off x="683280" y="1200240"/>
            <a:ext cx="91440" cy="106920"/>
          </a:xfrm>
          <a:prstGeom prst="rect">
            <a:avLst/>
          </a:prstGeom>
          <a:noFill/>
          <a:ln w="0">
            <a:noFill/>
          </a:ln>
        </p:spPr>
        <p:txBody>
          <a:bodyPr wrap="none" lIns="0" rIns="0" tIns="0" bIns="0" anchor="t">
            <a:spAutoFit/>
          </a:bodyPr>
          <a:p>
            <a:r>
              <a:rPr b="0" lang="en-US" sz="730" strike="noStrike" u="none">
                <a:solidFill>
                  <a:srgbClr val="4b5563"/>
                </a:solidFill>
                <a:effectLst/>
                <a:uFillTx/>
                <a:latin typeface="DejaVuSans"/>
                <a:ea typeface="DejaVuSans"/>
              </a:rPr>
              <a:t>1</a:t>
            </a:r>
            <a:endParaRPr b="0" lang="en-US" sz="730" strike="noStrike" u="none">
              <a:solidFill>
                <a:srgbClr val="000000"/>
              </a:solidFill>
              <a:effectLst/>
              <a:uFillTx/>
              <a:latin typeface="Times New Roman"/>
            </a:endParaRPr>
          </a:p>
        </p:txBody>
      </p:sp>
      <p:sp>
        <p:nvSpPr>
          <p:cNvPr id="383" name=""/>
          <p:cNvSpPr txBox="1"/>
          <p:nvPr/>
        </p:nvSpPr>
        <p:spPr>
          <a:xfrm>
            <a:off x="741600" y="1197000"/>
            <a:ext cx="110664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日の算定上限：原則として</a:t>
            </a:r>
            <a:endParaRPr b="0" lang="en-US" sz="730" strike="noStrike" u="none">
              <a:solidFill>
                <a:srgbClr val="000000"/>
              </a:solidFill>
              <a:effectLst/>
              <a:uFillTx/>
              <a:latin typeface="Times New Roman"/>
            </a:endParaRPr>
          </a:p>
        </p:txBody>
      </p:sp>
      <p:sp>
        <p:nvSpPr>
          <p:cNvPr id="384" name=""/>
          <p:cNvSpPr txBox="1"/>
          <p:nvPr/>
        </p:nvSpPr>
        <p:spPr>
          <a:xfrm>
            <a:off x="1845000" y="1200240"/>
            <a:ext cx="91440" cy="106920"/>
          </a:xfrm>
          <a:prstGeom prst="rect">
            <a:avLst/>
          </a:prstGeom>
          <a:noFill/>
          <a:ln w="0">
            <a:noFill/>
          </a:ln>
        </p:spPr>
        <p:txBody>
          <a:bodyPr wrap="none" lIns="0" rIns="0" tIns="0" bIns="0" anchor="t">
            <a:spAutoFit/>
          </a:bodyPr>
          <a:p>
            <a:r>
              <a:rPr b="0" lang="en-US" sz="730" strike="noStrike" u="none">
                <a:solidFill>
                  <a:srgbClr val="4b5563"/>
                </a:solidFill>
                <a:effectLst/>
                <a:uFillTx/>
                <a:latin typeface="DejaVuSans"/>
                <a:ea typeface="DejaVuSans"/>
              </a:rPr>
              <a:t>9</a:t>
            </a:r>
            <a:endParaRPr b="0" lang="en-US" sz="730" strike="noStrike" u="none">
              <a:solidFill>
                <a:srgbClr val="000000"/>
              </a:solidFill>
              <a:effectLst/>
              <a:uFillTx/>
              <a:latin typeface="Times New Roman"/>
            </a:endParaRPr>
          </a:p>
        </p:txBody>
      </p:sp>
      <p:sp>
        <p:nvSpPr>
          <p:cNvPr id="385" name=""/>
          <p:cNvSpPr txBox="1"/>
          <p:nvPr/>
        </p:nvSpPr>
        <p:spPr>
          <a:xfrm>
            <a:off x="1903680" y="1197000"/>
            <a:ext cx="27504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単位（</a:t>
            </a:r>
            <a:endParaRPr b="0" lang="en-US" sz="730" strike="noStrike" u="none">
              <a:solidFill>
                <a:srgbClr val="000000"/>
              </a:solidFill>
              <a:effectLst/>
              <a:uFillTx/>
              <a:latin typeface="Times New Roman"/>
            </a:endParaRPr>
          </a:p>
        </p:txBody>
      </p:sp>
      <p:sp>
        <p:nvSpPr>
          <p:cNvPr id="386" name=""/>
          <p:cNvSpPr txBox="1"/>
          <p:nvPr/>
        </p:nvSpPr>
        <p:spPr>
          <a:xfrm>
            <a:off x="2179440" y="1200240"/>
            <a:ext cx="175320" cy="106920"/>
          </a:xfrm>
          <a:prstGeom prst="rect">
            <a:avLst/>
          </a:prstGeom>
          <a:noFill/>
          <a:ln w="0">
            <a:noFill/>
          </a:ln>
        </p:spPr>
        <p:txBody>
          <a:bodyPr wrap="none" lIns="0" rIns="0" tIns="0" bIns="0" anchor="t">
            <a:spAutoFit/>
          </a:bodyPr>
          <a:p>
            <a:r>
              <a:rPr b="0" lang="en-US" sz="730" strike="noStrike" u="none">
                <a:solidFill>
                  <a:srgbClr val="4b5563"/>
                </a:solidFill>
                <a:effectLst/>
                <a:uFillTx/>
                <a:latin typeface="DejaVuSans"/>
                <a:ea typeface="DejaVuSans"/>
              </a:rPr>
              <a:t>180</a:t>
            </a:r>
            <a:endParaRPr b="0" lang="en-US" sz="730" strike="noStrike" u="none">
              <a:solidFill>
                <a:srgbClr val="000000"/>
              </a:solidFill>
              <a:effectLst/>
              <a:uFillTx/>
              <a:latin typeface="Times New Roman"/>
            </a:endParaRPr>
          </a:p>
        </p:txBody>
      </p:sp>
      <p:pic>
        <p:nvPicPr>
          <p:cNvPr id="387" name="" descr=""/>
          <p:cNvPicPr/>
          <p:nvPr/>
        </p:nvPicPr>
        <p:blipFill>
          <a:blip r:embed="rId10"/>
          <a:stretch/>
        </p:blipFill>
        <p:spPr>
          <a:xfrm>
            <a:off x="538560" y="1364400"/>
            <a:ext cx="78480" cy="91440"/>
          </a:xfrm>
          <a:prstGeom prst="rect">
            <a:avLst/>
          </a:prstGeom>
          <a:noFill/>
          <a:ln w="0">
            <a:noFill/>
          </a:ln>
        </p:spPr>
      </p:pic>
      <p:sp>
        <p:nvSpPr>
          <p:cNvPr id="388" name=""/>
          <p:cNvSpPr txBox="1"/>
          <p:nvPr/>
        </p:nvSpPr>
        <p:spPr>
          <a:xfrm>
            <a:off x="2355120" y="1197000"/>
            <a:ext cx="37080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分）まで</a:t>
            </a:r>
            <a:endParaRPr b="0" lang="en-US" sz="730" strike="noStrike" u="none">
              <a:solidFill>
                <a:srgbClr val="000000"/>
              </a:solidFill>
              <a:effectLst/>
              <a:uFillTx/>
              <a:latin typeface="Times New Roman"/>
            </a:endParaRPr>
          </a:p>
        </p:txBody>
      </p:sp>
      <p:pic>
        <p:nvPicPr>
          <p:cNvPr id="389" name="" descr=""/>
          <p:cNvPicPr/>
          <p:nvPr/>
        </p:nvPicPr>
        <p:blipFill>
          <a:blip r:embed="rId11"/>
          <a:stretch/>
        </p:blipFill>
        <p:spPr>
          <a:xfrm>
            <a:off x="538560" y="1522080"/>
            <a:ext cx="78480" cy="91440"/>
          </a:xfrm>
          <a:prstGeom prst="rect">
            <a:avLst/>
          </a:prstGeom>
          <a:noFill/>
          <a:ln w="0">
            <a:noFill/>
          </a:ln>
        </p:spPr>
      </p:pic>
      <p:sp>
        <p:nvSpPr>
          <p:cNvPr id="390" name=""/>
          <p:cNvSpPr txBox="1"/>
          <p:nvPr/>
        </p:nvSpPr>
        <p:spPr>
          <a:xfrm>
            <a:off x="669960" y="1354680"/>
            <a:ext cx="128304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理学療法士、作業療法士が在籍</a:t>
            </a:r>
            <a:endParaRPr b="0" lang="en-US" sz="730" strike="noStrike" u="none">
              <a:solidFill>
                <a:srgbClr val="000000"/>
              </a:solidFill>
              <a:effectLst/>
              <a:uFillTx/>
              <a:latin typeface="Times New Roman"/>
            </a:endParaRPr>
          </a:p>
        </p:txBody>
      </p:sp>
      <p:sp>
        <p:nvSpPr>
          <p:cNvPr id="391" name=""/>
          <p:cNvSpPr txBox="1"/>
          <p:nvPr/>
        </p:nvSpPr>
        <p:spPr>
          <a:xfrm>
            <a:off x="669960" y="1515240"/>
            <a:ext cx="175320" cy="106920"/>
          </a:xfrm>
          <a:prstGeom prst="rect">
            <a:avLst/>
          </a:prstGeom>
          <a:noFill/>
          <a:ln w="0">
            <a:noFill/>
          </a:ln>
        </p:spPr>
        <p:txBody>
          <a:bodyPr wrap="none" lIns="0" rIns="0" tIns="0" bIns="0" anchor="t">
            <a:spAutoFit/>
          </a:bodyPr>
          <a:p>
            <a:r>
              <a:rPr b="0" lang="en-US" sz="730" strike="noStrike" u="none">
                <a:solidFill>
                  <a:srgbClr val="4b5563"/>
                </a:solidFill>
                <a:effectLst/>
                <a:uFillTx/>
                <a:latin typeface="DejaVuSans"/>
                <a:ea typeface="DejaVuSans"/>
              </a:rPr>
              <a:t>365</a:t>
            </a:r>
            <a:endParaRPr b="0" lang="en-US" sz="730" strike="noStrike" u="none">
              <a:solidFill>
                <a:srgbClr val="000000"/>
              </a:solidFill>
              <a:effectLst/>
              <a:uFillTx/>
              <a:latin typeface="Times New Roman"/>
            </a:endParaRPr>
          </a:p>
        </p:txBody>
      </p:sp>
      <p:pic>
        <p:nvPicPr>
          <p:cNvPr id="392" name="" descr=""/>
          <p:cNvPicPr/>
          <p:nvPr/>
        </p:nvPicPr>
        <p:blipFill>
          <a:blip r:embed="rId12"/>
          <a:stretch/>
        </p:blipFill>
        <p:spPr>
          <a:xfrm>
            <a:off x="262800" y="1915920"/>
            <a:ext cx="117720" cy="157320"/>
          </a:xfrm>
          <a:prstGeom prst="rect">
            <a:avLst/>
          </a:prstGeom>
          <a:noFill/>
          <a:ln w="0">
            <a:noFill/>
          </a:ln>
        </p:spPr>
      </p:pic>
      <p:sp>
        <p:nvSpPr>
          <p:cNvPr id="393" name=""/>
          <p:cNvSpPr txBox="1"/>
          <p:nvPr/>
        </p:nvSpPr>
        <p:spPr>
          <a:xfrm>
            <a:off x="845640" y="1512360"/>
            <a:ext cx="129816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日リハビリテーション提供体制</a:t>
            </a:r>
            <a:endParaRPr b="0" lang="en-US" sz="730" strike="noStrike" u="none">
              <a:solidFill>
                <a:srgbClr val="000000"/>
              </a:solidFill>
              <a:effectLst/>
              <a:uFillTx/>
              <a:latin typeface="Times New Roman"/>
            </a:endParaRPr>
          </a:p>
        </p:txBody>
      </p:sp>
      <p:pic>
        <p:nvPicPr>
          <p:cNvPr id="394" name="" descr=""/>
          <p:cNvPicPr/>
          <p:nvPr/>
        </p:nvPicPr>
        <p:blipFill>
          <a:blip r:embed="rId13"/>
          <a:stretch/>
        </p:blipFill>
        <p:spPr>
          <a:xfrm>
            <a:off x="459720" y="2126160"/>
            <a:ext cx="72000" cy="91440"/>
          </a:xfrm>
          <a:prstGeom prst="rect">
            <a:avLst/>
          </a:prstGeom>
          <a:noFill/>
          <a:ln w="0">
            <a:noFill/>
          </a:ln>
        </p:spPr>
      </p:pic>
      <p:sp>
        <p:nvSpPr>
          <p:cNvPr id="395" name=""/>
          <p:cNvSpPr txBox="1"/>
          <p:nvPr/>
        </p:nvSpPr>
        <p:spPr>
          <a:xfrm>
            <a:off x="459720" y="1913760"/>
            <a:ext cx="470160" cy="148320"/>
          </a:xfrm>
          <a:prstGeom prst="rect">
            <a:avLst/>
          </a:prstGeom>
          <a:noFill/>
          <a:ln w="0">
            <a:noFill/>
          </a:ln>
        </p:spPr>
        <p:txBody>
          <a:bodyPr wrap="none" lIns="0" rIns="0" tIns="0" bIns="0" anchor="t">
            <a:spAutoFit/>
          </a:bodyPr>
          <a:p>
            <a:r>
              <a:rPr b="0" lang="zh-CN" sz="930" strike="noStrike" u="none">
                <a:solidFill>
                  <a:srgbClr val="047857"/>
                </a:solidFill>
                <a:effectLst/>
                <a:uFillTx/>
                <a:latin typeface="WenQuanYiZenHei"/>
                <a:ea typeface="WenQuanYiZenHei"/>
              </a:rPr>
              <a:t>算定要件</a:t>
            </a:r>
            <a:endParaRPr b="0" lang="en-US" sz="930" strike="noStrike" u="none">
              <a:solidFill>
                <a:srgbClr val="000000"/>
              </a:solidFill>
              <a:effectLst/>
              <a:uFillTx/>
              <a:latin typeface="Times New Roman"/>
            </a:endParaRPr>
          </a:p>
        </p:txBody>
      </p:sp>
      <p:pic>
        <p:nvPicPr>
          <p:cNvPr id="396" name="" descr=""/>
          <p:cNvPicPr/>
          <p:nvPr/>
        </p:nvPicPr>
        <p:blipFill>
          <a:blip r:embed="rId14"/>
          <a:stretch/>
        </p:blipFill>
        <p:spPr>
          <a:xfrm>
            <a:off x="459720" y="2283840"/>
            <a:ext cx="104760" cy="91440"/>
          </a:xfrm>
          <a:prstGeom prst="rect">
            <a:avLst/>
          </a:prstGeom>
          <a:noFill/>
          <a:ln w="0">
            <a:noFill/>
          </a:ln>
        </p:spPr>
      </p:pic>
      <p:sp>
        <p:nvSpPr>
          <p:cNvPr id="397" name=""/>
          <p:cNvSpPr txBox="1"/>
          <p:nvPr/>
        </p:nvSpPr>
        <p:spPr>
          <a:xfrm>
            <a:off x="584640" y="2116440"/>
            <a:ext cx="249300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医師の指示：治療を担当する医師がリハビリの必要性を判断</a:t>
            </a:r>
            <a:endParaRPr b="0" lang="en-US" sz="730" strike="noStrike" u="none">
              <a:solidFill>
                <a:srgbClr val="000000"/>
              </a:solidFill>
              <a:effectLst/>
              <a:uFillTx/>
              <a:latin typeface="Times New Roman"/>
            </a:endParaRPr>
          </a:p>
        </p:txBody>
      </p:sp>
      <p:pic>
        <p:nvPicPr>
          <p:cNvPr id="398" name="" descr=""/>
          <p:cNvPicPr/>
          <p:nvPr/>
        </p:nvPicPr>
        <p:blipFill>
          <a:blip r:embed="rId15"/>
          <a:stretch/>
        </p:blipFill>
        <p:spPr>
          <a:xfrm>
            <a:off x="459720" y="2441520"/>
            <a:ext cx="78480" cy="91440"/>
          </a:xfrm>
          <a:prstGeom prst="rect">
            <a:avLst/>
          </a:prstGeom>
          <a:noFill/>
          <a:ln w="0">
            <a:noFill/>
          </a:ln>
        </p:spPr>
      </p:pic>
      <p:sp>
        <p:nvSpPr>
          <p:cNvPr id="399" name=""/>
          <p:cNvSpPr txBox="1"/>
          <p:nvPr/>
        </p:nvSpPr>
        <p:spPr>
          <a:xfrm>
            <a:off x="617400" y="2274120"/>
            <a:ext cx="212328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リハビリテーション実施計画書の作成・説明・同意</a:t>
            </a:r>
            <a:endParaRPr b="0" lang="en-US" sz="730" strike="noStrike" u="none">
              <a:solidFill>
                <a:srgbClr val="000000"/>
              </a:solidFill>
              <a:effectLst/>
              <a:uFillTx/>
              <a:latin typeface="Times New Roman"/>
            </a:endParaRPr>
          </a:p>
        </p:txBody>
      </p:sp>
      <p:pic>
        <p:nvPicPr>
          <p:cNvPr id="400" name="" descr=""/>
          <p:cNvPicPr/>
          <p:nvPr/>
        </p:nvPicPr>
        <p:blipFill>
          <a:blip r:embed="rId16"/>
          <a:stretch/>
        </p:blipFill>
        <p:spPr>
          <a:xfrm>
            <a:off x="459720" y="2599200"/>
            <a:ext cx="117720" cy="91440"/>
          </a:xfrm>
          <a:prstGeom prst="rect">
            <a:avLst/>
          </a:prstGeom>
          <a:noFill/>
          <a:ln w="0">
            <a:noFill/>
          </a:ln>
        </p:spPr>
      </p:pic>
      <p:sp>
        <p:nvSpPr>
          <p:cNvPr id="401" name=""/>
          <p:cNvSpPr txBox="1"/>
          <p:nvPr/>
        </p:nvSpPr>
        <p:spPr>
          <a:xfrm>
            <a:off x="591120" y="2431800"/>
            <a:ext cx="201672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専任の常勤医師、理学療法士・作業療法士の配置</a:t>
            </a:r>
            <a:endParaRPr b="0" lang="en-US" sz="730" strike="noStrike" u="none">
              <a:solidFill>
                <a:srgbClr val="000000"/>
              </a:solidFill>
              <a:effectLst/>
              <a:uFillTx/>
              <a:latin typeface="Times New Roman"/>
            </a:endParaRPr>
          </a:p>
        </p:txBody>
      </p:sp>
      <p:sp>
        <p:nvSpPr>
          <p:cNvPr id="402" name=""/>
          <p:cNvSpPr/>
          <p:nvPr/>
        </p:nvSpPr>
        <p:spPr>
          <a:xfrm>
            <a:off x="4269240" y="582480"/>
            <a:ext cx="3980880" cy="1655640"/>
          </a:xfrm>
          <a:custGeom>
            <a:avLst/>
            <a:gdLst/>
            <a:ahLst/>
            <a:rect l="0" t="0" r="r" b="b"/>
            <a:pathLst>
              <a:path w="11058" h="4599">
                <a:moveTo>
                  <a:pt x="0" y="4453"/>
                </a:moveTo>
                <a:lnTo>
                  <a:pt x="0" y="146"/>
                </a:lnTo>
                <a:cubicBezTo>
                  <a:pt x="0" y="127"/>
                  <a:pt x="3" y="108"/>
                  <a:pt x="9" y="90"/>
                </a:cubicBezTo>
                <a:cubicBezTo>
                  <a:pt x="14" y="72"/>
                  <a:pt x="22" y="56"/>
                  <a:pt x="32" y="43"/>
                </a:cubicBezTo>
                <a:cubicBezTo>
                  <a:pt x="43" y="29"/>
                  <a:pt x="54" y="18"/>
                  <a:pt x="68" y="11"/>
                </a:cubicBezTo>
                <a:cubicBezTo>
                  <a:pt x="81" y="4"/>
                  <a:pt x="95" y="0"/>
                  <a:pt x="110" y="0"/>
                </a:cubicBezTo>
                <a:lnTo>
                  <a:pt x="10912" y="0"/>
                </a:lnTo>
                <a:cubicBezTo>
                  <a:pt x="10922" y="0"/>
                  <a:pt x="10931" y="1"/>
                  <a:pt x="10941" y="3"/>
                </a:cubicBezTo>
                <a:cubicBezTo>
                  <a:pt x="10950" y="5"/>
                  <a:pt x="10959" y="7"/>
                  <a:pt x="10968" y="11"/>
                </a:cubicBezTo>
                <a:cubicBezTo>
                  <a:pt x="10977" y="15"/>
                  <a:pt x="10985" y="19"/>
                  <a:pt x="10993" y="25"/>
                </a:cubicBezTo>
                <a:cubicBezTo>
                  <a:pt x="11001" y="30"/>
                  <a:pt x="11009" y="36"/>
                  <a:pt x="11015" y="43"/>
                </a:cubicBezTo>
                <a:cubicBezTo>
                  <a:pt x="11022" y="49"/>
                  <a:pt x="11028" y="57"/>
                  <a:pt x="11034" y="65"/>
                </a:cubicBezTo>
                <a:cubicBezTo>
                  <a:pt x="11039" y="73"/>
                  <a:pt x="11043" y="81"/>
                  <a:pt x="11047" y="90"/>
                </a:cubicBezTo>
                <a:cubicBezTo>
                  <a:pt x="11051" y="99"/>
                  <a:pt x="11054" y="108"/>
                  <a:pt x="11055" y="117"/>
                </a:cubicBezTo>
                <a:cubicBezTo>
                  <a:pt x="11057" y="127"/>
                  <a:pt x="11058" y="136"/>
                  <a:pt x="11058" y="146"/>
                </a:cubicBezTo>
                <a:lnTo>
                  <a:pt x="11058" y="4453"/>
                </a:lnTo>
                <a:cubicBezTo>
                  <a:pt x="11058" y="4462"/>
                  <a:pt x="11057" y="4472"/>
                  <a:pt x="11055" y="4481"/>
                </a:cubicBezTo>
                <a:cubicBezTo>
                  <a:pt x="11054" y="4491"/>
                  <a:pt x="11051" y="4500"/>
                  <a:pt x="11047" y="4509"/>
                </a:cubicBezTo>
                <a:cubicBezTo>
                  <a:pt x="11043" y="4518"/>
                  <a:pt x="11039" y="4526"/>
                  <a:pt x="11034" y="4534"/>
                </a:cubicBezTo>
                <a:cubicBezTo>
                  <a:pt x="11028" y="4542"/>
                  <a:pt x="11022" y="4549"/>
                  <a:pt x="11015" y="4556"/>
                </a:cubicBezTo>
                <a:cubicBezTo>
                  <a:pt x="11009" y="4563"/>
                  <a:pt x="11001" y="4569"/>
                  <a:pt x="10993" y="4574"/>
                </a:cubicBezTo>
                <a:cubicBezTo>
                  <a:pt x="10985" y="4580"/>
                  <a:pt x="10977" y="4584"/>
                  <a:pt x="10968" y="4588"/>
                </a:cubicBezTo>
                <a:cubicBezTo>
                  <a:pt x="10959" y="4591"/>
                  <a:pt x="10950" y="4594"/>
                  <a:pt x="10941" y="4596"/>
                </a:cubicBezTo>
                <a:cubicBezTo>
                  <a:pt x="10931" y="4598"/>
                  <a:pt x="10922" y="4599"/>
                  <a:pt x="10912" y="4599"/>
                </a:cubicBezTo>
                <a:lnTo>
                  <a:pt x="110" y="4599"/>
                </a:lnTo>
                <a:cubicBezTo>
                  <a:pt x="95" y="4599"/>
                  <a:pt x="81" y="4595"/>
                  <a:pt x="68" y="4588"/>
                </a:cubicBezTo>
                <a:cubicBezTo>
                  <a:pt x="54" y="4580"/>
                  <a:pt x="43" y="4570"/>
                  <a:pt x="32" y="4556"/>
                </a:cubicBezTo>
                <a:cubicBezTo>
                  <a:pt x="22" y="4542"/>
                  <a:pt x="14" y="4527"/>
                  <a:pt x="9" y="4509"/>
                </a:cubicBezTo>
                <a:cubicBezTo>
                  <a:pt x="3" y="4491"/>
                  <a:pt x="0" y="4472"/>
                  <a:pt x="0" y="4453"/>
                </a:cubicBezTo>
                <a:close/>
              </a:path>
            </a:pathLst>
          </a:custGeom>
          <a:solidFill>
            <a:srgbClr val="ffffff">
              <a:alpha val="8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03" name=""/>
          <p:cNvSpPr/>
          <p:nvPr/>
        </p:nvSpPr>
        <p:spPr>
          <a:xfrm>
            <a:off x="4256280" y="582480"/>
            <a:ext cx="52920" cy="1655640"/>
          </a:xfrm>
          <a:custGeom>
            <a:avLst/>
            <a:gdLst/>
            <a:ahLst/>
            <a:rect l="0" t="0" r="r" b="b"/>
            <a:pathLst>
              <a:path w="147" h="4599">
                <a:moveTo>
                  <a:pt x="0" y="0"/>
                </a:moveTo>
                <a:lnTo>
                  <a:pt x="147" y="0"/>
                </a:lnTo>
                <a:lnTo>
                  <a:pt x="147" y="4599"/>
                </a:lnTo>
                <a:lnTo>
                  <a:pt x="0" y="4599"/>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04" name=""/>
          <p:cNvSpPr/>
          <p:nvPr/>
        </p:nvSpPr>
        <p:spPr>
          <a:xfrm>
            <a:off x="4361400" y="924120"/>
            <a:ext cx="3284640" cy="158040"/>
          </a:xfrm>
          <a:custGeom>
            <a:avLst/>
            <a:gdLst/>
            <a:ahLst/>
            <a:rect l="0" t="0" r="r" b="b"/>
            <a:pathLst>
              <a:path w="9124" h="439">
                <a:moveTo>
                  <a:pt x="0" y="0"/>
                </a:moveTo>
                <a:lnTo>
                  <a:pt x="9124" y="0"/>
                </a:lnTo>
                <a:lnTo>
                  <a:pt x="9124" y="439"/>
                </a:lnTo>
                <a:lnTo>
                  <a:pt x="0" y="439"/>
                </a:lnTo>
                <a:lnTo>
                  <a:pt x="0" y="0"/>
                </a:lnTo>
                <a:close/>
              </a:path>
            </a:pathLst>
          </a:custGeom>
          <a:solidFill>
            <a:srgbClr val="3b82f6">
              <a:alpha val="10000"/>
            </a:srgbClr>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05" name=""/>
          <p:cNvSpPr/>
          <p:nvPr/>
        </p:nvSpPr>
        <p:spPr>
          <a:xfrm>
            <a:off x="7645680" y="924120"/>
            <a:ext cx="525600" cy="158040"/>
          </a:xfrm>
          <a:custGeom>
            <a:avLst/>
            <a:gdLst/>
            <a:ahLst/>
            <a:rect l="0" t="0" r="r" b="b"/>
            <a:pathLst>
              <a:path w="1460" h="439">
                <a:moveTo>
                  <a:pt x="0" y="0"/>
                </a:moveTo>
                <a:lnTo>
                  <a:pt x="1460" y="0"/>
                </a:lnTo>
                <a:lnTo>
                  <a:pt x="1460" y="439"/>
                </a:lnTo>
                <a:lnTo>
                  <a:pt x="0" y="439"/>
                </a:lnTo>
                <a:lnTo>
                  <a:pt x="0" y="0"/>
                </a:lnTo>
                <a:close/>
              </a:path>
            </a:pathLst>
          </a:custGeom>
          <a:solidFill>
            <a:srgbClr val="3b82f6">
              <a:alpha val="10000"/>
            </a:srgbClr>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06" name=""/>
          <p:cNvSpPr/>
          <p:nvPr/>
        </p:nvSpPr>
        <p:spPr>
          <a:xfrm>
            <a:off x="4361400" y="1081800"/>
            <a:ext cx="3284640" cy="157680"/>
          </a:xfrm>
          <a:custGeom>
            <a:avLst/>
            <a:gdLst/>
            <a:ahLst/>
            <a:rect l="0" t="0" r="r" b="b"/>
            <a:pathLst>
              <a:path w="9124" h="438">
                <a:moveTo>
                  <a:pt x="0" y="0"/>
                </a:moveTo>
                <a:lnTo>
                  <a:pt x="9124" y="0"/>
                </a:lnTo>
                <a:lnTo>
                  <a:pt x="9124" y="438"/>
                </a:lnTo>
                <a:lnTo>
                  <a:pt x="0" y="438"/>
                </a:lnTo>
                <a:lnTo>
                  <a:pt x="0" y="0"/>
                </a:lnTo>
                <a:close/>
              </a:path>
            </a:pathLst>
          </a:custGeom>
          <a:solidFill>
            <a:srgbClr val="f3f4f6">
              <a:alpha val="7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07" name=""/>
          <p:cNvSpPr/>
          <p:nvPr/>
        </p:nvSpPr>
        <p:spPr>
          <a:xfrm>
            <a:off x="7645680" y="1081800"/>
            <a:ext cx="525600" cy="157680"/>
          </a:xfrm>
          <a:custGeom>
            <a:avLst/>
            <a:gdLst/>
            <a:ahLst/>
            <a:rect l="0" t="0" r="r" b="b"/>
            <a:pathLst>
              <a:path w="1460" h="438">
                <a:moveTo>
                  <a:pt x="0" y="0"/>
                </a:moveTo>
                <a:lnTo>
                  <a:pt x="1460" y="0"/>
                </a:lnTo>
                <a:lnTo>
                  <a:pt x="1460" y="438"/>
                </a:lnTo>
                <a:lnTo>
                  <a:pt x="0" y="438"/>
                </a:lnTo>
                <a:lnTo>
                  <a:pt x="0" y="0"/>
                </a:lnTo>
                <a:close/>
              </a:path>
            </a:pathLst>
          </a:custGeom>
          <a:solidFill>
            <a:srgbClr val="f3f4f6">
              <a:alpha val="7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08" name=""/>
          <p:cNvSpPr/>
          <p:nvPr/>
        </p:nvSpPr>
        <p:spPr>
          <a:xfrm>
            <a:off x="4361400" y="1239120"/>
            <a:ext cx="3284640" cy="158040"/>
          </a:xfrm>
          <a:custGeom>
            <a:avLst/>
            <a:gdLst/>
            <a:ahLst/>
            <a:rect l="0" t="0" r="r" b="b"/>
            <a:pathLst>
              <a:path w="9124" h="439">
                <a:moveTo>
                  <a:pt x="0" y="0"/>
                </a:moveTo>
                <a:lnTo>
                  <a:pt x="9124" y="0"/>
                </a:lnTo>
                <a:lnTo>
                  <a:pt x="9124" y="439"/>
                </a:lnTo>
                <a:lnTo>
                  <a:pt x="0" y="439"/>
                </a:lnTo>
                <a:lnTo>
                  <a:pt x="0" y="0"/>
                </a:lnTo>
                <a:close/>
              </a:path>
            </a:pathLst>
          </a:custGeom>
          <a:solidFill>
            <a:srgbClr val="ffffff">
              <a:alpha val="7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09" name=""/>
          <p:cNvSpPr/>
          <p:nvPr/>
        </p:nvSpPr>
        <p:spPr>
          <a:xfrm>
            <a:off x="7645680" y="1239120"/>
            <a:ext cx="525600" cy="158040"/>
          </a:xfrm>
          <a:custGeom>
            <a:avLst/>
            <a:gdLst/>
            <a:ahLst/>
            <a:rect l="0" t="0" r="r" b="b"/>
            <a:pathLst>
              <a:path w="1460" h="439">
                <a:moveTo>
                  <a:pt x="0" y="0"/>
                </a:moveTo>
                <a:lnTo>
                  <a:pt x="1460" y="0"/>
                </a:lnTo>
                <a:lnTo>
                  <a:pt x="1460" y="439"/>
                </a:lnTo>
                <a:lnTo>
                  <a:pt x="0" y="439"/>
                </a:lnTo>
                <a:lnTo>
                  <a:pt x="0" y="0"/>
                </a:lnTo>
                <a:close/>
              </a:path>
            </a:pathLst>
          </a:custGeom>
          <a:solidFill>
            <a:srgbClr val="ffffff">
              <a:alpha val="7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10" name=""/>
          <p:cNvSpPr/>
          <p:nvPr/>
        </p:nvSpPr>
        <p:spPr>
          <a:xfrm>
            <a:off x="4361400" y="1396800"/>
            <a:ext cx="3284640" cy="158040"/>
          </a:xfrm>
          <a:custGeom>
            <a:avLst/>
            <a:gdLst/>
            <a:ahLst/>
            <a:rect l="0" t="0" r="r" b="b"/>
            <a:pathLst>
              <a:path w="9124" h="439">
                <a:moveTo>
                  <a:pt x="0" y="0"/>
                </a:moveTo>
                <a:lnTo>
                  <a:pt x="9124" y="0"/>
                </a:lnTo>
                <a:lnTo>
                  <a:pt x="9124" y="439"/>
                </a:lnTo>
                <a:lnTo>
                  <a:pt x="0" y="439"/>
                </a:lnTo>
                <a:lnTo>
                  <a:pt x="0" y="0"/>
                </a:lnTo>
                <a:close/>
              </a:path>
            </a:pathLst>
          </a:custGeom>
          <a:solidFill>
            <a:srgbClr val="f3f4f6">
              <a:alpha val="7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11" name=""/>
          <p:cNvSpPr/>
          <p:nvPr/>
        </p:nvSpPr>
        <p:spPr>
          <a:xfrm>
            <a:off x="7645680" y="1396800"/>
            <a:ext cx="525600" cy="158040"/>
          </a:xfrm>
          <a:custGeom>
            <a:avLst/>
            <a:gdLst/>
            <a:ahLst/>
            <a:rect l="0" t="0" r="r" b="b"/>
            <a:pathLst>
              <a:path w="1460" h="439">
                <a:moveTo>
                  <a:pt x="0" y="0"/>
                </a:moveTo>
                <a:lnTo>
                  <a:pt x="1460" y="0"/>
                </a:lnTo>
                <a:lnTo>
                  <a:pt x="1460" y="439"/>
                </a:lnTo>
                <a:lnTo>
                  <a:pt x="0" y="439"/>
                </a:lnTo>
                <a:lnTo>
                  <a:pt x="0" y="0"/>
                </a:lnTo>
                <a:close/>
              </a:path>
            </a:pathLst>
          </a:custGeom>
          <a:solidFill>
            <a:srgbClr val="f3f4f6">
              <a:alpha val="7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12" name=""/>
          <p:cNvSpPr/>
          <p:nvPr/>
        </p:nvSpPr>
        <p:spPr>
          <a:xfrm>
            <a:off x="4361400" y="1554480"/>
            <a:ext cx="3284640" cy="158040"/>
          </a:xfrm>
          <a:custGeom>
            <a:avLst/>
            <a:gdLst/>
            <a:ahLst/>
            <a:rect l="0" t="0" r="r" b="b"/>
            <a:pathLst>
              <a:path w="9124" h="439">
                <a:moveTo>
                  <a:pt x="0" y="0"/>
                </a:moveTo>
                <a:lnTo>
                  <a:pt x="9124" y="0"/>
                </a:lnTo>
                <a:lnTo>
                  <a:pt x="9124" y="439"/>
                </a:lnTo>
                <a:lnTo>
                  <a:pt x="0" y="439"/>
                </a:lnTo>
                <a:lnTo>
                  <a:pt x="0" y="0"/>
                </a:lnTo>
                <a:close/>
              </a:path>
            </a:pathLst>
          </a:custGeom>
          <a:solidFill>
            <a:srgbClr val="ffffff">
              <a:alpha val="7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13" name=""/>
          <p:cNvSpPr/>
          <p:nvPr/>
        </p:nvSpPr>
        <p:spPr>
          <a:xfrm>
            <a:off x="7645680" y="1554480"/>
            <a:ext cx="525600" cy="158040"/>
          </a:xfrm>
          <a:custGeom>
            <a:avLst/>
            <a:gdLst/>
            <a:ahLst/>
            <a:rect l="0" t="0" r="r" b="b"/>
            <a:pathLst>
              <a:path w="1460" h="439">
                <a:moveTo>
                  <a:pt x="0" y="0"/>
                </a:moveTo>
                <a:lnTo>
                  <a:pt x="1460" y="0"/>
                </a:lnTo>
                <a:lnTo>
                  <a:pt x="1460" y="439"/>
                </a:lnTo>
                <a:lnTo>
                  <a:pt x="0" y="439"/>
                </a:lnTo>
                <a:lnTo>
                  <a:pt x="0" y="0"/>
                </a:lnTo>
                <a:close/>
              </a:path>
            </a:pathLst>
          </a:custGeom>
          <a:solidFill>
            <a:srgbClr val="ffffff">
              <a:alpha val="7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14" name=""/>
          <p:cNvSpPr/>
          <p:nvPr/>
        </p:nvSpPr>
        <p:spPr>
          <a:xfrm>
            <a:off x="4361400" y="1712160"/>
            <a:ext cx="3284640" cy="158040"/>
          </a:xfrm>
          <a:custGeom>
            <a:avLst/>
            <a:gdLst/>
            <a:ahLst/>
            <a:rect l="0" t="0" r="r" b="b"/>
            <a:pathLst>
              <a:path w="9124" h="439">
                <a:moveTo>
                  <a:pt x="0" y="0"/>
                </a:moveTo>
                <a:lnTo>
                  <a:pt x="9124" y="0"/>
                </a:lnTo>
                <a:lnTo>
                  <a:pt x="9124" y="439"/>
                </a:lnTo>
                <a:lnTo>
                  <a:pt x="0" y="439"/>
                </a:lnTo>
                <a:lnTo>
                  <a:pt x="0" y="0"/>
                </a:lnTo>
                <a:close/>
              </a:path>
            </a:pathLst>
          </a:custGeom>
          <a:solidFill>
            <a:srgbClr val="f3f4f6">
              <a:alpha val="7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15" name=""/>
          <p:cNvSpPr/>
          <p:nvPr/>
        </p:nvSpPr>
        <p:spPr>
          <a:xfrm>
            <a:off x="7645680" y="1712160"/>
            <a:ext cx="525600" cy="158040"/>
          </a:xfrm>
          <a:custGeom>
            <a:avLst/>
            <a:gdLst/>
            <a:ahLst/>
            <a:rect l="0" t="0" r="r" b="b"/>
            <a:pathLst>
              <a:path w="1460" h="439">
                <a:moveTo>
                  <a:pt x="0" y="0"/>
                </a:moveTo>
                <a:lnTo>
                  <a:pt x="1460" y="0"/>
                </a:lnTo>
                <a:lnTo>
                  <a:pt x="1460" y="439"/>
                </a:lnTo>
                <a:lnTo>
                  <a:pt x="0" y="439"/>
                </a:lnTo>
                <a:lnTo>
                  <a:pt x="0" y="0"/>
                </a:lnTo>
                <a:close/>
              </a:path>
            </a:pathLst>
          </a:custGeom>
          <a:solidFill>
            <a:srgbClr val="f3f4f6">
              <a:alpha val="7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16" name=""/>
          <p:cNvSpPr/>
          <p:nvPr/>
        </p:nvSpPr>
        <p:spPr>
          <a:xfrm>
            <a:off x="4361400" y="1869840"/>
            <a:ext cx="3284640" cy="158040"/>
          </a:xfrm>
          <a:custGeom>
            <a:avLst/>
            <a:gdLst/>
            <a:ahLst/>
            <a:rect l="0" t="0" r="r" b="b"/>
            <a:pathLst>
              <a:path w="9124" h="439">
                <a:moveTo>
                  <a:pt x="0" y="0"/>
                </a:moveTo>
                <a:lnTo>
                  <a:pt x="9124" y="0"/>
                </a:lnTo>
                <a:lnTo>
                  <a:pt x="9124" y="439"/>
                </a:lnTo>
                <a:lnTo>
                  <a:pt x="0" y="439"/>
                </a:lnTo>
                <a:lnTo>
                  <a:pt x="0" y="0"/>
                </a:lnTo>
                <a:close/>
              </a:path>
            </a:pathLst>
          </a:custGeom>
          <a:solidFill>
            <a:srgbClr val="ffffff">
              <a:alpha val="7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17" name=""/>
          <p:cNvSpPr/>
          <p:nvPr/>
        </p:nvSpPr>
        <p:spPr>
          <a:xfrm>
            <a:off x="7645680" y="1869840"/>
            <a:ext cx="525600" cy="158040"/>
          </a:xfrm>
          <a:custGeom>
            <a:avLst/>
            <a:gdLst/>
            <a:ahLst/>
            <a:rect l="0" t="0" r="r" b="b"/>
            <a:pathLst>
              <a:path w="1460" h="439">
                <a:moveTo>
                  <a:pt x="0" y="0"/>
                </a:moveTo>
                <a:lnTo>
                  <a:pt x="1460" y="0"/>
                </a:lnTo>
                <a:lnTo>
                  <a:pt x="1460" y="439"/>
                </a:lnTo>
                <a:lnTo>
                  <a:pt x="0" y="439"/>
                </a:lnTo>
                <a:lnTo>
                  <a:pt x="0" y="0"/>
                </a:lnTo>
                <a:close/>
              </a:path>
            </a:pathLst>
          </a:custGeom>
          <a:solidFill>
            <a:srgbClr val="ffffff">
              <a:alpha val="7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18" name=""/>
          <p:cNvSpPr/>
          <p:nvPr/>
        </p:nvSpPr>
        <p:spPr>
          <a:xfrm>
            <a:off x="4269240" y="2342880"/>
            <a:ext cx="3980880" cy="1182600"/>
          </a:xfrm>
          <a:custGeom>
            <a:avLst/>
            <a:gdLst/>
            <a:ahLst/>
            <a:rect l="0" t="0" r="r" b="b"/>
            <a:pathLst>
              <a:path w="11058" h="3285">
                <a:moveTo>
                  <a:pt x="0" y="3139"/>
                </a:moveTo>
                <a:lnTo>
                  <a:pt x="0" y="146"/>
                </a:lnTo>
                <a:cubicBezTo>
                  <a:pt x="0" y="126"/>
                  <a:pt x="3" y="108"/>
                  <a:pt x="9" y="90"/>
                </a:cubicBezTo>
                <a:cubicBezTo>
                  <a:pt x="14" y="72"/>
                  <a:pt x="22" y="56"/>
                  <a:pt x="32" y="43"/>
                </a:cubicBezTo>
                <a:cubicBezTo>
                  <a:pt x="43" y="29"/>
                  <a:pt x="54" y="18"/>
                  <a:pt x="68" y="11"/>
                </a:cubicBezTo>
                <a:cubicBezTo>
                  <a:pt x="81" y="3"/>
                  <a:pt x="95" y="0"/>
                  <a:pt x="110" y="0"/>
                </a:cubicBezTo>
                <a:lnTo>
                  <a:pt x="10912" y="0"/>
                </a:lnTo>
                <a:cubicBezTo>
                  <a:pt x="10922" y="0"/>
                  <a:pt x="10931" y="1"/>
                  <a:pt x="10941" y="3"/>
                </a:cubicBezTo>
                <a:cubicBezTo>
                  <a:pt x="10950" y="4"/>
                  <a:pt x="10959" y="7"/>
                  <a:pt x="10968" y="11"/>
                </a:cubicBezTo>
                <a:cubicBezTo>
                  <a:pt x="10977" y="15"/>
                  <a:pt x="10985" y="19"/>
                  <a:pt x="10993" y="24"/>
                </a:cubicBezTo>
                <a:cubicBezTo>
                  <a:pt x="11001" y="30"/>
                  <a:pt x="11009" y="36"/>
                  <a:pt x="11015" y="43"/>
                </a:cubicBezTo>
                <a:cubicBezTo>
                  <a:pt x="11022" y="49"/>
                  <a:pt x="11028" y="57"/>
                  <a:pt x="11034" y="65"/>
                </a:cubicBezTo>
                <a:cubicBezTo>
                  <a:pt x="11039" y="73"/>
                  <a:pt x="11043" y="81"/>
                  <a:pt x="11047" y="90"/>
                </a:cubicBezTo>
                <a:cubicBezTo>
                  <a:pt x="11051" y="99"/>
                  <a:pt x="11054" y="108"/>
                  <a:pt x="11055" y="117"/>
                </a:cubicBezTo>
                <a:cubicBezTo>
                  <a:pt x="11057" y="127"/>
                  <a:pt x="11058" y="136"/>
                  <a:pt x="11058" y="146"/>
                </a:cubicBezTo>
                <a:lnTo>
                  <a:pt x="11058" y="3139"/>
                </a:lnTo>
                <a:cubicBezTo>
                  <a:pt x="11058" y="3149"/>
                  <a:pt x="11057" y="3158"/>
                  <a:pt x="11055" y="3168"/>
                </a:cubicBezTo>
                <a:cubicBezTo>
                  <a:pt x="11054" y="3177"/>
                  <a:pt x="11051" y="3186"/>
                  <a:pt x="11047" y="3195"/>
                </a:cubicBezTo>
                <a:cubicBezTo>
                  <a:pt x="11043" y="3204"/>
                  <a:pt x="11039" y="3212"/>
                  <a:pt x="11034" y="3220"/>
                </a:cubicBezTo>
                <a:cubicBezTo>
                  <a:pt x="11028" y="3228"/>
                  <a:pt x="11022" y="3235"/>
                  <a:pt x="11015" y="3242"/>
                </a:cubicBezTo>
                <a:cubicBezTo>
                  <a:pt x="11009" y="3249"/>
                  <a:pt x="11001" y="3255"/>
                  <a:pt x="10993" y="3260"/>
                </a:cubicBezTo>
                <a:cubicBezTo>
                  <a:pt x="10985" y="3266"/>
                  <a:pt x="10977" y="3270"/>
                  <a:pt x="10968" y="3274"/>
                </a:cubicBezTo>
                <a:cubicBezTo>
                  <a:pt x="10959" y="3278"/>
                  <a:pt x="10950" y="3280"/>
                  <a:pt x="10941" y="3282"/>
                </a:cubicBezTo>
                <a:cubicBezTo>
                  <a:pt x="10931" y="3284"/>
                  <a:pt x="10922" y="3285"/>
                  <a:pt x="10912" y="3285"/>
                </a:cubicBezTo>
                <a:lnTo>
                  <a:pt x="110" y="3285"/>
                </a:lnTo>
                <a:cubicBezTo>
                  <a:pt x="95" y="3285"/>
                  <a:pt x="81" y="3281"/>
                  <a:pt x="68" y="3274"/>
                </a:cubicBezTo>
                <a:cubicBezTo>
                  <a:pt x="54" y="3267"/>
                  <a:pt x="43" y="3256"/>
                  <a:pt x="32" y="3242"/>
                </a:cubicBezTo>
                <a:cubicBezTo>
                  <a:pt x="22" y="3229"/>
                  <a:pt x="14" y="3213"/>
                  <a:pt x="9" y="3195"/>
                </a:cubicBezTo>
                <a:cubicBezTo>
                  <a:pt x="3" y="3177"/>
                  <a:pt x="0" y="3158"/>
                  <a:pt x="0" y="3139"/>
                </a:cubicBezTo>
                <a:close/>
              </a:path>
            </a:pathLst>
          </a:custGeom>
          <a:solidFill>
            <a:srgbClr val="ffffff">
              <a:alpha val="8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19" name=""/>
          <p:cNvSpPr/>
          <p:nvPr/>
        </p:nvSpPr>
        <p:spPr>
          <a:xfrm>
            <a:off x="4256280" y="2342880"/>
            <a:ext cx="52920" cy="1182600"/>
          </a:xfrm>
          <a:custGeom>
            <a:avLst/>
            <a:gdLst/>
            <a:ahLst/>
            <a:rect l="0" t="0" r="r" b="b"/>
            <a:pathLst>
              <a:path w="147" h="3285">
                <a:moveTo>
                  <a:pt x="0" y="0"/>
                </a:moveTo>
                <a:lnTo>
                  <a:pt x="147" y="0"/>
                </a:lnTo>
                <a:lnTo>
                  <a:pt x="147" y="3285"/>
                </a:lnTo>
                <a:lnTo>
                  <a:pt x="0" y="3285"/>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420" name="" descr=""/>
          <p:cNvPicPr/>
          <p:nvPr/>
        </p:nvPicPr>
        <p:blipFill>
          <a:blip r:embed="rId17"/>
          <a:stretch/>
        </p:blipFill>
        <p:spPr>
          <a:xfrm>
            <a:off x="4361400" y="681120"/>
            <a:ext cx="137520" cy="157320"/>
          </a:xfrm>
          <a:prstGeom prst="rect">
            <a:avLst/>
          </a:prstGeom>
          <a:noFill/>
          <a:ln w="0">
            <a:noFill/>
          </a:ln>
        </p:spPr>
      </p:pic>
      <p:sp>
        <p:nvSpPr>
          <p:cNvPr id="421" name=""/>
          <p:cNvSpPr txBox="1"/>
          <p:nvPr/>
        </p:nvSpPr>
        <p:spPr>
          <a:xfrm>
            <a:off x="630720" y="2589480"/>
            <a:ext cx="192744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適切な施設・設備（専用の機能訓練室や器具）</a:t>
            </a:r>
            <a:endParaRPr b="0" lang="en-US" sz="730" strike="noStrike" u="none">
              <a:solidFill>
                <a:srgbClr val="000000"/>
              </a:solidFill>
              <a:effectLst/>
              <a:uFillTx/>
              <a:latin typeface="Times New Roman"/>
            </a:endParaRPr>
          </a:p>
        </p:txBody>
      </p:sp>
      <p:sp>
        <p:nvSpPr>
          <p:cNvPr id="422" name=""/>
          <p:cNvSpPr txBox="1"/>
          <p:nvPr/>
        </p:nvSpPr>
        <p:spPr>
          <a:xfrm>
            <a:off x="4578120" y="678960"/>
            <a:ext cx="1411560" cy="148320"/>
          </a:xfrm>
          <a:prstGeom prst="rect">
            <a:avLst/>
          </a:prstGeom>
          <a:noFill/>
          <a:ln w="0">
            <a:noFill/>
          </a:ln>
        </p:spPr>
        <p:txBody>
          <a:bodyPr wrap="none" lIns="0" rIns="0" tIns="0" bIns="0" anchor="t">
            <a:spAutoFit/>
          </a:bodyPr>
          <a:p>
            <a:r>
              <a:rPr b="0" lang="zh-CN" sz="930" strike="noStrike" u="none">
                <a:solidFill>
                  <a:srgbClr val="000000"/>
                </a:solidFill>
                <a:effectLst/>
                <a:uFillTx/>
                <a:latin typeface="WenQuanYiZenHei"/>
                <a:ea typeface="WenQuanYiZenHei"/>
              </a:rPr>
              <a:t>対象疾患と標準的算定日数</a:t>
            </a:r>
            <a:endParaRPr b="0" lang="en-US" sz="930" strike="noStrike" u="none">
              <a:solidFill>
                <a:srgbClr val="000000"/>
              </a:solidFill>
              <a:effectLst/>
              <a:uFillTx/>
              <a:latin typeface="Times New Roman"/>
            </a:endParaRPr>
          </a:p>
        </p:txBody>
      </p:sp>
      <p:sp>
        <p:nvSpPr>
          <p:cNvPr id="423" name=""/>
          <p:cNvSpPr txBox="1"/>
          <p:nvPr/>
        </p:nvSpPr>
        <p:spPr>
          <a:xfrm>
            <a:off x="4387680" y="953280"/>
            <a:ext cx="557280" cy="99720"/>
          </a:xfrm>
          <a:prstGeom prst="rect">
            <a:avLst/>
          </a:prstGeom>
          <a:noFill/>
          <a:ln w="0">
            <a:noFill/>
          </a:ln>
        </p:spPr>
        <p:txBody>
          <a:bodyPr wrap="none" lIns="0" rIns="0" tIns="0" bIns="0" anchor="t">
            <a:spAutoFit/>
          </a:bodyPr>
          <a:p>
            <a:r>
              <a:rPr b="0" lang="zh-CN" sz="620" strike="noStrike" u="none">
                <a:solidFill>
                  <a:srgbClr val="1d4ed8"/>
                </a:solidFill>
                <a:effectLst/>
                <a:uFillTx/>
                <a:latin typeface="WenQuanYiZenHei"/>
                <a:ea typeface="WenQuanYiZenHei"/>
              </a:rPr>
              <a:t>対象疾患の分類</a:t>
            </a:r>
            <a:endParaRPr b="0" lang="en-US" sz="620" strike="noStrike" u="none">
              <a:solidFill>
                <a:srgbClr val="000000"/>
              </a:solidFill>
              <a:effectLst/>
              <a:uFillTx/>
              <a:latin typeface="Times New Roman"/>
            </a:endParaRPr>
          </a:p>
        </p:txBody>
      </p:sp>
      <p:sp>
        <p:nvSpPr>
          <p:cNvPr id="424" name=""/>
          <p:cNvSpPr txBox="1"/>
          <p:nvPr/>
        </p:nvSpPr>
        <p:spPr>
          <a:xfrm>
            <a:off x="7750800" y="953280"/>
            <a:ext cx="317880" cy="99720"/>
          </a:xfrm>
          <a:prstGeom prst="rect">
            <a:avLst/>
          </a:prstGeom>
          <a:noFill/>
          <a:ln w="0">
            <a:noFill/>
          </a:ln>
        </p:spPr>
        <p:txBody>
          <a:bodyPr wrap="none" lIns="0" rIns="0" tIns="0" bIns="0" anchor="t">
            <a:spAutoFit/>
          </a:bodyPr>
          <a:p>
            <a:r>
              <a:rPr b="0" lang="zh-CN" sz="620" strike="noStrike" u="none">
                <a:solidFill>
                  <a:srgbClr val="1d4ed8"/>
                </a:solidFill>
                <a:effectLst/>
                <a:uFillTx/>
                <a:latin typeface="WenQuanYiZenHei"/>
                <a:ea typeface="WenQuanYiZenHei"/>
              </a:rPr>
              <a:t>標準日数</a:t>
            </a:r>
            <a:endParaRPr b="0" lang="en-US" sz="620" strike="noStrike" u="none">
              <a:solidFill>
                <a:srgbClr val="000000"/>
              </a:solidFill>
              <a:effectLst/>
              <a:uFillTx/>
              <a:latin typeface="Times New Roman"/>
            </a:endParaRPr>
          </a:p>
        </p:txBody>
      </p:sp>
      <p:sp>
        <p:nvSpPr>
          <p:cNvPr id="425" name=""/>
          <p:cNvSpPr txBox="1"/>
          <p:nvPr/>
        </p:nvSpPr>
        <p:spPr>
          <a:xfrm>
            <a:off x="4387680" y="1110960"/>
            <a:ext cx="25606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上・下肢の複合損傷、脊髄損傷による四肢麻痺その他これに準ずるもの</a:t>
            </a:r>
            <a:endParaRPr b="0" lang="en-US" sz="620" strike="noStrike" u="none">
              <a:solidFill>
                <a:srgbClr val="000000"/>
              </a:solidFill>
              <a:effectLst/>
              <a:uFillTx/>
              <a:latin typeface="Times New Roman"/>
            </a:endParaRPr>
          </a:p>
        </p:txBody>
      </p:sp>
      <p:sp>
        <p:nvSpPr>
          <p:cNvPr id="426" name=""/>
          <p:cNvSpPr txBox="1"/>
          <p:nvPr/>
        </p:nvSpPr>
        <p:spPr>
          <a:xfrm>
            <a:off x="7793640" y="1113840"/>
            <a:ext cx="1519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180</a:t>
            </a:r>
            <a:endParaRPr b="0" lang="en-US" sz="620" strike="noStrike" u="none">
              <a:solidFill>
                <a:srgbClr val="000000"/>
              </a:solidFill>
              <a:effectLst/>
              <a:uFillTx/>
              <a:latin typeface="Times New Roman"/>
            </a:endParaRPr>
          </a:p>
        </p:txBody>
      </p:sp>
      <p:sp>
        <p:nvSpPr>
          <p:cNvPr id="427" name=""/>
          <p:cNvSpPr txBox="1"/>
          <p:nvPr/>
        </p:nvSpPr>
        <p:spPr>
          <a:xfrm>
            <a:off x="7944120" y="111096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日</a:t>
            </a:r>
            <a:endParaRPr b="0" lang="en-US" sz="620" strike="noStrike" u="none">
              <a:solidFill>
                <a:srgbClr val="000000"/>
              </a:solidFill>
              <a:effectLst/>
              <a:uFillTx/>
              <a:latin typeface="Times New Roman"/>
            </a:endParaRPr>
          </a:p>
        </p:txBody>
      </p:sp>
      <p:sp>
        <p:nvSpPr>
          <p:cNvPr id="428" name=""/>
          <p:cNvSpPr txBox="1"/>
          <p:nvPr/>
        </p:nvSpPr>
        <p:spPr>
          <a:xfrm>
            <a:off x="4387680" y="1268640"/>
            <a:ext cx="327780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関節の変性疾患、関節の炎症性疾患、熱傷瘢痕による関節拘縮、その他これらに準ずるもの</a:t>
            </a:r>
            <a:endParaRPr b="0" lang="en-US" sz="620" strike="noStrike" u="none">
              <a:solidFill>
                <a:srgbClr val="000000"/>
              </a:solidFill>
              <a:effectLst/>
              <a:uFillTx/>
              <a:latin typeface="Times New Roman"/>
            </a:endParaRPr>
          </a:p>
        </p:txBody>
      </p:sp>
      <p:sp>
        <p:nvSpPr>
          <p:cNvPr id="429" name=""/>
          <p:cNvSpPr txBox="1"/>
          <p:nvPr/>
        </p:nvSpPr>
        <p:spPr>
          <a:xfrm>
            <a:off x="7793640" y="1271520"/>
            <a:ext cx="1519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150</a:t>
            </a:r>
            <a:endParaRPr b="0" lang="en-US" sz="620" strike="noStrike" u="none">
              <a:solidFill>
                <a:srgbClr val="000000"/>
              </a:solidFill>
              <a:effectLst/>
              <a:uFillTx/>
              <a:latin typeface="Times New Roman"/>
            </a:endParaRPr>
          </a:p>
        </p:txBody>
      </p:sp>
      <p:sp>
        <p:nvSpPr>
          <p:cNvPr id="430" name=""/>
          <p:cNvSpPr txBox="1"/>
          <p:nvPr/>
        </p:nvSpPr>
        <p:spPr>
          <a:xfrm>
            <a:off x="7944120" y="126864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日</a:t>
            </a:r>
            <a:endParaRPr b="0" lang="en-US" sz="620" strike="noStrike" u="none">
              <a:solidFill>
                <a:srgbClr val="000000"/>
              </a:solidFill>
              <a:effectLst/>
              <a:uFillTx/>
              <a:latin typeface="Times New Roman"/>
            </a:endParaRPr>
          </a:p>
        </p:txBody>
      </p:sp>
      <p:sp>
        <p:nvSpPr>
          <p:cNvPr id="431" name=""/>
          <p:cNvSpPr txBox="1"/>
          <p:nvPr/>
        </p:nvSpPr>
        <p:spPr>
          <a:xfrm>
            <a:off x="4387680" y="1426320"/>
            <a:ext cx="223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上・下肢の骨折、脱臼、靭帯損傷、その他これらに準ずるもの</a:t>
            </a:r>
            <a:endParaRPr b="0" lang="en-US" sz="620" strike="noStrike" u="none">
              <a:solidFill>
                <a:srgbClr val="000000"/>
              </a:solidFill>
              <a:effectLst/>
              <a:uFillTx/>
              <a:latin typeface="Times New Roman"/>
            </a:endParaRPr>
          </a:p>
        </p:txBody>
      </p:sp>
      <p:sp>
        <p:nvSpPr>
          <p:cNvPr id="432" name=""/>
          <p:cNvSpPr txBox="1"/>
          <p:nvPr/>
        </p:nvSpPr>
        <p:spPr>
          <a:xfrm>
            <a:off x="7793640" y="1429200"/>
            <a:ext cx="1519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150</a:t>
            </a:r>
            <a:endParaRPr b="0" lang="en-US" sz="620" strike="noStrike" u="none">
              <a:solidFill>
                <a:srgbClr val="000000"/>
              </a:solidFill>
              <a:effectLst/>
              <a:uFillTx/>
              <a:latin typeface="Times New Roman"/>
            </a:endParaRPr>
          </a:p>
        </p:txBody>
      </p:sp>
      <p:sp>
        <p:nvSpPr>
          <p:cNvPr id="433" name=""/>
          <p:cNvSpPr txBox="1"/>
          <p:nvPr/>
        </p:nvSpPr>
        <p:spPr>
          <a:xfrm>
            <a:off x="7944120" y="142632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日</a:t>
            </a:r>
            <a:endParaRPr b="0" lang="en-US" sz="620" strike="noStrike" u="none">
              <a:solidFill>
                <a:srgbClr val="000000"/>
              </a:solidFill>
              <a:effectLst/>
              <a:uFillTx/>
              <a:latin typeface="Times New Roman"/>
            </a:endParaRPr>
          </a:p>
        </p:txBody>
      </p:sp>
      <p:sp>
        <p:nvSpPr>
          <p:cNvPr id="434" name=""/>
          <p:cNvSpPr txBox="1"/>
          <p:nvPr/>
        </p:nvSpPr>
        <p:spPr>
          <a:xfrm>
            <a:off x="4387680" y="1584000"/>
            <a:ext cx="23194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脊椎・骨盤の骨折、脱臼、靭帯損傷、その他これらに準ずるもの</a:t>
            </a:r>
            <a:endParaRPr b="0" lang="en-US" sz="620" strike="noStrike" u="none">
              <a:solidFill>
                <a:srgbClr val="000000"/>
              </a:solidFill>
              <a:effectLst/>
              <a:uFillTx/>
              <a:latin typeface="Times New Roman"/>
            </a:endParaRPr>
          </a:p>
        </p:txBody>
      </p:sp>
      <p:sp>
        <p:nvSpPr>
          <p:cNvPr id="435" name=""/>
          <p:cNvSpPr txBox="1"/>
          <p:nvPr/>
        </p:nvSpPr>
        <p:spPr>
          <a:xfrm>
            <a:off x="7793640" y="1586880"/>
            <a:ext cx="1519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150</a:t>
            </a:r>
            <a:endParaRPr b="0" lang="en-US" sz="620" strike="noStrike" u="none">
              <a:solidFill>
                <a:srgbClr val="000000"/>
              </a:solidFill>
              <a:effectLst/>
              <a:uFillTx/>
              <a:latin typeface="Times New Roman"/>
            </a:endParaRPr>
          </a:p>
        </p:txBody>
      </p:sp>
      <p:sp>
        <p:nvSpPr>
          <p:cNvPr id="436" name=""/>
          <p:cNvSpPr txBox="1"/>
          <p:nvPr/>
        </p:nvSpPr>
        <p:spPr>
          <a:xfrm>
            <a:off x="7944120" y="158400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日</a:t>
            </a:r>
            <a:endParaRPr b="0" lang="en-US" sz="620" strike="noStrike" u="none">
              <a:solidFill>
                <a:srgbClr val="000000"/>
              </a:solidFill>
              <a:effectLst/>
              <a:uFillTx/>
              <a:latin typeface="Times New Roman"/>
            </a:endParaRPr>
          </a:p>
        </p:txBody>
      </p:sp>
      <p:sp>
        <p:nvSpPr>
          <p:cNvPr id="437" name=""/>
          <p:cNvSpPr txBox="1"/>
          <p:nvPr/>
        </p:nvSpPr>
        <p:spPr>
          <a:xfrm>
            <a:off x="4387680" y="1741680"/>
            <a:ext cx="19213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体幹・四肢の軟部組織損傷、その他これに準ずるもの</a:t>
            </a:r>
            <a:endParaRPr b="0" lang="en-US" sz="620" strike="noStrike" u="none">
              <a:solidFill>
                <a:srgbClr val="000000"/>
              </a:solidFill>
              <a:effectLst/>
              <a:uFillTx/>
              <a:latin typeface="Times New Roman"/>
            </a:endParaRPr>
          </a:p>
        </p:txBody>
      </p:sp>
      <p:sp>
        <p:nvSpPr>
          <p:cNvPr id="438" name=""/>
          <p:cNvSpPr txBox="1"/>
          <p:nvPr/>
        </p:nvSpPr>
        <p:spPr>
          <a:xfrm>
            <a:off x="7793640" y="1744200"/>
            <a:ext cx="1519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150</a:t>
            </a:r>
            <a:endParaRPr b="0" lang="en-US" sz="620" strike="noStrike" u="none">
              <a:solidFill>
                <a:srgbClr val="000000"/>
              </a:solidFill>
              <a:effectLst/>
              <a:uFillTx/>
              <a:latin typeface="Times New Roman"/>
            </a:endParaRPr>
          </a:p>
        </p:txBody>
      </p:sp>
      <p:sp>
        <p:nvSpPr>
          <p:cNvPr id="439" name=""/>
          <p:cNvSpPr txBox="1"/>
          <p:nvPr/>
        </p:nvSpPr>
        <p:spPr>
          <a:xfrm>
            <a:off x="7944120" y="174168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日</a:t>
            </a:r>
            <a:endParaRPr b="0" lang="en-US" sz="620" strike="noStrike" u="none">
              <a:solidFill>
                <a:srgbClr val="000000"/>
              </a:solidFill>
              <a:effectLst/>
              <a:uFillTx/>
              <a:latin typeface="Times New Roman"/>
            </a:endParaRPr>
          </a:p>
        </p:txBody>
      </p:sp>
      <p:sp>
        <p:nvSpPr>
          <p:cNvPr id="440" name=""/>
          <p:cNvSpPr txBox="1"/>
          <p:nvPr/>
        </p:nvSpPr>
        <p:spPr>
          <a:xfrm>
            <a:off x="4387680" y="1899360"/>
            <a:ext cx="281160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慢性疼痛（運動器リハビリテーションによって改善が期待できるものに限る）</a:t>
            </a:r>
            <a:endParaRPr b="0" lang="en-US" sz="620" strike="noStrike" u="none">
              <a:solidFill>
                <a:srgbClr val="000000"/>
              </a:solidFill>
              <a:effectLst/>
              <a:uFillTx/>
              <a:latin typeface="Times New Roman"/>
            </a:endParaRPr>
          </a:p>
        </p:txBody>
      </p:sp>
      <p:sp>
        <p:nvSpPr>
          <p:cNvPr id="441" name=""/>
          <p:cNvSpPr txBox="1"/>
          <p:nvPr/>
        </p:nvSpPr>
        <p:spPr>
          <a:xfrm>
            <a:off x="7793640" y="1901880"/>
            <a:ext cx="1519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150</a:t>
            </a:r>
            <a:endParaRPr b="0" lang="en-US" sz="620" strike="noStrike" u="none">
              <a:solidFill>
                <a:srgbClr val="000000"/>
              </a:solidFill>
              <a:effectLst/>
              <a:uFillTx/>
              <a:latin typeface="Times New Roman"/>
            </a:endParaRPr>
          </a:p>
        </p:txBody>
      </p:sp>
      <p:sp>
        <p:nvSpPr>
          <p:cNvPr id="442" name=""/>
          <p:cNvSpPr txBox="1"/>
          <p:nvPr/>
        </p:nvSpPr>
        <p:spPr>
          <a:xfrm>
            <a:off x="7944120" y="189936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日</a:t>
            </a:r>
            <a:endParaRPr b="0" lang="en-US" sz="620" strike="noStrike" u="none">
              <a:solidFill>
                <a:srgbClr val="000000"/>
              </a:solidFill>
              <a:effectLst/>
              <a:uFillTx/>
              <a:latin typeface="Times New Roman"/>
            </a:endParaRPr>
          </a:p>
        </p:txBody>
      </p:sp>
      <p:sp>
        <p:nvSpPr>
          <p:cNvPr id="443" name=""/>
          <p:cNvSpPr txBox="1"/>
          <p:nvPr/>
        </p:nvSpPr>
        <p:spPr>
          <a:xfrm>
            <a:off x="4361400" y="2059560"/>
            <a:ext cx="78480" cy="91800"/>
          </a:xfrm>
          <a:prstGeom prst="rect">
            <a:avLst/>
          </a:prstGeom>
          <a:noFill/>
          <a:ln w="0">
            <a:noFill/>
          </a:ln>
        </p:spPr>
        <p:txBody>
          <a:bodyPr wrap="none" lIns="0" rIns="0" tIns="0" bIns="0" anchor="t">
            <a:spAutoFit/>
          </a:bodyPr>
          <a:p>
            <a:r>
              <a:rPr b="0" lang="en-US" sz="620" strike="noStrike" u="none">
                <a:solidFill>
                  <a:srgbClr val="6b7280"/>
                </a:solidFill>
                <a:effectLst/>
                <a:uFillTx/>
                <a:latin typeface="DejaVuSans"/>
                <a:ea typeface="DejaVuSans"/>
              </a:rPr>
              <a:t>※</a:t>
            </a:r>
            <a:endParaRPr b="0" lang="en-US" sz="620" strike="noStrike" u="none">
              <a:solidFill>
                <a:srgbClr val="000000"/>
              </a:solidFill>
              <a:effectLst/>
              <a:uFillTx/>
              <a:latin typeface="Times New Roman"/>
            </a:endParaRPr>
          </a:p>
        </p:txBody>
      </p:sp>
      <p:sp>
        <p:nvSpPr>
          <p:cNvPr id="444" name=""/>
          <p:cNvSpPr txBox="1"/>
          <p:nvPr/>
        </p:nvSpPr>
        <p:spPr>
          <a:xfrm>
            <a:off x="4427640" y="2057040"/>
            <a:ext cx="1996920" cy="99720"/>
          </a:xfrm>
          <a:prstGeom prst="rect">
            <a:avLst/>
          </a:prstGeom>
          <a:noFill/>
          <a:ln w="0">
            <a:noFill/>
          </a:ln>
        </p:spPr>
        <p:txBody>
          <a:bodyPr wrap="none" lIns="0" rIns="0" tIns="0" bIns="0" anchor="t">
            <a:spAutoFit/>
          </a:bodyPr>
          <a:p>
            <a:r>
              <a:rPr b="0" lang="zh-CN" sz="620" strike="noStrike" u="none">
                <a:solidFill>
                  <a:srgbClr val="6b7280"/>
                </a:solidFill>
                <a:effectLst/>
                <a:uFillTx/>
                <a:latin typeface="WenQuanYiZenHei"/>
                <a:ea typeface="WenQuanYiZenHei"/>
              </a:rPr>
              <a:t>標準的算定日数を超えても状態改善が期待できる場合、</a:t>
            </a:r>
            <a:endParaRPr b="0" lang="en-US" sz="620" strike="noStrike" u="none">
              <a:solidFill>
                <a:srgbClr val="000000"/>
              </a:solidFill>
              <a:effectLst/>
              <a:uFillTx/>
              <a:latin typeface="Times New Roman"/>
            </a:endParaRPr>
          </a:p>
        </p:txBody>
      </p:sp>
      <p:sp>
        <p:nvSpPr>
          <p:cNvPr id="445" name=""/>
          <p:cNvSpPr txBox="1"/>
          <p:nvPr/>
        </p:nvSpPr>
        <p:spPr>
          <a:xfrm>
            <a:off x="6397920" y="2059560"/>
            <a:ext cx="78480" cy="91800"/>
          </a:xfrm>
          <a:prstGeom prst="rect">
            <a:avLst/>
          </a:prstGeom>
          <a:noFill/>
          <a:ln w="0">
            <a:noFill/>
          </a:ln>
        </p:spPr>
        <p:txBody>
          <a:bodyPr wrap="none" lIns="0" rIns="0" tIns="0" bIns="0" anchor="t">
            <a:spAutoFit/>
          </a:bodyPr>
          <a:p>
            <a:r>
              <a:rPr b="0" lang="en-US" sz="620" strike="noStrike" u="none">
                <a:solidFill>
                  <a:srgbClr val="6b7280"/>
                </a:solidFill>
                <a:effectLst/>
                <a:uFillTx/>
                <a:latin typeface="DejaVuSans"/>
                <a:ea typeface="DejaVuSans"/>
              </a:rPr>
              <a:t>1</a:t>
            </a:r>
            <a:endParaRPr b="0" lang="en-US" sz="620" strike="noStrike" u="none">
              <a:solidFill>
                <a:srgbClr val="000000"/>
              </a:solidFill>
              <a:effectLst/>
              <a:uFillTx/>
              <a:latin typeface="Times New Roman"/>
            </a:endParaRPr>
          </a:p>
        </p:txBody>
      </p:sp>
      <p:sp>
        <p:nvSpPr>
          <p:cNvPr id="446" name=""/>
          <p:cNvSpPr txBox="1"/>
          <p:nvPr/>
        </p:nvSpPr>
        <p:spPr>
          <a:xfrm>
            <a:off x="6448320" y="2057040"/>
            <a:ext cx="79920" cy="99720"/>
          </a:xfrm>
          <a:prstGeom prst="rect">
            <a:avLst/>
          </a:prstGeom>
          <a:noFill/>
          <a:ln w="0">
            <a:noFill/>
          </a:ln>
        </p:spPr>
        <p:txBody>
          <a:bodyPr wrap="none" lIns="0" rIns="0" tIns="0" bIns="0" anchor="t">
            <a:spAutoFit/>
          </a:bodyPr>
          <a:p>
            <a:r>
              <a:rPr b="0" lang="zh-CN" sz="620" strike="noStrike" u="none">
                <a:solidFill>
                  <a:srgbClr val="6b7280"/>
                </a:solidFill>
                <a:effectLst/>
                <a:uFillTx/>
                <a:latin typeface="WenQuanYiZenHei"/>
                <a:ea typeface="WenQuanYiZenHei"/>
              </a:rPr>
              <a:t>月</a:t>
            </a:r>
            <a:endParaRPr b="0" lang="en-US" sz="620" strike="noStrike" u="none">
              <a:solidFill>
                <a:srgbClr val="000000"/>
              </a:solidFill>
              <a:effectLst/>
              <a:uFillTx/>
              <a:latin typeface="Times New Roman"/>
            </a:endParaRPr>
          </a:p>
        </p:txBody>
      </p:sp>
      <p:sp>
        <p:nvSpPr>
          <p:cNvPr id="447" name=""/>
          <p:cNvSpPr txBox="1"/>
          <p:nvPr/>
        </p:nvSpPr>
        <p:spPr>
          <a:xfrm>
            <a:off x="6527160" y="2059560"/>
            <a:ext cx="101520" cy="91800"/>
          </a:xfrm>
          <a:prstGeom prst="rect">
            <a:avLst/>
          </a:prstGeom>
          <a:noFill/>
          <a:ln w="0">
            <a:noFill/>
          </a:ln>
        </p:spPr>
        <p:txBody>
          <a:bodyPr wrap="none" lIns="0" rIns="0" tIns="0" bIns="0" anchor="t">
            <a:spAutoFit/>
          </a:bodyPr>
          <a:p>
            <a:r>
              <a:rPr b="0" lang="en-US" sz="620" strike="noStrike" u="none">
                <a:solidFill>
                  <a:srgbClr val="6b7280"/>
                </a:solidFill>
                <a:effectLst/>
                <a:uFillTx/>
                <a:latin typeface="DejaVuSans"/>
                <a:ea typeface="DejaVuSans"/>
              </a:rPr>
              <a:t>13</a:t>
            </a:r>
            <a:endParaRPr b="0" lang="en-US" sz="620" strike="noStrike" u="none">
              <a:solidFill>
                <a:srgbClr val="000000"/>
              </a:solidFill>
              <a:effectLst/>
              <a:uFillTx/>
              <a:latin typeface="Times New Roman"/>
            </a:endParaRPr>
          </a:p>
        </p:txBody>
      </p:sp>
      <p:pic>
        <p:nvPicPr>
          <p:cNvPr id="448" name="" descr=""/>
          <p:cNvPicPr/>
          <p:nvPr/>
        </p:nvPicPr>
        <p:blipFill>
          <a:blip r:embed="rId18"/>
          <a:stretch/>
        </p:blipFill>
        <p:spPr>
          <a:xfrm>
            <a:off x="4361400" y="2441520"/>
            <a:ext cx="157320" cy="157320"/>
          </a:xfrm>
          <a:prstGeom prst="rect">
            <a:avLst/>
          </a:prstGeom>
          <a:noFill/>
          <a:ln w="0">
            <a:noFill/>
          </a:ln>
        </p:spPr>
      </p:pic>
      <p:sp>
        <p:nvSpPr>
          <p:cNvPr id="449" name=""/>
          <p:cNvSpPr txBox="1"/>
          <p:nvPr/>
        </p:nvSpPr>
        <p:spPr>
          <a:xfrm>
            <a:off x="6627240" y="2057040"/>
            <a:ext cx="955440" cy="99720"/>
          </a:xfrm>
          <a:prstGeom prst="rect">
            <a:avLst/>
          </a:prstGeom>
          <a:noFill/>
          <a:ln w="0">
            <a:noFill/>
          </a:ln>
        </p:spPr>
        <p:txBody>
          <a:bodyPr wrap="none" lIns="0" rIns="0" tIns="0" bIns="0" anchor="t">
            <a:spAutoFit/>
          </a:bodyPr>
          <a:p>
            <a:r>
              <a:rPr b="0" lang="zh-CN" sz="620" strike="noStrike" u="none">
                <a:solidFill>
                  <a:srgbClr val="6b7280"/>
                </a:solidFill>
                <a:effectLst/>
                <a:uFillTx/>
                <a:latin typeface="WenQuanYiZenHei"/>
                <a:ea typeface="WenQuanYiZenHei"/>
              </a:rPr>
              <a:t>単位を限度に継続算定可能</a:t>
            </a:r>
            <a:endParaRPr b="0" lang="en-US" sz="620" strike="noStrike" u="none">
              <a:solidFill>
                <a:srgbClr val="000000"/>
              </a:solidFill>
              <a:effectLst/>
              <a:uFillTx/>
              <a:latin typeface="Times New Roman"/>
            </a:endParaRPr>
          </a:p>
        </p:txBody>
      </p:sp>
      <p:pic>
        <p:nvPicPr>
          <p:cNvPr id="450" name="" descr=""/>
          <p:cNvPicPr/>
          <p:nvPr/>
        </p:nvPicPr>
        <p:blipFill>
          <a:blip r:embed="rId19"/>
          <a:stretch/>
        </p:blipFill>
        <p:spPr>
          <a:xfrm>
            <a:off x="4597920" y="2658240"/>
            <a:ext cx="104760" cy="91440"/>
          </a:xfrm>
          <a:prstGeom prst="rect">
            <a:avLst/>
          </a:prstGeom>
          <a:noFill/>
          <a:ln w="0">
            <a:noFill/>
          </a:ln>
        </p:spPr>
      </p:pic>
      <p:sp>
        <p:nvSpPr>
          <p:cNvPr id="451" name=""/>
          <p:cNvSpPr txBox="1"/>
          <p:nvPr/>
        </p:nvSpPr>
        <p:spPr>
          <a:xfrm>
            <a:off x="4597920" y="2439360"/>
            <a:ext cx="707400" cy="148320"/>
          </a:xfrm>
          <a:prstGeom prst="rect">
            <a:avLst/>
          </a:prstGeom>
          <a:noFill/>
          <a:ln w="0">
            <a:noFill/>
          </a:ln>
        </p:spPr>
        <p:txBody>
          <a:bodyPr wrap="none" lIns="0" rIns="0" tIns="0" bIns="0" anchor="t">
            <a:spAutoFit/>
          </a:bodyPr>
          <a:p>
            <a:r>
              <a:rPr b="0" lang="zh-CN" sz="930" strike="noStrike" u="none">
                <a:solidFill>
                  <a:srgbClr val="6d28d9"/>
                </a:solidFill>
                <a:effectLst/>
                <a:uFillTx/>
                <a:latin typeface="WenQuanYiZenHei"/>
                <a:ea typeface="WenQuanYiZenHei"/>
              </a:rPr>
              <a:t>主な加算項目</a:t>
            </a:r>
            <a:endParaRPr b="0" lang="en-US" sz="930" strike="noStrike" u="none">
              <a:solidFill>
                <a:srgbClr val="000000"/>
              </a:solidFill>
              <a:effectLst/>
              <a:uFillTx/>
              <a:latin typeface="Times New Roman"/>
            </a:endParaRPr>
          </a:p>
        </p:txBody>
      </p:sp>
      <p:sp>
        <p:nvSpPr>
          <p:cNvPr id="452" name=""/>
          <p:cNvSpPr txBox="1"/>
          <p:nvPr/>
        </p:nvSpPr>
        <p:spPr>
          <a:xfrm>
            <a:off x="4755600" y="2642040"/>
            <a:ext cx="45792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初期加算：</a:t>
            </a:r>
            <a:endParaRPr b="0" lang="en-US" sz="730" strike="noStrike" u="none">
              <a:solidFill>
                <a:srgbClr val="000000"/>
              </a:solidFill>
              <a:effectLst/>
              <a:uFillTx/>
              <a:latin typeface="Times New Roman"/>
            </a:endParaRPr>
          </a:p>
        </p:txBody>
      </p:sp>
      <p:sp>
        <p:nvSpPr>
          <p:cNvPr id="453" name=""/>
          <p:cNvSpPr txBox="1"/>
          <p:nvPr/>
        </p:nvSpPr>
        <p:spPr>
          <a:xfrm>
            <a:off x="5215320" y="2645280"/>
            <a:ext cx="117000" cy="106920"/>
          </a:xfrm>
          <a:prstGeom prst="rect">
            <a:avLst/>
          </a:prstGeom>
          <a:noFill/>
          <a:ln w="0">
            <a:noFill/>
          </a:ln>
        </p:spPr>
        <p:txBody>
          <a:bodyPr wrap="none" lIns="0" rIns="0" tIns="0" bIns="0" anchor="t">
            <a:spAutoFit/>
          </a:bodyPr>
          <a:p>
            <a:r>
              <a:rPr b="0" lang="en-US" sz="730" strike="noStrike" u="none">
                <a:solidFill>
                  <a:srgbClr val="4b5563"/>
                </a:solidFill>
                <a:effectLst/>
                <a:uFillTx/>
                <a:latin typeface="DejaVuSans"/>
                <a:ea typeface="DejaVuSans"/>
              </a:rPr>
              <a:t>45</a:t>
            </a:r>
            <a:endParaRPr b="0" lang="en-US" sz="730" strike="noStrike" u="none">
              <a:solidFill>
                <a:srgbClr val="000000"/>
              </a:solidFill>
              <a:effectLst/>
              <a:uFillTx/>
              <a:latin typeface="Times New Roman"/>
            </a:endParaRPr>
          </a:p>
        </p:txBody>
      </p:sp>
      <p:sp>
        <p:nvSpPr>
          <p:cNvPr id="454" name=""/>
          <p:cNvSpPr txBox="1"/>
          <p:nvPr/>
        </p:nvSpPr>
        <p:spPr>
          <a:xfrm>
            <a:off x="5332320" y="2642040"/>
            <a:ext cx="9216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点</a:t>
            </a:r>
            <a:endParaRPr b="0" lang="en-US" sz="730" strike="noStrike" u="none">
              <a:solidFill>
                <a:srgbClr val="000000"/>
              </a:solidFill>
              <a:effectLst/>
              <a:uFillTx/>
              <a:latin typeface="Times New Roman"/>
            </a:endParaRPr>
          </a:p>
        </p:txBody>
      </p:sp>
      <p:sp>
        <p:nvSpPr>
          <p:cNvPr id="455" name=""/>
          <p:cNvSpPr txBox="1"/>
          <p:nvPr/>
        </p:nvSpPr>
        <p:spPr>
          <a:xfrm>
            <a:off x="5424480" y="2645280"/>
            <a:ext cx="91440" cy="106920"/>
          </a:xfrm>
          <a:prstGeom prst="rect">
            <a:avLst/>
          </a:prstGeom>
          <a:noFill/>
          <a:ln w="0">
            <a:noFill/>
          </a:ln>
        </p:spPr>
        <p:txBody>
          <a:bodyPr wrap="none" lIns="0" rIns="0" tIns="0" bIns="0" anchor="t">
            <a:spAutoFit/>
          </a:bodyPr>
          <a:p>
            <a:r>
              <a:rPr b="0" lang="en-US" sz="730" strike="noStrike" u="none">
                <a:solidFill>
                  <a:srgbClr val="4b5563"/>
                </a:solidFill>
                <a:effectLst/>
                <a:uFillTx/>
                <a:latin typeface="DejaVuSans"/>
                <a:ea typeface="DejaVuSans"/>
              </a:rPr>
              <a:t>/</a:t>
            </a:r>
            <a:endParaRPr b="0" lang="en-US" sz="730" strike="noStrike" u="none">
              <a:solidFill>
                <a:srgbClr val="000000"/>
              </a:solidFill>
              <a:effectLst/>
              <a:uFillTx/>
              <a:latin typeface="Times New Roman"/>
            </a:endParaRPr>
          </a:p>
        </p:txBody>
      </p:sp>
      <p:sp>
        <p:nvSpPr>
          <p:cNvPr id="456" name=""/>
          <p:cNvSpPr txBox="1"/>
          <p:nvPr/>
        </p:nvSpPr>
        <p:spPr>
          <a:xfrm>
            <a:off x="5455440" y="2642040"/>
            <a:ext cx="18360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単位</a:t>
            </a:r>
            <a:endParaRPr b="0" lang="en-US" sz="730" strike="noStrike" u="none">
              <a:solidFill>
                <a:srgbClr val="000000"/>
              </a:solidFill>
              <a:effectLst/>
              <a:uFillTx/>
              <a:latin typeface="Times New Roman"/>
            </a:endParaRPr>
          </a:p>
        </p:txBody>
      </p:sp>
      <p:sp>
        <p:nvSpPr>
          <p:cNvPr id="457" name=""/>
          <p:cNvSpPr txBox="1"/>
          <p:nvPr/>
        </p:nvSpPr>
        <p:spPr>
          <a:xfrm>
            <a:off x="4755600" y="2766240"/>
            <a:ext cx="119880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発症、手術若しくは急性増悪から</a:t>
            </a:r>
            <a:endParaRPr b="0" lang="en-US" sz="620" strike="noStrike" u="none">
              <a:solidFill>
                <a:srgbClr val="000000"/>
              </a:solidFill>
              <a:effectLst/>
              <a:uFillTx/>
              <a:latin typeface="Times New Roman"/>
            </a:endParaRPr>
          </a:p>
        </p:txBody>
      </p:sp>
      <p:sp>
        <p:nvSpPr>
          <p:cNvPr id="458" name=""/>
          <p:cNvSpPr txBox="1"/>
          <p:nvPr/>
        </p:nvSpPr>
        <p:spPr>
          <a:xfrm>
            <a:off x="5937840" y="2769120"/>
            <a:ext cx="10152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14</a:t>
            </a:r>
            <a:endParaRPr b="0" lang="en-US" sz="620" strike="noStrike" u="none">
              <a:solidFill>
                <a:srgbClr val="000000"/>
              </a:solidFill>
              <a:effectLst/>
              <a:uFillTx/>
              <a:latin typeface="Times New Roman"/>
            </a:endParaRPr>
          </a:p>
        </p:txBody>
      </p:sp>
      <p:pic>
        <p:nvPicPr>
          <p:cNvPr id="459" name="" descr=""/>
          <p:cNvPicPr/>
          <p:nvPr/>
        </p:nvPicPr>
        <p:blipFill>
          <a:blip r:embed="rId20"/>
          <a:stretch/>
        </p:blipFill>
        <p:spPr>
          <a:xfrm>
            <a:off x="4597920" y="2947320"/>
            <a:ext cx="104760" cy="91440"/>
          </a:xfrm>
          <a:prstGeom prst="rect">
            <a:avLst/>
          </a:prstGeom>
          <a:noFill/>
          <a:ln w="0">
            <a:noFill/>
          </a:ln>
        </p:spPr>
      </p:pic>
      <p:sp>
        <p:nvSpPr>
          <p:cNvPr id="460" name=""/>
          <p:cNvSpPr txBox="1"/>
          <p:nvPr/>
        </p:nvSpPr>
        <p:spPr>
          <a:xfrm>
            <a:off x="6038280" y="2766240"/>
            <a:ext cx="71964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日以内に行った場合</a:t>
            </a:r>
            <a:endParaRPr b="0" lang="en-US" sz="620" strike="noStrike" u="none">
              <a:solidFill>
                <a:srgbClr val="000000"/>
              </a:solidFill>
              <a:effectLst/>
              <a:uFillTx/>
              <a:latin typeface="Times New Roman"/>
            </a:endParaRPr>
          </a:p>
        </p:txBody>
      </p:sp>
      <p:sp>
        <p:nvSpPr>
          <p:cNvPr id="461" name=""/>
          <p:cNvSpPr txBox="1"/>
          <p:nvPr/>
        </p:nvSpPr>
        <p:spPr>
          <a:xfrm>
            <a:off x="4755600" y="2931120"/>
            <a:ext cx="138960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急性期リハビリテーション加算：</a:t>
            </a:r>
            <a:endParaRPr b="0" lang="en-US" sz="730" strike="noStrike" u="none">
              <a:solidFill>
                <a:srgbClr val="000000"/>
              </a:solidFill>
              <a:effectLst/>
              <a:uFillTx/>
              <a:latin typeface="Times New Roman"/>
            </a:endParaRPr>
          </a:p>
        </p:txBody>
      </p:sp>
      <p:sp>
        <p:nvSpPr>
          <p:cNvPr id="462" name=""/>
          <p:cNvSpPr txBox="1"/>
          <p:nvPr/>
        </p:nvSpPr>
        <p:spPr>
          <a:xfrm>
            <a:off x="6135120" y="2934360"/>
            <a:ext cx="117000" cy="106920"/>
          </a:xfrm>
          <a:prstGeom prst="rect">
            <a:avLst/>
          </a:prstGeom>
          <a:noFill/>
          <a:ln w="0">
            <a:noFill/>
          </a:ln>
        </p:spPr>
        <p:txBody>
          <a:bodyPr wrap="none" lIns="0" rIns="0" tIns="0" bIns="0" anchor="t">
            <a:spAutoFit/>
          </a:bodyPr>
          <a:p>
            <a:r>
              <a:rPr b="0" lang="en-US" sz="730" strike="noStrike" u="none">
                <a:solidFill>
                  <a:srgbClr val="4b5563"/>
                </a:solidFill>
                <a:effectLst/>
                <a:uFillTx/>
                <a:latin typeface="DejaVuSans"/>
                <a:ea typeface="DejaVuSans"/>
              </a:rPr>
              <a:t>50</a:t>
            </a:r>
            <a:endParaRPr b="0" lang="en-US" sz="730" strike="noStrike" u="none">
              <a:solidFill>
                <a:srgbClr val="000000"/>
              </a:solidFill>
              <a:effectLst/>
              <a:uFillTx/>
              <a:latin typeface="Times New Roman"/>
            </a:endParaRPr>
          </a:p>
        </p:txBody>
      </p:sp>
      <p:sp>
        <p:nvSpPr>
          <p:cNvPr id="463" name=""/>
          <p:cNvSpPr txBox="1"/>
          <p:nvPr/>
        </p:nvSpPr>
        <p:spPr>
          <a:xfrm>
            <a:off x="6252120" y="2931120"/>
            <a:ext cx="9216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点</a:t>
            </a:r>
            <a:endParaRPr b="0" lang="en-US" sz="730" strike="noStrike" u="none">
              <a:solidFill>
                <a:srgbClr val="000000"/>
              </a:solidFill>
              <a:effectLst/>
              <a:uFillTx/>
              <a:latin typeface="Times New Roman"/>
            </a:endParaRPr>
          </a:p>
        </p:txBody>
      </p:sp>
      <p:sp>
        <p:nvSpPr>
          <p:cNvPr id="464" name=""/>
          <p:cNvSpPr txBox="1"/>
          <p:nvPr/>
        </p:nvSpPr>
        <p:spPr>
          <a:xfrm>
            <a:off x="6343920" y="2934360"/>
            <a:ext cx="91440" cy="106920"/>
          </a:xfrm>
          <a:prstGeom prst="rect">
            <a:avLst/>
          </a:prstGeom>
          <a:noFill/>
          <a:ln w="0">
            <a:noFill/>
          </a:ln>
        </p:spPr>
        <p:txBody>
          <a:bodyPr wrap="none" lIns="0" rIns="0" tIns="0" bIns="0" anchor="t">
            <a:spAutoFit/>
          </a:bodyPr>
          <a:p>
            <a:r>
              <a:rPr b="0" lang="en-US" sz="730" strike="noStrike" u="none">
                <a:solidFill>
                  <a:srgbClr val="4b5563"/>
                </a:solidFill>
                <a:effectLst/>
                <a:uFillTx/>
                <a:latin typeface="DejaVuSans"/>
                <a:ea typeface="DejaVuSans"/>
              </a:rPr>
              <a:t>/</a:t>
            </a:r>
            <a:endParaRPr b="0" lang="en-US" sz="730" strike="noStrike" u="none">
              <a:solidFill>
                <a:srgbClr val="000000"/>
              </a:solidFill>
              <a:effectLst/>
              <a:uFillTx/>
              <a:latin typeface="Times New Roman"/>
            </a:endParaRPr>
          </a:p>
        </p:txBody>
      </p:sp>
      <p:sp>
        <p:nvSpPr>
          <p:cNvPr id="465" name=""/>
          <p:cNvSpPr txBox="1"/>
          <p:nvPr/>
        </p:nvSpPr>
        <p:spPr>
          <a:xfrm>
            <a:off x="6374880" y="2931120"/>
            <a:ext cx="9216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回</a:t>
            </a:r>
            <a:endParaRPr b="0" lang="en-US" sz="730" strike="noStrike" u="none">
              <a:solidFill>
                <a:srgbClr val="000000"/>
              </a:solidFill>
              <a:effectLst/>
              <a:uFillTx/>
              <a:latin typeface="Times New Roman"/>
            </a:endParaRPr>
          </a:p>
        </p:txBody>
      </p:sp>
      <p:sp>
        <p:nvSpPr>
          <p:cNvPr id="466" name=""/>
          <p:cNvSpPr txBox="1"/>
          <p:nvPr/>
        </p:nvSpPr>
        <p:spPr>
          <a:xfrm>
            <a:off x="4755600" y="3055320"/>
            <a:ext cx="104040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治療開始日または手術日から</a:t>
            </a:r>
            <a:endParaRPr b="0" lang="en-US" sz="620" strike="noStrike" u="none">
              <a:solidFill>
                <a:srgbClr val="000000"/>
              </a:solidFill>
              <a:effectLst/>
              <a:uFillTx/>
              <a:latin typeface="Times New Roman"/>
            </a:endParaRPr>
          </a:p>
        </p:txBody>
      </p:sp>
      <p:sp>
        <p:nvSpPr>
          <p:cNvPr id="467" name=""/>
          <p:cNvSpPr txBox="1"/>
          <p:nvPr/>
        </p:nvSpPr>
        <p:spPr>
          <a:xfrm>
            <a:off x="5780160" y="3058200"/>
            <a:ext cx="7848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7</a:t>
            </a:r>
            <a:endParaRPr b="0" lang="en-US" sz="620" strike="noStrike" u="none">
              <a:solidFill>
                <a:srgbClr val="000000"/>
              </a:solidFill>
              <a:effectLst/>
              <a:uFillTx/>
              <a:latin typeface="Times New Roman"/>
            </a:endParaRPr>
          </a:p>
        </p:txBody>
      </p:sp>
      <p:sp>
        <p:nvSpPr>
          <p:cNvPr id="468" name=""/>
          <p:cNvSpPr txBox="1"/>
          <p:nvPr/>
        </p:nvSpPr>
        <p:spPr>
          <a:xfrm>
            <a:off x="5830560" y="3055320"/>
            <a:ext cx="31788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日以内、</a:t>
            </a:r>
            <a:endParaRPr b="0" lang="en-US" sz="620" strike="noStrike" u="none">
              <a:solidFill>
                <a:srgbClr val="000000"/>
              </a:solidFill>
              <a:effectLst/>
              <a:uFillTx/>
              <a:latin typeface="Times New Roman"/>
            </a:endParaRPr>
          </a:p>
        </p:txBody>
      </p:sp>
      <p:sp>
        <p:nvSpPr>
          <p:cNvPr id="469" name=""/>
          <p:cNvSpPr txBox="1"/>
          <p:nvPr/>
        </p:nvSpPr>
        <p:spPr>
          <a:xfrm>
            <a:off x="6145560" y="3058200"/>
            <a:ext cx="16020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ADL</a:t>
            </a:r>
            <a:endParaRPr b="0" lang="en-US" sz="620" strike="noStrike" u="none">
              <a:solidFill>
                <a:srgbClr val="000000"/>
              </a:solidFill>
              <a:effectLst/>
              <a:uFillTx/>
              <a:latin typeface="Times New Roman"/>
            </a:endParaRPr>
          </a:p>
        </p:txBody>
      </p:sp>
      <p:sp>
        <p:nvSpPr>
          <p:cNvPr id="470" name=""/>
          <p:cNvSpPr txBox="1"/>
          <p:nvPr/>
        </p:nvSpPr>
        <p:spPr>
          <a:xfrm>
            <a:off x="6304320" y="3055320"/>
            <a:ext cx="39708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評価実施、</a:t>
            </a:r>
            <a:endParaRPr b="0" lang="en-US" sz="620" strike="noStrike" u="none">
              <a:solidFill>
                <a:srgbClr val="000000"/>
              </a:solidFill>
              <a:effectLst/>
              <a:uFillTx/>
              <a:latin typeface="Times New Roman"/>
            </a:endParaRPr>
          </a:p>
        </p:txBody>
      </p:sp>
      <p:sp>
        <p:nvSpPr>
          <p:cNvPr id="471" name=""/>
          <p:cNvSpPr txBox="1"/>
          <p:nvPr/>
        </p:nvSpPr>
        <p:spPr>
          <a:xfrm>
            <a:off x="6698160" y="3058200"/>
            <a:ext cx="7848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1</a:t>
            </a:r>
            <a:endParaRPr b="0" lang="en-US" sz="620" strike="noStrike" u="none">
              <a:solidFill>
                <a:srgbClr val="000000"/>
              </a:solidFill>
              <a:effectLst/>
              <a:uFillTx/>
              <a:latin typeface="Times New Roman"/>
            </a:endParaRPr>
          </a:p>
        </p:txBody>
      </p:sp>
      <p:sp>
        <p:nvSpPr>
          <p:cNvPr id="472" name=""/>
          <p:cNvSpPr txBox="1"/>
          <p:nvPr/>
        </p:nvSpPr>
        <p:spPr>
          <a:xfrm>
            <a:off x="6748560" y="3055320"/>
            <a:ext cx="7992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日</a:t>
            </a:r>
            <a:endParaRPr b="0" lang="en-US" sz="620" strike="noStrike" u="none">
              <a:solidFill>
                <a:srgbClr val="000000"/>
              </a:solidFill>
              <a:effectLst/>
              <a:uFillTx/>
              <a:latin typeface="Times New Roman"/>
            </a:endParaRPr>
          </a:p>
        </p:txBody>
      </p:sp>
      <p:sp>
        <p:nvSpPr>
          <p:cNvPr id="473" name=""/>
          <p:cNvSpPr txBox="1"/>
          <p:nvPr/>
        </p:nvSpPr>
        <p:spPr>
          <a:xfrm>
            <a:off x="6827400" y="3058200"/>
            <a:ext cx="7848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2</a:t>
            </a:r>
            <a:endParaRPr b="0" lang="en-US" sz="620" strike="noStrike" u="none">
              <a:solidFill>
                <a:srgbClr val="000000"/>
              </a:solidFill>
              <a:effectLst/>
              <a:uFillTx/>
              <a:latin typeface="Times New Roman"/>
            </a:endParaRPr>
          </a:p>
        </p:txBody>
      </p:sp>
      <p:pic>
        <p:nvPicPr>
          <p:cNvPr id="474" name="" descr=""/>
          <p:cNvPicPr/>
          <p:nvPr/>
        </p:nvPicPr>
        <p:blipFill>
          <a:blip r:embed="rId21"/>
          <a:stretch/>
        </p:blipFill>
        <p:spPr>
          <a:xfrm>
            <a:off x="4597920" y="3236400"/>
            <a:ext cx="104760" cy="91440"/>
          </a:xfrm>
          <a:prstGeom prst="rect">
            <a:avLst/>
          </a:prstGeom>
          <a:noFill/>
          <a:ln w="0">
            <a:noFill/>
          </a:ln>
        </p:spPr>
      </p:pic>
      <p:sp>
        <p:nvSpPr>
          <p:cNvPr id="475" name=""/>
          <p:cNvSpPr txBox="1"/>
          <p:nvPr/>
        </p:nvSpPr>
        <p:spPr>
          <a:xfrm>
            <a:off x="6877440" y="3055320"/>
            <a:ext cx="47628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単位以上実施</a:t>
            </a:r>
            <a:endParaRPr b="0" lang="en-US" sz="620" strike="noStrike" u="none">
              <a:solidFill>
                <a:srgbClr val="000000"/>
              </a:solidFill>
              <a:effectLst/>
              <a:uFillTx/>
              <a:latin typeface="Times New Roman"/>
            </a:endParaRPr>
          </a:p>
        </p:txBody>
      </p:sp>
      <p:sp>
        <p:nvSpPr>
          <p:cNvPr id="476" name=""/>
          <p:cNvSpPr txBox="1"/>
          <p:nvPr/>
        </p:nvSpPr>
        <p:spPr>
          <a:xfrm>
            <a:off x="4755600" y="3219840"/>
            <a:ext cx="148104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リハビリテーション総合計画評価料</a:t>
            </a:r>
            <a:endParaRPr b="0" lang="en-US" sz="730" strike="noStrike" u="none">
              <a:solidFill>
                <a:srgbClr val="000000"/>
              </a:solidFill>
              <a:effectLst/>
              <a:uFillTx/>
              <a:latin typeface="Times New Roman"/>
            </a:endParaRPr>
          </a:p>
        </p:txBody>
      </p:sp>
      <p:sp>
        <p:nvSpPr>
          <p:cNvPr id="477" name=""/>
          <p:cNvSpPr txBox="1"/>
          <p:nvPr/>
        </p:nvSpPr>
        <p:spPr>
          <a:xfrm>
            <a:off x="4755600" y="3344400"/>
            <a:ext cx="248328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多職種が共同して計画書を作成し、それに基づくリハビリ実施時（月</a:t>
            </a:r>
            <a:endParaRPr b="0" lang="en-US" sz="620" strike="noStrike" u="none">
              <a:solidFill>
                <a:srgbClr val="000000"/>
              </a:solidFill>
              <a:effectLst/>
              <a:uFillTx/>
              <a:latin typeface="Times New Roman"/>
            </a:endParaRPr>
          </a:p>
        </p:txBody>
      </p:sp>
      <p:sp>
        <p:nvSpPr>
          <p:cNvPr id="478" name=""/>
          <p:cNvSpPr txBox="1"/>
          <p:nvPr/>
        </p:nvSpPr>
        <p:spPr>
          <a:xfrm>
            <a:off x="7198920" y="3346920"/>
            <a:ext cx="7848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1</a:t>
            </a:r>
            <a:endParaRPr b="0" lang="en-US" sz="620" strike="noStrike" u="none">
              <a:solidFill>
                <a:srgbClr val="000000"/>
              </a:solidFill>
              <a:effectLst/>
              <a:uFillTx/>
              <a:latin typeface="Times New Roman"/>
            </a:endParaRPr>
          </a:p>
        </p:txBody>
      </p:sp>
      <p:sp>
        <p:nvSpPr>
          <p:cNvPr id="479" name=""/>
          <p:cNvSpPr txBox="1"/>
          <p:nvPr/>
        </p:nvSpPr>
        <p:spPr>
          <a:xfrm>
            <a:off x="7249320" y="3344400"/>
            <a:ext cx="32148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回など）</a:t>
            </a:r>
            <a:endParaRPr b="0" lang="en-US" sz="6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0" name="" descr=""/>
          <p:cNvPicPr/>
          <p:nvPr/>
        </p:nvPicPr>
        <p:blipFill>
          <a:blip r:embed="rId1"/>
          <a:stretch/>
        </p:blipFill>
        <p:spPr>
          <a:xfrm>
            <a:off x="0" y="171360"/>
            <a:ext cx="8712000" cy="4900320"/>
          </a:xfrm>
          <a:prstGeom prst="rect">
            <a:avLst/>
          </a:prstGeom>
          <a:noFill/>
          <a:ln w="0">
            <a:noFill/>
          </a:ln>
        </p:spPr>
      </p:pic>
      <p:pic>
        <p:nvPicPr>
          <p:cNvPr id="481" name="" descr=""/>
          <p:cNvPicPr/>
          <p:nvPr/>
        </p:nvPicPr>
        <p:blipFill>
          <a:blip r:embed="rId2"/>
          <a:stretch/>
        </p:blipFill>
        <p:spPr>
          <a:xfrm>
            <a:off x="4356000" y="-849600"/>
            <a:ext cx="2722320" cy="2722320"/>
          </a:xfrm>
          <a:prstGeom prst="rect">
            <a:avLst/>
          </a:prstGeom>
          <a:noFill/>
          <a:ln w="0">
            <a:noFill/>
          </a:ln>
        </p:spPr>
      </p:pic>
      <p:pic>
        <p:nvPicPr>
          <p:cNvPr id="482" name="" descr=""/>
          <p:cNvPicPr/>
          <p:nvPr/>
        </p:nvPicPr>
        <p:blipFill>
          <a:blip r:embed="rId3"/>
          <a:stretch/>
        </p:blipFill>
        <p:spPr>
          <a:xfrm>
            <a:off x="7350840" y="3710880"/>
            <a:ext cx="2041560" cy="2041560"/>
          </a:xfrm>
          <a:prstGeom prst="rect">
            <a:avLst/>
          </a:prstGeom>
          <a:noFill/>
          <a:ln w="0">
            <a:noFill/>
          </a:ln>
        </p:spPr>
      </p:pic>
      <p:pic>
        <p:nvPicPr>
          <p:cNvPr id="483" name="" descr=""/>
          <p:cNvPicPr/>
          <p:nvPr/>
        </p:nvPicPr>
        <p:blipFill>
          <a:blip r:embed="rId4"/>
          <a:stretch/>
        </p:blipFill>
        <p:spPr>
          <a:xfrm>
            <a:off x="6874560" y="4847400"/>
            <a:ext cx="122040" cy="95040"/>
          </a:xfrm>
          <a:prstGeom prst="rect">
            <a:avLst/>
          </a:prstGeom>
          <a:noFill/>
          <a:ln w="0">
            <a:noFill/>
          </a:ln>
        </p:spPr>
      </p:pic>
      <p:sp>
        <p:nvSpPr>
          <p:cNvPr id="484" name=""/>
          <p:cNvSpPr txBox="1"/>
          <p:nvPr/>
        </p:nvSpPr>
        <p:spPr>
          <a:xfrm>
            <a:off x="7054920" y="4837320"/>
            <a:ext cx="384840" cy="122400"/>
          </a:xfrm>
          <a:prstGeom prst="rect">
            <a:avLst/>
          </a:prstGeom>
          <a:noFill/>
          <a:ln w="0">
            <a:noFill/>
          </a:ln>
        </p:spPr>
        <p:txBody>
          <a:bodyPr wrap="none" lIns="0" rIns="0" tIns="0" bIns="0" anchor="t">
            <a:spAutoFit/>
          </a:bodyPr>
          <a:p>
            <a:r>
              <a:rPr b="0" lang="zh-CN" sz="750" strike="noStrike" u="none">
                <a:solidFill>
                  <a:srgbClr val="6b7280"/>
                </a:solidFill>
                <a:effectLst/>
                <a:uFillTx/>
                <a:latin typeface="WenQuanYiZenHei"/>
                <a:ea typeface="WenQuanYiZenHei"/>
              </a:rPr>
              <a:t>東和病院</a:t>
            </a:r>
            <a:endParaRPr b="0" lang="en-US" sz="750" strike="noStrike" u="none">
              <a:solidFill>
                <a:srgbClr val="000000"/>
              </a:solidFill>
              <a:effectLst/>
              <a:uFillTx/>
              <a:latin typeface="Times New Roman"/>
            </a:endParaRPr>
          </a:p>
        </p:txBody>
      </p:sp>
      <p:sp>
        <p:nvSpPr>
          <p:cNvPr id="485" name=""/>
          <p:cNvSpPr txBox="1"/>
          <p:nvPr/>
        </p:nvSpPr>
        <p:spPr>
          <a:xfrm>
            <a:off x="7435800" y="4840920"/>
            <a:ext cx="95040" cy="111960"/>
          </a:xfrm>
          <a:prstGeom prst="rect">
            <a:avLst/>
          </a:prstGeom>
          <a:noFill/>
          <a:ln w="0">
            <a:noFill/>
          </a:ln>
        </p:spPr>
        <p:txBody>
          <a:bodyPr wrap="none" lIns="0" rIns="0" tIns="0" bIns="0" anchor="t">
            <a:spAutoFit/>
          </a:bodyPr>
          <a:p>
            <a:r>
              <a:rPr b="0" lang="en-US" sz="750" strike="noStrike" u="none">
                <a:solidFill>
                  <a:srgbClr val="6b7280"/>
                </a:solidFill>
                <a:effectLst/>
                <a:uFillTx/>
                <a:latin typeface="DejaVuSans"/>
                <a:ea typeface="DejaVuSans"/>
              </a:rPr>
              <a:t> </a:t>
            </a:r>
            <a:endParaRPr b="0" lang="en-US" sz="750" strike="noStrike" u="none">
              <a:solidFill>
                <a:srgbClr val="000000"/>
              </a:solidFill>
              <a:effectLst/>
              <a:uFillTx/>
              <a:latin typeface="Times New Roman"/>
            </a:endParaRPr>
          </a:p>
        </p:txBody>
      </p:sp>
      <p:sp>
        <p:nvSpPr>
          <p:cNvPr id="486" name=""/>
          <p:cNvSpPr txBox="1"/>
          <p:nvPr/>
        </p:nvSpPr>
        <p:spPr>
          <a:xfrm>
            <a:off x="7466400" y="4837320"/>
            <a:ext cx="672840" cy="122400"/>
          </a:xfrm>
          <a:prstGeom prst="rect">
            <a:avLst/>
          </a:prstGeom>
          <a:noFill/>
          <a:ln w="0">
            <a:noFill/>
          </a:ln>
        </p:spPr>
        <p:txBody>
          <a:bodyPr wrap="none" lIns="0" rIns="0" tIns="0" bIns="0" anchor="t">
            <a:spAutoFit/>
          </a:bodyPr>
          <a:p>
            <a:r>
              <a:rPr b="0" lang="zh-CN" sz="750" strike="noStrike" u="none">
                <a:solidFill>
                  <a:srgbClr val="6b7280"/>
                </a:solidFill>
                <a:effectLst/>
                <a:uFillTx/>
                <a:latin typeface="WenQuanYiZenHei"/>
                <a:ea typeface="WenQuanYiZenHei"/>
              </a:rPr>
              <a:t>保険点数勉強会</a:t>
            </a:r>
            <a:endParaRPr b="0" lang="en-US" sz="750" strike="noStrike" u="none">
              <a:solidFill>
                <a:srgbClr val="000000"/>
              </a:solidFill>
              <a:effectLst/>
              <a:uFillTx/>
              <a:latin typeface="Times New Roman"/>
            </a:endParaRPr>
          </a:p>
        </p:txBody>
      </p:sp>
      <p:sp>
        <p:nvSpPr>
          <p:cNvPr id="487" name=""/>
          <p:cNvSpPr txBox="1"/>
          <p:nvPr/>
        </p:nvSpPr>
        <p:spPr>
          <a:xfrm>
            <a:off x="8187840" y="4840920"/>
            <a:ext cx="95040" cy="111960"/>
          </a:xfrm>
          <a:prstGeom prst="rect">
            <a:avLst/>
          </a:prstGeom>
          <a:noFill/>
          <a:ln w="0">
            <a:noFill/>
          </a:ln>
        </p:spPr>
        <p:txBody>
          <a:bodyPr wrap="none" lIns="0" rIns="0" tIns="0" bIns="0" anchor="t">
            <a:spAutoFit/>
          </a:bodyPr>
          <a:p>
            <a:r>
              <a:rPr b="0" lang="en-US" sz="750" strike="noStrike" u="none">
                <a:solidFill>
                  <a:srgbClr val="6b7280"/>
                </a:solidFill>
                <a:effectLst/>
                <a:uFillTx/>
                <a:latin typeface="DejaVuSans"/>
                <a:ea typeface="DejaVuSans"/>
              </a:rPr>
              <a:t>|</a:t>
            </a:r>
            <a:endParaRPr b="0" lang="en-US" sz="750" strike="noStrike" u="none">
              <a:solidFill>
                <a:srgbClr val="000000"/>
              </a:solidFill>
              <a:effectLst/>
              <a:uFillTx/>
              <a:latin typeface="Times New Roman"/>
            </a:endParaRPr>
          </a:p>
        </p:txBody>
      </p:sp>
      <p:pic>
        <p:nvPicPr>
          <p:cNvPr id="488" name="" descr=""/>
          <p:cNvPicPr/>
          <p:nvPr/>
        </p:nvPicPr>
        <p:blipFill>
          <a:blip r:embed="rId5"/>
          <a:stretch/>
        </p:blipFill>
        <p:spPr>
          <a:xfrm>
            <a:off x="217800" y="688680"/>
            <a:ext cx="870840" cy="27000"/>
          </a:xfrm>
          <a:prstGeom prst="rect">
            <a:avLst/>
          </a:prstGeom>
          <a:noFill/>
          <a:ln w="0">
            <a:noFill/>
          </a:ln>
        </p:spPr>
      </p:pic>
      <p:sp>
        <p:nvSpPr>
          <p:cNvPr id="489" name=""/>
          <p:cNvSpPr txBox="1"/>
          <p:nvPr/>
        </p:nvSpPr>
        <p:spPr>
          <a:xfrm>
            <a:off x="8274240" y="4840920"/>
            <a:ext cx="277200" cy="111960"/>
          </a:xfrm>
          <a:prstGeom prst="rect">
            <a:avLst/>
          </a:prstGeom>
          <a:noFill/>
          <a:ln w="0">
            <a:noFill/>
          </a:ln>
        </p:spPr>
        <p:txBody>
          <a:bodyPr wrap="none" lIns="0" rIns="0" tIns="0" bIns="0" anchor="t">
            <a:spAutoFit/>
          </a:bodyPr>
          <a:p>
            <a:r>
              <a:rPr b="0" lang="en-US" sz="750" strike="noStrike" u="none">
                <a:solidFill>
                  <a:srgbClr val="6b7280"/>
                </a:solidFill>
                <a:effectLst/>
                <a:uFillTx/>
                <a:latin typeface="DejaVuSans"/>
                <a:ea typeface="DejaVuSans"/>
              </a:rPr>
              <a:t>7 / 15</a:t>
            </a:r>
            <a:endParaRPr b="0" lang="en-US" sz="750" strike="noStrike" u="none">
              <a:solidFill>
                <a:srgbClr val="000000"/>
              </a:solidFill>
              <a:effectLst/>
              <a:uFillTx/>
              <a:latin typeface="Times New Roman"/>
            </a:endParaRPr>
          </a:p>
        </p:txBody>
      </p:sp>
      <p:sp>
        <p:nvSpPr>
          <p:cNvPr id="490" name=""/>
          <p:cNvSpPr txBox="1"/>
          <p:nvPr/>
        </p:nvSpPr>
        <p:spPr>
          <a:xfrm>
            <a:off x="217800" y="383040"/>
            <a:ext cx="1434960" cy="257760"/>
          </a:xfrm>
          <a:prstGeom prst="rect">
            <a:avLst/>
          </a:prstGeom>
          <a:noFill/>
          <a:ln w="0">
            <a:noFill/>
          </a:ln>
        </p:spPr>
        <p:txBody>
          <a:bodyPr wrap="none" lIns="0" rIns="0" tIns="0" bIns="0" anchor="t">
            <a:spAutoFit/>
          </a:bodyPr>
          <a:p>
            <a:r>
              <a:rPr b="0" lang="zh-CN" sz="1610" strike="noStrike" u="none">
                <a:solidFill>
                  <a:srgbClr val="1e40af"/>
                </a:solidFill>
                <a:effectLst/>
                <a:uFillTx/>
                <a:latin typeface="WenQuanYiZenHei"/>
                <a:ea typeface="WenQuanYiZenHei"/>
              </a:rPr>
              <a:t>内科の保険点数</a:t>
            </a:r>
            <a:endParaRPr b="0" lang="en-US" sz="1610" strike="noStrike" u="none">
              <a:solidFill>
                <a:srgbClr val="000000"/>
              </a:solidFill>
              <a:effectLst/>
              <a:uFillTx/>
              <a:latin typeface="Times New Roman"/>
            </a:endParaRPr>
          </a:p>
        </p:txBody>
      </p:sp>
      <p:sp>
        <p:nvSpPr>
          <p:cNvPr id="491" name=""/>
          <p:cNvSpPr txBox="1"/>
          <p:nvPr/>
        </p:nvSpPr>
        <p:spPr>
          <a:xfrm>
            <a:off x="1653840" y="390240"/>
            <a:ext cx="326520" cy="237960"/>
          </a:xfrm>
          <a:prstGeom prst="rect">
            <a:avLst/>
          </a:prstGeom>
          <a:noFill/>
          <a:ln w="0">
            <a:noFill/>
          </a:ln>
        </p:spPr>
        <p:txBody>
          <a:bodyPr wrap="none" lIns="0" rIns="0" tIns="0" bIns="0" anchor="t">
            <a:spAutoFit/>
          </a:bodyPr>
          <a:p>
            <a:r>
              <a:rPr b="1" lang="en-US" sz="1610" strike="noStrike" u="none">
                <a:solidFill>
                  <a:srgbClr val="1e40af"/>
                </a:solidFill>
                <a:effectLst/>
                <a:uFillTx/>
                <a:latin typeface="DejaVuSans"/>
                <a:ea typeface="DejaVuSans"/>
              </a:rPr>
              <a:t>①: </a:t>
            </a:r>
            <a:endParaRPr b="0" lang="en-US" sz="1610" strike="noStrike" u="none">
              <a:solidFill>
                <a:srgbClr val="000000"/>
              </a:solidFill>
              <a:effectLst/>
              <a:uFillTx/>
              <a:latin typeface="Times New Roman"/>
            </a:endParaRPr>
          </a:p>
        </p:txBody>
      </p:sp>
      <p:sp>
        <p:nvSpPr>
          <p:cNvPr id="492" name=""/>
          <p:cNvSpPr/>
          <p:nvPr/>
        </p:nvSpPr>
        <p:spPr>
          <a:xfrm>
            <a:off x="217800" y="824760"/>
            <a:ext cx="4785120" cy="2225880"/>
          </a:xfrm>
          <a:custGeom>
            <a:avLst/>
            <a:gdLst/>
            <a:ahLst/>
            <a:rect l="0" t="0" r="r" b="b"/>
            <a:pathLst>
              <a:path w="13292" h="6183">
                <a:moveTo>
                  <a:pt x="0" y="6032"/>
                </a:moveTo>
                <a:lnTo>
                  <a:pt x="0" y="151"/>
                </a:lnTo>
                <a:cubicBezTo>
                  <a:pt x="0" y="141"/>
                  <a:pt x="0" y="131"/>
                  <a:pt x="2" y="122"/>
                </a:cubicBezTo>
                <a:cubicBezTo>
                  <a:pt x="4" y="112"/>
                  <a:pt x="7" y="102"/>
                  <a:pt x="11" y="93"/>
                </a:cubicBezTo>
                <a:cubicBezTo>
                  <a:pt x="15" y="84"/>
                  <a:pt x="19" y="75"/>
                  <a:pt x="25" y="67"/>
                </a:cubicBezTo>
                <a:cubicBezTo>
                  <a:pt x="31" y="59"/>
                  <a:pt x="37" y="51"/>
                  <a:pt x="44" y="44"/>
                </a:cubicBezTo>
                <a:cubicBezTo>
                  <a:pt x="51" y="37"/>
                  <a:pt x="58" y="31"/>
                  <a:pt x="67" y="25"/>
                </a:cubicBezTo>
                <a:cubicBezTo>
                  <a:pt x="75" y="20"/>
                  <a:pt x="84" y="15"/>
                  <a:pt x="93" y="11"/>
                </a:cubicBezTo>
                <a:cubicBezTo>
                  <a:pt x="102" y="8"/>
                  <a:pt x="112" y="5"/>
                  <a:pt x="121" y="3"/>
                </a:cubicBezTo>
                <a:cubicBezTo>
                  <a:pt x="131" y="1"/>
                  <a:pt x="141" y="0"/>
                  <a:pt x="151" y="0"/>
                </a:cubicBezTo>
                <a:lnTo>
                  <a:pt x="13141" y="0"/>
                </a:lnTo>
                <a:cubicBezTo>
                  <a:pt x="13151" y="0"/>
                  <a:pt x="13161" y="1"/>
                  <a:pt x="13170" y="3"/>
                </a:cubicBezTo>
                <a:cubicBezTo>
                  <a:pt x="13180" y="5"/>
                  <a:pt x="13189" y="8"/>
                  <a:pt x="13199" y="11"/>
                </a:cubicBezTo>
                <a:cubicBezTo>
                  <a:pt x="13208" y="15"/>
                  <a:pt x="13217" y="20"/>
                  <a:pt x="13225" y="25"/>
                </a:cubicBezTo>
                <a:cubicBezTo>
                  <a:pt x="13233" y="31"/>
                  <a:pt x="13241" y="37"/>
                  <a:pt x="13248" y="44"/>
                </a:cubicBezTo>
                <a:cubicBezTo>
                  <a:pt x="13255" y="51"/>
                  <a:pt x="13261" y="59"/>
                  <a:pt x="13267" y="67"/>
                </a:cubicBezTo>
                <a:cubicBezTo>
                  <a:pt x="13272" y="75"/>
                  <a:pt x="13277" y="84"/>
                  <a:pt x="13281" y="93"/>
                </a:cubicBezTo>
                <a:cubicBezTo>
                  <a:pt x="13284" y="102"/>
                  <a:pt x="13287" y="112"/>
                  <a:pt x="13289" y="122"/>
                </a:cubicBezTo>
                <a:cubicBezTo>
                  <a:pt x="13291" y="131"/>
                  <a:pt x="13292" y="141"/>
                  <a:pt x="13292" y="151"/>
                </a:cubicBezTo>
                <a:lnTo>
                  <a:pt x="13292" y="6032"/>
                </a:lnTo>
                <a:cubicBezTo>
                  <a:pt x="13292" y="6042"/>
                  <a:pt x="13291" y="6052"/>
                  <a:pt x="13289" y="6062"/>
                </a:cubicBezTo>
                <a:cubicBezTo>
                  <a:pt x="13287" y="6071"/>
                  <a:pt x="13284" y="6081"/>
                  <a:pt x="13281" y="6090"/>
                </a:cubicBezTo>
                <a:cubicBezTo>
                  <a:pt x="13277" y="6099"/>
                  <a:pt x="13272" y="6108"/>
                  <a:pt x="13267" y="6116"/>
                </a:cubicBezTo>
                <a:cubicBezTo>
                  <a:pt x="13261" y="6124"/>
                  <a:pt x="13255" y="6132"/>
                  <a:pt x="13248" y="6139"/>
                </a:cubicBezTo>
                <a:cubicBezTo>
                  <a:pt x="13241" y="6146"/>
                  <a:pt x="13233" y="6152"/>
                  <a:pt x="13225" y="6158"/>
                </a:cubicBezTo>
                <a:cubicBezTo>
                  <a:pt x="13217" y="6163"/>
                  <a:pt x="13208" y="6168"/>
                  <a:pt x="13199" y="6172"/>
                </a:cubicBezTo>
                <a:cubicBezTo>
                  <a:pt x="13189" y="6176"/>
                  <a:pt x="13180" y="6179"/>
                  <a:pt x="13170" y="6180"/>
                </a:cubicBezTo>
                <a:cubicBezTo>
                  <a:pt x="13161" y="6182"/>
                  <a:pt x="13151" y="6183"/>
                  <a:pt x="13141" y="6183"/>
                </a:cubicBezTo>
                <a:lnTo>
                  <a:pt x="151" y="6183"/>
                </a:lnTo>
                <a:cubicBezTo>
                  <a:pt x="141" y="6183"/>
                  <a:pt x="131" y="6182"/>
                  <a:pt x="121" y="6180"/>
                </a:cubicBezTo>
                <a:cubicBezTo>
                  <a:pt x="112" y="6179"/>
                  <a:pt x="102" y="6176"/>
                  <a:pt x="93" y="6172"/>
                </a:cubicBezTo>
                <a:cubicBezTo>
                  <a:pt x="84" y="6168"/>
                  <a:pt x="75" y="6163"/>
                  <a:pt x="67" y="6158"/>
                </a:cubicBezTo>
                <a:cubicBezTo>
                  <a:pt x="58" y="6152"/>
                  <a:pt x="51" y="6146"/>
                  <a:pt x="44" y="6139"/>
                </a:cubicBezTo>
                <a:cubicBezTo>
                  <a:pt x="37" y="6132"/>
                  <a:pt x="31" y="6124"/>
                  <a:pt x="25" y="6116"/>
                </a:cubicBezTo>
                <a:cubicBezTo>
                  <a:pt x="19" y="6108"/>
                  <a:pt x="15" y="6099"/>
                  <a:pt x="11" y="6090"/>
                </a:cubicBezTo>
                <a:cubicBezTo>
                  <a:pt x="7" y="6081"/>
                  <a:pt x="4" y="6071"/>
                  <a:pt x="2" y="6062"/>
                </a:cubicBezTo>
                <a:cubicBezTo>
                  <a:pt x="0" y="6052"/>
                  <a:pt x="0" y="6042"/>
                  <a:pt x="0" y="6032"/>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93" name=""/>
          <p:cNvSpPr/>
          <p:nvPr/>
        </p:nvSpPr>
        <p:spPr>
          <a:xfrm>
            <a:off x="306000" y="1158120"/>
            <a:ext cx="1048680" cy="231840"/>
          </a:xfrm>
          <a:custGeom>
            <a:avLst/>
            <a:gdLst/>
            <a:ahLst/>
            <a:rect l="0" t="0" r="r" b="b"/>
            <a:pathLst>
              <a:path w="2913" h="644">
                <a:moveTo>
                  <a:pt x="0" y="114"/>
                </a:moveTo>
                <a:cubicBezTo>
                  <a:pt x="0" y="82"/>
                  <a:pt x="11" y="56"/>
                  <a:pt x="34" y="33"/>
                </a:cubicBezTo>
                <a:cubicBezTo>
                  <a:pt x="56" y="11"/>
                  <a:pt x="82" y="0"/>
                  <a:pt x="114" y="0"/>
                </a:cubicBezTo>
                <a:lnTo>
                  <a:pt x="2913" y="0"/>
                </a:lnTo>
                <a:lnTo>
                  <a:pt x="2913" y="644"/>
                </a:lnTo>
                <a:lnTo>
                  <a:pt x="0" y="644"/>
                </a:lnTo>
                <a:lnTo>
                  <a:pt x="0" y="114"/>
                </a:lnTo>
                <a:close/>
              </a:path>
            </a:pathLst>
          </a:custGeom>
          <a:solidFill>
            <a:srgbClr val="ffffff">
              <a:alpha val="8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94" name=""/>
          <p:cNvSpPr/>
          <p:nvPr/>
        </p:nvSpPr>
        <p:spPr>
          <a:xfrm>
            <a:off x="1354320" y="1158120"/>
            <a:ext cx="1987920" cy="231840"/>
          </a:xfrm>
          <a:custGeom>
            <a:avLst/>
            <a:gdLst/>
            <a:ahLst/>
            <a:rect l="0" t="0" r="r" b="b"/>
            <a:pathLst>
              <a:path w="5522" h="644">
                <a:moveTo>
                  <a:pt x="0" y="0"/>
                </a:moveTo>
                <a:lnTo>
                  <a:pt x="5522" y="0"/>
                </a:lnTo>
                <a:lnTo>
                  <a:pt x="5522" y="644"/>
                </a:lnTo>
                <a:lnTo>
                  <a:pt x="0" y="644"/>
                </a:lnTo>
                <a:lnTo>
                  <a:pt x="0" y="0"/>
                </a:lnTo>
                <a:close/>
              </a:path>
            </a:pathLst>
          </a:custGeom>
          <a:solidFill>
            <a:srgbClr val="ffffff">
              <a:alpha val="8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95" name=""/>
          <p:cNvSpPr/>
          <p:nvPr/>
        </p:nvSpPr>
        <p:spPr>
          <a:xfrm>
            <a:off x="3341880" y="1158120"/>
            <a:ext cx="1572480" cy="231840"/>
          </a:xfrm>
          <a:custGeom>
            <a:avLst/>
            <a:gdLst/>
            <a:ahLst/>
            <a:rect l="0" t="0" r="r" b="b"/>
            <a:pathLst>
              <a:path w="4368" h="644">
                <a:moveTo>
                  <a:pt x="4255" y="0"/>
                </a:moveTo>
                <a:cubicBezTo>
                  <a:pt x="4286" y="0"/>
                  <a:pt x="4313" y="11"/>
                  <a:pt x="4335" y="33"/>
                </a:cubicBezTo>
                <a:cubicBezTo>
                  <a:pt x="4357" y="56"/>
                  <a:pt x="4368" y="82"/>
                  <a:pt x="4368" y="114"/>
                </a:cubicBezTo>
                <a:lnTo>
                  <a:pt x="4368" y="644"/>
                </a:lnTo>
                <a:lnTo>
                  <a:pt x="0" y="644"/>
                </a:lnTo>
                <a:lnTo>
                  <a:pt x="0" y="0"/>
                </a:lnTo>
                <a:lnTo>
                  <a:pt x="4255" y="0"/>
                </a:lnTo>
                <a:close/>
              </a:path>
            </a:pathLst>
          </a:custGeom>
          <a:solidFill>
            <a:srgbClr val="ffffff">
              <a:alpha val="8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96" name=""/>
          <p:cNvSpPr/>
          <p:nvPr/>
        </p:nvSpPr>
        <p:spPr>
          <a:xfrm>
            <a:off x="306000" y="1158120"/>
            <a:ext cx="1048680" cy="231840"/>
          </a:xfrm>
          <a:custGeom>
            <a:avLst/>
            <a:gdLst/>
            <a:ahLst/>
            <a:rect l="0" t="0" r="r" b="b"/>
            <a:pathLst>
              <a:path w="2913" h="644">
                <a:moveTo>
                  <a:pt x="0" y="644"/>
                </a:moveTo>
                <a:lnTo>
                  <a:pt x="0" y="114"/>
                </a:lnTo>
                <a:cubicBezTo>
                  <a:pt x="0" y="99"/>
                  <a:pt x="3" y="84"/>
                  <a:pt x="9" y="70"/>
                </a:cubicBezTo>
                <a:cubicBezTo>
                  <a:pt x="15" y="56"/>
                  <a:pt x="23" y="44"/>
                  <a:pt x="34" y="33"/>
                </a:cubicBezTo>
                <a:cubicBezTo>
                  <a:pt x="44" y="23"/>
                  <a:pt x="56" y="15"/>
                  <a:pt x="70" y="9"/>
                </a:cubicBezTo>
                <a:cubicBezTo>
                  <a:pt x="84" y="3"/>
                  <a:pt x="99" y="0"/>
                  <a:pt x="114" y="0"/>
                </a:cubicBezTo>
                <a:lnTo>
                  <a:pt x="2913" y="0"/>
                </a:lnTo>
                <a:lnTo>
                  <a:pt x="2913" y="644"/>
                </a:lnTo>
                <a:lnTo>
                  <a:pt x="0" y="644"/>
                </a:lnTo>
                <a:close/>
              </a:path>
            </a:pathLst>
          </a:custGeom>
          <a:solidFill>
            <a:srgbClr val="3b82f6">
              <a:alpha val="10000"/>
            </a:srgbClr>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97" name=""/>
          <p:cNvSpPr/>
          <p:nvPr/>
        </p:nvSpPr>
        <p:spPr>
          <a:xfrm>
            <a:off x="1354320" y="1158120"/>
            <a:ext cx="1987920" cy="231840"/>
          </a:xfrm>
          <a:custGeom>
            <a:avLst/>
            <a:gdLst/>
            <a:ahLst/>
            <a:rect l="0" t="0" r="r" b="b"/>
            <a:pathLst>
              <a:path w="5522" h="644">
                <a:moveTo>
                  <a:pt x="0" y="0"/>
                </a:moveTo>
                <a:lnTo>
                  <a:pt x="5522" y="0"/>
                </a:lnTo>
                <a:lnTo>
                  <a:pt x="5522" y="644"/>
                </a:lnTo>
                <a:lnTo>
                  <a:pt x="0" y="644"/>
                </a:lnTo>
                <a:lnTo>
                  <a:pt x="0" y="0"/>
                </a:lnTo>
                <a:close/>
              </a:path>
            </a:pathLst>
          </a:custGeom>
          <a:solidFill>
            <a:srgbClr val="3b82f6">
              <a:alpha val="10000"/>
            </a:srgbClr>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98" name=""/>
          <p:cNvSpPr/>
          <p:nvPr/>
        </p:nvSpPr>
        <p:spPr>
          <a:xfrm>
            <a:off x="3341880" y="1158120"/>
            <a:ext cx="1572480" cy="231840"/>
          </a:xfrm>
          <a:custGeom>
            <a:avLst/>
            <a:gdLst/>
            <a:ahLst/>
            <a:rect l="0" t="0" r="r" b="b"/>
            <a:pathLst>
              <a:path w="4368" h="644">
                <a:moveTo>
                  <a:pt x="0" y="644"/>
                </a:moveTo>
                <a:lnTo>
                  <a:pt x="0" y="0"/>
                </a:lnTo>
                <a:lnTo>
                  <a:pt x="4255" y="0"/>
                </a:lnTo>
                <a:cubicBezTo>
                  <a:pt x="4270" y="0"/>
                  <a:pt x="4284" y="3"/>
                  <a:pt x="4298" y="9"/>
                </a:cubicBezTo>
                <a:cubicBezTo>
                  <a:pt x="4312" y="15"/>
                  <a:pt x="4324" y="23"/>
                  <a:pt x="4335" y="33"/>
                </a:cubicBezTo>
                <a:cubicBezTo>
                  <a:pt x="4346" y="44"/>
                  <a:pt x="4354" y="56"/>
                  <a:pt x="4360" y="70"/>
                </a:cubicBezTo>
                <a:cubicBezTo>
                  <a:pt x="4365" y="84"/>
                  <a:pt x="4368" y="99"/>
                  <a:pt x="4368" y="114"/>
                </a:cubicBezTo>
                <a:lnTo>
                  <a:pt x="4368" y="644"/>
                </a:lnTo>
                <a:lnTo>
                  <a:pt x="0" y="644"/>
                </a:lnTo>
                <a:close/>
              </a:path>
            </a:pathLst>
          </a:custGeom>
          <a:solidFill>
            <a:srgbClr val="3b82f6">
              <a:alpha val="10000"/>
            </a:srgbClr>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99" name=""/>
          <p:cNvSpPr/>
          <p:nvPr/>
        </p:nvSpPr>
        <p:spPr>
          <a:xfrm>
            <a:off x="306000" y="1389600"/>
            <a:ext cx="1048680" cy="531360"/>
          </a:xfrm>
          <a:custGeom>
            <a:avLst/>
            <a:gdLst/>
            <a:ahLst/>
            <a:rect l="0" t="0" r="r" b="b"/>
            <a:pathLst>
              <a:path w="2913" h="1476">
                <a:moveTo>
                  <a:pt x="0" y="0"/>
                </a:moveTo>
                <a:lnTo>
                  <a:pt x="2913" y="0"/>
                </a:lnTo>
                <a:lnTo>
                  <a:pt x="2913" y="1476"/>
                </a:lnTo>
                <a:lnTo>
                  <a:pt x="0" y="1476"/>
                </a:lnTo>
                <a:lnTo>
                  <a:pt x="0" y="0"/>
                </a:lnTo>
                <a:close/>
              </a:path>
            </a:pathLst>
          </a:custGeom>
          <a:solidFill>
            <a:srgbClr val="ffffff">
              <a:alpha val="8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00" name=""/>
          <p:cNvSpPr/>
          <p:nvPr/>
        </p:nvSpPr>
        <p:spPr>
          <a:xfrm>
            <a:off x="1354320" y="1389600"/>
            <a:ext cx="1987920" cy="531360"/>
          </a:xfrm>
          <a:custGeom>
            <a:avLst/>
            <a:gdLst/>
            <a:ahLst/>
            <a:rect l="0" t="0" r="r" b="b"/>
            <a:pathLst>
              <a:path w="5522" h="1476">
                <a:moveTo>
                  <a:pt x="0" y="0"/>
                </a:moveTo>
                <a:lnTo>
                  <a:pt x="5522" y="0"/>
                </a:lnTo>
                <a:lnTo>
                  <a:pt x="5522" y="1476"/>
                </a:lnTo>
                <a:lnTo>
                  <a:pt x="0" y="1476"/>
                </a:lnTo>
                <a:lnTo>
                  <a:pt x="0" y="0"/>
                </a:lnTo>
                <a:close/>
              </a:path>
            </a:pathLst>
          </a:custGeom>
          <a:solidFill>
            <a:srgbClr val="ffffff">
              <a:alpha val="8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01" name=""/>
          <p:cNvSpPr/>
          <p:nvPr/>
        </p:nvSpPr>
        <p:spPr>
          <a:xfrm>
            <a:off x="3341880" y="1389600"/>
            <a:ext cx="1572480" cy="531360"/>
          </a:xfrm>
          <a:custGeom>
            <a:avLst/>
            <a:gdLst/>
            <a:ahLst/>
            <a:rect l="0" t="0" r="r" b="b"/>
            <a:pathLst>
              <a:path w="4368" h="1476">
                <a:moveTo>
                  <a:pt x="0" y="0"/>
                </a:moveTo>
                <a:lnTo>
                  <a:pt x="4368" y="0"/>
                </a:lnTo>
                <a:lnTo>
                  <a:pt x="4368" y="1476"/>
                </a:lnTo>
                <a:lnTo>
                  <a:pt x="0" y="1476"/>
                </a:lnTo>
                <a:lnTo>
                  <a:pt x="0" y="0"/>
                </a:lnTo>
                <a:close/>
              </a:path>
            </a:pathLst>
          </a:custGeom>
          <a:solidFill>
            <a:srgbClr val="ffffff">
              <a:alpha val="8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02" name=""/>
          <p:cNvSpPr/>
          <p:nvPr/>
        </p:nvSpPr>
        <p:spPr>
          <a:xfrm>
            <a:off x="306000" y="1920600"/>
            <a:ext cx="1048680" cy="381600"/>
          </a:xfrm>
          <a:custGeom>
            <a:avLst/>
            <a:gdLst/>
            <a:ahLst/>
            <a:rect l="0" t="0" r="r" b="b"/>
            <a:pathLst>
              <a:path w="2913" h="1060">
                <a:moveTo>
                  <a:pt x="0" y="0"/>
                </a:moveTo>
                <a:lnTo>
                  <a:pt x="2913" y="0"/>
                </a:lnTo>
                <a:lnTo>
                  <a:pt x="2913" y="1060"/>
                </a:lnTo>
                <a:lnTo>
                  <a:pt x="0" y="1060"/>
                </a:lnTo>
                <a:lnTo>
                  <a:pt x="0" y="0"/>
                </a:lnTo>
                <a:close/>
              </a:path>
            </a:pathLst>
          </a:custGeom>
          <a:solidFill>
            <a:srgbClr val="f9fafb">
              <a:alpha val="8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03" name=""/>
          <p:cNvSpPr/>
          <p:nvPr/>
        </p:nvSpPr>
        <p:spPr>
          <a:xfrm>
            <a:off x="1354320" y="1920600"/>
            <a:ext cx="1987920" cy="381600"/>
          </a:xfrm>
          <a:custGeom>
            <a:avLst/>
            <a:gdLst/>
            <a:ahLst/>
            <a:rect l="0" t="0" r="r" b="b"/>
            <a:pathLst>
              <a:path w="5522" h="1060">
                <a:moveTo>
                  <a:pt x="0" y="0"/>
                </a:moveTo>
                <a:lnTo>
                  <a:pt x="5522" y="0"/>
                </a:lnTo>
                <a:lnTo>
                  <a:pt x="5522" y="1060"/>
                </a:lnTo>
                <a:lnTo>
                  <a:pt x="0" y="1060"/>
                </a:lnTo>
                <a:lnTo>
                  <a:pt x="0" y="0"/>
                </a:lnTo>
                <a:close/>
              </a:path>
            </a:pathLst>
          </a:custGeom>
          <a:solidFill>
            <a:srgbClr val="f9fafb">
              <a:alpha val="8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04" name=""/>
          <p:cNvSpPr/>
          <p:nvPr/>
        </p:nvSpPr>
        <p:spPr>
          <a:xfrm>
            <a:off x="3341880" y="1920600"/>
            <a:ext cx="1572480" cy="381600"/>
          </a:xfrm>
          <a:custGeom>
            <a:avLst/>
            <a:gdLst/>
            <a:ahLst/>
            <a:rect l="0" t="0" r="r" b="b"/>
            <a:pathLst>
              <a:path w="4368" h="1060">
                <a:moveTo>
                  <a:pt x="0" y="0"/>
                </a:moveTo>
                <a:lnTo>
                  <a:pt x="4368" y="0"/>
                </a:lnTo>
                <a:lnTo>
                  <a:pt x="4368" y="1060"/>
                </a:lnTo>
                <a:lnTo>
                  <a:pt x="0" y="1060"/>
                </a:lnTo>
                <a:lnTo>
                  <a:pt x="0" y="0"/>
                </a:lnTo>
                <a:close/>
              </a:path>
            </a:pathLst>
          </a:custGeom>
          <a:solidFill>
            <a:srgbClr val="f9fafb">
              <a:alpha val="8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05" name=""/>
          <p:cNvSpPr/>
          <p:nvPr/>
        </p:nvSpPr>
        <p:spPr>
          <a:xfrm>
            <a:off x="306000" y="2301840"/>
            <a:ext cx="1048680" cy="531000"/>
          </a:xfrm>
          <a:custGeom>
            <a:avLst/>
            <a:gdLst/>
            <a:ahLst/>
            <a:rect l="0" t="0" r="r" b="b"/>
            <a:pathLst>
              <a:path w="2913" h="1475">
                <a:moveTo>
                  <a:pt x="0" y="1362"/>
                </a:moveTo>
                <a:lnTo>
                  <a:pt x="0" y="0"/>
                </a:lnTo>
                <a:lnTo>
                  <a:pt x="2913" y="0"/>
                </a:lnTo>
                <a:lnTo>
                  <a:pt x="2913" y="1475"/>
                </a:lnTo>
                <a:lnTo>
                  <a:pt x="114" y="1475"/>
                </a:lnTo>
                <a:cubicBezTo>
                  <a:pt x="82" y="1475"/>
                  <a:pt x="56" y="1464"/>
                  <a:pt x="34" y="1442"/>
                </a:cubicBezTo>
                <a:cubicBezTo>
                  <a:pt x="11" y="1420"/>
                  <a:pt x="0" y="1393"/>
                  <a:pt x="0" y="1362"/>
                </a:cubicBezTo>
                <a:close/>
              </a:path>
            </a:pathLst>
          </a:custGeom>
          <a:solidFill>
            <a:srgbClr val="ffffff">
              <a:alpha val="8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06" name=""/>
          <p:cNvSpPr/>
          <p:nvPr/>
        </p:nvSpPr>
        <p:spPr>
          <a:xfrm>
            <a:off x="1354320" y="2301840"/>
            <a:ext cx="1987920" cy="531000"/>
          </a:xfrm>
          <a:custGeom>
            <a:avLst/>
            <a:gdLst/>
            <a:ahLst/>
            <a:rect l="0" t="0" r="r" b="b"/>
            <a:pathLst>
              <a:path w="5522" h="1475">
                <a:moveTo>
                  <a:pt x="0" y="0"/>
                </a:moveTo>
                <a:lnTo>
                  <a:pt x="5522" y="0"/>
                </a:lnTo>
                <a:lnTo>
                  <a:pt x="5522" y="1475"/>
                </a:lnTo>
                <a:lnTo>
                  <a:pt x="0" y="1475"/>
                </a:lnTo>
                <a:lnTo>
                  <a:pt x="0" y="0"/>
                </a:lnTo>
                <a:close/>
              </a:path>
            </a:pathLst>
          </a:custGeom>
          <a:solidFill>
            <a:srgbClr val="ffffff">
              <a:alpha val="8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07" name=""/>
          <p:cNvSpPr/>
          <p:nvPr/>
        </p:nvSpPr>
        <p:spPr>
          <a:xfrm>
            <a:off x="3341880" y="2301840"/>
            <a:ext cx="1572480" cy="531000"/>
          </a:xfrm>
          <a:custGeom>
            <a:avLst/>
            <a:gdLst/>
            <a:ahLst/>
            <a:rect l="0" t="0" r="r" b="b"/>
            <a:pathLst>
              <a:path w="4368" h="1475">
                <a:moveTo>
                  <a:pt x="4368" y="0"/>
                </a:moveTo>
                <a:lnTo>
                  <a:pt x="4368" y="1362"/>
                </a:lnTo>
                <a:cubicBezTo>
                  <a:pt x="4368" y="1393"/>
                  <a:pt x="4357" y="1420"/>
                  <a:pt x="4335" y="1442"/>
                </a:cubicBezTo>
                <a:cubicBezTo>
                  <a:pt x="4313" y="1464"/>
                  <a:pt x="4286" y="1475"/>
                  <a:pt x="4255" y="1475"/>
                </a:cubicBezTo>
                <a:lnTo>
                  <a:pt x="0" y="1475"/>
                </a:lnTo>
                <a:lnTo>
                  <a:pt x="0" y="0"/>
                </a:lnTo>
                <a:lnTo>
                  <a:pt x="4368" y="0"/>
                </a:lnTo>
                <a:close/>
              </a:path>
            </a:pathLst>
          </a:custGeom>
          <a:solidFill>
            <a:srgbClr val="ffffff">
              <a:alpha val="8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08" name=""/>
          <p:cNvSpPr/>
          <p:nvPr/>
        </p:nvSpPr>
        <p:spPr>
          <a:xfrm>
            <a:off x="299160" y="1151280"/>
            <a:ext cx="7200" cy="245520"/>
          </a:xfrm>
          <a:custGeom>
            <a:avLst/>
            <a:gdLst/>
            <a:ahLst/>
            <a:rect l="0" t="0" r="r" b="b"/>
            <a:pathLst>
              <a:path w="20" h="682">
                <a:moveTo>
                  <a:pt x="0" y="0"/>
                </a:moveTo>
                <a:lnTo>
                  <a:pt x="20" y="0"/>
                </a:lnTo>
                <a:lnTo>
                  <a:pt x="20" y="682"/>
                </a:lnTo>
                <a:lnTo>
                  <a:pt x="0" y="682"/>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09" name=""/>
          <p:cNvSpPr/>
          <p:nvPr/>
        </p:nvSpPr>
        <p:spPr>
          <a:xfrm>
            <a:off x="299160" y="1151280"/>
            <a:ext cx="1055520" cy="7200"/>
          </a:xfrm>
          <a:custGeom>
            <a:avLst/>
            <a:gdLst/>
            <a:ahLst/>
            <a:rect l="0" t="0" r="r" b="b"/>
            <a:pathLst>
              <a:path w="2932" h="20">
                <a:moveTo>
                  <a:pt x="0" y="0"/>
                </a:moveTo>
                <a:lnTo>
                  <a:pt x="2932" y="0"/>
                </a:lnTo>
                <a:lnTo>
                  <a:pt x="2932"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10" name=""/>
          <p:cNvSpPr/>
          <p:nvPr/>
        </p:nvSpPr>
        <p:spPr>
          <a:xfrm>
            <a:off x="1347480" y="1151280"/>
            <a:ext cx="7200" cy="245520"/>
          </a:xfrm>
          <a:custGeom>
            <a:avLst/>
            <a:gdLst/>
            <a:ahLst/>
            <a:rect l="0" t="0" r="r" b="b"/>
            <a:pathLst>
              <a:path w="20" h="682">
                <a:moveTo>
                  <a:pt x="0" y="0"/>
                </a:moveTo>
                <a:lnTo>
                  <a:pt x="20" y="0"/>
                </a:lnTo>
                <a:lnTo>
                  <a:pt x="20" y="682"/>
                </a:lnTo>
                <a:lnTo>
                  <a:pt x="0" y="682"/>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11" name=""/>
          <p:cNvSpPr/>
          <p:nvPr/>
        </p:nvSpPr>
        <p:spPr>
          <a:xfrm>
            <a:off x="1354320" y="1151280"/>
            <a:ext cx="1987920" cy="7200"/>
          </a:xfrm>
          <a:custGeom>
            <a:avLst/>
            <a:gdLst/>
            <a:ahLst/>
            <a:rect l="0" t="0" r="r" b="b"/>
            <a:pathLst>
              <a:path w="5522" h="20">
                <a:moveTo>
                  <a:pt x="0" y="0"/>
                </a:moveTo>
                <a:lnTo>
                  <a:pt x="5522" y="0"/>
                </a:lnTo>
                <a:lnTo>
                  <a:pt x="5522"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12" name=""/>
          <p:cNvSpPr/>
          <p:nvPr/>
        </p:nvSpPr>
        <p:spPr>
          <a:xfrm>
            <a:off x="3335040" y="1151280"/>
            <a:ext cx="7200" cy="245520"/>
          </a:xfrm>
          <a:custGeom>
            <a:avLst/>
            <a:gdLst/>
            <a:ahLst/>
            <a:rect l="0" t="0" r="r" b="b"/>
            <a:pathLst>
              <a:path w="20" h="682">
                <a:moveTo>
                  <a:pt x="0" y="0"/>
                </a:moveTo>
                <a:lnTo>
                  <a:pt x="20" y="0"/>
                </a:lnTo>
                <a:lnTo>
                  <a:pt x="20" y="682"/>
                </a:lnTo>
                <a:lnTo>
                  <a:pt x="0" y="682"/>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13" name=""/>
          <p:cNvSpPr/>
          <p:nvPr/>
        </p:nvSpPr>
        <p:spPr>
          <a:xfrm>
            <a:off x="3341880" y="1151280"/>
            <a:ext cx="1579320" cy="7200"/>
          </a:xfrm>
          <a:custGeom>
            <a:avLst/>
            <a:gdLst/>
            <a:ahLst/>
            <a:rect l="0" t="0" r="r" b="b"/>
            <a:pathLst>
              <a:path w="4387" h="20">
                <a:moveTo>
                  <a:pt x="0" y="0"/>
                </a:moveTo>
                <a:lnTo>
                  <a:pt x="4387" y="0"/>
                </a:lnTo>
                <a:lnTo>
                  <a:pt x="4387"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14" name=""/>
          <p:cNvSpPr/>
          <p:nvPr/>
        </p:nvSpPr>
        <p:spPr>
          <a:xfrm>
            <a:off x="4914000" y="1151280"/>
            <a:ext cx="7200" cy="245520"/>
          </a:xfrm>
          <a:custGeom>
            <a:avLst/>
            <a:gdLst/>
            <a:ahLst/>
            <a:rect l="0" t="0" r="r" b="b"/>
            <a:pathLst>
              <a:path w="20" h="682">
                <a:moveTo>
                  <a:pt x="0" y="0"/>
                </a:moveTo>
                <a:lnTo>
                  <a:pt x="20" y="0"/>
                </a:lnTo>
                <a:lnTo>
                  <a:pt x="20" y="682"/>
                </a:lnTo>
                <a:lnTo>
                  <a:pt x="0" y="682"/>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15" name=""/>
          <p:cNvSpPr/>
          <p:nvPr/>
        </p:nvSpPr>
        <p:spPr>
          <a:xfrm>
            <a:off x="299160" y="1389600"/>
            <a:ext cx="1055520" cy="7560"/>
          </a:xfrm>
          <a:custGeom>
            <a:avLst/>
            <a:gdLst/>
            <a:ahLst/>
            <a:rect l="0" t="0" r="r" b="b"/>
            <a:pathLst>
              <a:path w="2932" h="21">
                <a:moveTo>
                  <a:pt x="0" y="0"/>
                </a:moveTo>
                <a:lnTo>
                  <a:pt x="2932" y="0"/>
                </a:lnTo>
                <a:lnTo>
                  <a:pt x="2932" y="21"/>
                </a:lnTo>
                <a:lnTo>
                  <a:pt x="0" y="21"/>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16" name=""/>
          <p:cNvSpPr/>
          <p:nvPr/>
        </p:nvSpPr>
        <p:spPr>
          <a:xfrm>
            <a:off x="1354320" y="1389600"/>
            <a:ext cx="1987920" cy="7560"/>
          </a:xfrm>
          <a:custGeom>
            <a:avLst/>
            <a:gdLst/>
            <a:ahLst/>
            <a:rect l="0" t="0" r="r" b="b"/>
            <a:pathLst>
              <a:path w="5522" h="21">
                <a:moveTo>
                  <a:pt x="0" y="0"/>
                </a:moveTo>
                <a:lnTo>
                  <a:pt x="5522" y="0"/>
                </a:lnTo>
                <a:lnTo>
                  <a:pt x="5522" y="21"/>
                </a:lnTo>
                <a:lnTo>
                  <a:pt x="0" y="21"/>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17" name=""/>
          <p:cNvSpPr/>
          <p:nvPr/>
        </p:nvSpPr>
        <p:spPr>
          <a:xfrm>
            <a:off x="3341880" y="1389600"/>
            <a:ext cx="1579320" cy="7560"/>
          </a:xfrm>
          <a:custGeom>
            <a:avLst/>
            <a:gdLst/>
            <a:ahLst/>
            <a:rect l="0" t="0" r="r" b="b"/>
            <a:pathLst>
              <a:path w="4387" h="21">
                <a:moveTo>
                  <a:pt x="0" y="0"/>
                </a:moveTo>
                <a:lnTo>
                  <a:pt x="4387" y="0"/>
                </a:lnTo>
                <a:lnTo>
                  <a:pt x="4387" y="21"/>
                </a:lnTo>
                <a:lnTo>
                  <a:pt x="0" y="21"/>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18" name=""/>
          <p:cNvSpPr/>
          <p:nvPr/>
        </p:nvSpPr>
        <p:spPr>
          <a:xfrm>
            <a:off x="299160" y="1396440"/>
            <a:ext cx="7200" cy="524520"/>
          </a:xfrm>
          <a:custGeom>
            <a:avLst/>
            <a:gdLst/>
            <a:ahLst/>
            <a:rect l="0" t="0" r="r" b="b"/>
            <a:pathLst>
              <a:path w="20" h="1457">
                <a:moveTo>
                  <a:pt x="0" y="0"/>
                </a:moveTo>
                <a:lnTo>
                  <a:pt x="20" y="0"/>
                </a:lnTo>
                <a:lnTo>
                  <a:pt x="20" y="1457"/>
                </a:lnTo>
                <a:lnTo>
                  <a:pt x="0" y="1457"/>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19" name=""/>
          <p:cNvSpPr/>
          <p:nvPr/>
        </p:nvSpPr>
        <p:spPr>
          <a:xfrm>
            <a:off x="1347480" y="1396440"/>
            <a:ext cx="7200" cy="524520"/>
          </a:xfrm>
          <a:custGeom>
            <a:avLst/>
            <a:gdLst/>
            <a:ahLst/>
            <a:rect l="0" t="0" r="r" b="b"/>
            <a:pathLst>
              <a:path w="20" h="1457">
                <a:moveTo>
                  <a:pt x="0" y="0"/>
                </a:moveTo>
                <a:lnTo>
                  <a:pt x="20" y="0"/>
                </a:lnTo>
                <a:lnTo>
                  <a:pt x="20" y="1457"/>
                </a:lnTo>
                <a:lnTo>
                  <a:pt x="0" y="1457"/>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20" name=""/>
          <p:cNvSpPr/>
          <p:nvPr/>
        </p:nvSpPr>
        <p:spPr>
          <a:xfrm>
            <a:off x="3335040" y="1396440"/>
            <a:ext cx="7200" cy="524520"/>
          </a:xfrm>
          <a:custGeom>
            <a:avLst/>
            <a:gdLst/>
            <a:ahLst/>
            <a:rect l="0" t="0" r="r" b="b"/>
            <a:pathLst>
              <a:path w="20" h="1457">
                <a:moveTo>
                  <a:pt x="0" y="0"/>
                </a:moveTo>
                <a:lnTo>
                  <a:pt x="20" y="0"/>
                </a:lnTo>
                <a:lnTo>
                  <a:pt x="20" y="1457"/>
                </a:lnTo>
                <a:lnTo>
                  <a:pt x="0" y="1457"/>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21" name=""/>
          <p:cNvSpPr/>
          <p:nvPr/>
        </p:nvSpPr>
        <p:spPr>
          <a:xfrm>
            <a:off x="4914000" y="1396440"/>
            <a:ext cx="7200" cy="524520"/>
          </a:xfrm>
          <a:custGeom>
            <a:avLst/>
            <a:gdLst/>
            <a:ahLst/>
            <a:rect l="0" t="0" r="r" b="b"/>
            <a:pathLst>
              <a:path w="20" h="1457">
                <a:moveTo>
                  <a:pt x="0" y="0"/>
                </a:moveTo>
                <a:lnTo>
                  <a:pt x="20" y="0"/>
                </a:lnTo>
                <a:lnTo>
                  <a:pt x="20" y="1457"/>
                </a:lnTo>
                <a:lnTo>
                  <a:pt x="0" y="1457"/>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22" name=""/>
          <p:cNvSpPr/>
          <p:nvPr/>
        </p:nvSpPr>
        <p:spPr>
          <a:xfrm>
            <a:off x="299160" y="1920600"/>
            <a:ext cx="7200" cy="388440"/>
          </a:xfrm>
          <a:custGeom>
            <a:avLst/>
            <a:gdLst/>
            <a:ahLst/>
            <a:rect l="0" t="0" r="r" b="b"/>
            <a:pathLst>
              <a:path w="20" h="1079">
                <a:moveTo>
                  <a:pt x="0" y="0"/>
                </a:moveTo>
                <a:lnTo>
                  <a:pt x="20" y="0"/>
                </a:lnTo>
                <a:lnTo>
                  <a:pt x="20" y="1079"/>
                </a:lnTo>
                <a:lnTo>
                  <a:pt x="0" y="1079"/>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23" name=""/>
          <p:cNvSpPr/>
          <p:nvPr/>
        </p:nvSpPr>
        <p:spPr>
          <a:xfrm>
            <a:off x="299160" y="1913760"/>
            <a:ext cx="1055520" cy="7200"/>
          </a:xfrm>
          <a:custGeom>
            <a:avLst/>
            <a:gdLst/>
            <a:ahLst/>
            <a:rect l="0" t="0" r="r" b="b"/>
            <a:pathLst>
              <a:path w="2932" h="20">
                <a:moveTo>
                  <a:pt x="0" y="0"/>
                </a:moveTo>
                <a:lnTo>
                  <a:pt x="2932" y="0"/>
                </a:lnTo>
                <a:lnTo>
                  <a:pt x="2932"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24" name=""/>
          <p:cNvSpPr/>
          <p:nvPr/>
        </p:nvSpPr>
        <p:spPr>
          <a:xfrm>
            <a:off x="1347480" y="1920600"/>
            <a:ext cx="7200" cy="388440"/>
          </a:xfrm>
          <a:custGeom>
            <a:avLst/>
            <a:gdLst/>
            <a:ahLst/>
            <a:rect l="0" t="0" r="r" b="b"/>
            <a:pathLst>
              <a:path w="20" h="1079">
                <a:moveTo>
                  <a:pt x="0" y="0"/>
                </a:moveTo>
                <a:lnTo>
                  <a:pt x="20" y="0"/>
                </a:lnTo>
                <a:lnTo>
                  <a:pt x="20" y="1079"/>
                </a:lnTo>
                <a:lnTo>
                  <a:pt x="0" y="1079"/>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25" name=""/>
          <p:cNvSpPr/>
          <p:nvPr/>
        </p:nvSpPr>
        <p:spPr>
          <a:xfrm>
            <a:off x="1354320" y="1913760"/>
            <a:ext cx="1987920" cy="7200"/>
          </a:xfrm>
          <a:custGeom>
            <a:avLst/>
            <a:gdLst/>
            <a:ahLst/>
            <a:rect l="0" t="0" r="r" b="b"/>
            <a:pathLst>
              <a:path w="5522" h="20">
                <a:moveTo>
                  <a:pt x="0" y="0"/>
                </a:moveTo>
                <a:lnTo>
                  <a:pt x="5522" y="0"/>
                </a:lnTo>
                <a:lnTo>
                  <a:pt x="5522"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26" name=""/>
          <p:cNvSpPr/>
          <p:nvPr/>
        </p:nvSpPr>
        <p:spPr>
          <a:xfrm>
            <a:off x="3335040" y="1920600"/>
            <a:ext cx="7200" cy="388440"/>
          </a:xfrm>
          <a:custGeom>
            <a:avLst/>
            <a:gdLst/>
            <a:ahLst/>
            <a:rect l="0" t="0" r="r" b="b"/>
            <a:pathLst>
              <a:path w="20" h="1079">
                <a:moveTo>
                  <a:pt x="0" y="0"/>
                </a:moveTo>
                <a:lnTo>
                  <a:pt x="20" y="0"/>
                </a:lnTo>
                <a:lnTo>
                  <a:pt x="20" y="1079"/>
                </a:lnTo>
                <a:lnTo>
                  <a:pt x="0" y="1079"/>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27" name=""/>
          <p:cNvSpPr/>
          <p:nvPr/>
        </p:nvSpPr>
        <p:spPr>
          <a:xfrm>
            <a:off x="3341880" y="1913760"/>
            <a:ext cx="1579320" cy="7200"/>
          </a:xfrm>
          <a:custGeom>
            <a:avLst/>
            <a:gdLst/>
            <a:ahLst/>
            <a:rect l="0" t="0" r="r" b="b"/>
            <a:pathLst>
              <a:path w="4387" h="20">
                <a:moveTo>
                  <a:pt x="0" y="0"/>
                </a:moveTo>
                <a:lnTo>
                  <a:pt x="4387" y="0"/>
                </a:lnTo>
                <a:lnTo>
                  <a:pt x="4387"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28" name=""/>
          <p:cNvSpPr/>
          <p:nvPr/>
        </p:nvSpPr>
        <p:spPr>
          <a:xfrm>
            <a:off x="4914000" y="1920600"/>
            <a:ext cx="7200" cy="388440"/>
          </a:xfrm>
          <a:custGeom>
            <a:avLst/>
            <a:gdLst/>
            <a:ahLst/>
            <a:rect l="0" t="0" r="r" b="b"/>
            <a:pathLst>
              <a:path w="20" h="1079">
                <a:moveTo>
                  <a:pt x="0" y="0"/>
                </a:moveTo>
                <a:lnTo>
                  <a:pt x="20" y="0"/>
                </a:lnTo>
                <a:lnTo>
                  <a:pt x="20" y="1079"/>
                </a:lnTo>
                <a:lnTo>
                  <a:pt x="0" y="1079"/>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29" name=""/>
          <p:cNvSpPr/>
          <p:nvPr/>
        </p:nvSpPr>
        <p:spPr>
          <a:xfrm>
            <a:off x="299160" y="2308680"/>
            <a:ext cx="7200" cy="524160"/>
          </a:xfrm>
          <a:custGeom>
            <a:avLst/>
            <a:gdLst/>
            <a:ahLst/>
            <a:rect l="0" t="0" r="r" b="b"/>
            <a:pathLst>
              <a:path w="20" h="1456">
                <a:moveTo>
                  <a:pt x="0" y="0"/>
                </a:moveTo>
                <a:lnTo>
                  <a:pt x="20" y="0"/>
                </a:lnTo>
                <a:lnTo>
                  <a:pt x="20" y="1456"/>
                </a:lnTo>
                <a:lnTo>
                  <a:pt x="0" y="1456"/>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30" name=""/>
          <p:cNvSpPr/>
          <p:nvPr/>
        </p:nvSpPr>
        <p:spPr>
          <a:xfrm>
            <a:off x="299160" y="2301840"/>
            <a:ext cx="1055520" cy="7200"/>
          </a:xfrm>
          <a:custGeom>
            <a:avLst/>
            <a:gdLst/>
            <a:ahLst/>
            <a:rect l="0" t="0" r="r" b="b"/>
            <a:pathLst>
              <a:path w="2932" h="20">
                <a:moveTo>
                  <a:pt x="0" y="0"/>
                </a:moveTo>
                <a:lnTo>
                  <a:pt x="2932" y="0"/>
                </a:lnTo>
                <a:lnTo>
                  <a:pt x="2932"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31" name=""/>
          <p:cNvSpPr/>
          <p:nvPr/>
        </p:nvSpPr>
        <p:spPr>
          <a:xfrm>
            <a:off x="1347480" y="2308680"/>
            <a:ext cx="7200" cy="524160"/>
          </a:xfrm>
          <a:custGeom>
            <a:avLst/>
            <a:gdLst/>
            <a:ahLst/>
            <a:rect l="0" t="0" r="r" b="b"/>
            <a:pathLst>
              <a:path w="20" h="1456">
                <a:moveTo>
                  <a:pt x="0" y="0"/>
                </a:moveTo>
                <a:lnTo>
                  <a:pt x="20" y="0"/>
                </a:lnTo>
                <a:lnTo>
                  <a:pt x="20" y="1456"/>
                </a:lnTo>
                <a:lnTo>
                  <a:pt x="0" y="1456"/>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32" name=""/>
          <p:cNvSpPr/>
          <p:nvPr/>
        </p:nvSpPr>
        <p:spPr>
          <a:xfrm>
            <a:off x="1354320" y="2301840"/>
            <a:ext cx="1987920" cy="7200"/>
          </a:xfrm>
          <a:custGeom>
            <a:avLst/>
            <a:gdLst/>
            <a:ahLst/>
            <a:rect l="0" t="0" r="r" b="b"/>
            <a:pathLst>
              <a:path w="5522" h="20">
                <a:moveTo>
                  <a:pt x="0" y="0"/>
                </a:moveTo>
                <a:lnTo>
                  <a:pt x="5522" y="0"/>
                </a:lnTo>
                <a:lnTo>
                  <a:pt x="5522"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33" name=""/>
          <p:cNvSpPr/>
          <p:nvPr/>
        </p:nvSpPr>
        <p:spPr>
          <a:xfrm>
            <a:off x="3335040" y="2308680"/>
            <a:ext cx="7200" cy="524160"/>
          </a:xfrm>
          <a:custGeom>
            <a:avLst/>
            <a:gdLst/>
            <a:ahLst/>
            <a:rect l="0" t="0" r="r" b="b"/>
            <a:pathLst>
              <a:path w="20" h="1456">
                <a:moveTo>
                  <a:pt x="0" y="0"/>
                </a:moveTo>
                <a:lnTo>
                  <a:pt x="20" y="0"/>
                </a:lnTo>
                <a:lnTo>
                  <a:pt x="20" y="1456"/>
                </a:lnTo>
                <a:lnTo>
                  <a:pt x="0" y="1456"/>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34" name=""/>
          <p:cNvSpPr/>
          <p:nvPr/>
        </p:nvSpPr>
        <p:spPr>
          <a:xfrm>
            <a:off x="3341880" y="2301840"/>
            <a:ext cx="1579320" cy="7200"/>
          </a:xfrm>
          <a:custGeom>
            <a:avLst/>
            <a:gdLst/>
            <a:ahLst/>
            <a:rect l="0" t="0" r="r" b="b"/>
            <a:pathLst>
              <a:path w="4387" h="20">
                <a:moveTo>
                  <a:pt x="0" y="0"/>
                </a:moveTo>
                <a:lnTo>
                  <a:pt x="4387" y="0"/>
                </a:lnTo>
                <a:lnTo>
                  <a:pt x="4387"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35" name=""/>
          <p:cNvSpPr/>
          <p:nvPr/>
        </p:nvSpPr>
        <p:spPr>
          <a:xfrm>
            <a:off x="4914000" y="2308680"/>
            <a:ext cx="7200" cy="524160"/>
          </a:xfrm>
          <a:custGeom>
            <a:avLst/>
            <a:gdLst/>
            <a:ahLst/>
            <a:rect l="0" t="0" r="r" b="b"/>
            <a:pathLst>
              <a:path w="20" h="1456">
                <a:moveTo>
                  <a:pt x="0" y="0"/>
                </a:moveTo>
                <a:lnTo>
                  <a:pt x="20" y="0"/>
                </a:lnTo>
                <a:lnTo>
                  <a:pt x="20" y="1456"/>
                </a:lnTo>
                <a:lnTo>
                  <a:pt x="0" y="1456"/>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36" name=""/>
          <p:cNvSpPr/>
          <p:nvPr/>
        </p:nvSpPr>
        <p:spPr>
          <a:xfrm>
            <a:off x="299160" y="2825640"/>
            <a:ext cx="1055520" cy="7200"/>
          </a:xfrm>
          <a:custGeom>
            <a:avLst/>
            <a:gdLst/>
            <a:ahLst/>
            <a:rect l="0" t="0" r="r" b="b"/>
            <a:pathLst>
              <a:path w="2932" h="20">
                <a:moveTo>
                  <a:pt x="0" y="0"/>
                </a:moveTo>
                <a:lnTo>
                  <a:pt x="2932" y="0"/>
                </a:lnTo>
                <a:lnTo>
                  <a:pt x="2932"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37" name=""/>
          <p:cNvSpPr/>
          <p:nvPr/>
        </p:nvSpPr>
        <p:spPr>
          <a:xfrm>
            <a:off x="1354320" y="2825640"/>
            <a:ext cx="1987920" cy="7200"/>
          </a:xfrm>
          <a:custGeom>
            <a:avLst/>
            <a:gdLst/>
            <a:ahLst/>
            <a:rect l="0" t="0" r="r" b="b"/>
            <a:pathLst>
              <a:path w="5522" h="20">
                <a:moveTo>
                  <a:pt x="0" y="0"/>
                </a:moveTo>
                <a:lnTo>
                  <a:pt x="5522" y="0"/>
                </a:lnTo>
                <a:lnTo>
                  <a:pt x="5522"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38" name=""/>
          <p:cNvSpPr/>
          <p:nvPr/>
        </p:nvSpPr>
        <p:spPr>
          <a:xfrm>
            <a:off x="3341880" y="2825640"/>
            <a:ext cx="1579320" cy="7200"/>
          </a:xfrm>
          <a:custGeom>
            <a:avLst/>
            <a:gdLst/>
            <a:ahLst/>
            <a:rect l="0" t="0" r="r" b="b"/>
            <a:pathLst>
              <a:path w="4387" h="20">
                <a:moveTo>
                  <a:pt x="0" y="0"/>
                </a:moveTo>
                <a:lnTo>
                  <a:pt x="4387" y="0"/>
                </a:lnTo>
                <a:lnTo>
                  <a:pt x="4387" y="20"/>
                </a:lnTo>
                <a:lnTo>
                  <a:pt x="0" y="20"/>
                </a:lnTo>
                <a:lnTo>
                  <a:pt x="0" y="0"/>
                </a:lnTo>
                <a:close/>
              </a:path>
            </a:pathLst>
          </a:custGeom>
          <a:solidFill>
            <a:srgbClr val="e5e7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539" name="" descr=""/>
          <p:cNvPicPr/>
          <p:nvPr/>
        </p:nvPicPr>
        <p:blipFill>
          <a:blip r:embed="rId6"/>
          <a:stretch/>
        </p:blipFill>
        <p:spPr>
          <a:xfrm>
            <a:off x="299520" y="933840"/>
            <a:ext cx="122040" cy="135720"/>
          </a:xfrm>
          <a:prstGeom prst="rect">
            <a:avLst/>
          </a:prstGeom>
          <a:noFill/>
          <a:ln w="0">
            <a:noFill/>
          </a:ln>
        </p:spPr>
      </p:pic>
      <p:sp>
        <p:nvSpPr>
          <p:cNvPr id="540" name=""/>
          <p:cNvSpPr txBox="1"/>
          <p:nvPr/>
        </p:nvSpPr>
        <p:spPr>
          <a:xfrm>
            <a:off x="1979640" y="383040"/>
            <a:ext cx="1226160" cy="257760"/>
          </a:xfrm>
          <a:prstGeom prst="rect">
            <a:avLst/>
          </a:prstGeom>
          <a:noFill/>
          <a:ln w="0">
            <a:noFill/>
          </a:ln>
        </p:spPr>
        <p:txBody>
          <a:bodyPr wrap="none" lIns="0" rIns="0" tIns="0" bIns="0" anchor="t">
            <a:spAutoFit/>
          </a:bodyPr>
          <a:p>
            <a:r>
              <a:rPr b="0" lang="zh-CN" sz="1610" strike="noStrike" u="none">
                <a:solidFill>
                  <a:srgbClr val="1e40af"/>
                </a:solidFill>
                <a:effectLst/>
                <a:uFillTx/>
                <a:latin typeface="WenQuanYiZenHei"/>
                <a:ea typeface="WenQuanYiZenHei"/>
              </a:rPr>
              <a:t>慢性疾患管理</a:t>
            </a:r>
            <a:endParaRPr b="0" lang="en-US" sz="1610" strike="noStrike" u="none">
              <a:solidFill>
                <a:srgbClr val="000000"/>
              </a:solidFill>
              <a:effectLst/>
              <a:uFillTx/>
              <a:latin typeface="Times New Roman"/>
            </a:endParaRPr>
          </a:p>
        </p:txBody>
      </p:sp>
      <p:sp>
        <p:nvSpPr>
          <p:cNvPr id="541" name=""/>
          <p:cNvSpPr txBox="1"/>
          <p:nvPr/>
        </p:nvSpPr>
        <p:spPr>
          <a:xfrm>
            <a:off x="476280" y="918360"/>
            <a:ext cx="1224720" cy="171000"/>
          </a:xfrm>
          <a:prstGeom prst="rect">
            <a:avLst/>
          </a:prstGeom>
          <a:noFill/>
          <a:ln w="0">
            <a:noFill/>
          </a:ln>
        </p:spPr>
        <p:txBody>
          <a:bodyPr wrap="none" lIns="0" rIns="0" tIns="0" bIns="0" anchor="t">
            <a:spAutoFit/>
          </a:bodyPr>
          <a:p>
            <a:r>
              <a:rPr b="0" lang="zh-CN" sz="1070" strike="noStrike" u="none">
                <a:solidFill>
                  <a:srgbClr val="1d4ed8"/>
                </a:solidFill>
                <a:effectLst/>
                <a:uFillTx/>
                <a:latin typeface="WenQuanYiZenHei"/>
                <a:ea typeface="WenQuanYiZenHei"/>
              </a:rPr>
              <a:t>主な慢性疾患管理料</a:t>
            </a:r>
            <a:endParaRPr b="0" lang="en-US" sz="1070" strike="noStrike" u="none">
              <a:solidFill>
                <a:srgbClr val="000000"/>
              </a:solidFill>
              <a:effectLst/>
              <a:uFillTx/>
              <a:latin typeface="Times New Roman"/>
            </a:endParaRPr>
          </a:p>
        </p:txBody>
      </p:sp>
      <p:sp>
        <p:nvSpPr>
          <p:cNvPr id="542" name=""/>
          <p:cNvSpPr txBox="1"/>
          <p:nvPr/>
        </p:nvSpPr>
        <p:spPr>
          <a:xfrm>
            <a:off x="374400" y="1207080"/>
            <a:ext cx="39096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管理料名</a:t>
            </a:r>
            <a:endParaRPr b="0" lang="en-US" sz="770" strike="noStrike" u="none">
              <a:solidFill>
                <a:srgbClr val="000000"/>
              </a:solidFill>
              <a:effectLst/>
              <a:uFillTx/>
              <a:latin typeface="Times New Roman"/>
            </a:endParaRPr>
          </a:p>
        </p:txBody>
      </p:sp>
      <p:sp>
        <p:nvSpPr>
          <p:cNvPr id="543" name=""/>
          <p:cNvSpPr txBox="1"/>
          <p:nvPr/>
        </p:nvSpPr>
        <p:spPr>
          <a:xfrm>
            <a:off x="1425600" y="1207080"/>
            <a:ext cx="48852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対象疾患例</a:t>
            </a:r>
            <a:endParaRPr b="0" lang="en-US" sz="770" strike="noStrike" u="none">
              <a:solidFill>
                <a:srgbClr val="000000"/>
              </a:solidFill>
              <a:effectLst/>
              <a:uFillTx/>
              <a:latin typeface="Times New Roman"/>
            </a:endParaRPr>
          </a:p>
        </p:txBody>
      </p:sp>
      <p:pic>
        <p:nvPicPr>
          <p:cNvPr id="544" name="" descr=""/>
          <p:cNvPicPr/>
          <p:nvPr/>
        </p:nvPicPr>
        <p:blipFill>
          <a:blip r:embed="rId7"/>
          <a:stretch/>
        </p:blipFill>
        <p:spPr>
          <a:xfrm>
            <a:off x="374400" y="1607760"/>
            <a:ext cx="95040" cy="99000"/>
          </a:xfrm>
          <a:prstGeom prst="rect">
            <a:avLst/>
          </a:prstGeom>
          <a:noFill/>
          <a:ln w="0">
            <a:noFill/>
          </a:ln>
        </p:spPr>
      </p:pic>
      <p:sp>
        <p:nvSpPr>
          <p:cNvPr id="545" name=""/>
          <p:cNvSpPr txBox="1"/>
          <p:nvPr/>
        </p:nvSpPr>
        <p:spPr>
          <a:xfrm>
            <a:off x="3410280" y="1207080"/>
            <a:ext cx="58608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点数（目安）</a:t>
            </a:r>
            <a:endParaRPr b="0" lang="en-US" sz="770" strike="noStrike" u="none">
              <a:solidFill>
                <a:srgbClr val="000000"/>
              </a:solidFill>
              <a:effectLst/>
              <a:uFillTx/>
              <a:latin typeface="Times New Roman"/>
            </a:endParaRPr>
          </a:p>
        </p:txBody>
      </p:sp>
      <p:sp>
        <p:nvSpPr>
          <p:cNvPr id="546" name=""/>
          <p:cNvSpPr txBox="1"/>
          <p:nvPr/>
        </p:nvSpPr>
        <p:spPr>
          <a:xfrm>
            <a:off x="524160" y="1513080"/>
            <a:ext cx="68364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生活習慣病管理</a:t>
            </a:r>
            <a:endParaRPr b="0" lang="en-US" sz="770" strike="noStrike" u="none">
              <a:solidFill>
                <a:srgbClr val="000000"/>
              </a:solidFill>
              <a:effectLst/>
              <a:uFillTx/>
              <a:latin typeface="Times New Roman"/>
            </a:endParaRPr>
          </a:p>
        </p:txBody>
      </p:sp>
      <p:sp>
        <p:nvSpPr>
          <p:cNvPr id="547" name=""/>
          <p:cNvSpPr txBox="1"/>
          <p:nvPr/>
        </p:nvSpPr>
        <p:spPr>
          <a:xfrm>
            <a:off x="524160" y="1662840"/>
            <a:ext cx="9828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料</a:t>
            </a:r>
            <a:endParaRPr b="0" lang="en-US" sz="770" strike="noStrike" u="none">
              <a:solidFill>
                <a:srgbClr val="000000"/>
              </a:solidFill>
              <a:effectLst/>
              <a:uFillTx/>
              <a:latin typeface="Times New Roman"/>
            </a:endParaRPr>
          </a:p>
        </p:txBody>
      </p:sp>
      <p:sp>
        <p:nvSpPr>
          <p:cNvPr id="548" name=""/>
          <p:cNvSpPr txBox="1"/>
          <p:nvPr/>
        </p:nvSpPr>
        <p:spPr>
          <a:xfrm>
            <a:off x="1425600" y="1587960"/>
            <a:ext cx="136620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糖尿病、高血圧症、脂質異常症</a:t>
            </a:r>
            <a:endParaRPr b="0" lang="en-US" sz="770" strike="noStrike" u="none">
              <a:solidFill>
                <a:srgbClr val="000000"/>
              </a:solidFill>
              <a:effectLst/>
              <a:uFillTx/>
              <a:latin typeface="Times New Roman"/>
            </a:endParaRPr>
          </a:p>
        </p:txBody>
      </p:sp>
      <p:sp>
        <p:nvSpPr>
          <p:cNvPr id="549" name=""/>
          <p:cNvSpPr txBox="1"/>
          <p:nvPr/>
        </p:nvSpPr>
        <p:spPr>
          <a:xfrm>
            <a:off x="3410280" y="1445040"/>
            <a:ext cx="68796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処方箋交付あり</a:t>
            </a:r>
            <a:endParaRPr b="0" lang="en-US" sz="770" strike="noStrike" u="none">
              <a:solidFill>
                <a:srgbClr val="000000"/>
              </a:solidFill>
              <a:effectLst/>
              <a:uFillTx/>
              <a:latin typeface="Times New Roman"/>
            </a:endParaRPr>
          </a:p>
        </p:txBody>
      </p:sp>
      <p:sp>
        <p:nvSpPr>
          <p:cNvPr id="550" name=""/>
          <p:cNvSpPr txBox="1"/>
          <p:nvPr/>
        </p:nvSpPr>
        <p:spPr>
          <a:xfrm>
            <a:off x="4077360" y="1448640"/>
            <a:ext cx="97560" cy="113400"/>
          </a:xfrm>
          <a:prstGeom prst="rect">
            <a:avLst/>
          </a:prstGeom>
          <a:noFill/>
          <a:ln w="0">
            <a:noFill/>
          </a:ln>
        </p:spPr>
        <p:txBody>
          <a:bodyPr wrap="none" lIns="0" rIns="0" tIns="0" bIns="0" anchor="t">
            <a:spAutoFit/>
          </a:bodyPr>
          <a:p>
            <a:r>
              <a:rPr b="0" lang="en-US" sz="770" strike="noStrike" u="none">
                <a:solidFill>
                  <a:srgbClr val="000000"/>
                </a:solidFill>
                <a:effectLst/>
                <a:uFillTx/>
                <a:latin typeface="DejaVuSans"/>
                <a:ea typeface="DejaVuSans"/>
              </a:rPr>
              <a:t>: </a:t>
            </a:r>
            <a:endParaRPr b="0" lang="en-US" sz="770" strike="noStrike" u="none">
              <a:solidFill>
                <a:srgbClr val="000000"/>
              </a:solidFill>
              <a:effectLst/>
              <a:uFillTx/>
              <a:latin typeface="Times New Roman"/>
            </a:endParaRPr>
          </a:p>
        </p:txBody>
      </p:sp>
      <p:sp>
        <p:nvSpPr>
          <p:cNvPr id="551" name=""/>
          <p:cNvSpPr txBox="1"/>
          <p:nvPr/>
        </p:nvSpPr>
        <p:spPr>
          <a:xfrm>
            <a:off x="4141440" y="1445040"/>
            <a:ext cx="9828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約</a:t>
            </a:r>
            <a:endParaRPr b="0" lang="en-US" sz="770" strike="noStrike" u="none">
              <a:solidFill>
                <a:srgbClr val="000000"/>
              </a:solidFill>
              <a:effectLst/>
              <a:uFillTx/>
              <a:latin typeface="Times New Roman"/>
            </a:endParaRPr>
          </a:p>
        </p:txBody>
      </p:sp>
      <p:sp>
        <p:nvSpPr>
          <p:cNvPr id="552" name=""/>
          <p:cNvSpPr txBox="1"/>
          <p:nvPr/>
        </p:nvSpPr>
        <p:spPr>
          <a:xfrm>
            <a:off x="4236840" y="1448640"/>
            <a:ext cx="280080" cy="113400"/>
          </a:xfrm>
          <a:prstGeom prst="rect">
            <a:avLst/>
          </a:prstGeom>
          <a:noFill/>
          <a:ln w="0">
            <a:noFill/>
          </a:ln>
        </p:spPr>
        <p:txBody>
          <a:bodyPr wrap="none" lIns="0" rIns="0" tIns="0" bIns="0" anchor="t">
            <a:spAutoFit/>
          </a:bodyPr>
          <a:p>
            <a:r>
              <a:rPr b="0" lang="en-US" sz="770" strike="noStrike" u="none">
                <a:solidFill>
                  <a:srgbClr val="000000"/>
                </a:solidFill>
                <a:effectLst/>
                <a:uFillTx/>
                <a:latin typeface="DejaVuSans"/>
                <a:ea typeface="DejaVuSans"/>
              </a:rPr>
              <a:t>1,200</a:t>
            </a:r>
            <a:endParaRPr b="0" lang="en-US" sz="770" strike="noStrike" u="none">
              <a:solidFill>
                <a:srgbClr val="000000"/>
              </a:solidFill>
              <a:effectLst/>
              <a:uFillTx/>
              <a:latin typeface="Times New Roman"/>
            </a:endParaRPr>
          </a:p>
        </p:txBody>
      </p:sp>
      <p:sp>
        <p:nvSpPr>
          <p:cNvPr id="553" name=""/>
          <p:cNvSpPr txBox="1"/>
          <p:nvPr/>
        </p:nvSpPr>
        <p:spPr>
          <a:xfrm>
            <a:off x="4517280" y="1445040"/>
            <a:ext cx="19584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点～</a:t>
            </a:r>
            <a:endParaRPr b="0" lang="en-US" sz="770" strike="noStrike" u="none">
              <a:solidFill>
                <a:srgbClr val="000000"/>
              </a:solidFill>
              <a:effectLst/>
              <a:uFillTx/>
              <a:latin typeface="Times New Roman"/>
            </a:endParaRPr>
          </a:p>
        </p:txBody>
      </p:sp>
      <p:sp>
        <p:nvSpPr>
          <p:cNvPr id="554" name=""/>
          <p:cNvSpPr txBox="1"/>
          <p:nvPr/>
        </p:nvSpPr>
        <p:spPr>
          <a:xfrm>
            <a:off x="3410280" y="1591560"/>
            <a:ext cx="280080" cy="113400"/>
          </a:xfrm>
          <a:prstGeom prst="rect">
            <a:avLst/>
          </a:prstGeom>
          <a:noFill/>
          <a:ln w="0">
            <a:noFill/>
          </a:ln>
        </p:spPr>
        <p:txBody>
          <a:bodyPr wrap="none" lIns="0" rIns="0" tIns="0" bIns="0" anchor="t">
            <a:spAutoFit/>
          </a:bodyPr>
          <a:p>
            <a:r>
              <a:rPr b="0" lang="en-US" sz="770" strike="noStrike" u="none">
                <a:solidFill>
                  <a:srgbClr val="000000"/>
                </a:solidFill>
                <a:effectLst/>
                <a:uFillTx/>
                <a:latin typeface="DejaVuSans"/>
                <a:ea typeface="DejaVuSans"/>
              </a:rPr>
              <a:t>1,600</a:t>
            </a:r>
            <a:endParaRPr b="0" lang="en-US" sz="770" strike="noStrike" u="none">
              <a:solidFill>
                <a:srgbClr val="000000"/>
              </a:solidFill>
              <a:effectLst/>
              <a:uFillTx/>
              <a:latin typeface="Times New Roman"/>
            </a:endParaRPr>
          </a:p>
        </p:txBody>
      </p:sp>
      <p:sp>
        <p:nvSpPr>
          <p:cNvPr id="555" name=""/>
          <p:cNvSpPr txBox="1"/>
          <p:nvPr/>
        </p:nvSpPr>
        <p:spPr>
          <a:xfrm>
            <a:off x="3690720" y="1587960"/>
            <a:ext cx="9828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点</a:t>
            </a:r>
            <a:endParaRPr b="0" lang="en-US" sz="770" strike="noStrike" u="none">
              <a:solidFill>
                <a:srgbClr val="000000"/>
              </a:solidFill>
              <a:effectLst/>
              <a:uFillTx/>
              <a:latin typeface="Times New Roman"/>
            </a:endParaRPr>
          </a:p>
        </p:txBody>
      </p:sp>
      <p:sp>
        <p:nvSpPr>
          <p:cNvPr id="556" name=""/>
          <p:cNvSpPr txBox="1"/>
          <p:nvPr/>
        </p:nvSpPr>
        <p:spPr>
          <a:xfrm>
            <a:off x="3786120" y="1591560"/>
            <a:ext cx="97560" cy="113400"/>
          </a:xfrm>
          <a:prstGeom prst="rect">
            <a:avLst/>
          </a:prstGeom>
          <a:noFill/>
          <a:ln w="0">
            <a:noFill/>
          </a:ln>
        </p:spPr>
        <p:txBody>
          <a:bodyPr wrap="none" lIns="0" rIns="0" tIns="0" bIns="0" anchor="t">
            <a:spAutoFit/>
          </a:bodyPr>
          <a:p>
            <a:r>
              <a:rPr b="0" lang="en-US" sz="770" strike="noStrike" u="none">
                <a:solidFill>
                  <a:srgbClr val="000000"/>
                </a:solidFill>
                <a:effectLst/>
                <a:uFillTx/>
                <a:latin typeface="DejaVuSans"/>
                <a:ea typeface="DejaVuSans"/>
              </a:rPr>
              <a:t>/</a:t>
            </a:r>
            <a:endParaRPr b="0" lang="en-US" sz="770" strike="noStrike" u="none">
              <a:solidFill>
                <a:srgbClr val="000000"/>
              </a:solidFill>
              <a:effectLst/>
              <a:uFillTx/>
              <a:latin typeface="Times New Roman"/>
            </a:endParaRPr>
          </a:p>
        </p:txBody>
      </p:sp>
      <p:sp>
        <p:nvSpPr>
          <p:cNvPr id="557" name=""/>
          <p:cNvSpPr txBox="1"/>
          <p:nvPr/>
        </p:nvSpPr>
        <p:spPr>
          <a:xfrm>
            <a:off x="3819240" y="1587960"/>
            <a:ext cx="9828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月</a:t>
            </a:r>
            <a:endParaRPr b="0" lang="en-US" sz="770" strike="noStrike" u="none">
              <a:solidFill>
                <a:srgbClr val="000000"/>
              </a:solidFill>
              <a:effectLst/>
              <a:uFillTx/>
              <a:latin typeface="Times New Roman"/>
            </a:endParaRPr>
          </a:p>
        </p:txBody>
      </p:sp>
      <p:sp>
        <p:nvSpPr>
          <p:cNvPr id="558" name=""/>
          <p:cNvSpPr txBox="1"/>
          <p:nvPr/>
        </p:nvSpPr>
        <p:spPr>
          <a:xfrm>
            <a:off x="3410280" y="1737720"/>
            <a:ext cx="68796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処方箋交付なし</a:t>
            </a:r>
            <a:endParaRPr b="0" lang="en-US" sz="770" strike="noStrike" u="none">
              <a:solidFill>
                <a:srgbClr val="000000"/>
              </a:solidFill>
              <a:effectLst/>
              <a:uFillTx/>
              <a:latin typeface="Times New Roman"/>
            </a:endParaRPr>
          </a:p>
        </p:txBody>
      </p:sp>
      <p:sp>
        <p:nvSpPr>
          <p:cNvPr id="559" name=""/>
          <p:cNvSpPr txBox="1"/>
          <p:nvPr/>
        </p:nvSpPr>
        <p:spPr>
          <a:xfrm>
            <a:off x="4077360" y="1741320"/>
            <a:ext cx="97560" cy="113400"/>
          </a:xfrm>
          <a:prstGeom prst="rect">
            <a:avLst/>
          </a:prstGeom>
          <a:noFill/>
          <a:ln w="0">
            <a:noFill/>
          </a:ln>
        </p:spPr>
        <p:txBody>
          <a:bodyPr wrap="none" lIns="0" rIns="0" tIns="0" bIns="0" anchor="t">
            <a:spAutoFit/>
          </a:bodyPr>
          <a:p>
            <a:r>
              <a:rPr b="0" lang="en-US" sz="770" strike="noStrike" u="none">
                <a:solidFill>
                  <a:srgbClr val="000000"/>
                </a:solidFill>
                <a:effectLst/>
                <a:uFillTx/>
                <a:latin typeface="DejaVuSans"/>
                <a:ea typeface="DejaVuSans"/>
              </a:rPr>
              <a:t>: </a:t>
            </a:r>
            <a:endParaRPr b="0" lang="en-US" sz="770" strike="noStrike" u="none">
              <a:solidFill>
                <a:srgbClr val="000000"/>
              </a:solidFill>
              <a:effectLst/>
              <a:uFillTx/>
              <a:latin typeface="Times New Roman"/>
            </a:endParaRPr>
          </a:p>
        </p:txBody>
      </p:sp>
      <p:pic>
        <p:nvPicPr>
          <p:cNvPr id="560" name="" descr=""/>
          <p:cNvPicPr/>
          <p:nvPr/>
        </p:nvPicPr>
        <p:blipFill>
          <a:blip r:embed="rId8"/>
          <a:stretch/>
        </p:blipFill>
        <p:spPr>
          <a:xfrm>
            <a:off x="374400" y="2063520"/>
            <a:ext cx="122040" cy="99000"/>
          </a:xfrm>
          <a:prstGeom prst="rect">
            <a:avLst/>
          </a:prstGeom>
          <a:noFill/>
          <a:ln w="0">
            <a:noFill/>
          </a:ln>
        </p:spPr>
      </p:pic>
      <p:sp>
        <p:nvSpPr>
          <p:cNvPr id="561" name=""/>
          <p:cNvSpPr txBox="1"/>
          <p:nvPr/>
        </p:nvSpPr>
        <p:spPr>
          <a:xfrm>
            <a:off x="4141440" y="1737720"/>
            <a:ext cx="69264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さらに高い点数</a:t>
            </a:r>
            <a:endParaRPr b="0" lang="en-US" sz="770" strike="noStrike" u="none">
              <a:solidFill>
                <a:srgbClr val="000000"/>
              </a:solidFill>
              <a:effectLst/>
              <a:uFillTx/>
              <a:latin typeface="Times New Roman"/>
            </a:endParaRPr>
          </a:p>
        </p:txBody>
      </p:sp>
      <p:sp>
        <p:nvSpPr>
          <p:cNvPr id="562" name=""/>
          <p:cNvSpPr txBox="1"/>
          <p:nvPr/>
        </p:nvSpPr>
        <p:spPr>
          <a:xfrm>
            <a:off x="551160" y="1969200"/>
            <a:ext cx="68364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特定疾患療養管</a:t>
            </a:r>
            <a:endParaRPr b="0" lang="en-US" sz="770" strike="noStrike" u="none">
              <a:solidFill>
                <a:srgbClr val="000000"/>
              </a:solidFill>
              <a:effectLst/>
              <a:uFillTx/>
              <a:latin typeface="Times New Roman"/>
            </a:endParaRPr>
          </a:p>
        </p:txBody>
      </p:sp>
      <p:sp>
        <p:nvSpPr>
          <p:cNvPr id="563" name=""/>
          <p:cNvSpPr txBox="1"/>
          <p:nvPr/>
        </p:nvSpPr>
        <p:spPr>
          <a:xfrm>
            <a:off x="551160" y="2118960"/>
            <a:ext cx="19584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理料</a:t>
            </a:r>
            <a:endParaRPr b="0" lang="en-US" sz="770" strike="noStrike" u="none">
              <a:solidFill>
                <a:srgbClr val="000000"/>
              </a:solidFill>
              <a:effectLst/>
              <a:uFillTx/>
              <a:latin typeface="Times New Roman"/>
            </a:endParaRPr>
          </a:p>
        </p:txBody>
      </p:sp>
      <p:sp>
        <p:nvSpPr>
          <p:cNvPr id="564" name=""/>
          <p:cNvSpPr txBox="1"/>
          <p:nvPr/>
        </p:nvSpPr>
        <p:spPr>
          <a:xfrm>
            <a:off x="1425600" y="1969200"/>
            <a:ext cx="185400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胃潰瘍、十二指腸潰瘍、慢性肝炎、慢性膵</a:t>
            </a:r>
            <a:endParaRPr b="0" lang="en-US" sz="770" strike="noStrike" u="none">
              <a:solidFill>
                <a:srgbClr val="000000"/>
              </a:solidFill>
              <a:effectLst/>
              <a:uFillTx/>
              <a:latin typeface="Times New Roman"/>
            </a:endParaRPr>
          </a:p>
        </p:txBody>
      </p:sp>
      <p:sp>
        <p:nvSpPr>
          <p:cNvPr id="565" name=""/>
          <p:cNvSpPr txBox="1"/>
          <p:nvPr/>
        </p:nvSpPr>
        <p:spPr>
          <a:xfrm>
            <a:off x="1425600" y="2118960"/>
            <a:ext cx="59040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炎、喘息など</a:t>
            </a:r>
            <a:endParaRPr b="0" lang="en-US" sz="770" strike="noStrike" u="none">
              <a:solidFill>
                <a:srgbClr val="000000"/>
              </a:solidFill>
              <a:effectLst/>
              <a:uFillTx/>
              <a:latin typeface="Times New Roman"/>
            </a:endParaRPr>
          </a:p>
        </p:txBody>
      </p:sp>
      <p:sp>
        <p:nvSpPr>
          <p:cNvPr id="566" name=""/>
          <p:cNvSpPr txBox="1"/>
          <p:nvPr/>
        </p:nvSpPr>
        <p:spPr>
          <a:xfrm>
            <a:off x="3410280" y="1969200"/>
            <a:ext cx="19584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病院</a:t>
            </a:r>
            <a:endParaRPr b="0" lang="en-US" sz="770" strike="noStrike" u="none">
              <a:solidFill>
                <a:srgbClr val="000000"/>
              </a:solidFill>
              <a:effectLst/>
              <a:uFillTx/>
              <a:latin typeface="Times New Roman"/>
            </a:endParaRPr>
          </a:p>
        </p:txBody>
      </p:sp>
      <p:sp>
        <p:nvSpPr>
          <p:cNvPr id="567" name=""/>
          <p:cNvSpPr txBox="1"/>
          <p:nvPr/>
        </p:nvSpPr>
        <p:spPr>
          <a:xfrm>
            <a:off x="3601080" y="1972800"/>
            <a:ext cx="97560" cy="113400"/>
          </a:xfrm>
          <a:prstGeom prst="rect">
            <a:avLst/>
          </a:prstGeom>
          <a:noFill/>
          <a:ln w="0">
            <a:noFill/>
          </a:ln>
        </p:spPr>
        <p:txBody>
          <a:bodyPr wrap="none" lIns="0" rIns="0" tIns="0" bIns="0" anchor="t">
            <a:spAutoFit/>
          </a:bodyPr>
          <a:p>
            <a:r>
              <a:rPr b="0" lang="en-US" sz="770" strike="noStrike" u="none">
                <a:solidFill>
                  <a:srgbClr val="000000"/>
                </a:solidFill>
                <a:effectLst/>
                <a:uFillTx/>
                <a:latin typeface="DejaVuSans"/>
                <a:ea typeface="DejaVuSans"/>
              </a:rPr>
              <a:t>: </a:t>
            </a:r>
            <a:endParaRPr b="0" lang="en-US" sz="770" strike="noStrike" u="none">
              <a:solidFill>
                <a:srgbClr val="000000"/>
              </a:solidFill>
              <a:effectLst/>
              <a:uFillTx/>
              <a:latin typeface="Times New Roman"/>
            </a:endParaRPr>
          </a:p>
        </p:txBody>
      </p:sp>
      <p:sp>
        <p:nvSpPr>
          <p:cNvPr id="568" name=""/>
          <p:cNvSpPr txBox="1"/>
          <p:nvPr/>
        </p:nvSpPr>
        <p:spPr>
          <a:xfrm>
            <a:off x="3665160" y="1969200"/>
            <a:ext cx="9828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約</a:t>
            </a:r>
            <a:endParaRPr b="0" lang="en-US" sz="770" strike="noStrike" u="none">
              <a:solidFill>
                <a:srgbClr val="000000"/>
              </a:solidFill>
              <a:effectLst/>
              <a:uFillTx/>
              <a:latin typeface="Times New Roman"/>
            </a:endParaRPr>
          </a:p>
        </p:txBody>
      </p:sp>
      <p:sp>
        <p:nvSpPr>
          <p:cNvPr id="569" name=""/>
          <p:cNvSpPr txBox="1"/>
          <p:nvPr/>
        </p:nvSpPr>
        <p:spPr>
          <a:xfrm>
            <a:off x="3760200" y="1972800"/>
            <a:ext cx="186840" cy="113400"/>
          </a:xfrm>
          <a:prstGeom prst="rect">
            <a:avLst/>
          </a:prstGeom>
          <a:noFill/>
          <a:ln w="0">
            <a:noFill/>
          </a:ln>
        </p:spPr>
        <p:txBody>
          <a:bodyPr wrap="none" lIns="0" rIns="0" tIns="0" bIns="0" anchor="t">
            <a:spAutoFit/>
          </a:bodyPr>
          <a:p>
            <a:r>
              <a:rPr b="0" lang="en-US" sz="770" strike="noStrike" u="none">
                <a:solidFill>
                  <a:srgbClr val="000000"/>
                </a:solidFill>
                <a:effectLst/>
                <a:uFillTx/>
                <a:latin typeface="DejaVuSans"/>
                <a:ea typeface="DejaVuSans"/>
              </a:rPr>
              <a:t>225</a:t>
            </a:r>
            <a:endParaRPr b="0" lang="en-US" sz="770" strike="noStrike" u="none">
              <a:solidFill>
                <a:srgbClr val="000000"/>
              </a:solidFill>
              <a:effectLst/>
              <a:uFillTx/>
              <a:latin typeface="Times New Roman"/>
            </a:endParaRPr>
          </a:p>
        </p:txBody>
      </p:sp>
      <p:sp>
        <p:nvSpPr>
          <p:cNvPr id="570" name=""/>
          <p:cNvSpPr txBox="1"/>
          <p:nvPr/>
        </p:nvSpPr>
        <p:spPr>
          <a:xfrm>
            <a:off x="3947400" y="1969200"/>
            <a:ext cx="9828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点</a:t>
            </a:r>
            <a:endParaRPr b="0" lang="en-US" sz="770" strike="noStrike" u="none">
              <a:solidFill>
                <a:srgbClr val="000000"/>
              </a:solidFill>
              <a:effectLst/>
              <a:uFillTx/>
              <a:latin typeface="Times New Roman"/>
            </a:endParaRPr>
          </a:p>
        </p:txBody>
      </p:sp>
      <p:sp>
        <p:nvSpPr>
          <p:cNvPr id="571" name=""/>
          <p:cNvSpPr txBox="1"/>
          <p:nvPr/>
        </p:nvSpPr>
        <p:spPr>
          <a:xfrm>
            <a:off x="4042440" y="1972800"/>
            <a:ext cx="97560" cy="113400"/>
          </a:xfrm>
          <a:prstGeom prst="rect">
            <a:avLst/>
          </a:prstGeom>
          <a:noFill/>
          <a:ln w="0">
            <a:noFill/>
          </a:ln>
        </p:spPr>
        <p:txBody>
          <a:bodyPr wrap="none" lIns="0" rIns="0" tIns="0" bIns="0" anchor="t">
            <a:spAutoFit/>
          </a:bodyPr>
          <a:p>
            <a:r>
              <a:rPr b="0" lang="en-US" sz="770" strike="noStrike" u="none">
                <a:solidFill>
                  <a:srgbClr val="000000"/>
                </a:solidFill>
                <a:effectLst/>
                <a:uFillTx/>
                <a:latin typeface="DejaVuSans"/>
                <a:ea typeface="DejaVuSans"/>
              </a:rPr>
              <a:t>/</a:t>
            </a:r>
            <a:endParaRPr b="0" lang="en-US" sz="770" strike="noStrike" u="none">
              <a:solidFill>
                <a:srgbClr val="000000"/>
              </a:solidFill>
              <a:effectLst/>
              <a:uFillTx/>
              <a:latin typeface="Times New Roman"/>
            </a:endParaRPr>
          </a:p>
        </p:txBody>
      </p:sp>
      <p:sp>
        <p:nvSpPr>
          <p:cNvPr id="572" name=""/>
          <p:cNvSpPr txBox="1"/>
          <p:nvPr/>
        </p:nvSpPr>
        <p:spPr>
          <a:xfrm>
            <a:off x="4075560" y="1969200"/>
            <a:ext cx="9828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回</a:t>
            </a:r>
            <a:endParaRPr b="0" lang="en-US" sz="770" strike="noStrike" u="none">
              <a:solidFill>
                <a:srgbClr val="000000"/>
              </a:solidFill>
              <a:effectLst/>
              <a:uFillTx/>
              <a:latin typeface="Times New Roman"/>
            </a:endParaRPr>
          </a:p>
        </p:txBody>
      </p:sp>
      <p:sp>
        <p:nvSpPr>
          <p:cNvPr id="573" name=""/>
          <p:cNvSpPr txBox="1"/>
          <p:nvPr/>
        </p:nvSpPr>
        <p:spPr>
          <a:xfrm>
            <a:off x="3410280" y="2118960"/>
            <a:ext cx="19584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（月</a:t>
            </a:r>
            <a:endParaRPr b="0" lang="en-US" sz="770" strike="noStrike" u="none">
              <a:solidFill>
                <a:srgbClr val="000000"/>
              </a:solidFill>
              <a:effectLst/>
              <a:uFillTx/>
              <a:latin typeface="Times New Roman"/>
            </a:endParaRPr>
          </a:p>
        </p:txBody>
      </p:sp>
      <p:sp>
        <p:nvSpPr>
          <p:cNvPr id="574" name=""/>
          <p:cNvSpPr txBox="1"/>
          <p:nvPr/>
        </p:nvSpPr>
        <p:spPr>
          <a:xfrm>
            <a:off x="3601080" y="2122560"/>
            <a:ext cx="97560" cy="113400"/>
          </a:xfrm>
          <a:prstGeom prst="rect">
            <a:avLst/>
          </a:prstGeom>
          <a:noFill/>
          <a:ln w="0">
            <a:noFill/>
          </a:ln>
        </p:spPr>
        <p:txBody>
          <a:bodyPr wrap="none" lIns="0" rIns="0" tIns="0" bIns="0" anchor="t">
            <a:spAutoFit/>
          </a:bodyPr>
          <a:p>
            <a:r>
              <a:rPr b="0" lang="en-US" sz="770" strike="noStrike" u="none">
                <a:solidFill>
                  <a:srgbClr val="000000"/>
                </a:solidFill>
                <a:effectLst/>
                <a:uFillTx/>
                <a:latin typeface="DejaVuSans"/>
                <a:ea typeface="DejaVuSans"/>
              </a:rPr>
              <a:t>2</a:t>
            </a:r>
            <a:endParaRPr b="0" lang="en-US" sz="770" strike="noStrike" u="none">
              <a:solidFill>
                <a:srgbClr val="000000"/>
              </a:solidFill>
              <a:effectLst/>
              <a:uFillTx/>
              <a:latin typeface="Times New Roman"/>
            </a:endParaRPr>
          </a:p>
        </p:txBody>
      </p:sp>
      <p:pic>
        <p:nvPicPr>
          <p:cNvPr id="575" name="" descr=""/>
          <p:cNvPicPr/>
          <p:nvPr/>
        </p:nvPicPr>
        <p:blipFill>
          <a:blip r:embed="rId9"/>
          <a:stretch/>
        </p:blipFill>
        <p:spPr>
          <a:xfrm>
            <a:off x="374400" y="2519640"/>
            <a:ext cx="108720" cy="99000"/>
          </a:xfrm>
          <a:prstGeom prst="rect">
            <a:avLst/>
          </a:prstGeom>
          <a:noFill/>
          <a:ln w="0">
            <a:noFill/>
          </a:ln>
        </p:spPr>
      </p:pic>
      <p:sp>
        <p:nvSpPr>
          <p:cNvPr id="576" name=""/>
          <p:cNvSpPr txBox="1"/>
          <p:nvPr/>
        </p:nvSpPr>
        <p:spPr>
          <a:xfrm>
            <a:off x="3663360" y="2118960"/>
            <a:ext cx="78552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回まで算定可能）</a:t>
            </a:r>
            <a:endParaRPr b="0" lang="en-US" sz="770" strike="noStrike" u="none">
              <a:solidFill>
                <a:srgbClr val="000000"/>
              </a:solidFill>
              <a:effectLst/>
              <a:uFillTx/>
              <a:latin typeface="Times New Roman"/>
            </a:endParaRPr>
          </a:p>
        </p:txBody>
      </p:sp>
      <p:sp>
        <p:nvSpPr>
          <p:cNvPr id="577" name=""/>
          <p:cNvSpPr txBox="1"/>
          <p:nvPr/>
        </p:nvSpPr>
        <p:spPr>
          <a:xfrm>
            <a:off x="537840" y="2425320"/>
            <a:ext cx="68364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在宅時医学総合</a:t>
            </a:r>
            <a:endParaRPr b="0" lang="en-US" sz="770" strike="noStrike" u="none">
              <a:solidFill>
                <a:srgbClr val="000000"/>
              </a:solidFill>
              <a:effectLst/>
              <a:uFillTx/>
              <a:latin typeface="Times New Roman"/>
            </a:endParaRPr>
          </a:p>
        </p:txBody>
      </p:sp>
      <p:sp>
        <p:nvSpPr>
          <p:cNvPr id="578" name=""/>
          <p:cNvSpPr txBox="1"/>
          <p:nvPr/>
        </p:nvSpPr>
        <p:spPr>
          <a:xfrm>
            <a:off x="537840" y="2575080"/>
            <a:ext cx="29340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管理料</a:t>
            </a:r>
            <a:endParaRPr b="0" lang="en-US" sz="770" strike="noStrike" u="none">
              <a:solidFill>
                <a:srgbClr val="000000"/>
              </a:solidFill>
              <a:effectLst/>
              <a:uFillTx/>
              <a:latin typeface="Times New Roman"/>
            </a:endParaRPr>
          </a:p>
        </p:txBody>
      </p:sp>
      <p:sp>
        <p:nvSpPr>
          <p:cNvPr id="579" name=""/>
          <p:cNvSpPr txBox="1"/>
          <p:nvPr/>
        </p:nvSpPr>
        <p:spPr>
          <a:xfrm>
            <a:off x="1425600" y="2500200"/>
            <a:ext cx="107604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通院困難な在宅療養患者</a:t>
            </a:r>
            <a:endParaRPr b="0" lang="en-US" sz="770" strike="noStrike" u="none">
              <a:solidFill>
                <a:srgbClr val="000000"/>
              </a:solidFill>
              <a:effectLst/>
              <a:uFillTx/>
              <a:latin typeface="Times New Roman"/>
            </a:endParaRPr>
          </a:p>
        </p:txBody>
      </p:sp>
      <p:sp>
        <p:nvSpPr>
          <p:cNvPr id="580" name=""/>
          <p:cNvSpPr txBox="1"/>
          <p:nvPr/>
        </p:nvSpPr>
        <p:spPr>
          <a:xfrm>
            <a:off x="3410280" y="2357280"/>
            <a:ext cx="9828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月</a:t>
            </a:r>
            <a:endParaRPr b="0" lang="en-US" sz="770" strike="noStrike" u="none">
              <a:solidFill>
                <a:srgbClr val="000000"/>
              </a:solidFill>
              <a:effectLst/>
              <a:uFillTx/>
              <a:latin typeface="Times New Roman"/>
            </a:endParaRPr>
          </a:p>
        </p:txBody>
      </p:sp>
      <p:sp>
        <p:nvSpPr>
          <p:cNvPr id="581" name=""/>
          <p:cNvSpPr txBox="1"/>
          <p:nvPr/>
        </p:nvSpPr>
        <p:spPr>
          <a:xfrm>
            <a:off x="3505680" y="2360520"/>
            <a:ext cx="97560" cy="113400"/>
          </a:xfrm>
          <a:prstGeom prst="rect">
            <a:avLst/>
          </a:prstGeom>
          <a:noFill/>
          <a:ln w="0">
            <a:noFill/>
          </a:ln>
        </p:spPr>
        <p:txBody>
          <a:bodyPr wrap="none" lIns="0" rIns="0" tIns="0" bIns="0" anchor="t">
            <a:spAutoFit/>
          </a:bodyPr>
          <a:p>
            <a:r>
              <a:rPr b="0" lang="en-US" sz="770" strike="noStrike" u="none">
                <a:solidFill>
                  <a:srgbClr val="000000"/>
                </a:solidFill>
                <a:effectLst/>
                <a:uFillTx/>
                <a:latin typeface="DejaVuSans"/>
                <a:ea typeface="DejaVuSans"/>
              </a:rPr>
              <a:t>1</a:t>
            </a:r>
            <a:endParaRPr b="0" lang="en-US" sz="770" strike="noStrike" u="none">
              <a:solidFill>
                <a:srgbClr val="000000"/>
              </a:solidFill>
              <a:effectLst/>
              <a:uFillTx/>
              <a:latin typeface="Times New Roman"/>
            </a:endParaRPr>
          </a:p>
        </p:txBody>
      </p:sp>
      <p:sp>
        <p:nvSpPr>
          <p:cNvPr id="582" name=""/>
          <p:cNvSpPr txBox="1"/>
          <p:nvPr/>
        </p:nvSpPr>
        <p:spPr>
          <a:xfrm>
            <a:off x="3567960" y="2357280"/>
            <a:ext cx="9828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回</a:t>
            </a:r>
            <a:endParaRPr b="0" lang="en-US" sz="770" strike="noStrike" u="none">
              <a:solidFill>
                <a:srgbClr val="000000"/>
              </a:solidFill>
              <a:effectLst/>
              <a:uFillTx/>
              <a:latin typeface="Times New Roman"/>
            </a:endParaRPr>
          </a:p>
        </p:txBody>
      </p:sp>
      <p:sp>
        <p:nvSpPr>
          <p:cNvPr id="583" name=""/>
          <p:cNvSpPr txBox="1"/>
          <p:nvPr/>
        </p:nvSpPr>
        <p:spPr>
          <a:xfrm>
            <a:off x="3663360" y="2360520"/>
            <a:ext cx="97560" cy="113400"/>
          </a:xfrm>
          <a:prstGeom prst="rect">
            <a:avLst/>
          </a:prstGeom>
          <a:noFill/>
          <a:ln w="0">
            <a:noFill/>
          </a:ln>
        </p:spPr>
        <p:txBody>
          <a:bodyPr wrap="none" lIns="0" rIns="0" tIns="0" bIns="0" anchor="t">
            <a:spAutoFit/>
          </a:bodyPr>
          <a:p>
            <a:r>
              <a:rPr b="0" lang="en-US" sz="770" strike="noStrike" u="none">
                <a:solidFill>
                  <a:srgbClr val="000000"/>
                </a:solidFill>
                <a:effectLst/>
                <a:uFillTx/>
                <a:latin typeface="DejaVuSans"/>
                <a:ea typeface="DejaVuSans"/>
              </a:rPr>
              <a:t>: </a:t>
            </a:r>
            <a:endParaRPr b="0" lang="en-US" sz="770" strike="noStrike" u="none">
              <a:solidFill>
                <a:srgbClr val="000000"/>
              </a:solidFill>
              <a:effectLst/>
              <a:uFillTx/>
              <a:latin typeface="Times New Roman"/>
            </a:endParaRPr>
          </a:p>
        </p:txBody>
      </p:sp>
      <p:sp>
        <p:nvSpPr>
          <p:cNvPr id="584" name=""/>
          <p:cNvSpPr txBox="1"/>
          <p:nvPr/>
        </p:nvSpPr>
        <p:spPr>
          <a:xfrm>
            <a:off x="3727440" y="2357280"/>
            <a:ext cx="9828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約</a:t>
            </a:r>
            <a:endParaRPr b="0" lang="en-US" sz="770" strike="noStrike" u="none">
              <a:solidFill>
                <a:srgbClr val="000000"/>
              </a:solidFill>
              <a:effectLst/>
              <a:uFillTx/>
              <a:latin typeface="Times New Roman"/>
            </a:endParaRPr>
          </a:p>
        </p:txBody>
      </p:sp>
      <p:sp>
        <p:nvSpPr>
          <p:cNvPr id="585" name=""/>
          <p:cNvSpPr txBox="1"/>
          <p:nvPr/>
        </p:nvSpPr>
        <p:spPr>
          <a:xfrm>
            <a:off x="3822840" y="2360520"/>
            <a:ext cx="280080" cy="113400"/>
          </a:xfrm>
          <a:prstGeom prst="rect">
            <a:avLst/>
          </a:prstGeom>
          <a:noFill/>
          <a:ln w="0">
            <a:noFill/>
          </a:ln>
        </p:spPr>
        <p:txBody>
          <a:bodyPr wrap="none" lIns="0" rIns="0" tIns="0" bIns="0" anchor="t">
            <a:spAutoFit/>
          </a:bodyPr>
          <a:p>
            <a:r>
              <a:rPr b="0" lang="en-US" sz="770" strike="noStrike" u="none">
                <a:solidFill>
                  <a:srgbClr val="000000"/>
                </a:solidFill>
                <a:effectLst/>
                <a:uFillTx/>
                <a:latin typeface="DejaVuSans"/>
                <a:ea typeface="DejaVuSans"/>
              </a:rPr>
              <a:t>4,200</a:t>
            </a:r>
            <a:endParaRPr b="0" lang="en-US" sz="770" strike="noStrike" u="none">
              <a:solidFill>
                <a:srgbClr val="000000"/>
              </a:solidFill>
              <a:effectLst/>
              <a:uFillTx/>
              <a:latin typeface="Times New Roman"/>
            </a:endParaRPr>
          </a:p>
        </p:txBody>
      </p:sp>
      <p:sp>
        <p:nvSpPr>
          <p:cNvPr id="586" name=""/>
          <p:cNvSpPr txBox="1"/>
          <p:nvPr/>
        </p:nvSpPr>
        <p:spPr>
          <a:xfrm>
            <a:off x="4102920" y="2357280"/>
            <a:ext cx="19584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点～</a:t>
            </a:r>
            <a:endParaRPr b="0" lang="en-US" sz="770" strike="noStrike" u="none">
              <a:solidFill>
                <a:srgbClr val="000000"/>
              </a:solidFill>
              <a:effectLst/>
              <a:uFillTx/>
              <a:latin typeface="Times New Roman"/>
            </a:endParaRPr>
          </a:p>
        </p:txBody>
      </p:sp>
      <p:sp>
        <p:nvSpPr>
          <p:cNvPr id="587" name=""/>
          <p:cNvSpPr txBox="1"/>
          <p:nvPr/>
        </p:nvSpPr>
        <p:spPr>
          <a:xfrm>
            <a:off x="3410280" y="2500200"/>
            <a:ext cx="147960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（患者の状態や提供サービスによ</a:t>
            </a:r>
            <a:endParaRPr b="0" lang="en-US" sz="770" strike="noStrike" u="none">
              <a:solidFill>
                <a:srgbClr val="000000"/>
              </a:solidFill>
              <a:effectLst/>
              <a:uFillTx/>
              <a:latin typeface="Times New Roman"/>
            </a:endParaRPr>
          </a:p>
        </p:txBody>
      </p:sp>
      <p:sp>
        <p:nvSpPr>
          <p:cNvPr id="588" name=""/>
          <p:cNvSpPr txBox="1"/>
          <p:nvPr/>
        </p:nvSpPr>
        <p:spPr>
          <a:xfrm>
            <a:off x="3410280" y="2649960"/>
            <a:ext cx="393120" cy="123840"/>
          </a:xfrm>
          <a:prstGeom prst="rect">
            <a:avLst/>
          </a:prstGeom>
          <a:noFill/>
          <a:ln w="0">
            <a:noFill/>
          </a:ln>
        </p:spPr>
        <p:txBody>
          <a:bodyPr wrap="none" lIns="0" rIns="0" tIns="0" bIns="0" anchor="t">
            <a:spAutoFit/>
          </a:bodyPr>
          <a:p>
            <a:r>
              <a:rPr b="0" lang="zh-CN" sz="770" strike="noStrike" u="none">
                <a:solidFill>
                  <a:srgbClr val="000000"/>
                </a:solidFill>
                <a:effectLst/>
                <a:uFillTx/>
                <a:latin typeface="WenQuanYiZenHei"/>
                <a:ea typeface="WenQuanYiZenHei"/>
              </a:rPr>
              <a:t>り変動）</a:t>
            </a:r>
            <a:endParaRPr b="0" lang="en-US" sz="770" strike="noStrike" u="none">
              <a:solidFill>
                <a:srgbClr val="000000"/>
              </a:solidFill>
              <a:effectLst/>
              <a:uFillTx/>
              <a:latin typeface="Times New Roman"/>
            </a:endParaRPr>
          </a:p>
        </p:txBody>
      </p:sp>
      <p:sp>
        <p:nvSpPr>
          <p:cNvPr id="589" name=""/>
          <p:cNvSpPr txBox="1"/>
          <p:nvPr/>
        </p:nvSpPr>
        <p:spPr>
          <a:xfrm>
            <a:off x="299520" y="2865960"/>
            <a:ext cx="81360" cy="96480"/>
          </a:xfrm>
          <a:prstGeom prst="rect">
            <a:avLst/>
          </a:prstGeom>
          <a:noFill/>
          <a:ln w="0">
            <a:noFill/>
          </a:ln>
        </p:spPr>
        <p:txBody>
          <a:bodyPr wrap="none" lIns="0" rIns="0" tIns="0" bIns="0" anchor="t">
            <a:spAutoFit/>
          </a:bodyPr>
          <a:p>
            <a:r>
              <a:rPr b="0" lang="en-US" sz="650" strike="noStrike" u="none">
                <a:solidFill>
                  <a:srgbClr val="6b7280"/>
                </a:solidFill>
                <a:effectLst/>
                <a:uFillTx/>
                <a:latin typeface="DejaVuSans"/>
                <a:ea typeface="DejaVuSans"/>
              </a:rPr>
              <a:t>※</a:t>
            </a:r>
            <a:endParaRPr b="0" lang="en-US" sz="650" strike="noStrike" u="none">
              <a:solidFill>
                <a:srgbClr val="000000"/>
              </a:solidFill>
              <a:effectLst/>
              <a:uFillTx/>
              <a:latin typeface="Times New Roman"/>
            </a:endParaRPr>
          </a:p>
        </p:txBody>
      </p:sp>
      <p:sp>
        <p:nvSpPr>
          <p:cNvPr id="590" name=""/>
          <p:cNvSpPr/>
          <p:nvPr/>
        </p:nvSpPr>
        <p:spPr>
          <a:xfrm>
            <a:off x="5111640" y="824760"/>
            <a:ext cx="3382920" cy="2287440"/>
          </a:xfrm>
          <a:custGeom>
            <a:avLst/>
            <a:gdLst/>
            <a:ahLst/>
            <a:rect l="0" t="0" r="r" b="b"/>
            <a:pathLst>
              <a:path w="9397" h="6354">
                <a:moveTo>
                  <a:pt x="0" y="6202"/>
                </a:moveTo>
                <a:lnTo>
                  <a:pt x="0" y="151"/>
                </a:lnTo>
                <a:cubicBezTo>
                  <a:pt x="0" y="141"/>
                  <a:pt x="1" y="131"/>
                  <a:pt x="2" y="122"/>
                </a:cubicBezTo>
                <a:cubicBezTo>
                  <a:pt x="4" y="112"/>
                  <a:pt x="7" y="102"/>
                  <a:pt x="11" y="93"/>
                </a:cubicBezTo>
                <a:cubicBezTo>
                  <a:pt x="15" y="84"/>
                  <a:pt x="20" y="75"/>
                  <a:pt x="25" y="67"/>
                </a:cubicBezTo>
                <a:cubicBezTo>
                  <a:pt x="31" y="59"/>
                  <a:pt x="37" y="51"/>
                  <a:pt x="44" y="44"/>
                </a:cubicBezTo>
                <a:cubicBezTo>
                  <a:pt x="51" y="37"/>
                  <a:pt x="59" y="31"/>
                  <a:pt x="67" y="25"/>
                </a:cubicBezTo>
                <a:cubicBezTo>
                  <a:pt x="75" y="20"/>
                  <a:pt x="84" y="15"/>
                  <a:pt x="93" y="11"/>
                </a:cubicBezTo>
                <a:cubicBezTo>
                  <a:pt x="102" y="8"/>
                  <a:pt x="112" y="5"/>
                  <a:pt x="121" y="3"/>
                </a:cubicBezTo>
                <a:cubicBezTo>
                  <a:pt x="131" y="1"/>
                  <a:pt x="141" y="0"/>
                  <a:pt x="151" y="0"/>
                </a:cubicBezTo>
                <a:lnTo>
                  <a:pt x="9245" y="0"/>
                </a:lnTo>
                <a:cubicBezTo>
                  <a:pt x="9255" y="0"/>
                  <a:pt x="9265" y="1"/>
                  <a:pt x="9275" y="3"/>
                </a:cubicBezTo>
                <a:cubicBezTo>
                  <a:pt x="9284" y="5"/>
                  <a:pt x="9295" y="8"/>
                  <a:pt x="9304" y="11"/>
                </a:cubicBezTo>
                <a:cubicBezTo>
                  <a:pt x="9313" y="15"/>
                  <a:pt x="9322" y="20"/>
                  <a:pt x="9330" y="25"/>
                </a:cubicBezTo>
                <a:cubicBezTo>
                  <a:pt x="9338" y="31"/>
                  <a:pt x="9346" y="37"/>
                  <a:pt x="9353" y="44"/>
                </a:cubicBezTo>
                <a:cubicBezTo>
                  <a:pt x="9360" y="51"/>
                  <a:pt x="9366" y="59"/>
                  <a:pt x="9372" y="67"/>
                </a:cubicBezTo>
                <a:cubicBezTo>
                  <a:pt x="9377" y="75"/>
                  <a:pt x="9382" y="84"/>
                  <a:pt x="9386" y="93"/>
                </a:cubicBezTo>
                <a:cubicBezTo>
                  <a:pt x="9390" y="102"/>
                  <a:pt x="9392" y="112"/>
                  <a:pt x="9394" y="122"/>
                </a:cubicBezTo>
                <a:cubicBezTo>
                  <a:pt x="9396" y="131"/>
                  <a:pt x="9397" y="141"/>
                  <a:pt x="9397" y="151"/>
                </a:cubicBezTo>
                <a:lnTo>
                  <a:pt x="9397" y="6202"/>
                </a:lnTo>
                <a:cubicBezTo>
                  <a:pt x="9397" y="6212"/>
                  <a:pt x="9396" y="6222"/>
                  <a:pt x="9394" y="6232"/>
                </a:cubicBezTo>
                <a:cubicBezTo>
                  <a:pt x="9392" y="6242"/>
                  <a:pt x="9390" y="6251"/>
                  <a:pt x="9386" y="6260"/>
                </a:cubicBezTo>
                <a:cubicBezTo>
                  <a:pt x="9382" y="6269"/>
                  <a:pt x="9377" y="6278"/>
                  <a:pt x="9372" y="6286"/>
                </a:cubicBezTo>
                <a:cubicBezTo>
                  <a:pt x="9366" y="6295"/>
                  <a:pt x="9360" y="6302"/>
                  <a:pt x="9353" y="6309"/>
                </a:cubicBezTo>
                <a:cubicBezTo>
                  <a:pt x="9346" y="6316"/>
                  <a:pt x="9338" y="6323"/>
                  <a:pt x="9330" y="6328"/>
                </a:cubicBezTo>
                <a:cubicBezTo>
                  <a:pt x="9322" y="6334"/>
                  <a:pt x="9313" y="6338"/>
                  <a:pt x="9304" y="6342"/>
                </a:cubicBezTo>
                <a:cubicBezTo>
                  <a:pt x="9295" y="6346"/>
                  <a:pt x="9284" y="6349"/>
                  <a:pt x="9275" y="6351"/>
                </a:cubicBezTo>
                <a:cubicBezTo>
                  <a:pt x="9265" y="6353"/>
                  <a:pt x="9255" y="6354"/>
                  <a:pt x="9245" y="6354"/>
                </a:cubicBezTo>
                <a:lnTo>
                  <a:pt x="151" y="6354"/>
                </a:lnTo>
                <a:cubicBezTo>
                  <a:pt x="141" y="6354"/>
                  <a:pt x="131" y="6353"/>
                  <a:pt x="121" y="6351"/>
                </a:cubicBezTo>
                <a:cubicBezTo>
                  <a:pt x="112" y="6349"/>
                  <a:pt x="102" y="6346"/>
                  <a:pt x="93" y="6342"/>
                </a:cubicBezTo>
                <a:cubicBezTo>
                  <a:pt x="84" y="6338"/>
                  <a:pt x="75" y="6334"/>
                  <a:pt x="67" y="6328"/>
                </a:cubicBezTo>
                <a:cubicBezTo>
                  <a:pt x="59" y="6323"/>
                  <a:pt x="51" y="6316"/>
                  <a:pt x="44" y="6309"/>
                </a:cubicBezTo>
                <a:cubicBezTo>
                  <a:pt x="37" y="6302"/>
                  <a:pt x="31" y="6295"/>
                  <a:pt x="25" y="6286"/>
                </a:cubicBezTo>
                <a:cubicBezTo>
                  <a:pt x="20" y="6278"/>
                  <a:pt x="15" y="6269"/>
                  <a:pt x="11" y="6260"/>
                </a:cubicBezTo>
                <a:cubicBezTo>
                  <a:pt x="7" y="6251"/>
                  <a:pt x="4" y="6242"/>
                  <a:pt x="2" y="6232"/>
                </a:cubicBezTo>
                <a:cubicBezTo>
                  <a:pt x="1" y="6222"/>
                  <a:pt x="0" y="6212"/>
                  <a:pt x="0" y="6202"/>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591" name="" descr=""/>
          <p:cNvPicPr/>
          <p:nvPr/>
        </p:nvPicPr>
        <p:blipFill>
          <a:blip r:embed="rId10"/>
          <a:stretch/>
        </p:blipFill>
        <p:spPr>
          <a:xfrm>
            <a:off x="5193360" y="933840"/>
            <a:ext cx="101880" cy="135720"/>
          </a:xfrm>
          <a:prstGeom prst="rect">
            <a:avLst/>
          </a:prstGeom>
          <a:noFill/>
          <a:ln w="0">
            <a:noFill/>
          </a:ln>
        </p:spPr>
      </p:pic>
      <p:sp>
        <p:nvSpPr>
          <p:cNvPr id="592" name=""/>
          <p:cNvSpPr txBox="1"/>
          <p:nvPr/>
        </p:nvSpPr>
        <p:spPr>
          <a:xfrm>
            <a:off x="367920" y="2863080"/>
            <a:ext cx="3402000" cy="104040"/>
          </a:xfrm>
          <a:prstGeom prst="rect">
            <a:avLst/>
          </a:prstGeom>
          <a:noFill/>
          <a:ln w="0">
            <a:noFill/>
          </a:ln>
        </p:spPr>
        <p:txBody>
          <a:bodyPr wrap="none" lIns="0" rIns="0" tIns="0" bIns="0" anchor="t">
            <a:spAutoFit/>
          </a:bodyPr>
          <a:p>
            <a:r>
              <a:rPr b="0" lang="zh-CN" sz="650" strike="noStrike" u="none">
                <a:solidFill>
                  <a:srgbClr val="6b7280"/>
                </a:solidFill>
                <a:effectLst/>
                <a:uFillTx/>
                <a:latin typeface="WenQuanYiZenHei"/>
                <a:ea typeface="WenQuanYiZenHei"/>
              </a:rPr>
              <a:t>上記点数は一般的な目安であり、施設基準や患者様の状態、実施内容によって変動します。</a:t>
            </a:r>
            <a:endParaRPr b="0" lang="en-US" sz="650" strike="noStrike" u="none">
              <a:solidFill>
                <a:srgbClr val="000000"/>
              </a:solidFill>
              <a:effectLst/>
              <a:uFillTx/>
              <a:latin typeface="Times New Roman"/>
            </a:endParaRPr>
          </a:p>
        </p:txBody>
      </p:sp>
      <p:sp>
        <p:nvSpPr>
          <p:cNvPr id="593" name=""/>
          <p:cNvSpPr/>
          <p:nvPr/>
        </p:nvSpPr>
        <p:spPr>
          <a:xfrm>
            <a:off x="5193000" y="1164960"/>
            <a:ext cx="191160" cy="245520"/>
          </a:xfrm>
          <a:custGeom>
            <a:avLst/>
            <a:gdLst/>
            <a:ahLst/>
            <a:rect l="0" t="0" r="r" b="b"/>
            <a:pathLst>
              <a:path w="531" h="682">
                <a:moveTo>
                  <a:pt x="0" y="416"/>
                </a:moveTo>
                <a:lnTo>
                  <a:pt x="0" y="265"/>
                </a:lnTo>
                <a:cubicBezTo>
                  <a:pt x="0" y="247"/>
                  <a:pt x="2" y="230"/>
                  <a:pt x="6" y="213"/>
                </a:cubicBezTo>
                <a:cubicBezTo>
                  <a:pt x="9" y="196"/>
                  <a:pt x="14" y="180"/>
                  <a:pt x="21" y="164"/>
                </a:cubicBezTo>
                <a:cubicBezTo>
                  <a:pt x="27" y="147"/>
                  <a:pt x="35" y="132"/>
                  <a:pt x="45" y="118"/>
                </a:cubicBezTo>
                <a:cubicBezTo>
                  <a:pt x="55" y="103"/>
                  <a:pt x="66" y="90"/>
                  <a:pt x="78" y="78"/>
                </a:cubicBezTo>
                <a:cubicBezTo>
                  <a:pt x="90" y="65"/>
                  <a:pt x="104" y="54"/>
                  <a:pt x="118" y="45"/>
                </a:cubicBezTo>
                <a:cubicBezTo>
                  <a:pt x="134" y="35"/>
                  <a:pt x="149" y="27"/>
                  <a:pt x="165" y="20"/>
                </a:cubicBezTo>
                <a:cubicBezTo>
                  <a:pt x="181" y="14"/>
                  <a:pt x="197" y="9"/>
                  <a:pt x="214" y="5"/>
                </a:cubicBezTo>
                <a:cubicBezTo>
                  <a:pt x="232" y="2"/>
                  <a:pt x="249" y="0"/>
                  <a:pt x="266" y="0"/>
                </a:cubicBezTo>
                <a:cubicBezTo>
                  <a:pt x="284" y="0"/>
                  <a:pt x="301" y="2"/>
                  <a:pt x="318" y="5"/>
                </a:cubicBezTo>
                <a:cubicBezTo>
                  <a:pt x="335" y="9"/>
                  <a:pt x="351" y="14"/>
                  <a:pt x="367" y="20"/>
                </a:cubicBezTo>
                <a:cubicBezTo>
                  <a:pt x="383" y="27"/>
                  <a:pt x="399" y="35"/>
                  <a:pt x="413" y="45"/>
                </a:cubicBezTo>
                <a:cubicBezTo>
                  <a:pt x="428" y="54"/>
                  <a:pt x="441" y="65"/>
                  <a:pt x="453" y="78"/>
                </a:cubicBezTo>
                <a:cubicBezTo>
                  <a:pt x="466" y="90"/>
                  <a:pt x="477" y="103"/>
                  <a:pt x="486" y="118"/>
                </a:cubicBezTo>
                <a:cubicBezTo>
                  <a:pt x="496" y="132"/>
                  <a:pt x="504" y="147"/>
                  <a:pt x="511" y="164"/>
                </a:cubicBezTo>
                <a:cubicBezTo>
                  <a:pt x="517" y="180"/>
                  <a:pt x="522" y="196"/>
                  <a:pt x="526" y="213"/>
                </a:cubicBezTo>
                <a:cubicBezTo>
                  <a:pt x="529" y="230"/>
                  <a:pt x="531" y="247"/>
                  <a:pt x="531" y="265"/>
                </a:cubicBezTo>
                <a:lnTo>
                  <a:pt x="531" y="416"/>
                </a:lnTo>
                <a:cubicBezTo>
                  <a:pt x="531" y="433"/>
                  <a:pt x="529" y="451"/>
                  <a:pt x="526" y="468"/>
                </a:cubicBezTo>
                <a:cubicBezTo>
                  <a:pt x="522" y="485"/>
                  <a:pt x="517" y="501"/>
                  <a:pt x="511" y="518"/>
                </a:cubicBezTo>
                <a:cubicBezTo>
                  <a:pt x="504" y="534"/>
                  <a:pt x="496" y="550"/>
                  <a:pt x="486" y="564"/>
                </a:cubicBezTo>
                <a:cubicBezTo>
                  <a:pt x="477" y="579"/>
                  <a:pt x="466" y="592"/>
                  <a:pt x="453" y="604"/>
                </a:cubicBezTo>
                <a:cubicBezTo>
                  <a:pt x="441" y="617"/>
                  <a:pt x="428" y="628"/>
                  <a:pt x="413" y="637"/>
                </a:cubicBezTo>
                <a:cubicBezTo>
                  <a:pt x="399" y="647"/>
                  <a:pt x="383" y="655"/>
                  <a:pt x="367" y="662"/>
                </a:cubicBezTo>
                <a:cubicBezTo>
                  <a:pt x="351" y="668"/>
                  <a:pt x="335" y="673"/>
                  <a:pt x="318" y="677"/>
                </a:cubicBezTo>
                <a:cubicBezTo>
                  <a:pt x="301" y="680"/>
                  <a:pt x="284" y="682"/>
                  <a:pt x="266" y="682"/>
                </a:cubicBezTo>
                <a:cubicBezTo>
                  <a:pt x="249" y="682"/>
                  <a:pt x="232" y="680"/>
                  <a:pt x="214" y="677"/>
                </a:cubicBezTo>
                <a:cubicBezTo>
                  <a:pt x="197" y="673"/>
                  <a:pt x="181" y="668"/>
                  <a:pt x="165" y="662"/>
                </a:cubicBezTo>
                <a:cubicBezTo>
                  <a:pt x="149" y="655"/>
                  <a:pt x="134" y="647"/>
                  <a:pt x="118" y="637"/>
                </a:cubicBezTo>
                <a:cubicBezTo>
                  <a:pt x="104" y="628"/>
                  <a:pt x="90" y="617"/>
                  <a:pt x="78" y="604"/>
                </a:cubicBezTo>
                <a:cubicBezTo>
                  <a:pt x="66" y="592"/>
                  <a:pt x="55" y="579"/>
                  <a:pt x="45" y="564"/>
                </a:cubicBezTo>
                <a:cubicBezTo>
                  <a:pt x="35" y="550"/>
                  <a:pt x="27" y="534"/>
                  <a:pt x="21" y="518"/>
                </a:cubicBezTo>
                <a:cubicBezTo>
                  <a:pt x="14" y="501"/>
                  <a:pt x="9" y="485"/>
                  <a:pt x="6" y="468"/>
                </a:cubicBezTo>
                <a:cubicBezTo>
                  <a:pt x="2" y="451"/>
                  <a:pt x="0" y="433"/>
                  <a:pt x="0" y="416"/>
                </a:cubicBezTo>
                <a:close/>
              </a:path>
            </a:pathLst>
          </a:custGeom>
          <a:solidFill>
            <a:srgbClr val="dbea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594" name="" descr=""/>
          <p:cNvPicPr/>
          <p:nvPr/>
        </p:nvPicPr>
        <p:blipFill>
          <a:blip r:embed="rId11"/>
          <a:stretch/>
        </p:blipFill>
        <p:spPr>
          <a:xfrm>
            <a:off x="5234040" y="1240200"/>
            <a:ext cx="108720" cy="95040"/>
          </a:xfrm>
          <a:prstGeom prst="rect">
            <a:avLst/>
          </a:prstGeom>
          <a:noFill/>
          <a:ln w="0">
            <a:noFill/>
          </a:ln>
        </p:spPr>
      </p:pic>
      <p:sp>
        <p:nvSpPr>
          <p:cNvPr id="595" name=""/>
          <p:cNvSpPr txBox="1"/>
          <p:nvPr/>
        </p:nvSpPr>
        <p:spPr>
          <a:xfrm>
            <a:off x="5347440" y="918360"/>
            <a:ext cx="966240" cy="171000"/>
          </a:xfrm>
          <a:prstGeom prst="rect">
            <a:avLst/>
          </a:prstGeom>
          <a:noFill/>
          <a:ln w="0">
            <a:noFill/>
          </a:ln>
        </p:spPr>
        <p:txBody>
          <a:bodyPr wrap="none" lIns="0" rIns="0" tIns="0" bIns="0" anchor="t">
            <a:spAutoFit/>
          </a:bodyPr>
          <a:p>
            <a:r>
              <a:rPr b="0" lang="zh-CN" sz="1070" strike="noStrike" u="none">
                <a:solidFill>
                  <a:srgbClr val="1d4ed8"/>
                </a:solidFill>
                <a:effectLst/>
                <a:uFillTx/>
                <a:latin typeface="WenQuanYiZenHei"/>
                <a:ea typeface="WenQuanYiZenHei"/>
              </a:rPr>
              <a:t>算定のポイント</a:t>
            </a:r>
            <a:endParaRPr b="0" lang="en-US" sz="1070" strike="noStrike" u="none">
              <a:solidFill>
                <a:srgbClr val="000000"/>
              </a:solidFill>
              <a:effectLst/>
              <a:uFillTx/>
              <a:latin typeface="Times New Roman"/>
            </a:endParaRPr>
          </a:p>
        </p:txBody>
      </p:sp>
      <p:sp>
        <p:nvSpPr>
          <p:cNvPr id="596" name=""/>
          <p:cNvSpPr txBox="1"/>
          <p:nvPr/>
        </p:nvSpPr>
        <p:spPr>
          <a:xfrm>
            <a:off x="5436000" y="1162080"/>
            <a:ext cx="771120" cy="122400"/>
          </a:xfrm>
          <a:prstGeom prst="rect">
            <a:avLst/>
          </a:prstGeom>
          <a:noFill/>
          <a:ln w="0">
            <a:noFill/>
          </a:ln>
        </p:spPr>
        <p:txBody>
          <a:bodyPr wrap="none" lIns="0" rIns="0" tIns="0" bIns="0" anchor="t">
            <a:spAutoFit/>
          </a:bodyPr>
          <a:p>
            <a:r>
              <a:rPr b="0" lang="zh-CN" sz="750" strike="noStrike" u="none">
                <a:solidFill>
                  <a:srgbClr val="1e40af"/>
                </a:solidFill>
                <a:effectLst/>
                <a:uFillTx/>
                <a:latin typeface="WenQuanYiZenHei"/>
                <a:ea typeface="WenQuanYiZenHei"/>
              </a:rPr>
              <a:t>療養計画書の作成</a:t>
            </a:r>
            <a:endParaRPr b="0" lang="en-US" sz="750" strike="noStrike" u="none">
              <a:solidFill>
                <a:srgbClr val="000000"/>
              </a:solidFill>
              <a:effectLst/>
              <a:uFillTx/>
              <a:latin typeface="Times New Roman"/>
            </a:endParaRPr>
          </a:p>
        </p:txBody>
      </p:sp>
      <p:sp>
        <p:nvSpPr>
          <p:cNvPr id="597" name=""/>
          <p:cNvSpPr txBox="1"/>
          <p:nvPr/>
        </p:nvSpPr>
        <p:spPr>
          <a:xfrm>
            <a:off x="5436000" y="1298160"/>
            <a:ext cx="299736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生活習慣病管理料では、個別の療養計画書を作成し、同意を得ること</a:t>
            </a:r>
            <a:endParaRPr b="0" lang="en-US" sz="750" strike="noStrike" u="none">
              <a:solidFill>
                <a:srgbClr val="000000"/>
              </a:solidFill>
              <a:effectLst/>
              <a:uFillTx/>
              <a:latin typeface="Times New Roman"/>
            </a:endParaRPr>
          </a:p>
        </p:txBody>
      </p:sp>
      <p:sp>
        <p:nvSpPr>
          <p:cNvPr id="598" name=""/>
          <p:cNvSpPr/>
          <p:nvPr/>
        </p:nvSpPr>
        <p:spPr>
          <a:xfrm>
            <a:off x="5193000" y="1654920"/>
            <a:ext cx="156960" cy="245520"/>
          </a:xfrm>
          <a:custGeom>
            <a:avLst/>
            <a:gdLst/>
            <a:ahLst/>
            <a:rect l="0" t="0" r="r" b="b"/>
            <a:pathLst>
              <a:path w="436" h="682">
                <a:moveTo>
                  <a:pt x="0" y="464"/>
                </a:moveTo>
                <a:lnTo>
                  <a:pt x="0" y="218"/>
                </a:lnTo>
                <a:cubicBezTo>
                  <a:pt x="0" y="204"/>
                  <a:pt x="2" y="189"/>
                  <a:pt x="5" y="175"/>
                </a:cubicBezTo>
                <a:cubicBezTo>
                  <a:pt x="7" y="161"/>
                  <a:pt x="12" y="148"/>
                  <a:pt x="17" y="135"/>
                </a:cubicBezTo>
                <a:cubicBezTo>
                  <a:pt x="22" y="121"/>
                  <a:pt x="29" y="109"/>
                  <a:pt x="37" y="97"/>
                </a:cubicBezTo>
                <a:cubicBezTo>
                  <a:pt x="45" y="85"/>
                  <a:pt x="54" y="74"/>
                  <a:pt x="64" y="64"/>
                </a:cubicBezTo>
                <a:cubicBezTo>
                  <a:pt x="74" y="54"/>
                  <a:pt x="85" y="45"/>
                  <a:pt x="97" y="37"/>
                </a:cubicBezTo>
                <a:cubicBezTo>
                  <a:pt x="109" y="29"/>
                  <a:pt x="122" y="22"/>
                  <a:pt x="136" y="17"/>
                </a:cubicBezTo>
                <a:cubicBezTo>
                  <a:pt x="149" y="12"/>
                  <a:pt x="162" y="7"/>
                  <a:pt x="176" y="5"/>
                </a:cubicBezTo>
                <a:cubicBezTo>
                  <a:pt x="190" y="2"/>
                  <a:pt x="205" y="0"/>
                  <a:pt x="219" y="0"/>
                </a:cubicBezTo>
                <a:cubicBezTo>
                  <a:pt x="233" y="0"/>
                  <a:pt x="247" y="2"/>
                  <a:pt x="261" y="5"/>
                </a:cubicBezTo>
                <a:cubicBezTo>
                  <a:pt x="275" y="7"/>
                  <a:pt x="289" y="12"/>
                  <a:pt x="302" y="17"/>
                </a:cubicBezTo>
                <a:cubicBezTo>
                  <a:pt x="315" y="22"/>
                  <a:pt x="328" y="29"/>
                  <a:pt x="340" y="37"/>
                </a:cubicBezTo>
                <a:cubicBezTo>
                  <a:pt x="352" y="45"/>
                  <a:pt x="363" y="54"/>
                  <a:pt x="373" y="64"/>
                </a:cubicBezTo>
                <a:cubicBezTo>
                  <a:pt x="383" y="74"/>
                  <a:pt x="392" y="85"/>
                  <a:pt x="400" y="97"/>
                </a:cubicBezTo>
                <a:cubicBezTo>
                  <a:pt x="408" y="109"/>
                  <a:pt x="414" y="121"/>
                  <a:pt x="420" y="135"/>
                </a:cubicBezTo>
                <a:cubicBezTo>
                  <a:pt x="425" y="148"/>
                  <a:pt x="429" y="161"/>
                  <a:pt x="432" y="175"/>
                </a:cubicBezTo>
                <a:cubicBezTo>
                  <a:pt x="435" y="189"/>
                  <a:pt x="436" y="204"/>
                  <a:pt x="436" y="218"/>
                </a:cubicBezTo>
                <a:lnTo>
                  <a:pt x="436" y="464"/>
                </a:lnTo>
                <a:cubicBezTo>
                  <a:pt x="436" y="478"/>
                  <a:pt x="435" y="492"/>
                  <a:pt x="432" y="507"/>
                </a:cubicBezTo>
                <a:cubicBezTo>
                  <a:pt x="429" y="521"/>
                  <a:pt x="425" y="535"/>
                  <a:pt x="420" y="548"/>
                </a:cubicBezTo>
                <a:cubicBezTo>
                  <a:pt x="414" y="561"/>
                  <a:pt x="408" y="574"/>
                  <a:pt x="400" y="585"/>
                </a:cubicBezTo>
                <a:cubicBezTo>
                  <a:pt x="392" y="597"/>
                  <a:pt x="383" y="608"/>
                  <a:pt x="373" y="618"/>
                </a:cubicBezTo>
                <a:cubicBezTo>
                  <a:pt x="363" y="629"/>
                  <a:pt x="352" y="638"/>
                  <a:pt x="340" y="645"/>
                </a:cubicBezTo>
                <a:cubicBezTo>
                  <a:pt x="328" y="653"/>
                  <a:pt x="315" y="660"/>
                  <a:pt x="302" y="666"/>
                </a:cubicBezTo>
                <a:cubicBezTo>
                  <a:pt x="289" y="671"/>
                  <a:pt x="275" y="675"/>
                  <a:pt x="261" y="678"/>
                </a:cubicBezTo>
                <a:cubicBezTo>
                  <a:pt x="247" y="681"/>
                  <a:pt x="233" y="682"/>
                  <a:pt x="219" y="682"/>
                </a:cubicBezTo>
                <a:cubicBezTo>
                  <a:pt x="205" y="682"/>
                  <a:pt x="190" y="681"/>
                  <a:pt x="176" y="678"/>
                </a:cubicBezTo>
                <a:cubicBezTo>
                  <a:pt x="162" y="675"/>
                  <a:pt x="149" y="671"/>
                  <a:pt x="136" y="666"/>
                </a:cubicBezTo>
                <a:cubicBezTo>
                  <a:pt x="122" y="660"/>
                  <a:pt x="109" y="653"/>
                  <a:pt x="97" y="645"/>
                </a:cubicBezTo>
                <a:cubicBezTo>
                  <a:pt x="85" y="638"/>
                  <a:pt x="74" y="629"/>
                  <a:pt x="64" y="618"/>
                </a:cubicBezTo>
                <a:cubicBezTo>
                  <a:pt x="54" y="608"/>
                  <a:pt x="45" y="597"/>
                  <a:pt x="37" y="585"/>
                </a:cubicBezTo>
                <a:cubicBezTo>
                  <a:pt x="29" y="574"/>
                  <a:pt x="22" y="561"/>
                  <a:pt x="17" y="548"/>
                </a:cubicBezTo>
                <a:cubicBezTo>
                  <a:pt x="12" y="535"/>
                  <a:pt x="7" y="521"/>
                  <a:pt x="5" y="507"/>
                </a:cubicBezTo>
                <a:cubicBezTo>
                  <a:pt x="2" y="492"/>
                  <a:pt x="0" y="478"/>
                  <a:pt x="0" y="464"/>
                </a:cubicBezTo>
                <a:close/>
              </a:path>
            </a:pathLst>
          </a:custGeom>
          <a:solidFill>
            <a:srgbClr val="d1fae5"/>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599" name="" descr=""/>
          <p:cNvPicPr/>
          <p:nvPr/>
        </p:nvPicPr>
        <p:blipFill>
          <a:blip r:embed="rId12"/>
          <a:stretch/>
        </p:blipFill>
        <p:spPr>
          <a:xfrm>
            <a:off x="5234040" y="1730160"/>
            <a:ext cx="74520" cy="95040"/>
          </a:xfrm>
          <a:prstGeom prst="rect">
            <a:avLst/>
          </a:prstGeom>
          <a:noFill/>
          <a:ln w="0">
            <a:noFill/>
          </a:ln>
        </p:spPr>
      </p:pic>
      <p:sp>
        <p:nvSpPr>
          <p:cNvPr id="600" name=""/>
          <p:cNvSpPr txBox="1"/>
          <p:nvPr/>
        </p:nvSpPr>
        <p:spPr>
          <a:xfrm>
            <a:off x="5436000" y="1434240"/>
            <a:ext cx="58356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が必須です。</a:t>
            </a:r>
            <a:endParaRPr b="0" lang="en-US" sz="750" strike="noStrike" u="none">
              <a:solidFill>
                <a:srgbClr val="000000"/>
              </a:solidFill>
              <a:effectLst/>
              <a:uFillTx/>
              <a:latin typeface="Times New Roman"/>
            </a:endParaRPr>
          </a:p>
        </p:txBody>
      </p:sp>
      <p:sp>
        <p:nvSpPr>
          <p:cNvPr id="601" name=""/>
          <p:cNvSpPr txBox="1"/>
          <p:nvPr/>
        </p:nvSpPr>
        <p:spPr>
          <a:xfrm>
            <a:off x="5402160" y="1652040"/>
            <a:ext cx="869400" cy="122400"/>
          </a:xfrm>
          <a:prstGeom prst="rect">
            <a:avLst/>
          </a:prstGeom>
          <a:noFill/>
          <a:ln w="0">
            <a:noFill/>
          </a:ln>
        </p:spPr>
        <p:txBody>
          <a:bodyPr wrap="none" lIns="0" rIns="0" tIns="0" bIns="0" anchor="t">
            <a:spAutoFit/>
          </a:bodyPr>
          <a:p>
            <a:r>
              <a:rPr b="0" lang="zh-CN" sz="750" strike="noStrike" u="none">
                <a:solidFill>
                  <a:srgbClr val="065f46"/>
                </a:solidFill>
                <a:effectLst/>
                <a:uFillTx/>
                <a:latin typeface="WenQuanYiZenHei"/>
                <a:ea typeface="WenQuanYiZenHei"/>
              </a:rPr>
              <a:t>診療録への詳細記載</a:t>
            </a:r>
            <a:endParaRPr b="0" lang="en-US" sz="750" strike="noStrike" u="none">
              <a:solidFill>
                <a:srgbClr val="000000"/>
              </a:solidFill>
              <a:effectLst/>
              <a:uFillTx/>
              <a:latin typeface="Times New Roman"/>
            </a:endParaRPr>
          </a:p>
        </p:txBody>
      </p:sp>
      <p:sp>
        <p:nvSpPr>
          <p:cNvPr id="602" name=""/>
          <p:cNvSpPr txBox="1"/>
          <p:nvPr/>
        </p:nvSpPr>
        <p:spPr>
          <a:xfrm>
            <a:off x="5402160" y="1788120"/>
            <a:ext cx="300168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実施した指導・管理内容の診療録への詳細な記載が算定の根拠となり</a:t>
            </a:r>
            <a:endParaRPr b="0" lang="en-US" sz="750" strike="noStrike" u="none">
              <a:solidFill>
                <a:srgbClr val="000000"/>
              </a:solidFill>
              <a:effectLst/>
              <a:uFillTx/>
              <a:latin typeface="Times New Roman"/>
            </a:endParaRPr>
          </a:p>
        </p:txBody>
      </p:sp>
      <p:pic>
        <p:nvPicPr>
          <p:cNvPr id="603" name="" descr=""/>
          <p:cNvPicPr/>
          <p:nvPr/>
        </p:nvPicPr>
        <p:blipFill>
          <a:blip r:embed="rId13"/>
          <a:stretch/>
        </p:blipFill>
        <p:spPr>
          <a:xfrm>
            <a:off x="5234040" y="2220120"/>
            <a:ext cx="81360" cy="95040"/>
          </a:xfrm>
          <a:prstGeom prst="rect">
            <a:avLst/>
          </a:prstGeom>
          <a:noFill/>
          <a:ln w="0">
            <a:noFill/>
          </a:ln>
        </p:spPr>
      </p:pic>
      <p:sp>
        <p:nvSpPr>
          <p:cNvPr id="604" name=""/>
          <p:cNvSpPr txBox="1"/>
          <p:nvPr/>
        </p:nvSpPr>
        <p:spPr>
          <a:xfrm>
            <a:off x="5402160" y="1924200"/>
            <a:ext cx="29340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ます。</a:t>
            </a:r>
            <a:endParaRPr b="0" lang="en-US" sz="750" strike="noStrike" u="none">
              <a:solidFill>
                <a:srgbClr val="000000"/>
              </a:solidFill>
              <a:effectLst/>
              <a:uFillTx/>
              <a:latin typeface="Times New Roman"/>
            </a:endParaRPr>
          </a:p>
        </p:txBody>
      </p:sp>
      <p:sp>
        <p:nvSpPr>
          <p:cNvPr id="605" name=""/>
          <p:cNvSpPr txBox="1"/>
          <p:nvPr/>
        </p:nvSpPr>
        <p:spPr>
          <a:xfrm>
            <a:off x="5408640" y="2142000"/>
            <a:ext cx="480960" cy="122400"/>
          </a:xfrm>
          <a:prstGeom prst="rect">
            <a:avLst/>
          </a:prstGeom>
          <a:noFill/>
          <a:ln w="0">
            <a:noFill/>
          </a:ln>
        </p:spPr>
        <p:txBody>
          <a:bodyPr wrap="none" lIns="0" rIns="0" tIns="0" bIns="0" anchor="t">
            <a:spAutoFit/>
          </a:bodyPr>
          <a:p>
            <a:r>
              <a:rPr b="0" lang="zh-CN" sz="750" strike="noStrike" u="none">
                <a:solidFill>
                  <a:srgbClr val="000000"/>
                </a:solidFill>
                <a:effectLst/>
                <a:uFillTx/>
                <a:latin typeface="WenQuanYiZenHei"/>
                <a:ea typeface="WenQuanYiZenHei"/>
              </a:rPr>
              <a:t>多職種連携</a:t>
            </a:r>
            <a:endParaRPr b="0" lang="en-US" sz="750" strike="noStrike" u="none">
              <a:solidFill>
                <a:srgbClr val="000000"/>
              </a:solidFill>
              <a:effectLst/>
              <a:uFillTx/>
              <a:latin typeface="Times New Roman"/>
            </a:endParaRPr>
          </a:p>
        </p:txBody>
      </p:sp>
      <p:sp>
        <p:nvSpPr>
          <p:cNvPr id="606" name=""/>
          <p:cNvSpPr txBox="1"/>
          <p:nvPr/>
        </p:nvSpPr>
        <p:spPr>
          <a:xfrm>
            <a:off x="5408640" y="2278080"/>
            <a:ext cx="300168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看護師、管理栄養士など多職種との連携も評価の対象となる場合があ</a:t>
            </a:r>
            <a:endParaRPr b="0" lang="en-US" sz="750" strike="noStrike" u="none">
              <a:solidFill>
                <a:srgbClr val="000000"/>
              </a:solidFill>
              <a:effectLst/>
              <a:uFillTx/>
              <a:latin typeface="Times New Roman"/>
            </a:endParaRPr>
          </a:p>
        </p:txBody>
      </p:sp>
      <p:sp>
        <p:nvSpPr>
          <p:cNvPr id="607" name=""/>
          <p:cNvSpPr/>
          <p:nvPr/>
        </p:nvSpPr>
        <p:spPr>
          <a:xfrm>
            <a:off x="5193000" y="2635200"/>
            <a:ext cx="177480" cy="245520"/>
          </a:xfrm>
          <a:custGeom>
            <a:avLst/>
            <a:gdLst/>
            <a:ahLst/>
            <a:rect l="0" t="0" r="r" b="b"/>
            <a:pathLst>
              <a:path w="493" h="682">
                <a:moveTo>
                  <a:pt x="0" y="435"/>
                </a:moveTo>
                <a:lnTo>
                  <a:pt x="0" y="246"/>
                </a:lnTo>
                <a:cubicBezTo>
                  <a:pt x="0" y="230"/>
                  <a:pt x="2" y="214"/>
                  <a:pt x="5" y="198"/>
                </a:cubicBezTo>
                <a:cubicBezTo>
                  <a:pt x="8" y="182"/>
                  <a:pt x="13" y="167"/>
                  <a:pt x="19" y="152"/>
                </a:cubicBezTo>
                <a:cubicBezTo>
                  <a:pt x="25" y="137"/>
                  <a:pt x="33" y="123"/>
                  <a:pt x="42" y="109"/>
                </a:cubicBezTo>
                <a:cubicBezTo>
                  <a:pt x="51" y="96"/>
                  <a:pt x="62" y="83"/>
                  <a:pt x="73" y="72"/>
                </a:cubicBezTo>
                <a:cubicBezTo>
                  <a:pt x="85" y="61"/>
                  <a:pt x="97" y="50"/>
                  <a:pt x="111" y="41"/>
                </a:cubicBezTo>
                <a:cubicBezTo>
                  <a:pt x="124" y="32"/>
                  <a:pt x="138" y="25"/>
                  <a:pt x="153" y="19"/>
                </a:cubicBezTo>
                <a:cubicBezTo>
                  <a:pt x="168" y="13"/>
                  <a:pt x="183" y="8"/>
                  <a:pt x="199" y="5"/>
                </a:cubicBezTo>
                <a:cubicBezTo>
                  <a:pt x="215" y="2"/>
                  <a:pt x="231" y="0"/>
                  <a:pt x="247" y="0"/>
                </a:cubicBezTo>
                <a:cubicBezTo>
                  <a:pt x="263" y="0"/>
                  <a:pt x="279" y="2"/>
                  <a:pt x="295" y="5"/>
                </a:cubicBezTo>
                <a:cubicBezTo>
                  <a:pt x="311" y="8"/>
                  <a:pt x="326" y="13"/>
                  <a:pt x="341" y="19"/>
                </a:cubicBezTo>
                <a:cubicBezTo>
                  <a:pt x="356" y="25"/>
                  <a:pt x="370" y="32"/>
                  <a:pt x="384" y="41"/>
                </a:cubicBezTo>
                <a:cubicBezTo>
                  <a:pt x="397" y="50"/>
                  <a:pt x="410" y="61"/>
                  <a:pt x="421" y="72"/>
                </a:cubicBezTo>
                <a:cubicBezTo>
                  <a:pt x="432" y="83"/>
                  <a:pt x="443" y="96"/>
                  <a:pt x="452" y="109"/>
                </a:cubicBezTo>
                <a:cubicBezTo>
                  <a:pt x="461" y="123"/>
                  <a:pt x="468" y="137"/>
                  <a:pt x="474" y="152"/>
                </a:cubicBezTo>
                <a:cubicBezTo>
                  <a:pt x="480" y="167"/>
                  <a:pt x="485" y="182"/>
                  <a:pt x="488" y="198"/>
                </a:cubicBezTo>
                <a:cubicBezTo>
                  <a:pt x="491" y="214"/>
                  <a:pt x="493" y="230"/>
                  <a:pt x="493" y="246"/>
                </a:cubicBezTo>
                <a:lnTo>
                  <a:pt x="493" y="435"/>
                </a:lnTo>
                <a:cubicBezTo>
                  <a:pt x="493" y="451"/>
                  <a:pt x="491" y="467"/>
                  <a:pt x="488" y="483"/>
                </a:cubicBezTo>
                <a:cubicBezTo>
                  <a:pt x="485" y="499"/>
                  <a:pt x="480" y="515"/>
                  <a:pt x="474" y="530"/>
                </a:cubicBezTo>
                <a:cubicBezTo>
                  <a:pt x="468" y="545"/>
                  <a:pt x="461" y="559"/>
                  <a:pt x="452" y="572"/>
                </a:cubicBezTo>
                <a:cubicBezTo>
                  <a:pt x="443" y="586"/>
                  <a:pt x="432" y="598"/>
                  <a:pt x="421" y="610"/>
                </a:cubicBezTo>
                <a:cubicBezTo>
                  <a:pt x="410" y="621"/>
                  <a:pt x="397" y="631"/>
                  <a:pt x="384" y="640"/>
                </a:cubicBezTo>
                <a:cubicBezTo>
                  <a:pt x="370" y="649"/>
                  <a:pt x="356" y="657"/>
                  <a:pt x="341" y="663"/>
                </a:cubicBezTo>
                <a:cubicBezTo>
                  <a:pt x="326" y="669"/>
                  <a:pt x="311" y="674"/>
                  <a:pt x="295" y="677"/>
                </a:cubicBezTo>
                <a:cubicBezTo>
                  <a:pt x="279" y="680"/>
                  <a:pt x="263" y="682"/>
                  <a:pt x="247" y="682"/>
                </a:cubicBezTo>
                <a:cubicBezTo>
                  <a:pt x="231" y="682"/>
                  <a:pt x="215" y="680"/>
                  <a:pt x="199" y="677"/>
                </a:cubicBezTo>
                <a:cubicBezTo>
                  <a:pt x="183" y="674"/>
                  <a:pt x="168" y="669"/>
                  <a:pt x="153" y="663"/>
                </a:cubicBezTo>
                <a:cubicBezTo>
                  <a:pt x="138" y="657"/>
                  <a:pt x="124" y="649"/>
                  <a:pt x="111" y="640"/>
                </a:cubicBezTo>
                <a:cubicBezTo>
                  <a:pt x="97" y="631"/>
                  <a:pt x="85" y="621"/>
                  <a:pt x="73" y="610"/>
                </a:cubicBezTo>
                <a:cubicBezTo>
                  <a:pt x="62" y="598"/>
                  <a:pt x="51" y="586"/>
                  <a:pt x="42" y="572"/>
                </a:cubicBezTo>
                <a:cubicBezTo>
                  <a:pt x="33" y="559"/>
                  <a:pt x="25" y="545"/>
                  <a:pt x="19" y="530"/>
                </a:cubicBezTo>
                <a:cubicBezTo>
                  <a:pt x="13" y="515"/>
                  <a:pt x="8" y="499"/>
                  <a:pt x="5" y="483"/>
                </a:cubicBezTo>
                <a:cubicBezTo>
                  <a:pt x="2" y="467"/>
                  <a:pt x="0" y="451"/>
                  <a:pt x="0" y="435"/>
                </a:cubicBezTo>
                <a:close/>
              </a:path>
            </a:pathLst>
          </a:custGeom>
          <a:solidFill>
            <a:srgbClr val="ede9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608" name="" descr=""/>
          <p:cNvPicPr/>
          <p:nvPr/>
        </p:nvPicPr>
        <p:blipFill>
          <a:blip r:embed="rId14"/>
          <a:stretch/>
        </p:blipFill>
        <p:spPr>
          <a:xfrm>
            <a:off x="5234040" y="2710440"/>
            <a:ext cx="95040" cy="95040"/>
          </a:xfrm>
          <a:prstGeom prst="rect">
            <a:avLst/>
          </a:prstGeom>
          <a:noFill/>
          <a:ln w="0">
            <a:noFill/>
          </a:ln>
        </p:spPr>
      </p:pic>
      <p:sp>
        <p:nvSpPr>
          <p:cNvPr id="609" name=""/>
          <p:cNvSpPr txBox="1"/>
          <p:nvPr/>
        </p:nvSpPr>
        <p:spPr>
          <a:xfrm>
            <a:off x="5408640" y="2414160"/>
            <a:ext cx="39168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ります。</a:t>
            </a:r>
            <a:endParaRPr b="0" lang="en-US" sz="750" strike="noStrike" u="none">
              <a:solidFill>
                <a:srgbClr val="000000"/>
              </a:solidFill>
              <a:effectLst/>
              <a:uFillTx/>
              <a:latin typeface="Times New Roman"/>
            </a:endParaRPr>
          </a:p>
        </p:txBody>
      </p:sp>
      <p:sp>
        <p:nvSpPr>
          <p:cNvPr id="610" name=""/>
          <p:cNvSpPr txBox="1"/>
          <p:nvPr/>
        </p:nvSpPr>
        <p:spPr>
          <a:xfrm>
            <a:off x="5422320" y="2631960"/>
            <a:ext cx="578880" cy="122400"/>
          </a:xfrm>
          <a:prstGeom prst="rect">
            <a:avLst/>
          </a:prstGeom>
          <a:noFill/>
          <a:ln w="0">
            <a:noFill/>
          </a:ln>
        </p:spPr>
        <p:txBody>
          <a:bodyPr wrap="none" lIns="0" rIns="0" tIns="0" bIns="0" anchor="t">
            <a:spAutoFit/>
          </a:bodyPr>
          <a:p>
            <a:r>
              <a:rPr b="0" lang="zh-CN" sz="750" strike="noStrike" u="none">
                <a:solidFill>
                  <a:srgbClr val="5b21b6"/>
                </a:solidFill>
                <a:effectLst/>
                <a:uFillTx/>
                <a:latin typeface="WenQuanYiZenHei"/>
                <a:ea typeface="WenQuanYiZenHei"/>
              </a:rPr>
              <a:t>併算定の注意</a:t>
            </a:r>
            <a:endParaRPr b="0" lang="en-US" sz="750" strike="noStrike" u="none">
              <a:solidFill>
                <a:srgbClr val="000000"/>
              </a:solidFill>
              <a:effectLst/>
              <a:uFillTx/>
              <a:latin typeface="Times New Roman"/>
            </a:endParaRPr>
          </a:p>
        </p:txBody>
      </p:sp>
      <p:sp>
        <p:nvSpPr>
          <p:cNvPr id="611" name=""/>
          <p:cNvSpPr txBox="1"/>
          <p:nvPr/>
        </p:nvSpPr>
        <p:spPr>
          <a:xfrm>
            <a:off x="5422320" y="2768400"/>
            <a:ext cx="299520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生活習慣病管理料と特定疾患療養管理料は併算定できません。患者の</a:t>
            </a:r>
            <a:endParaRPr b="0" lang="en-US" sz="750" strike="noStrike" u="none">
              <a:solidFill>
                <a:srgbClr val="000000"/>
              </a:solidFill>
              <a:effectLst/>
              <a:uFillTx/>
              <a:latin typeface="Times New Roman"/>
            </a:endParaRPr>
          </a:p>
        </p:txBody>
      </p:sp>
      <p:sp>
        <p:nvSpPr>
          <p:cNvPr id="612" name=""/>
          <p:cNvSpPr txBox="1"/>
          <p:nvPr/>
        </p:nvSpPr>
        <p:spPr>
          <a:xfrm>
            <a:off x="5422320" y="2904480"/>
            <a:ext cx="222912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状態や主病を考慮して適切な管理料を選択します。</a:t>
            </a:r>
            <a:endParaRPr b="0" lang="en-US" sz="75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13" name="" descr=""/>
          <p:cNvPicPr/>
          <p:nvPr/>
        </p:nvPicPr>
        <p:blipFill>
          <a:blip r:embed="rId1"/>
          <a:stretch/>
        </p:blipFill>
        <p:spPr>
          <a:xfrm>
            <a:off x="0" y="57240"/>
            <a:ext cx="8407440" cy="4728960"/>
          </a:xfrm>
          <a:prstGeom prst="rect">
            <a:avLst/>
          </a:prstGeom>
          <a:noFill/>
          <a:ln w="0">
            <a:noFill/>
          </a:ln>
        </p:spPr>
      </p:pic>
      <p:pic>
        <p:nvPicPr>
          <p:cNvPr id="614" name="" descr=""/>
          <p:cNvPicPr/>
          <p:nvPr/>
        </p:nvPicPr>
        <p:blipFill>
          <a:blip r:embed="rId2"/>
          <a:stretch/>
        </p:blipFill>
        <p:spPr>
          <a:xfrm>
            <a:off x="6108840" y="-928080"/>
            <a:ext cx="3283920" cy="3283920"/>
          </a:xfrm>
          <a:prstGeom prst="rect">
            <a:avLst/>
          </a:prstGeom>
          <a:noFill/>
          <a:ln w="0">
            <a:noFill/>
          </a:ln>
        </p:spPr>
      </p:pic>
      <p:pic>
        <p:nvPicPr>
          <p:cNvPr id="615" name="" descr=""/>
          <p:cNvPicPr/>
          <p:nvPr/>
        </p:nvPicPr>
        <p:blipFill>
          <a:blip r:embed="rId3"/>
          <a:stretch/>
        </p:blipFill>
        <p:spPr>
          <a:xfrm>
            <a:off x="-657000" y="3144240"/>
            <a:ext cx="2298600" cy="2298600"/>
          </a:xfrm>
          <a:prstGeom prst="rect">
            <a:avLst/>
          </a:prstGeom>
          <a:noFill/>
          <a:ln w="0">
            <a:noFill/>
          </a:ln>
        </p:spPr>
      </p:pic>
      <p:pic>
        <p:nvPicPr>
          <p:cNvPr id="616" name="" descr=""/>
          <p:cNvPicPr/>
          <p:nvPr/>
        </p:nvPicPr>
        <p:blipFill>
          <a:blip r:embed="rId4"/>
          <a:stretch/>
        </p:blipFill>
        <p:spPr>
          <a:xfrm>
            <a:off x="6634080" y="4569840"/>
            <a:ext cx="117720" cy="91440"/>
          </a:xfrm>
          <a:prstGeom prst="rect">
            <a:avLst/>
          </a:prstGeom>
          <a:noFill/>
          <a:ln w="0">
            <a:noFill/>
          </a:ln>
        </p:spPr>
      </p:pic>
      <p:sp>
        <p:nvSpPr>
          <p:cNvPr id="617" name=""/>
          <p:cNvSpPr txBox="1"/>
          <p:nvPr/>
        </p:nvSpPr>
        <p:spPr>
          <a:xfrm>
            <a:off x="6807960" y="4560120"/>
            <a:ext cx="366480" cy="116280"/>
          </a:xfrm>
          <a:prstGeom prst="rect">
            <a:avLst/>
          </a:prstGeom>
          <a:noFill/>
          <a:ln w="0">
            <a:noFill/>
          </a:ln>
        </p:spPr>
        <p:txBody>
          <a:bodyPr wrap="none" lIns="0" rIns="0" tIns="0" bIns="0" anchor="t">
            <a:spAutoFit/>
          </a:bodyPr>
          <a:p>
            <a:r>
              <a:rPr b="0" lang="zh-CN" sz="730" strike="noStrike" u="none">
                <a:solidFill>
                  <a:srgbClr val="6b7280"/>
                </a:solidFill>
                <a:effectLst/>
                <a:uFillTx/>
                <a:latin typeface="WenQuanYiZenHei"/>
                <a:ea typeface="WenQuanYiZenHei"/>
              </a:rPr>
              <a:t>東和病院</a:t>
            </a:r>
            <a:endParaRPr b="0" lang="en-US" sz="730" strike="noStrike" u="none">
              <a:solidFill>
                <a:srgbClr val="000000"/>
              </a:solidFill>
              <a:effectLst/>
              <a:uFillTx/>
              <a:latin typeface="Times New Roman"/>
            </a:endParaRPr>
          </a:p>
        </p:txBody>
      </p:sp>
      <p:sp>
        <p:nvSpPr>
          <p:cNvPr id="618" name=""/>
          <p:cNvSpPr txBox="1"/>
          <p:nvPr/>
        </p:nvSpPr>
        <p:spPr>
          <a:xfrm>
            <a:off x="7175880" y="4563360"/>
            <a:ext cx="91440" cy="106920"/>
          </a:xfrm>
          <a:prstGeom prst="rect">
            <a:avLst/>
          </a:prstGeom>
          <a:noFill/>
          <a:ln w="0">
            <a:noFill/>
          </a:ln>
        </p:spPr>
        <p:txBody>
          <a:bodyPr wrap="none" lIns="0" rIns="0" tIns="0" bIns="0" anchor="t">
            <a:spAutoFit/>
          </a:bodyPr>
          <a:p>
            <a:r>
              <a:rPr b="0" lang="en-US" sz="730" strike="noStrike" u="none">
                <a:solidFill>
                  <a:srgbClr val="6b7280"/>
                </a:solidFill>
                <a:effectLst/>
                <a:uFillTx/>
                <a:latin typeface="DejaVuSans"/>
                <a:ea typeface="DejaVuSans"/>
              </a:rPr>
              <a:t> </a:t>
            </a:r>
            <a:endParaRPr b="0" lang="en-US" sz="730" strike="noStrike" u="none">
              <a:solidFill>
                <a:srgbClr val="000000"/>
              </a:solidFill>
              <a:effectLst/>
              <a:uFillTx/>
              <a:latin typeface="Times New Roman"/>
            </a:endParaRPr>
          </a:p>
        </p:txBody>
      </p:sp>
      <p:sp>
        <p:nvSpPr>
          <p:cNvPr id="619" name=""/>
          <p:cNvSpPr txBox="1"/>
          <p:nvPr/>
        </p:nvSpPr>
        <p:spPr>
          <a:xfrm>
            <a:off x="7205040" y="4560120"/>
            <a:ext cx="640800" cy="116280"/>
          </a:xfrm>
          <a:prstGeom prst="rect">
            <a:avLst/>
          </a:prstGeom>
          <a:noFill/>
          <a:ln w="0">
            <a:noFill/>
          </a:ln>
        </p:spPr>
        <p:txBody>
          <a:bodyPr wrap="none" lIns="0" rIns="0" tIns="0" bIns="0" anchor="t">
            <a:spAutoFit/>
          </a:bodyPr>
          <a:p>
            <a:r>
              <a:rPr b="0" lang="zh-CN" sz="730" strike="noStrike" u="none">
                <a:solidFill>
                  <a:srgbClr val="6b7280"/>
                </a:solidFill>
                <a:effectLst/>
                <a:uFillTx/>
                <a:latin typeface="WenQuanYiZenHei"/>
                <a:ea typeface="WenQuanYiZenHei"/>
              </a:rPr>
              <a:t>保険点数勉強会</a:t>
            </a:r>
            <a:endParaRPr b="0" lang="en-US" sz="730" strike="noStrike" u="none">
              <a:solidFill>
                <a:srgbClr val="000000"/>
              </a:solidFill>
              <a:effectLst/>
              <a:uFillTx/>
              <a:latin typeface="Times New Roman"/>
            </a:endParaRPr>
          </a:p>
        </p:txBody>
      </p:sp>
      <p:sp>
        <p:nvSpPr>
          <p:cNvPr id="620" name=""/>
          <p:cNvSpPr txBox="1"/>
          <p:nvPr/>
        </p:nvSpPr>
        <p:spPr>
          <a:xfrm>
            <a:off x="7901640" y="4563360"/>
            <a:ext cx="91440" cy="106920"/>
          </a:xfrm>
          <a:prstGeom prst="rect">
            <a:avLst/>
          </a:prstGeom>
          <a:noFill/>
          <a:ln w="0">
            <a:noFill/>
          </a:ln>
        </p:spPr>
        <p:txBody>
          <a:bodyPr wrap="none" lIns="0" rIns="0" tIns="0" bIns="0" anchor="t">
            <a:spAutoFit/>
          </a:bodyPr>
          <a:p>
            <a:r>
              <a:rPr b="0" lang="en-US" sz="730" strike="noStrike" u="none">
                <a:solidFill>
                  <a:srgbClr val="6b7280"/>
                </a:solidFill>
                <a:effectLst/>
                <a:uFillTx/>
                <a:latin typeface="DejaVuSans"/>
                <a:ea typeface="DejaVuSans"/>
              </a:rPr>
              <a:t>|</a:t>
            </a:r>
            <a:endParaRPr b="0" lang="en-US" sz="730" strike="noStrike" u="none">
              <a:solidFill>
                <a:srgbClr val="000000"/>
              </a:solidFill>
              <a:effectLst/>
              <a:uFillTx/>
              <a:latin typeface="Times New Roman"/>
            </a:endParaRPr>
          </a:p>
        </p:txBody>
      </p:sp>
      <p:pic>
        <p:nvPicPr>
          <p:cNvPr id="621" name="" descr=""/>
          <p:cNvPicPr/>
          <p:nvPr/>
        </p:nvPicPr>
        <p:blipFill>
          <a:blip r:embed="rId5"/>
          <a:stretch/>
        </p:blipFill>
        <p:spPr>
          <a:xfrm>
            <a:off x="210240" y="529920"/>
            <a:ext cx="525240" cy="25920"/>
          </a:xfrm>
          <a:prstGeom prst="rect">
            <a:avLst/>
          </a:prstGeom>
          <a:noFill/>
          <a:ln w="0">
            <a:noFill/>
          </a:ln>
        </p:spPr>
      </p:pic>
      <p:sp>
        <p:nvSpPr>
          <p:cNvPr id="622" name=""/>
          <p:cNvSpPr txBox="1"/>
          <p:nvPr/>
        </p:nvSpPr>
        <p:spPr>
          <a:xfrm>
            <a:off x="7985160" y="4563360"/>
            <a:ext cx="264240" cy="106920"/>
          </a:xfrm>
          <a:prstGeom prst="rect">
            <a:avLst/>
          </a:prstGeom>
          <a:noFill/>
          <a:ln w="0">
            <a:noFill/>
          </a:ln>
        </p:spPr>
        <p:txBody>
          <a:bodyPr wrap="none" lIns="0" rIns="0" tIns="0" bIns="0" anchor="t">
            <a:spAutoFit/>
          </a:bodyPr>
          <a:p>
            <a:r>
              <a:rPr b="0" lang="en-US" sz="730" strike="noStrike" u="none">
                <a:solidFill>
                  <a:srgbClr val="6b7280"/>
                </a:solidFill>
                <a:effectLst/>
                <a:uFillTx/>
                <a:latin typeface="DejaVuSans"/>
                <a:ea typeface="DejaVuSans"/>
              </a:rPr>
              <a:t>8 / 15</a:t>
            </a:r>
            <a:endParaRPr b="0" lang="en-US" sz="730" strike="noStrike" u="none">
              <a:solidFill>
                <a:srgbClr val="000000"/>
              </a:solidFill>
              <a:effectLst/>
              <a:uFillTx/>
              <a:latin typeface="Times New Roman"/>
            </a:endParaRPr>
          </a:p>
        </p:txBody>
      </p:sp>
      <p:sp>
        <p:nvSpPr>
          <p:cNvPr id="623" name=""/>
          <p:cNvSpPr txBox="1"/>
          <p:nvPr/>
        </p:nvSpPr>
        <p:spPr>
          <a:xfrm>
            <a:off x="210240" y="261360"/>
            <a:ext cx="1381320" cy="247320"/>
          </a:xfrm>
          <a:prstGeom prst="rect">
            <a:avLst/>
          </a:prstGeom>
          <a:noFill/>
          <a:ln w="0">
            <a:noFill/>
          </a:ln>
        </p:spPr>
        <p:txBody>
          <a:bodyPr wrap="none" lIns="0" rIns="0" tIns="0" bIns="0" anchor="t">
            <a:spAutoFit/>
          </a:bodyPr>
          <a:p>
            <a:r>
              <a:rPr b="0" lang="zh-CN" sz="1550" strike="noStrike" u="none">
                <a:solidFill>
                  <a:srgbClr val="1e40af"/>
                </a:solidFill>
                <a:effectLst/>
                <a:uFillTx/>
                <a:latin typeface="WenQuanYiZenHei"/>
                <a:ea typeface="WenQuanYiZenHei"/>
              </a:rPr>
              <a:t>内科の保険点数</a:t>
            </a:r>
            <a:endParaRPr b="0" lang="en-US" sz="1550" strike="noStrike" u="none">
              <a:solidFill>
                <a:srgbClr val="000000"/>
              </a:solidFill>
              <a:effectLst/>
              <a:uFillTx/>
              <a:latin typeface="Times New Roman"/>
            </a:endParaRPr>
          </a:p>
        </p:txBody>
      </p:sp>
      <p:sp>
        <p:nvSpPr>
          <p:cNvPr id="624" name=""/>
          <p:cNvSpPr txBox="1"/>
          <p:nvPr/>
        </p:nvSpPr>
        <p:spPr>
          <a:xfrm>
            <a:off x="1596240" y="268560"/>
            <a:ext cx="314280" cy="228960"/>
          </a:xfrm>
          <a:prstGeom prst="rect">
            <a:avLst/>
          </a:prstGeom>
          <a:noFill/>
          <a:ln w="0">
            <a:noFill/>
          </a:ln>
        </p:spPr>
        <p:txBody>
          <a:bodyPr wrap="none" lIns="0" rIns="0" tIns="0" bIns="0" anchor="t">
            <a:spAutoFit/>
          </a:bodyPr>
          <a:p>
            <a:r>
              <a:rPr b="1" lang="en-US" sz="1550" strike="noStrike" u="none">
                <a:solidFill>
                  <a:srgbClr val="1e40af"/>
                </a:solidFill>
                <a:effectLst/>
                <a:uFillTx/>
                <a:latin typeface="DejaVuSans"/>
                <a:ea typeface="DejaVuSans"/>
              </a:rPr>
              <a:t>②: </a:t>
            </a:r>
            <a:endParaRPr b="0" lang="en-US" sz="1550" strike="noStrike" u="none">
              <a:solidFill>
                <a:srgbClr val="000000"/>
              </a:solidFill>
              <a:effectLst/>
              <a:uFillTx/>
              <a:latin typeface="Times New Roman"/>
            </a:endParaRPr>
          </a:p>
        </p:txBody>
      </p:sp>
      <p:sp>
        <p:nvSpPr>
          <p:cNvPr id="625" name=""/>
          <p:cNvSpPr/>
          <p:nvPr/>
        </p:nvSpPr>
        <p:spPr>
          <a:xfrm>
            <a:off x="209880" y="897840"/>
            <a:ext cx="4749480" cy="1655640"/>
          </a:xfrm>
          <a:custGeom>
            <a:avLst/>
            <a:gdLst/>
            <a:ahLst/>
            <a:rect l="0" t="0" r="r" b="b"/>
            <a:pathLst>
              <a:path w="13193" h="4599">
                <a:moveTo>
                  <a:pt x="0" y="4453"/>
                </a:moveTo>
                <a:lnTo>
                  <a:pt x="0" y="146"/>
                </a:lnTo>
                <a:cubicBezTo>
                  <a:pt x="0" y="136"/>
                  <a:pt x="1" y="127"/>
                  <a:pt x="3" y="117"/>
                </a:cubicBezTo>
                <a:cubicBezTo>
                  <a:pt x="5" y="108"/>
                  <a:pt x="8" y="99"/>
                  <a:pt x="11" y="90"/>
                </a:cubicBezTo>
                <a:cubicBezTo>
                  <a:pt x="15" y="81"/>
                  <a:pt x="20" y="73"/>
                  <a:pt x="25" y="65"/>
                </a:cubicBezTo>
                <a:cubicBezTo>
                  <a:pt x="30" y="57"/>
                  <a:pt x="36" y="49"/>
                  <a:pt x="43" y="42"/>
                </a:cubicBezTo>
                <a:cubicBezTo>
                  <a:pt x="50" y="36"/>
                  <a:pt x="57" y="30"/>
                  <a:pt x="65" y="24"/>
                </a:cubicBezTo>
                <a:cubicBezTo>
                  <a:pt x="73" y="19"/>
                  <a:pt x="82" y="14"/>
                  <a:pt x="90" y="11"/>
                </a:cubicBezTo>
                <a:cubicBezTo>
                  <a:pt x="99" y="7"/>
                  <a:pt x="108" y="4"/>
                  <a:pt x="118" y="3"/>
                </a:cubicBezTo>
                <a:cubicBezTo>
                  <a:pt x="127" y="1"/>
                  <a:pt x="137" y="0"/>
                  <a:pt x="146" y="0"/>
                </a:cubicBezTo>
                <a:lnTo>
                  <a:pt x="13047" y="0"/>
                </a:lnTo>
                <a:cubicBezTo>
                  <a:pt x="13057" y="0"/>
                  <a:pt x="13066" y="1"/>
                  <a:pt x="13076" y="3"/>
                </a:cubicBezTo>
                <a:cubicBezTo>
                  <a:pt x="13085" y="4"/>
                  <a:pt x="13094" y="7"/>
                  <a:pt x="13103" y="11"/>
                </a:cubicBezTo>
                <a:cubicBezTo>
                  <a:pt x="13112" y="14"/>
                  <a:pt x="13120" y="19"/>
                  <a:pt x="13128" y="24"/>
                </a:cubicBezTo>
                <a:cubicBezTo>
                  <a:pt x="13136" y="30"/>
                  <a:pt x="13144" y="36"/>
                  <a:pt x="13150" y="42"/>
                </a:cubicBezTo>
                <a:cubicBezTo>
                  <a:pt x="13157" y="49"/>
                  <a:pt x="13163" y="57"/>
                  <a:pt x="13168" y="65"/>
                </a:cubicBezTo>
                <a:cubicBezTo>
                  <a:pt x="13174" y="73"/>
                  <a:pt x="13178" y="81"/>
                  <a:pt x="13182" y="90"/>
                </a:cubicBezTo>
                <a:cubicBezTo>
                  <a:pt x="13186" y="99"/>
                  <a:pt x="13188" y="108"/>
                  <a:pt x="13190" y="117"/>
                </a:cubicBezTo>
                <a:cubicBezTo>
                  <a:pt x="13192" y="127"/>
                  <a:pt x="13193" y="136"/>
                  <a:pt x="13193" y="146"/>
                </a:cubicBezTo>
                <a:lnTo>
                  <a:pt x="13193" y="4453"/>
                </a:lnTo>
                <a:cubicBezTo>
                  <a:pt x="13193" y="4462"/>
                  <a:pt x="13192" y="4472"/>
                  <a:pt x="13190" y="4481"/>
                </a:cubicBezTo>
                <a:cubicBezTo>
                  <a:pt x="13188" y="4491"/>
                  <a:pt x="13186" y="4500"/>
                  <a:pt x="13182" y="4509"/>
                </a:cubicBezTo>
                <a:cubicBezTo>
                  <a:pt x="13178" y="4517"/>
                  <a:pt x="13174" y="4526"/>
                  <a:pt x="13168" y="4534"/>
                </a:cubicBezTo>
                <a:cubicBezTo>
                  <a:pt x="13163" y="4542"/>
                  <a:pt x="13157" y="4549"/>
                  <a:pt x="13150" y="4556"/>
                </a:cubicBezTo>
                <a:cubicBezTo>
                  <a:pt x="13144" y="4563"/>
                  <a:pt x="13136" y="4569"/>
                  <a:pt x="13128" y="4574"/>
                </a:cubicBezTo>
                <a:cubicBezTo>
                  <a:pt x="13120" y="4579"/>
                  <a:pt x="13112" y="4584"/>
                  <a:pt x="13103" y="4588"/>
                </a:cubicBezTo>
                <a:cubicBezTo>
                  <a:pt x="13094" y="4591"/>
                  <a:pt x="13085" y="4594"/>
                  <a:pt x="13076" y="4596"/>
                </a:cubicBezTo>
                <a:cubicBezTo>
                  <a:pt x="13066" y="4598"/>
                  <a:pt x="13057" y="4599"/>
                  <a:pt x="13047" y="4599"/>
                </a:cubicBezTo>
                <a:lnTo>
                  <a:pt x="146" y="4599"/>
                </a:lnTo>
                <a:cubicBezTo>
                  <a:pt x="137" y="4599"/>
                  <a:pt x="127" y="4598"/>
                  <a:pt x="118" y="4596"/>
                </a:cubicBezTo>
                <a:cubicBezTo>
                  <a:pt x="108" y="4594"/>
                  <a:pt x="99" y="4591"/>
                  <a:pt x="90" y="4588"/>
                </a:cubicBezTo>
                <a:cubicBezTo>
                  <a:pt x="82" y="4584"/>
                  <a:pt x="73" y="4579"/>
                  <a:pt x="65" y="4574"/>
                </a:cubicBezTo>
                <a:cubicBezTo>
                  <a:pt x="57" y="4569"/>
                  <a:pt x="50" y="4563"/>
                  <a:pt x="43" y="4556"/>
                </a:cubicBezTo>
                <a:cubicBezTo>
                  <a:pt x="36" y="4549"/>
                  <a:pt x="30" y="4542"/>
                  <a:pt x="25" y="4534"/>
                </a:cubicBezTo>
                <a:cubicBezTo>
                  <a:pt x="20" y="4526"/>
                  <a:pt x="15" y="4517"/>
                  <a:pt x="11" y="4509"/>
                </a:cubicBezTo>
                <a:cubicBezTo>
                  <a:pt x="8" y="4500"/>
                  <a:pt x="5" y="4491"/>
                  <a:pt x="3" y="4481"/>
                </a:cubicBezTo>
                <a:cubicBezTo>
                  <a:pt x="1" y="4472"/>
                  <a:pt x="0" y="4462"/>
                  <a:pt x="0" y="4453"/>
                </a:cubicBezTo>
                <a:close/>
              </a:path>
            </a:pathLst>
          </a:custGeom>
          <a:solidFill>
            <a:srgbClr val="ffffff">
              <a:alpha val="8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26" name=""/>
          <p:cNvSpPr/>
          <p:nvPr/>
        </p:nvSpPr>
        <p:spPr>
          <a:xfrm>
            <a:off x="209880" y="897840"/>
            <a:ext cx="4749480" cy="236880"/>
          </a:xfrm>
          <a:custGeom>
            <a:avLst/>
            <a:gdLst/>
            <a:ahLst/>
            <a:rect l="0" t="0" r="r" b="b"/>
            <a:pathLst>
              <a:path w="13193" h="658">
                <a:moveTo>
                  <a:pt x="0" y="146"/>
                </a:moveTo>
                <a:cubicBezTo>
                  <a:pt x="0" y="126"/>
                  <a:pt x="4" y="108"/>
                  <a:pt x="11" y="90"/>
                </a:cubicBezTo>
                <a:cubicBezTo>
                  <a:pt x="19" y="72"/>
                  <a:pt x="29" y="56"/>
                  <a:pt x="43" y="42"/>
                </a:cubicBezTo>
                <a:cubicBezTo>
                  <a:pt x="57" y="29"/>
                  <a:pt x="73" y="18"/>
                  <a:pt x="90" y="11"/>
                </a:cubicBezTo>
                <a:cubicBezTo>
                  <a:pt x="108" y="3"/>
                  <a:pt x="127" y="0"/>
                  <a:pt x="146" y="0"/>
                </a:cubicBezTo>
                <a:lnTo>
                  <a:pt x="13047" y="0"/>
                </a:lnTo>
                <a:cubicBezTo>
                  <a:pt x="13066" y="0"/>
                  <a:pt x="13085" y="3"/>
                  <a:pt x="13103" y="11"/>
                </a:cubicBezTo>
                <a:cubicBezTo>
                  <a:pt x="13121" y="18"/>
                  <a:pt x="13137" y="29"/>
                  <a:pt x="13150" y="42"/>
                </a:cubicBezTo>
                <a:cubicBezTo>
                  <a:pt x="13164" y="56"/>
                  <a:pt x="13175" y="72"/>
                  <a:pt x="13182" y="90"/>
                </a:cubicBezTo>
                <a:cubicBezTo>
                  <a:pt x="13189" y="108"/>
                  <a:pt x="13193" y="126"/>
                  <a:pt x="13193" y="146"/>
                </a:cubicBezTo>
                <a:lnTo>
                  <a:pt x="13193" y="658"/>
                </a:lnTo>
                <a:lnTo>
                  <a:pt x="0" y="658"/>
                </a:lnTo>
                <a:lnTo>
                  <a:pt x="0" y="146"/>
                </a:lnTo>
                <a:close/>
              </a:path>
            </a:pathLst>
          </a:custGeom>
          <a:solidFill>
            <a:srgbClr val="2563eb"/>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627" name=""/>
          <p:cNvSpPr/>
          <p:nvPr/>
        </p:nvSpPr>
        <p:spPr>
          <a:xfrm>
            <a:off x="209880" y="1134360"/>
            <a:ext cx="4749480" cy="236520"/>
          </a:xfrm>
          <a:custGeom>
            <a:avLst/>
            <a:gdLst/>
            <a:ahLst/>
            <a:rect l="0" t="0" r="r" b="b"/>
            <a:pathLst>
              <a:path w="13193" h="657">
                <a:moveTo>
                  <a:pt x="0" y="0"/>
                </a:moveTo>
                <a:lnTo>
                  <a:pt x="13193" y="0"/>
                </a:lnTo>
                <a:lnTo>
                  <a:pt x="13193" y="657"/>
                </a:lnTo>
                <a:lnTo>
                  <a:pt x="0" y="657"/>
                </a:lnTo>
                <a:lnTo>
                  <a:pt x="0" y="0"/>
                </a:lnTo>
                <a:close/>
              </a:path>
            </a:pathLst>
          </a:custGeom>
          <a:solidFill>
            <a:srgbClr val="f0f8ff">
              <a:alpha val="7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28" name=""/>
          <p:cNvSpPr/>
          <p:nvPr/>
        </p:nvSpPr>
        <p:spPr>
          <a:xfrm>
            <a:off x="209880" y="1370520"/>
            <a:ext cx="4749480" cy="236880"/>
          </a:xfrm>
          <a:custGeom>
            <a:avLst/>
            <a:gdLst/>
            <a:ahLst/>
            <a:rect l="0" t="0" r="r" b="b"/>
            <a:pathLst>
              <a:path w="13193" h="658">
                <a:moveTo>
                  <a:pt x="0" y="0"/>
                </a:moveTo>
                <a:lnTo>
                  <a:pt x="13193" y="0"/>
                </a:lnTo>
                <a:lnTo>
                  <a:pt x="13193" y="658"/>
                </a:lnTo>
                <a:lnTo>
                  <a:pt x="0" y="658"/>
                </a:lnTo>
                <a:lnTo>
                  <a:pt x="0" y="0"/>
                </a:lnTo>
                <a:close/>
              </a:path>
            </a:pathLst>
          </a:custGeom>
          <a:solidFill>
            <a:srgbClr val="ffffff">
              <a:alpha val="7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29" name=""/>
          <p:cNvSpPr/>
          <p:nvPr/>
        </p:nvSpPr>
        <p:spPr>
          <a:xfrm>
            <a:off x="209880" y="1607040"/>
            <a:ext cx="4749480" cy="236880"/>
          </a:xfrm>
          <a:custGeom>
            <a:avLst/>
            <a:gdLst/>
            <a:ahLst/>
            <a:rect l="0" t="0" r="r" b="b"/>
            <a:pathLst>
              <a:path w="13193" h="658">
                <a:moveTo>
                  <a:pt x="0" y="0"/>
                </a:moveTo>
                <a:lnTo>
                  <a:pt x="13193" y="0"/>
                </a:lnTo>
                <a:lnTo>
                  <a:pt x="13193" y="658"/>
                </a:lnTo>
                <a:lnTo>
                  <a:pt x="0" y="658"/>
                </a:lnTo>
                <a:lnTo>
                  <a:pt x="0" y="0"/>
                </a:lnTo>
                <a:close/>
              </a:path>
            </a:pathLst>
          </a:custGeom>
          <a:solidFill>
            <a:srgbClr val="f0f8ff">
              <a:alpha val="7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30" name=""/>
          <p:cNvSpPr/>
          <p:nvPr/>
        </p:nvSpPr>
        <p:spPr>
          <a:xfrm>
            <a:off x="209880" y="1843560"/>
            <a:ext cx="4749480" cy="236880"/>
          </a:xfrm>
          <a:custGeom>
            <a:avLst/>
            <a:gdLst/>
            <a:ahLst/>
            <a:rect l="0" t="0" r="r" b="b"/>
            <a:pathLst>
              <a:path w="13193" h="658">
                <a:moveTo>
                  <a:pt x="0" y="0"/>
                </a:moveTo>
                <a:lnTo>
                  <a:pt x="13193" y="0"/>
                </a:lnTo>
                <a:lnTo>
                  <a:pt x="13193" y="658"/>
                </a:lnTo>
                <a:lnTo>
                  <a:pt x="0" y="658"/>
                </a:lnTo>
                <a:lnTo>
                  <a:pt x="0" y="0"/>
                </a:lnTo>
                <a:close/>
              </a:path>
            </a:pathLst>
          </a:custGeom>
          <a:solidFill>
            <a:srgbClr val="ffffff">
              <a:alpha val="7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31" name=""/>
          <p:cNvSpPr/>
          <p:nvPr/>
        </p:nvSpPr>
        <p:spPr>
          <a:xfrm>
            <a:off x="209880" y="2080080"/>
            <a:ext cx="4749480" cy="236880"/>
          </a:xfrm>
          <a:custGeom>
            <a:avLst/>
            <a:gdLst/>
            <a:ahLst/>
            <a:rect l="0" t="0" r="r" b="b"/>
            <a:pathLst>
              <a:path w="13193" h="658">
                <a:moveTo>
                  <a:pt x="0" y="0"/>
                </a:moveTo>
                <a:lnTo>
                  <a:pt x="13193" y="0"/>
                </a:lnTo>
                <a:lnTo>
                  <a:pt x="13193" y="658"/>
                </a:lnTo>
                <a:lnTo>
                  <a:pt x="0" y="658"/>
                </a:lnTo>
                <a:lnTo>
                  <a:pt x="0" y="0"/>
                </a:lnTo>
                <a:close/>
              </a:path>
            </a:pathLst>
          </a:custGeom>
          <a:solidFill>
            <a:srgbClr val="f0f8ff">
              <a:alpha val="7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32" name=""/>
          <p:cNvSpPr/>
          <p:nvPr/>
        </p:nvSpPr>
        <p:spPr>
          <a:xfrm>
            <a:off x="209880" y="2316600"/>
            <a:ext cx="4749480" cy="236880"/>
          </a:xfrm>
          <a:custGeom>
            <a:avLst/>
            <a:gdLst/>
            <a:ahLst/>
            <a:rect l="0" t="0" r="r" b="b"/>
            <a:pathLst>
              <a:path w="13193" h="658">
                <a:moveTo>
                  <a:pt x="0" y="512"/>
                </a:moveTo>
                <a:lnTo>
                  <a:pt x="0" y="0"/>
                </a:lnTo>
                <a:lnTo>
                  <a:pt x="13193" y="0"/>
                </a:lnTo>
                <a:lnTo>
                  <a:pt x="13193" y="512"/>
                </a:lnTo>
                <a:cubicBezTo>
                  <a:pt x="13193" y="531"/>
                  <a:pt x="13189" y="550"/>
                  <a:pt x="13182" y="568"/>
                </a:cubicBezTo>
                <a:cubicBezTo>
                  <a:pt x="13175" y="585"/>
                  <a:pt x="13164" y="601"/>
                  <a:pt x="13150" y="615"/>
                </a:cubicBezTo>
                <a:cubicBezTo>
                  <a:pt x="13137" y="629"/>
                  <a:pt x="13121" y="639"/>
                  <a:pt x="13103" y="647"/>
                </a:cubicBezTo>
                <a:cubicBezTo>
                  <a:pt x="13085" y="654"/>
                  <a:pt x="13066" y="658"/>
                  <a:pt x="13047" y="658"/>
                </a:cubicBezTo>
                <a:lnTo>
                  <a:pt x="146" y="658"/>
                </a:lnTo>
                <a:cubicBezTo>
                  <a:pt x="127" y="658"/>
                  <a:pt x="108" y="654"/>
                  <a:pt x="90" y="647"/>
                </a:cubicBezTo>
                <a:cubicBezTo>
                  <a:pt x="73" y="639"/>
                  <a:pt x="57" y="629"/>
                  <a:pt x="43" y="615"/>
                </a:cubicBezTo>
                <a:cubicBezTo>
                  <a:pt x="29" y="601"/>
                  <a:pt x="19" y="585"/>
                  <a:pt x="11" y="568"/>
                </a:cubicBezTo>
                <a:cubicBezTo>
                  <a:pt x="4" y="550"/>
                  <a:pt x="0" y="531"/>
                  <a:pt x="0" y="512"/>
                </a:cubicBezTo>
                <a:close/>
              </a:path>
            </a:pathLst>
          </a:custGeom>
          <a:solidFill>
            <a:srgbClr val="ffffff">
              <a:alpha val="7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633" name="" descr=""/>
          <p:cNvPicPr/>
          <p:nvPr/>
        </p:nvPicPr>
        <p:blipFill>
          <a:blip r:embed="rId6"/>
          <a:stretch/>
        </p:blipFill>
        <p:spPr>
          <a:xfrm>
            <a:off x="210240" y="687600"/>
            <a:ext cx="131040" cy="131040"/>
          </a:xfrm>
          <a:prstGeom prst="rect">
            <a:avLst/>
          </a:prstGeom>
          <a:noFill/>
          <a:ln w="0">
            <a:noFill/>
          </a:ln>
        </p:spPr>
      </p:pic>
      <p:sp>
        <p:nvSpPr>
          <p:cNvPr id="634" name=""/>
          <p:cNvSpPr txBox="1"/>
          <p:nvPr/>
        </p:nvSpPr>
        <p:spPr>
          <a:xfrm>
            <a:off x="1910520" y="261360"/>
            <a:ext cx="983880" cy="247320"/>
          </a:xfrm>
          <a:prstGeom prst="rect">
            <a:avLst/>
          </a:prstGeom>
          <a:noFill/>
          <a:ln w="0">
            <a:noFill/>
          </a:ln>
        </p:spPr>
        <p:txBody>
          <a:bodyPr wrap="none" lIns="0" rIns="0" tIns="0" bIns="0" anchor="t">
            <a:spAutoFit/>
          </a:bodyPr>
          <a:p>
            <a:r>
              <a:rPr b="0" lang="zh-CN" sz="1550" strike="noStrike" u="none">
                <a:solidFill>
                  <a:srgbClr val="1e40af"/>
                </a:solidFill>
                <a:effectLst/>
                <a:uFillTx/>
                <a:latin typeface="WenQuanYiZenHei"/>
                <a:ea typeface="WenQuanYiZenHei"/>
              </a:rPr>
              <a:t>検査・処置</a:t>
            </a:r>
            <a:endParaRPr b="0" lang="en-US" sz="1550" strike="noStrike" u="none">
              <a:solidFill>
                <a:srgbClr val="000000"/>
              </a:solidFill>
              <a:effectLst/>
              <a:uFillTx/>
              <a:latin typeface="Times New Roman"/>
            </a:endParaRPr>
          </a:p>
        </p:txBody>
      </p:sp>
      <p:sp>
        <p:nvSpPr>
          <p:cNvPr id="635" name=""/>
          <p:cNvSpPr txBox="1"/>
          <p:nvPr/>
        </p:nvSpPr>
        <p:spPr>
          <a:xfrm>
            <a:off x="394200" y="672840"/>
            <a:ext cx="1579680" cy="166320"/>
          </a:xfrm>
          <a:prstGeom prst="rect">
            <a:avLst/>
          </a:prstGeom>
          <a:noFill/>
          <a:ln w="0">
            <a:noFill/>
          </a:ln>
        </p:spPr>
        <p:txBody>
          <a:bodyPr wrap="none" lIns="0" rIns="0" tIns="0" bIns="0" anchor="t">
            <a:spAutoFit/>
          </a:bodyPr>
          <a:p>
            <a:r>
              <a:rPr b="0" lang="zh-CN" sz="1030" strike="noStrike" u="none">
                <a:solidFill>
                  <a:srgbClr val="1d4ed8"/>
                </a:solidFill>
                <a:effectLst/>
                <a:uFillTx/>
                <a:latin typeface="WenQuanYiZenHei"/>
                <a:ea typeface="WenQuanYiZenHei"/>
              </a:rPr>
              <a:t>主な検査・処置と保険点数</a:t>
            </a:r>
            <a:endParaRPr b="0" lang="en-US" sz="1030" strike="noStrike" u="none">
              <a:solidFill>
                <a:srgbClr val="000000"/>
              </a:solidFill>
              <a:effectLst/>
              <a:uFillTx/>
              <a:latin typeface="Times New Roman"/>
            </a:endParaRPr>
          </a:p>
        </p:txBody>
      </p:sp>
      <p:sp>
        <p:nvSpPr>
          <p:cNvPr id="636" name=""/>
          <p:cNvSpPr txBox="1"/>
          <p:nvPr/>
        </p:nvSpPr>
        <p:spPr>
          <a:xfrm>
            <a:off x="262800" y="960480"/>
            <a:ext cx="549360" cy="116280"/>
          </a:xfrm>
          <a:prstGeom prst="rect">
            <a:avLst/>
          </a:prstGeom>
          <a:noFill/>
          <a:ln w="0">
            <a:noFill/>
          </a:ln>
        </p:spPr>
        <p:txBody>
          <a:bodyPr wrap="none" lIns="0" rIns="0" tIns="0" bIns="0" anchor="t">
            <a:spAutoFit/>
          </a:bodyPr>
          <a:p>
            <a:r>
              <a:rPr b="0" lang="zh-CN" sz="730" strike="noStrike" u="none">
                <a:solidFill>
                  <a:srgbClr val="ffffff"/>
                </a:solidFill>
                <a:effectLst/>
                <a:uFillTx/>
                <a:latin typeface="WenQuanYiZenHei"/>
                <a:ea typeface="WenQuanYiZenHei"/>
              </a:rPr>
              <a:t>検査・処置名</a:t>
            </a:r>
            <a:endParaRPr b="0" lang="en-US" sz="730" strike="noStrike" u="none">
              <a:solidFill>
                <a:srgbClr val="000000"/>
              </a:solidFill>
              <a:effectLst/>
              <a:uFillTx/>
              <a:latin typeface="Times New Roman"/>
            </a:endParaRPr>
          </a:p>
        </p:txBody>
      </p:sp>
      <p:sp>
        <p:nvSpPr>
          <p:cNvPr id="637" name=""/>
          <p:cNvSpPr txBox="1"/>
          <p:nvPr/>
        </p:nvSpPr>
        <p:spPr>
          <a:xfrm>
            <a:off x="2198160" y="960480"/>
            <a:ext cx="549360" cy="116280"/>
          </a:xfrm>
          <a:prstGeom prst="rect">
            <a:avLst/>
          </a:prstGeom>
          <a:noFill/>
          <a:ln w="0">
            <a:noFill/>
          </a:ln>
        </p:spPr>
        <p:txBody>
          <a:bodyPr wrap="none" lIns="0" rIns="0" tIns="0" bIns="0" anchor="t">
            <a:spAutoFit/>
          </a:bodyPr>
          <a:p>
            <a:r>
              <a:rPr b="0" lang="zh-CN" sz="730" strike="noStrike" u="none">
                <a:solidFill>
                  <a:srgbClr val="ffffff"/>
                </a:solidFill>
                <a:effectLst/>
                <a:uFillTx/>
                <a:latin typeface="WenQuanYiZenHei"/>
                <a:ea typeface="WenQuanYiZenHei"/>
              </a:rPr>
              <a:t>点数（目安）</a:t>
            </a:r>
            <a:endParaRPr b="0" lang="en-US" sz="730" strike="noStrike" u="none">
              <a:solidFill>
                <a:srgbClr val="000000"/>
              </a:solidFill>
              <a:effectLst/>
              <a:uFillTx/>
              <a:latin typeface="Times New Roman"/>
            </a:endParaRPr>
          </a:p>
        </p:txBody>
      </p:sp>
      <p:sp>
        <p:nvSpPr>
          <p:cNvPr id="638" name=""/>
          <p:cNvSpPr txBox="1"/>
          <p:nvPr/>
        </p:nvSpPr>
        <p:spPr>
          <a:xfrm>
            <a:off x="3359520" y="960480"/>
            <a:ext cx="734400" cy="116280"/>
          </a:xfrm>
          <a:prstGeom prst="rect">
            <a:avLst/>
          </a:prstGeom>
          <a:noFill/>
          <a:ln w="0">
            <a:noFill/>
          </a:ln>
        </p:spPr>
        <p:txBody>
          <a:bodyPr wrap="none" lIns="0" rIns="0" tIns="0" bIns="0" anchor="t">
            <a:spAutoFit/>
          </a:bodyPr>
          <a:p>
            <a:r>
              <a:rPr b="0" lang="zh-CN" sz="730" strike="noStrike" u="none">
                <a:solidFill>
                  <a:srgbClr val="ffffff"/>
                </a:solidFill>
                <a:effectLst/>
                <a:uFillTx/>
                <a:latin typeface="WenQuanYiZenHei"/>
                <a:ea typeface="WenQuanYiZenHei"/>
              </a:rPr>
              <a:t>主な注意点・加算</a:t>
            </a:r>
            <a:endParaRPr b="0" lang="en-US" sz="730" strike="noStrike" u="none">
              <a:solidFill>
                <a:srgbClr val="000000"/>
              </a:solidFill>
              <a:effectLst/>
              <a:uFillTx/>
              <a:latin typeface="Times New Roman"/>
            </a:endParaRPr>
          </a:p>
        </p:txBody>
      </p:sp>
      <p:sp>
        <p:nvSpPr>
          <p:cNvPr id="639" name=""/>
          <p:cNvSpPr txBox="1"/>
          <p:nvPr/>
        </p:nvSpPr>
        <p:spPr>
          <a:xfrm>
            <a:off x="262800" y="1197000"/>
            <a:ext cx="36648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血液検査</a:t>
            </a:r>
            <a:endParaRPr b="0" lang="en-US" sz="730" strike="noStrike" u="none">
              <a:solidFill>
                <a:srgbClr val="000000"/>
              </a:solidFill>
              <a:effectLst/>
              <a:uFillTx/>
              <a:latin typeface="Times New Roman"/>
            </a:endParaRPr>
          </a:p>
        </p:txBody>
      </p:sp>
      <p:sp>
        <p:nvSpPr>
          <p:cNvPr id="640" name=""/>
          <p:cNvSpPr txBox="1"/>
          <p:nvPr/>
        </p:nvSpPr>
        <p:spPr>
          <a:xfrm>
            <a:off x="2198160" y="1197000"/>
            <a:ext cx="83016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項目数に応じて変動</a:t>
            </a:r>
            <a:endParaRPr b="0" lang="en-US" sz="730" strike="noStrike" u="none">
              <a:solidFill>
                <a:srgbClr val="000000"/>
              </a:solidFill>
              <a:effectLst/>
              <a:uFillTx/>
              <a:latin typeface="Times New Roman"/>
            </a:endParaRPr>
          </a:p>
        </p:txBody>
      </p:sp>
      <p:sp>
        <p:nvSpPr>
          <p:cNvPr id="641" name=""/>
          <p:cNvSpPr txBox="1"/>
          <p:nvPr/>
        </p:nvSpPr>
        <p:spPr>
          <a:xfrm>
            <a:off x="3359520" y="1197000"/>
            <a:ext cx="110448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包括と出来高の区分に注意</a:t>
            </a:r>
            <a:endParaRPr b="0" lang="en-US" sz="730" strike="noStrike" u="none">
              <a:solidFill>
                <a:srgbClr val="000000"/>
              </a:solidFill>
              <a:effectLst/>
              <a:uFillTx/>
              <a:latin typeface="Times New Roman"/>
            </a:endParaRPr>
          </a:p>
        </p:txBody>
      </p:sp>
      <p:sp>
        <p:nvSpPr>
          <p:cNvPr id="642" name=""/>
          <p:cNvSpPr txBox="1"/>
          <p:nvPr/>
        </p:nvSpPr>
        <p:spPr>
          <a:xfrm>
            <a:off x="262800" y="1433520"/>
            <a:ext cx="27504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尿検査</a:t>
            </a:r>
            <a:endParaRPr b="0" lang="en-US" sz="730" strike="noStrike" u="none">
              <a:solidFill>
                <a:srgbClr val="000000"/>
              </a:solidFill>
              <a:effectLst/>
              <a:uFillTx/>
              <a:latin typeface="Times New Roman"/>
            </a:endParaRPr>
          </a:p>
        </p:txBody>
      </p:sp>
      <p:sp>
        <p:nvSpPr>
          <p:cNvPr id="643" name=""/>
          <p:cNvSpPr txBox="1"/>
          <p:nvPr/>
        </p:nvSpPr>
        <p:spPr>
          <a:xfrm>
            <a:off x="2198160" y="1433520"/>
            <a:ext cx="83016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項目数に応じて変動</a:t>
            </a:r>
            <a:endParaRPr b="0" lang="en-US" sz="730" strike="noStrike" u="none">
              <a:solidFill>
                <a:srgbClr val="000000"/>
              </a:solidFill>
              <a:effectLst/>
              <a:uFillTx/>
              <a:latin typeface="Times New Roman"/>
            </a:endParaRPr>
          </a:p>
        </p:txBody>
      </p:sp>
      <p:sp>
        <p:nvSpPr>
          <p:cNvPr id="644" name=""/>
          <p:cNvSpPr txBox="1"/>
          <p:nvPr/>
        </p:nvSpPr>
        <p:spPr>
          <a:xfrm>
            <a:off x="3359520" y="1433520"/>
            <a:ext cx="110664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定性・定量で点数が異なる</a:t>
            </a:r>
            <a:endParaRPr b="0" lang="en-US" sz="730" strike="noStrike" u="none">
              <a:solidFill>
                <a:srgbClr val="000000"/>
              </a:solidFill>
              <a:effectLst/>
              <a:uFillTx/>
              <a:latin typeface="Times New Roman"/>
            </a:endParaRPr>
          </a:p>
        </p:txBody>
      </p:sp>
      <p:sp>
        <p:nvSpPr>
          <p:cNvPr id="645" name=""/>
          <p:cNvSpPr txBox="1"/>
          <p:nvPr/>
        </p:nvSpPr>
        <p:spPr>
          <a:xfrm>
            <a:off x="262800" y="1669680"/>
            <a:ext cx="45792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心電図検査</a:t>
            </a:r>
            <a:endParaRPr b="0" lang="en-US" sz="730" strike="noStrike" u="none">
              <a:solidFill>
                <a:srgbClr val="000000"/>
              </a:solidFill>
              <a:effectLst/>
              <a:uFillTx/>
              <a:latin typeface="Times New Roman"/>
            </a:endParaRPr>
          </a:p>
        </p:txBody>
      </p:sp>
      <p:sp>
        <p:nvSpPr>
          <p:cNvPr id="646" name=""/>
          <p:cNvSpPr txBox="1"/>
          <p:nvPr/>
        </p:nvSpPr>
        <p:spPr>
          <a:xfrm>
            <a:off x="2198160" y="1672920"/>
            <a:ext cx="175320" cy="106920"/>
          </a:xfrm>
          <a:prstGeom prst="rect">
            <a:avLst/>
          </a:prstGeom>
          <a:noFill/>
          <a:ln w="0">
            <a:noFill/>
          </a:ln>
        </p:spPr>
        <p:txBody>
          <a:bodyPr wrap="none" lIns="0" rIns="0" tIns="0" bIns="0" anchor="t">
            <a:spAutoFit/>
          </a:bodyPr>
          <a:p>
            <a:r>
              <a:rPr b="0" lang="en-US" sz="730" strike="noStrike" u="none">
                <a:solidFill>
                  <a:srgbClr val="000000"/>
                </a:solidFill>
                <a:effectLst/>
                <a:uFillTx/>
                <a:latin typeface="DejaVuSans"/>
                <a:ea typeface="DejaVuSans"/>
              </a:rPr>
              <a:t>130</a:t>
            </a:r>
            <a:endParaRPr b="0" lang="en-US" sz="730" strike="noStrike" u="none">
              <a:solidFill>
                <a:srgbClr val="000000"/>
              </a:solidFill>
              <a:effectLst/>
              <a:uFillTx/>
              <a:latin typeface="Times New Roman"/>
            </a:endParaRPr>
          </a:p>
        </p:txBody>
      </p:sp>
      <p:sp>
        <p:nvSpPr>
          <p:cNvPr id="647" name=""/>
          <p:cNvSpPr txBox="1"/>
          <p:nvPr/>
        </p:nvSpPr>
        <p:spPr>
          <a:xfrm>
            <a:off x="2373840" y="1669680"/>
            <a:ext cx="9216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点</a:t>
            </a:r>
            <a:endParaRPr b="0" lang="en-US" sz="730" strike="noStrike" u="none">
              <a:solidFill>
                <a:srgbClr val="000000"/>
              </a:solidFill>
              <a:effectLst/>
              <a:uFillTx/>
              <a:latin typeface="Times New Roman"/>
            </a:endParaRPr>
          </a:p>
        </p:txBody>
      </p:sp>
      <p:sp>
        <p:nvSpPr>
          <p:cNvPr id="648" name=""/>
          <p:cNvSpPr txBox="1"/>
          <p:nvPr/>
        </p:nvSpPr>
        <p:spPr>
          <a:xfrm>
            <a:off x="3359520" y="1669680"/>
            <a:ext cx="82584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負荷心電図は別項目</a:t>
            </a:r>
            <a:endParaRPr b="0" lang="en-US" sz="730" strike="noStrike" u="none">
              <a:solidFill>
                <a:srgbClr val="000000"/>
              </a:solidFill>
              <a:effectLst/>
              <a:uFillTx/>
              <a:latin typeface="Times New Roman"/>
            </a:endParaRPr>
          </a:p>
        </p:txBody>
      </p:sp>
      <p:sp>
        <p:nvSpPr>
          <p:cNvPr id="649" name=""/>
          <p:cNvSpPr txBox="1"/>
          <p:nvPr/>
        </p:nvSpPr>
        <p:spPr>
          <a:xfrm>
            <a:off x="262800" y="1906200"/>
            <a:ext cx="128520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超音波検査（腹部・心臓など）</a:t>
            </a:r>
            <a:endParaRPr b="0" lang="en-US" sz="730" strike="noStrike" u="none">
              <a:solidFill>
                <a:srgbClr val="000000"/>
              </a:solidFill>
              <a:effectLst/>
              <a:uFillTx/>
              <a:latin typeface="Times New Roman"/>
            </a:endParaRPr>
          </a:p>
        </p:txBody>
      </p:sp>
      <p:sp>
        <p:nvSpPr>
          <p:cNvPr id="650" name=""/>
          <p:cNvSpPr txBox="1"/>
          <p:nvPr/>
        </p:nvSpPr>
        <p:spPr>
          <a:xfrm>
            <a:off x="2198160" y="1906200"/>
            <a:ext cx="74304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部位により異なる</a:t>
            </a:r>
            <a:endParaRPr b="0" lang="en-US" sz="730" strike="noStrike" u="none">
              <a:solidFill>
                <a:srgbClr val="000000"/>
              </a:solidFill>
              <a:effectLst/>
              <a:uFillTx/>
              <a:latin typeface="Times New Roman"/>
            </a:endParaRPr>
          </a:p>
        </p:txBody>
      </p:sp>
      <p:sp>
        <p:nvSpPr>
          <p:cNvPr id="651" name=""/>
          <p:cNvSpPr txBox="1"/>
          <p:nvPr/>
        </p:nvSpPr>
        <p:spPr>
          <a:xfrm>
            <a:off x="3359520" y="1906200"/>
            <a:ext cx="119376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実施部位・目的の記載が必須</a:t>
            </a:r>
            <a:endParaRPr b="0" lang="en-US" sz="730" strike="noStrike" u="none">
              <a:solidFill>
                <a:srgbClr val="000000"/>
              </a:solidFill>
              <a:effectLst/>
              <a:uFillTx/>
              <a:latin typeface="Times New Roman"/>
            </a:endParaRPr>
          </a:p>
        </p:txBody>
      </p:sp>
      <p:sp>
        <p:nvSpPr>
          <p:cNvPr id="652" name=""/>
          <p:cNvSpPr txBox="1"/>
          <p:nvPr/>
        </p:nvSpPr>
        <p:spPr>
          <a:xfrm>
            <a:off x="262800" y="2142720"/>
            <a:ext cx="109800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内視鏡検査（上部・下部）</a:t>
            </a:r>
            <a:endParaRPr b="0" lang="en-US" sz="730" strike="noStrike" u="none">
              <a:solidFill>
                <a:srgbClr val="000000"/>
              </a:solidFill>
              <a:effectLst/>
              <a:uFillTx/>
              <a:latin typeface="Times New Roman"/>
            </a:endParaRPr>
          </a:p>
        </p:txBody>
      </p:sp>
      <p:sp>
        <p:nvSpPr>
          <p:cNvPr id="653" name=""/>
          <p:cNvSpPr txBox="1"/>
          <p:nvPr/>
        </p:nvSpPr>
        <p:spPr>
          <a:xfrm>
            <a:off x="2198160" y="2142720"/>
            <a:ext cx="73224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検査手技料＋加算</a:t>
            </a:r>
            <a:endParaRPr b="0" lang="en-US" sz="730" strike="noStrike" u="none">
              <a:solidFill>
                <a:srgbClr val="000000"/>
              </a:solidFill>
              <a:effectLst/>
              <a:uFillTx/>
              <a:latin typeface="Times New Roman"/>
            </a:endParaRPr>
          </a:p>
        </p:txBody>
      </p:sp>
      <p:sp>
        <p:nvSpPr>
          <p:cNvPr id="654" name=""/>
          <p:cNvSpPr txBox="1"/>
          <p:nvPr/>
        </p:nvSpPr>
        <p:spPr>
          <a:xfrm>
            <a:off x="3359520" y="2142720"/>
            <a:ext cx="129384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生検・ポリープ切除などの加算</a:t>
            </a:r>
            <a:endParaRPr b="0" lang="en-US" sz="730" strike="noStrike" u="none">
              <a:solidFill>
                <a:srgbClr val="000000"/>
              </a:solidFill>
              <a:effectLst/>
              <a:uFillTx/>
              <a:latin typeface="Times New Roman"/>
            </a:endParaRPr>
          </a:p>
        </p:txBody>
      </p:sp>
      <p:sp>
        <p:nvSpPr>
          <p:cNvPr id="655" name=""/>
          <p:cNvSpPr txBox="1"/>
          <p:nvPr/>
        </p:nvSpPr>
        <p:spPr>
          <a:xfrm>
            <a:off x="262800" y="2379240"/>
            <a:ext cx="109800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点滴注射・皮下筋肉内注射</a:t>
            </a:r>
            <a:endParaRPr b="0" lang="en-US" sz="730" strike="noStrike" u="none">
              <a:solidFill>
                <a:srgbClr val="000000"/>
              </a:solidFill>
              <a:effectLst/>
              <a:uFillTx/>
              <a:latin typeface="Times New Roman"/>
            </a:endParaRPr>
          </a:p>
        </p:txBody>
      </p:sp>
      <p:sp>
        <p:nvSpPr>
          <p:cNvPr id="656" name=""/>
          <p:cNvSpPr txBox="1"/>
          <p:nvPr/>
        </p:nvSpPr>
        <p:spPr>
          <a:xfrm>
            <a:off x="2198160" y="2379240"/>
            <a:ext cx="64080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手技料＋薬剤料</a:t>
            </a:r>
            <a:endParaRPr b="0" lang="en-US" sz="730" strike="noStrike" u="none">
              <a:solidFill>
                <a:srgbClr val="000000"/>
              </a:solidFill>
              <a:effectLst/>
              <a:uFillTx/>
              <a:latin typeface="Times New Roman"/>
            </a:endParaRPr>
          </a:p>
        </p:txBody>
      </p:sp>
      <p:sp>
        <p:nvSpPr>
          <p:cNvPr id="657" name=""/>
          <p:cNvSpPr/>
          <p:nvPr/>
        </p:nvSpPr>
        <p:spPr>
          <a:xfrm>
            <a:off x="5064120" y="897840"/>
            <a:ext cx="3133440" cy="1221840"/>
          </a:xfrm>
          <a:custGeom>
            <a:avLst/>
            <a:gdLst/>
            <a:ahLst/>
            <a:rect l="0" t="0" r="r" b="b"/>
            <a:pathLst>
              <a:path w="8704" h="3394">
                <a:moveTo>
                  <a:pt x="0" y="3248"/>
                </a:moveTo>
                <a:lnTo>
                  <a:pt x="0" y="146"/>
                </a:lnTo>
                <a:cubicBezTo>
                  <a:pt x="0" y="136"/>
                  <a:pt x="1" y="127"/>
                  <a:pt x="3" y="117"/>
                </a:cubicBezTo>
                <a:cubicBezTo>
                  <a:pt x="5" y="108"/>
                  <a:pt x="7" y="99"/>
                  <a:pt x="11" y="90"/>
                </a:cubicBezTo>
                <a:cubicBezTo>
                  <a:pt x="15" y="81"/>
                  <a:pt x="19" y="73"/>
                  <a:pt x="25" y="65"/>
                </a:cubicBezTo>
                <a:cubicBezTo>
                  <a:pt x="30" y="57"/>
                  <a:pt x="36" y="49"/>
                  <a:pt x="43" y="42"/>
                </a:cubicBezTo>
                <a:cubicBezTo>
                  <a:pt x="50" y="36"/>
                  <a:pt x="57" y="30"/>
                  <a:pt x="65" y="24"/>
                </a:cubicBezTo>
                <a:cubicBezTo>
                  <a:pt x="73" y="19"/>
                  <a:pt x="81" y="14"/>
                  <a:pt x="90" y="11"/>
                </a:cubicBezTo>
                <a:cubicBezTo>
                  <a:pt x="99" y="7"/>
                  <a:pt x="108" y="4"/>
                  <a:pt x="117" y="3"/>
                </a:cubicBezTo>
                <a:cubicBezTo>
                  <a:pt x="127" y="1"/>
                  <a:pt x="136" y="0"/>
                  <a:pt x="146" y="0"/>
                </a:cubicBezTo>
                <a:lnTo>
                  <a:pt x="8558" y="0"/>
                </a:lnTo>
                <a:cubicBezTo>
                  <a:pt x="8568" y="0"/>
                  <a:pt x="8577" y="1"/>
                  <a:pt x="8587" y="3"/>
                </a:cubicBezTo>
                <a:cubicBezTo>
                  <a:pt x="8596" y="4"/>
                  <a:pt x="8605" y="7"/>
                  <a:pt x="8614" y="11"/>
                </a:cubicBezTo>
                <a:cubicBezTo>
                  <a:pt x="8623" y="14"/>
                  <a:pt x="8631" y="19"/>
                  <a:pt x="8639" y="24"/>
                </a:cubicBezTo>
                <a:cubicBezTo>
                  <a:pt x="8647" y="30"/>
                  <a:pt x="8655" y="36"/>
                  <a:pt x="8661" y="42"/>
                </a:cubicBezTo>
                <a:cubicBezTo>
                  <a:pt x="8668" y="49"/>
                  <a:pt x="8674" y="57"/>
                  <a:pt x="8680" y="65"/>
                </a:cubicBezTo>
                <a:cubicBezTo>
                  <a:pt x="8685" y="73"/>
                  <a:pt x="8689" y="81"/>
                  <a:pt x="8693" y="90"/>
                </a:cubicBezTo>
                <a:cubicBezTo>
                  <a:pt x="8697" y="99"/>
                  <a:pt x="8700" y="108"/>
                  <a:pt x="8701" y="117"/>
                </a:cubicBezTo>
                <a:cubicBezTo>
                  <a:pt x="8703" y="127"/>
                  <a:pt x="8704" y="136"/>
                  <a:pt x="8704" y="146"/>
                </a:cubicBezTo>
                <a:lnTo>
                  <a:pt x="8704" y="3248"/>
                </a:lnTo>
                <a:cubicBezTo>
                  <a:pt x="8704" y="3258"/>
                  <a:pt x="8703" y="3268"/>
                  <a:pt x="8701" y="3277"/>
                </a:cubicBezTo>
                <a:cubicBezTo>
                  <a:pt x="8700" y="3286"/>
                  <a:pt x="8697" y="3295"/>
                  <a:pt x="8693" y="3304"/>
                </a:cubicBezTo>
                <a:cubicBezTo>
                  <a:pt x="8689" y="3313"/>
                  <a:pt x="8685" y="3322"/>
                  <a:pt x="8680" y="3330"/>
                </a:cubicBezTo>
                <a:cubicBezTo>
                  <a:pt x="8674" y="3338"/>
                  <a:pt x="8668" y="3345"/>
                  <a:pt x="8661" y="3352"/>
                </a:cubicBezTo>
                <a:cubicBezTo>
                  <a:pt x="8655" y="3358"/>
                  <a:pt x="8647" y="3365"/>
                  <a:pt x="8639" y="3370"/>
                </a:cubicBezTo>
                <a:cubicBezTo>
                  <a:pt x="8631" y="3375"/>
                  <a:pt x="8623" y="3380"/>
                  <a:pt x="8614" y="3383"/>
                </a:cubicBezTo>
                <a:cubicBezTo>
                  <a:pt x="8605" y="3387"/>
                  <a:pt x="8596" y="3390"/>
                  <a:pt x="8587" y="3392"/>
                </a:cubicBezTo>
                <a:cubicBezTo>
                  <a:pt x="8577" y="3393"/>
                  <a:pt x="8568" y="3394"/>
                  <a:pt x="8558" y="3394"/>
                </a:cubicBezTo>
                <a:lnTo>
                  <a:pt x="146" y="3394"/>
                </a:lnTo>
                <a:cubicBezTo>
                  <a:pt x="136" y="3394"/>
                  <a:pt x="127" y="3393"/>
                  <a:pt x="117" y="3392"/>
                </a:cubicBezTo>
                <a:cubicBezTo>
                  <a:pt x="108" y="3390"/>
                  <a:pt x="99" y="3387"/>
                  <a:pt x="90" y="3383"/>
                </a:cubicBezTo>
                <a:cubicBezTo>
                  <a:pt x="81" y="3380"/>
                  <a:pt x="73" y="3375"/>
                  <a:pt x="65" y="3370"/>
                </a:cubicBezTo>
                <a:cubicBezTo>
                  <a:pt x="57" y="3365"/>
                  <a:pt x="50" y="3358"/>
                  <a:pt x="43" y="3352"/>
                </a:cubicBezTo>
                <a:cubicBezTo>
                  <a:pt x="36" y="3345"/>
                  <a:pt x="30" y="3338"/>
                  <a:pt x="25" y="3330"/>
                </a:cubicBezTo>
                <a:cubicBezTo>
                  <a:pt x="19" y="3322"/>
                  <a:pt x="15" y="3313"/>
                  <a:pt x="11" y="3304"/>
                </a:cubicBezTo>
                <a:cubicBezTo>
                  <a:pt x="7" y="3295"/>
                  <a:pt x="5" y="3286"/>
                  <a:pt x="3" y="3277"/>
                </a:cubicBezTo>
                <a:cubicBezTo>
                  <a:pt x="1" y="3268"/>
                  <a:pt x="0" y="3258"/>
                  <a:pt x="0" y="3248"/>
                </a:cubicBezTo>
                <a:close/>
              </a:path>
            </a:pathLst>
          </a:custGeom>
          <a:solidFill>
            <a:srgbClr val="ffffff">
              <a:alpha val="8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58" name=""/>
          <p:cNvSpPr/>
          <p:nvPr/>
        </p:nvSpPr>
        <p:spPr>
          <a:xfrm>
            <a:off x="5077080" y="2198160"/>
            <a:ext cx="3120480" cy="368280"/>
          </a:xfrm>
          <a:custGeom>
            <a:avLst/>
            <a:gdLst/>
            <a:ahLst/>
            <a:rect l="0" t="0" r="r" b="b"/>
            <a:pathLst>
              <a:path w="8668" h="1023">
                <a:moveTo>
                  <a:pt x="0" y="877"/>
                </a:moveTo>
                <a:lnTo>
                  <a:pt x="0" y="146"/>
                </a:lnTo>
                <a:cubicBezTo>
                  <a:pt x="0" y="127"/>
                  <a:pt x="3" y="108"/>
                  <a:pt x="9" y="90"/>
                </a:cubicBezTo>
                <a:cubicBezTo>
                  <a:pt x="14" y="73"/>
                  <a:pt x="22" y="57"/>
                  <a:pt x="33" y="43"/>
                </a:cubicBezTo>
                <a:cubicBezTo>
                  <a:pt x="43" y="29"/>
                  <a:pt x="55" y="19"/>
                  <a:pt x="68" y="11"/>
                </a:cubicBezTo>
                <a:cubicBezTo>
                  <a:pt x="81" y="4"/>
                  <a:pt x="95" y="0"/>
                  <a:pt x="110" y="0"/>
                </a:cubicBezTo>
                <a:lnTo>
                  <a:pt x="8522" y="0"/>
                </a:lnTo>
                <a:cubicBezTo>
                  <a:pt x="8532" y="0"/>
                  <a:pt x="8541" y="1"/>
                  <a:pt x="8551" y="3"/>
                </a:cubicBezTo>
                <a:cubicBezTo>
                  <a:pt x="8560" y="5"/>
                  <a:pt x="8569" y="8"/>
                  <a:pt x="8578" y="11"/>
                </a:cubicBezTo>
                <a:cubicBezTo>
                  <a:pt x="8587" y="15"/>
                  <a:pt x="8595" y="20"/>
                  <a:pt x="8603" y="25"/>
                </a:cubicBezTo>
                <a:cubicBezTo>
                  <a:pt x="8611" y="30"/>
                  <a:pt x="8619" y="36"/>
                  <a:pt x="8625" y="43"/>
                </a:cubicBezTo>
                <a:cubicBezTo>
                  <a:pt x="8632" y="50"/>
                  <a:pt x="8638" y="57"/>
                  <a:pt x="8644" y="65"/>
                </a:cubicBezTo>
                <a:cubicBezTo>
                  <a:pt x="8649" y="73"/>
                  <a:pt x="8653" y="82"/>
                  <a:pt x="8657" y="90"/>
                </a:cubicBezTo>
                <a:cubicBezTo>
                  <a:pt x="8661" y="99"/>
                  <a:pt x="8664" y="108"/>
                  <a:pt x="8665" y="118"/>
                </a:cubicBezTo>
                <a:cubicBezTo>
                  <a:pt x="8667" y="127"/>
                  <a:pt x="8668" y="137"/>
                  <a:pt x="8668" y="146"/>
                </a:cubicBezTo>
                <a:lnTo>
                  <a:pt x="8668" y="877"/>
                </a:lnTo>
                <a:cubicBezTo>
                  <a:pt x="8668" y="887"/>
                  <a:pt x="8667" y="896"/>
                  <a:pt x="8665" y="906"/>
                </a:cubicBezTo>
                <a:cubicBezTo>
                  <a:pt x="8664" y="915"/>
                  <a:pt x="8661" y="924"/>
                  <a:pt x="8657" y="933"/>
                </a:cubicBezTo>
                <a:cubicBezTo>
                  <a:pt x="8653" y="942"/>
                  <a:pt x="8649" y="950"/>
                  <a:pt x="8644" y="958"/>
                </a:cubicBezTo>
                <a:cubicBezTo>
                  <a:pt x="8638" y="966"/>
                  <a:pt x="8632" y="974"/>
                  <a:pt x="8625" y="980"/>
                </a:cubicBezTo>
                <a:cubicBezTo>
                  <a:pt x="8619" y="987"/>
                  <a:pt x="8611" y="993"/>
                  <a:pt x="8603" y="999"/>
                </a:cubicBezTo>
                <a:cubicBezTo>
                  <a:pt x="8595" y="1004"/>
                  <a:pt x="8587" y="1008"/>
                  <a:pt x="8578" y="1012"/>
                </a:cubicBezTo>
                <a:cubicBezTo>
                  <a:pt x="8569" y="1016"/>
                  <a:pt x="8560" y="1018"/>
                  <a:pt x="8551" y="1020"/>
                </a:cubicBezTo>
                <a:cubicBezTo>
                  <a:pt x="8541" y="1022"/>
                  <a:pt x="8532" y="1023"/>
                  <a:pt x="8522" y="1023"/>
                </a:cubicBezTo>
                <a:lnTo>
                  <a:pt x="110" y="1023"/>
                </a:lnTo>
                <a:cubicBezTo>
                  <a:pt x="95" y="1023"/>
                  <a:pt x="81" y="1019"/>
                  <a:pt x="68" y="1012"/>
                </a:cubicBezTo>
                <a:cubicBezTo>
                  <a:pt x="55" y="1005"/>
                  <a:pt x="43" y="994"/>
                  <a:pt x="33" y="980"/>
                </a:cubicBezTo>
                <a:cubicBezTo>
                  <a:pt x="22" y="967"/>
                  <a:pt x="14" y="951"/>
                  <a:pt x="9" y="933"/>
                </a:cubicBezTo>
                <a:cubicBezTo>
                  <a:pt x="3" y="915"/>
                  <a:pt x="0" y="897"/>
                  <a:pt x="0" y="877"/>
                </a:cubicBezTo>
                <a:close/>
              </a:path>
            </a:pathLst>
          </a:custGeom>
          <a:solidFill>
            <a:srgbClr val="dbea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59" name=""/>
          <p:cNvSpPr/>
          <p:nvPr/>
        </p:nvSpPr>
        <p:spPr>
          <a:xfrm>
            <a:off x="5064120" y="2198160"/>
            <a:ext cx="52920" cy="368280"/>
          </a:xfrm>
          <a:custGeom>
            <a:avLst/>
            <a:gdLst/>
            <a:ahLst/>
            <a:rect l="0" t="0" r="r" b="b"/>
            <a:pathLst>
              <a:path w="147" h="1023">
                <a:moveTo>
                  <a:pt x="0" y="0"/>
                </a:moveTo>
                <a:lnTo>
                  <a:pt x="147" y="0"/>
                </a:lnTo>
                <a:lnTo>
                  <a:pt x="147" y="1023"/>
                </a:lnTo>
                <a:lnTo>
                  <a:pt x="0" y="1023"/>
                </a:lnTo>
                <a:lnTo>
                  <a:pt x="0" y="0"/>
                </a:lnTo>
                <a:close/>
              </a:path>
            </a:pathLst>
          </a:custGeom>
          <a:solidFill>
            <a:srgbClr val="3b82f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660" name="" descr=""/>
          <p:cNvPicPr/>
          <p:nvPr/>
        </p:nvPicPr>
        <p:blipFill>
          <a:blip r:embed="rId7"/>
          <a:stretch/>
        </p:blipFill>
        <p:spPr>
          <a:xfrm>
            <a:off x="5064480" y="687600"/>
            <a:ext cx="98280" cy="131040"/>
          </a:xfrm>
          <a:prstGeom prst="rect">
            <a:avLst/>
          </a:prstGeom>
          <a:noFill/>
          <a:ln w="0">
            <a:noFill/>
          </a:ln>
        </p:spPr>
      </p:pic>
      <p:sp>
        <p:nvSpPr>
          <p:cNvPr id="661" name=""/>
          <p:cNvSpPr txBox="1"/>
          <p:nvPr/>
        </p:nvSpPr>
        <p:spPr>
          <a:xfrm>
            <a:off x="3359520" y="2379240"/>
            <a:ext cx="119592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手技料と薬剤料を別々に算定</a:t>
            </a:r>
            <a:endParaRPr b="0" lang="en-US" sz="730" strike="noStrike" u="none">
              <a:solidFill>
                <a:srgbClr val="000000"/>
              </a:solidFill>
              <a:effectLst/>
              <a:uFillTx/>
              <a:latin typeface="Times New Roman"/>
            </a:endParaRPr>
          </a:p>
        </p:txBody>
      </p:sp>
      <p:pic>
        <p:nvPicPr>
          <p:cNvPr id="662" name="" descr=""/>
          <p:cNvPicPr/>
          <p:nvPr/>
        </p:nvPicPr>
        <p:blipFill>
          <a:blip r:embed="rId8"/>
          <a:stretch/>
        </p:blipFill>
        <p:spPr>
          <a:xfrm>
            <a:off x="5142960" y="1009440"/>
            <a:ext cx="104760" cy="104760"/>
          </a:xfrm>
          <a:prstGeom prst="rect">
            <a:avLst/>
          </a:prstGeom>
          <a:noFill/>
          <a:ln w="0">
            <a:noFill/>
          </a:ln>
        </p:spPr>
      </p:pic>
      <p:sp>
        <p:nvSpPr>
          <p:cNvPr id="663" name=""/>
          <p:cNvSpPr txBox="1"/>
          <p:nvPr/>
        </p:nvSpPr>
        <p:spPr>
          <a:xfrm>
            <a:off x="5216760" y="672840"/>
            <a:ext cx="1460880" cy="166320"/>
          </a:xfrm>
          <a:prstGeom prst="rect">
            <a:avLst/>
          </a:prstGeom>
          <a:noFill/>
          <a:ln w="0">
            <a:noFill/>
          </a:ln>
        </p:spPr>
        <p:txBody>
          <a:bodyPr wrap="none" lIns="0" rIns="0" tIns="0" bIns="0" anchor="t">
            <a:spAutoFit/>
          </a:bodyPr>
          <a:p>
            <a:r>
              <a:rPr b="0" lang="zh-CN" sz="1030" strike="noStrike" u="none">
                <a:solidFill>
                  <a:srgbClr val="047857"/>
                </a:solidFill>
                <a:effectLst/>
                <a:uFillTx/>
                <a:latin typeface="WenQuanYiZenHei"/>
                <a:ea typeface="WenQuanYiZenHei"/>
              </a:rPr>
              <a:t>算定漏れ防止のポイント</a:t>
            </a:r>
            <a:endParaRPr b="0" lang="en-US" sz="1030" strike="noStrike" u="none">
              <a:solidFill>
                <a:srgbClr val="000000"/>
              </a:solidFill>
              <a:effectLst/>
              <a:uFillTx/>
              <a:latin typeface="Times New Roman"/>
            </a:endParaRPr>
          </a:p>
        </p:txBody>
      </p:sp>
      <p:pic>
        <p:nvPicPr>
          <p:cNvPr id="664" name="" descr=""/>
          <p:cNvPicPr/>
          <p:nvPr/>
        </p:nvPicPr>
        <p:blipFill>
          <a:blip r:embed="rId9"/>
          <a:stretch/>
        </p:blipFill>
        <p:spPr>
          <a:xfrm>
            <a:off x="5142960" y="1233000"/>
            <a:ext cx="104760" cy="104760"/>
          </a:xfrm>
          <a:prstGeom prst="rect">
            <a:avLst/>
          </a:prstGeom>
          <a:noFill/>
          <a:ln w="0">
            <a:noFill/>
          </a:ln>
        </p:spPr>
      </p:pic>
      <p:sp>
        <p:nvSpPr>
          <p:cNvPr id="665" name=""/>
          <p:cNvSpPr txBox="1"/>
          <p:nvPr/>
        </p:nvSpPr>
        <p:spPr>
          <a:xfrm>
            <a:off x="5302080" y="986760"/>
            <a:ext cx="175320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詳細な問診と診察による適切な病名の選択</a:t>
            </a:r>
            <a:endParaRPr b="0" lang="en-US" sz="730" strike="noStrike" u="none">
              <a:solidFill>
                <a:srgbClr val="000000"/>
              </a:solidFill>
              <a:effectLst/>
              <a:uFillTx/>
              <a:latin typeface="Times New Roman"/>
            </a:endParaRPr>
          </a:p>
        </p:txBody>
      </p:sp>
      <p:pic>
        <p:nvPicPr>
          <p:cNvPr id="666" name="" descr=""/>
          <p:cNvPicPr/>
          <p:nvPr/>
        </p:nvPicPr>
        <p:blipFill>
          <a:blip r:embed="rId10"/>
          <a:stretch/>
        </p:blipFill>
        <p:spPr>
          <a:xfrm>
            <a:off x="5142960" y="1456200"/>
            <a:ext cx="104760" cy="104760"/>
          </a:xfrm>
          <a:prstGeom prst="rect">
            <a:avLst/>
          </a:prstGeom>
          <a:noFill/>
          <a:ln w="0">
            <a:noFill/>
          </a:ln>
        </p:spPr>
      </p:pic>
      <p:sp>
        <p:nvSpPr>
          <p:cNvPr id="667" name=""/>
          <p:cNvSpPr txBox="1"/>
          <p:nvPr/>
        </p:nvSpPr>
        <p:spPr>
          <a:xfrm>
            <a:off x="5302080" y="1209960"/>
            <a:ext cx="165744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必要な検査の積極的な実施と正確な記録</a:t>
            </a:r>
            <a:endParaRPr b="0" lang="en-US" sz="730" strike="noStrike" u="none">
              <a:solidFill>
                <a:srgbClr val="000000"/>
              </a:solidFill>
              <a:effectLst/>
              <a:uFillTx/>
              <a:latin typeface="Times New Roman"/>
            </a:endParaRPr>
          </a:p>
        </p:txBody>
      </p:sp>
      <p:pic>
        <p:nvPicPr>
          <p:cNvPr id="668" name="" descr=""/>
          <p:cNvPicPr/>
          <p:nvPr/>
        </p:nvPicPr>
        <p:blipFill>
          <a:blip r:embed="rId11"/>
          <a:stretch/>
        </p:blipFill>
        <p:spPr>
          <a:xfrm>
            <a:off x="5142960" y="1679400"/>
            <a:ext cx="104760" cy="104760"/>
          </a:xfrm>
          <a:prstGeom prst="rect">
            <a:avLst/>
          </a:prstGeom>
          <a:noFill/>
          <a:ln w="0">
            <a:noFill/>
          </a:ln>
        </p:spPr>
      </p:pic>
      <p:sp>
        <p:nvSpPr>
          <p:cNvPr id="669" name=""/>
          <p:cNvSpPr txBox="1"/>
          <p:nvPr/>
        </p:nvSpPr>
        <p:spPr>
          <a:xfrm>
            <a:off x="5302080" y="1433520"/>
            <a:ext cx="119592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検査目的や部位の明確な記載</a:t>
            </a:r>
            <a:endParaRPr b="0" lang="en-US" sz="730" strike="noStrike" u="none">
              <a:solidFill>
                <a:srgbClr val="000000"/>
              </a:solidFill>
              <a:effectLst/>
              <a:uFillTx/>
              <a:latin typeface="Times New Roman"/>
            </a:endParaRPr>
          </a:p>
        </p:txBody>
      </p:sp>
      <p:pic>
        <p:nvPicPr>
          <p:cNvPr id="670" name="" descr=""/>
          <p:cNvPicPr/>
          <p:nvPr/>
        </p:nvPicPr>
        <p:blipFill>
          <a:blip r:embed="rId12"/>
          <a:stretch/>
        </p:blipFill>
        <p:spPr>
          <a:xfrm>
            <a:off x="5142960" y="1902960"/>
            <a:ext cx="104760" cy="104760"/>
          </a:xfrm>
          <a:prstGeom prst="rect">
            <a:avLst/>
          </a:prstGeom>
          <a:noFill/>
          <a:ln w="0">
            <a:noFill/>
          </a:ln>
        </p:spPr>
      </p:pic>
      <p:sp>
        <p:nvSpPr>
          <p:cNvPr id="671" name=""/>
          <p:cNvSpPr txBox="1"/>
          <p:nvPr/>
        </p:nvSpPr>
        <p:spPr>
          <a:xfrm>
            <a:off x="5302080" y="1656720"/>
            <a:ext cx="119376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処置・指導内容の詳細な記録</a:t>
            </a:r>
            <a:endParaRPr b="0" lang="en-US" sz="730" strike="noStrike" u="none">
              <a:solidFill>
                <a:srgbClr val="000000"/>
              </a:solidFill>
              <a:effectLst/>
              <a:uFillTx/>
              <a:latin typeface="Times New Roman"/>
            </a:endParaRPr>
          </a:p>
        </p:txBody>
      </p:sp>
      <p:sp>
        <p:nvSpPr>
          <p:cNvPr id="672" name=""/>
          <p:cNvSpPr txBox="1"/>
          <p:nvPr/>
        </p:nvSpPr>
        <p:spPr>
          <a:xfrm>
            <a:off x="5302080" y="1879920"/>
            <a:ext cx="1474560" cy="116280"/>
          </a:xfrm>
          <a:prstGeom prst="rect">
            <a:avLst/>
          </a:prstGeom>
          <a:noFill/>
          <a:ln w="0">
            <a:noFill/>
          </a:ln>
        </p:spPr>
        <p:txBody>
          <a:bodyPr wrap="none" lIns="0" rIns="0" tIns="0" bIns="0" anchor="t">
            <a:spAutoFit/>
          </a:bodyPr>
          <a:p>
            <a:r>
              <a:rPr b="0" lang="zh-CN" sz="730" strike="noStrike" u="none">
                <a:solidFill>
                  <a:srgbClr val="374151"/>
                </a:solidFill>
                <a:effectLst/>
                <a:uFillTx/>
                <a:latin typeface="WenQuanYiZenHei"/>
                <a:ea typeface="WenQuanYiZenHei"/>
              </a:rPr>
              <a:t>簡単な処置や指導の記録漏れに注意</a:t>
            </a:r>
            <a:endParaRPr b="0" lang="en-US" sz="730" strike="noStrike" u="none">
              <a:solidFill>
                <a:srgbClr val="000000"/>
              </a:solidFill>
              <a:effectLst/>
              <a:uFillTx/>
              <a:latin typeface="Times New Roman"/>
            </a:endParaRPr>
          </a:p>
        </p:txBody>
      </p:sp>
      <p:sp>
        <p:nvSpPr>
          <p:cNvPr id="673" name=""/>
          <p:cNvSpPr txBox="1"/>
          <p:nvPr/>
        </p:nvSpPr>
        <p:spPr>
          <a:xfrm>
            <a:off x="5170680" y="2280240"/>
            <a:ext cx="2949480" cy="99720"/>
          </a:xfrm>
          <a:prstGeom prst="rect">
            <a:avLst/>
          </a:prstGeom>
          <a:noFill/>
          <a:ln w="0">
            <a:noFill/>
          </a:ln>
        </p:spPr>
        <p:txBody>
          <a:bodyPr wrap="none" lIns="0" rIns="0" tIns="0" bIns="0" anchor="t">
            <a:spAutoFit/>
          </a:bodyPr>
          <a:p>
            <a:r>
              <a:rPr b="0" lang="zh-CN" sz="620" strike="noStrike" u="none">
                <a:solidFill>
                  <a:srgbClr val="1e40af"/>
                </a:solidFill>
                <a:effectLst/>
                <a:uFillTx/>
                <a:latin typeface="WenQuanYiZenHei"/>
                <a:ea typeface="WenQuanYiZenHei"/>
              </a:rPr>
              <a:t>正確な診療録記載が算定の基本です。処置や検査の内容、時間、結果を詳細に記録</a:t>
            </a:r>
            <a:endParaRPr b="0" lang="en-US" sz="620" strike="noStrike" u="none">
              <a:solidFill>
                <a:srgbClr val="000000"/>
              </a:solidFill>
              <a:effectLst/>
              <a:uFillTx/>
              <a:latin typeface="Times New Roman"/>
            </a:endParaRPr>
          </a:p>
        </p:txBody>
      </p:sp>
      <p:sp>
        <p:nvSpPr>
          <p:cNvPr id="674" name=""/>
          <p:cNvSpPr/>
          <p:nvPr/>
        </p:nvSpPr>
        <p:spPr>
          <a:xfrm>
            <a:off x="209880" y="3893040"/>
            <a:ext cx="7987680" cy="473040"/>
          </a:xfrm>
          <a:custGeom>
            <a:avLst/>
            <a:gdLst/>
            <a:ahLst/>
            <a:rect l="0" t="0" r="r" b="b"/>
            <a:pathLst>
              <a:path w="22188" h="1314">
                <a:moveTo>
                  <a:pt x="0" y="1169"/>
                </a:moveTo>
                <a:lnTo>
                  <a:pt x="0" y="146"/>
                </a:lnTo>
                <a:cubicBezTo>
                  <a:pt x="0" y="136"/>
                  <a:pt x="1" y="127"/>
                  <a:pt x="3" y="117"/>
                </a:cubicBezTo>
                <a:cubicBezTo>
                  <a:pt x="5" y="108"/>
                  <a:pt x="8" y="99"/>
                  <a:pt x="11" y="90"/>
                </a:cubicBezTo>
                <a:cubicBezTo>
                  <a:pt x="15" y="81"/>
                  <a:pt x="20" y="73"/>
                  <a:pt x="25" y="65"/>
                </a:cubicBezTo>
                <a:cubicBezTo>
                  <a:pt x="30" y="57"/>
                  <a:pt x="36" y="49"/>
                  <a:pt x="43" y="43"/>
                </a:cubicBezTo>
                <a:cubicBezTo>
                  <a:pt x="50" y="36"/>
                  <a:pt x="57" y="30"/>
                  <a:pt x="65" y="24"/>
                </a:cubicBezTo>
                <a:cubicBezTo>
                  <a:pt x="73" y="19"/>
                  <a:pt x="82" y="15"/>
                  <a:pt x="90" y="11"/>
                </a:cubicBezTo>
                <a:cubicBezTo>
                  <a:pt x="99" y="7"/>
                  <a:pt x="108" y="4"/>
                  <a:pt x="118" y="3"/>
                </a:cubicBezTo>
                <a:cubicBezTo>
                  <a:pt x="127" y="1"/>
                  <a:pt x="137" y="0"/>
                  <a:pt x="146" y="0"/>
                </a:cubicBezTo>
                <a:lnTo>
                  <a:pt x="22042" y="0"/>
                </a:lnTo>
                <a:cubicBezTo>
                  <a:pt x="22052" y="0"/>
                  <a:pt x="22061" y="1"/>
                  <a:pt x="22071" y="3"/>
                </a:cubicBezTo>
                <a:cubicBezTo>
                  <a:pt x="22080" y="4"/>
                  <a:pt x="22089" y="7"/>
                  <a:pt x="22098" y="11"/>
                </a:cubicBezTo>
                <a:cubicBezTo>
                  <a:pt x="22107" y="15"/>
                  <a:pt x="22115" y="19"/>
                  <a:pt x="22123" y="24"/>
                </a:cubicBezTo>
                <a:cubicBezTo>
                  <a:pt x="22131" y="30"/>
                  <a:pt x="22139" y="36"/>
                  <a:pt x="22145" y="43"/>
                </a:cubicBezTo>
                <a:cubicBezTo>
                  <a:pt x="22152" y="49"/>
                  <a:pt x="22158" y="57"/>
                  <a:pt x="22164" y="65"/>
                </a:cubicBezTo>
                <a:cubicBezTo>
                  <a:pt x="22169" y="73"/>
                  <a:pt x="22173" y="81"/>
                  <a:pt x="22177" y="90"/>
                </a:cubicBezTo>
                <a:cubicBezTo>
                  <a:pt x="22181" y="99"/>
                  <a:pt x="22184" y="108"/>
                  <a:pt x="22185" y="117"/>
                </a:cubicBezTo>
                <a:cubicBezTo>
                  <a:pt x="22187" y="127"/>
                  <a:pt x="22188" y="136"/>
                  <a:pt x="22188" y="146"/>
                </a:cubicBezTo>
                <a:lnTo>
                  <a:pt x="22188" y="1169"/>
                </a:lnTo>
                <a:cubicBezTo>
                  <a:pt x="22188" y="1178"/>
                  <a:pt x="22187" y="1188"/>
                  <a:pt x="22185" y="1197"/>
                </a:cubicBezTo>
                <a:cubicBezTo>
                  <a:pt x="22184" y="1206"/>
                  <a:pt x="22181" y="1216"/>
                  <a:pt x="22177" y="1224"/>
                </a:cubicBezTo>
                <a:cubicBezTo>
                  <a:pt x="22173" y="1233"/>
                  <a:pt x="22169" y="1242"/>
                  <a:pt x="22164" y="1250"/>
                </a:cubicBezTo>
                <a:cubicBezTo>
                  <a:pt x="22158" y="1258"/>
                  <a:pt x="22152" y="1265"/>
                  <a:pt x="22145" y="1272"/>
                </a:cubicBezTo>
                <a:cubicBezTo>
                  <a:pt x="22139" y="1279"/>
                  <a:pt x="22131" y="1285"/>
                  <a:pt x="22123" y="1290"/>
                </a:cubicBezTo>
                <a:cubicBezTo>
                  <a:pt x="22115" y="1295"/>
                  <a:pt x="22107" y="1300"/>
                  <a:pt x="22098" y="1303"/>
                </a:cubicBezTo>
                <a:cubicBezTo>
                  <a:pt x="22089" y="1307"/>
                  <a:pt x="22080" y="1310"/>
                  <a:pt x="22071" y="1312"/>
                </a:cubicBezTo>
                <a:cubicBezTo>
                  <a:pt x="22061" y="1314"/>
                  <a:pt x="22052" y="1314"/>
                  <a:pt x="22042" y="1314"/>
                </a:cubicBezTo>
                <a:lnTo>
                  <a:pt x="146" y="1314"/>
                </a:lnTo>
                <a:cubicBezTo>
                  <a:pt x="137" y="1314"/>
                  <a:pt x="127" y="1314"/>
                  <a:pt x="118" y="1312"/>
                </a:cubicBezTo>
                <a:cubicBezTo>
                  <a:pt x="108" y="1310"/>
                  <a:pt x="99" y="1307"/>
                  <a:pt x="90" y="1303"/>
                </a:cubicBezTo>
                <a:cubicBezTo>
                  <a:pt x="82" y="1300"/>
                  <a:pt x="73" y="1295"/>
                  <a:pt x="65" y="1290"/>
                </a:cubicBezTo>
                <a:cubicBezTo>
                  <a:pt x="57" y="1285"/>
                  <a:pt x="50" y="1279"/>
                  <a:pt x="43" y="1272"/>
                </a:cubicBezTo>
                <a:cubicBezTo>
                  <a:pt x="36" y="1265"/>
                  <a:pt x="30" y="1258"/>
                  <a:pt x="25" y="1250"/>
                </a:cubicBezTo>
                <a:cubicBezTo>
                  <a:pt x="20" y="1242"/>
                  <a:pt x="15" y="1233"/>
                  <a:pt x="11" y="1224"/>
                </a:cubicBezTo>
                <a:cubicBezTo>
                  <a:pt x="8" y="1216"/>
                  <a:pt x="5" y="1206"/>
                  <a:pt x="3" y="1197"/>
                </a:cubicBezTo>
                <a:cubicBezTo>
                  <a:pt x="1" y="1188"/>
                  <a:pt x="0" y="1178"/>
                  <a:pt x="0" y="1169"/>
                </a:cubicBezTo>
                <a:close/>
              </a:path>
            </a:pathLst>
          </a:custGeom>
          <a:solidFill>
            <a:srgbClr val="ffffff">
              <a:alpha val="8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675" name="" descr=""/>
          <p:cNvPicPr/>
          <p:nvPr/>
        </p:nvPicPr>
        <p:blipFill>
          <a:blip r:embed="rId13"/>
          <a:stretch/>
        </p:blipFill>
        <p:spPr>
          <a:xfrm>
            <a:off x="289080" y="4044240"/>
            <a:ext cx="117720" cy="157320"/>
          </a:xfrm>
          <a:prstGeom prst="rect">
            <a:avLst/>
          </a:prstGeom>
          <a:noFill/>
          <a:ln w="0">
            <a:noFill/>
          </a:ln>
        </p:spPr>
      </p:pic>
      <p:sp>
        <p:nvSpPr>
          <p:cNvPr id="676" name=""/>
          <p:cNvSpPr txBox="1"/>
          <p:nvPr/>
        </p:nvSpPr>
        <p:spPr>
          <a:xfrm>
            <a:off x="5170680" y="2385360"/>
            <a:ext cx="485640" cy="99720"/>
          </a:xfrm>
          <a:prstGeom prst="rect">
            <a:avLst/>
          </a:prstGeom>
          <a:noFill/>
          <a:ln w="0">
            <a:noFill/>
          </a:ln>
        </p:spPr>
        <p:txBody>
          <a:bodyPr wrap="none" lIns="0" rIns="0" tIns="0" bIns="0" anchor="t">
            <a:spAutoFit/>
          </a:bodyPr>
          <a:p>
            <a:r>
              <a:rPr b="0" lang="zh-CN" sz="620" strike="noStrike" u="none">
                <a:solidFill>
                  <a:srgbClr val="1e40af"/>
                </a:solidFill>
                <a:effectLst/>
                <a:uFillTx/>
                <a:latin typeface="WenQuanYiZenHei"/>
                <a:ea typeface="WenQuanYiZenHei"/>
              </a:rPr>
              <a:t>しましょう。</a:t>
            </a:r>
            <a:endParaRPr b="0" lang="en-US" sz="620" strike="noStrike" u="none">
              <a:solidFill>
                <a:srgbClr val="000000"/>
              </a:solidFill>
              <a:effectLst/>
              <a:uFillTx/>
              <a:latin typeface="Times New Roman"/>
            </a:endParaRPr>
          </a:p>
        </p:txBody>
      </p:sp>
      <p:sp>
        <p:nvSpPr>
          <p:cNvPr id="677" name=""/>
          <p:cNvSpPr txBox="1"/>
          <p:nvPr/>
        </p:nvSpPr>
        <p:spPr>
          <a:xfrm>
            <a:off x="486000" y="3989520"/>
            <a:ext cx="1777320" cy="148320"/>
          </a:xfrm>
          <a:prstGeom prst="rect">
            <a:avLst/>
          </a:prstGeom>
          <a:noFill/>
          <a:ln w="0">
            <a:noFill/>
          </a:ln>
        </p:spPr>
        <p:txBody>
          <a:bodyPr wrap="none" lIns="0" rIns="0" tIns="0" bIns="0" anchor="t">
            <a:spAutoFit/>
          </a:bodyPr>
          <a:p>
            <a:r>
              <a:rPr b="0" lang="zh-CN" sz="930" strike="noStrike" u="none">
                <a:solidFill>
                  <a:srgbClr val="374151"/>
                </a:solidFill>
                <a:effectLst/>
                <a:uFillTx/>
                <a:latin typeface="WenQuanYiZenHei"/>
                <a:ea typeface="WenQuanYiZenHei"/>
              </a:rPr>
              <a:t>検査・処置の適切な算定のために</a:t>
            </a:r>
            <a:endParaRPr b="0" lang="en-US" sz="930" strike="noStrike" u="none">
              <a:solidFill>
                <a:srgbClr val="000000"/>
              </a:solidFill>
              <a:effectLst/>
              <a:uFillTx/>
              <a:latin typeface="Times New Roman"/>
            </a:endParaRPr>
          </a:p>
        </p:txBody>
      </p:sp>
      <p:sp>
        <p:nvSpPr>
          <p:cNvPr id="678" name=""/>
          <p:cNvSpPr txBox="1"/>
          <p:nvPr/>
        </p:nvSpPr>
        <p:spPr>
          <a:xfrm>
            <a:off x="486000" y="4165920"/>
            <a:ext cx="6918840" cy="116280"/>
          </a:xfrm>
          <a:prstGeom prst="rect">
            <a:avLst/>
          </a:prstGeom>
          <a:noFill/>
          <a:ln w="0">
            <a:noFill/>
          </a:ln>
        </p:spPr>
        <p:txBody>
          <a:bodyPr wrap="none" lIns="0" rIns="0" tIns="0" bIns="0" anchor="t">
            <a:spAutoFit/>
          </a:bodyPr>
          <a:p>
            <a:r>
              <a:rPr b="0" lang="zh-CN" sz="730" strike="noStrike" u="none">
                <a:solidFill>
                  <a:srgbClr val="4b5563"/>
                </a:solidFill>
                <a:effectLst/>
                <a:uFillTx/>
                <a:latin typeface="WenQuanYiZenHei"/>
                <a:ea typeface="WenQuanYiZenHei"/>
              </a:rPr>
              <a:t>検査・処置の算定には、実施内容の正確な記録と適切な病名登録が不可欠です。特に包括点数と出来高算定の区別に注意し、加算項目の漏れがないようにしましょう。</a:t>
            </a:r>
            <a:endParaRPr b="0" lang="en-US" sz="73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79" name="" descr=""/>
          <p:cNvPicPr/>
          <p:nvPr/>
        </p:nvPicPr>
        <p:blipFill>
          <a:blip r:embed="rId1"/>
          <a:stretch/>
        </p:blipFill>
        <p:spPr>
          <a:xfrm>
            <a:off x="0" y="57240"/>
            <a:ext cx="8407440" cy="4728960"/>
          </a:xfrm>
          <a:prstGeom prst="rect">
            <a:avLst/>
          </a:prstGeom>
          <a:noFill/>
          <a:ln w="0">
            <a:noFill/>
          </a:ln>
        </p:spPr>
      </p:pic>
      <p:pic>
        <p:nvPicPr>
          <p:cNvPr id="680" name="" descr=""/>
          <p:cNvPicPr/>
          <p:nvPr/>
        </p:nvPicPr>
        <p:blipFill>
          <a:blip r:embed="rId2"/>
          <a:stretch/>
        </p:blipFill>
        <p:spPr>
          <a:xfrm>
            <a:off x="6108840" y="-928080"/>
            <a:ext cx="3283920" cy="3283920"/>
          </a:xfrm>
          <a:prstGeom prst="rect">
            <a:avLst/>
          </a:prstGeom>
          <a:noFill/>
          <a:ln w="0">
            <a:noFill/>
          </a:ln>
        </p:spPr>
      </p:pic>
      <p:pic>
        <p:nvPicPr>
          <p:cNvPr id="681" name="" descr=""/>
          <p:cNvPicPr/>
          <p:nvPr/>
        </p:nvPicPr>
        <p:blipFill>
          <a:blip r:embed="rId3"/>
          <a:stretch/>
        </p:blipFill>
        <p:spPr>
          <a:xfrm>
            <a:off x="-657000" y="3144240"/>
            <a:ext cx="2298600" cy="2298600"/>
          </a:xfrm>
          <a:prstGeom prst="rect">
            <a:avLst/>
          </a:prstGeom>
          <a:noFill/>
          <a:ln w="0">
            <a:noFill/>
          </a:ln>
        </p:spPr>
      </p:pic>
      <p:pic>
        <p:nvPicPr>
          <p:cNvPr id="682" name="" descr=""/>
          <p:cNvPicPr/>
          <p:nvPr/>
        </p:nvPicPr>
        <p:blipFill>
          <a:blip r:embed="rId4"/>
          <a:stretch/>
        </p:blipFill>
        <p:spPr>
          <a:xfrm>
            <a:off x="6850800" y="4615560"/>
            <a:ext cx="98280" cy="78480"/>
          </a:xfrm>
          <a:prstGeom prst="rect">
            <a:avLst/>
          </a:prstGeom>
          <a:noFill/>
          <a:ln w="0">
            <a:noFill/>
          </a:ln>
        </p:spPr>
      </p:pic>
      <p:sp>
        <p:nvSpPr>
          <p:cNvPr id="683" name=""/>
          <p:cNvSpPr txBox="1"/>
          <p:nvPr/>
        </p:nvSpPr>
        <p:spPr>
          <a:xfrm>
            <a:off x="6999120" y="4605480"/>
            <a:ext cx="317880" cy="99720"/>
          </a:xfrm>
          <a:prstGeom prst="rect">
            <a:avLst/>
          </a:prstGeom>
          <a:noFill/>
          <a:ln w="0">
            <a:noFill/>
          </a:ln>
        </p:spPr>
        <p:txBody>
          <a:bodyPr wrap="none" lIns="0" rIns="0" tIns="0" bIns="0" anchor="t">
            <a:spAutoFit/>
          </a:bodyPr>
          <a:p>
            <a:r>
              <a:rPr b="0" lang="zh-CN" sz="620" strike="noStrike" u="none">
                <a:solidFill>
                  <a:srgbClr val="6b7280"/>
                </a:solidFill>
                <a:effectLst/>
                <a:uFillTx/>
                <a:latin typeface="WenQuanYiZenHei"/>
                <a:ea typeface="WenQuanYiZenHei"/>
              </a:rPr>
              <a:t>東和病院</a:t>
            </a:r>
            <a:endParaRPr b="0" lang="en-US" sz="620" strike="noStrike" u="none">
              <a:solidFill>
                <a:srgbClr val="000000"/>
              </a:solidFill>
              <a:effectLst/>
              <a:uFillTx/>
              <a:latin typeface="Times New Roman"/>
            </a:endParaRPr>
          </a:p>
        </p:txBody>
      </p:sp>
      <p:sp>
        <p:nvSpPr>
          <p:cNvPr id="684" name=""/>
          <p:cNvSpPr txBox="1"/>
          <p:nvPr/>
        </p:nvSpPr>
        <p:spPr>
          <a:xfrm>
            <a:off x="7314480" y="4608360"/>
            <a:ext cx="78480" cy="91800"/>
          </a:xfrm>
          <a:prstGeom prst="rect">
            <a:avLst/>
          </a:prstGeom>
          <a:noFill/>
          <a:ln w="0">
            <a:noFill/>
          </a:ln>
        </p:spPr>
        <p:txBody>
          <a:bodyPr wrap="none" lIns="0" rIns="0" tIns="0" bIns="0" anchor="t">
            <a:spAutoFit/>
          </a:bodyPr>
          <a:p>
            <a:r>
              <a:rPr b="0" lang="en-US" sz="620" strike="noStrike" u="none">
                <a:solidFill>
                  <a:srgbClr val="6b7280"/>
                </a:solidFill>
                <a:effectLst/>
                <a:uFillTx/>
                <a:latin typeface="DejaVuSans"/>
                <a:ea typeface="DejaVuSans"/>
              </a:rPr>
              <a:t> </a:t>
            </a:r>
            <a:endParaRPr b="0" lang="en-US" sz="620" strike="noStrike" u="none">
              <a:solidFill>
                <a:srgbClr val="000000"/>
              </a:solidFill>
              <a:effectLst/>
              <a:uFillTx/>
              <a:latin typeface="Times New Roman"/>
            </a:endParaRPr>
          </a:p>
        </p:txBody>
      </p:sp>
      <p:sp>
        <p:nvSpPr>
          <p:cNvPr id="685" name=""/>
          <p:cNvSpPr txBox="1"/>
          <p:nvPr/>
        </p:nvSpPr>
        <p:spPr>
          <a:xfrm>
            <a:off x="7339320" y="4605480"/>
            <a:ext cx="555480" cy="99720"/>
          </a:xfrm>
          <a:prstGeom prst="rect">
            <a:avLst/>
          </a:prstGeom>
          <a:noFill/>
          <a:ln w="0">
            <a:noFill/>
          </a:ln>
        </p:spPr>
        <p:txBody>
          <a:bodyPr wrap="none" lIns="0" rIns="0" tIns="0" bIns="0" anchor="t">
            <a:spAutoFit/>
          </a:bodyPr>
          <a:p>
            <a:r>
              <a:rPr b="0" lang="zh-CN" sz="620" strike="noStrike" u="none">
                <a:solidFill>
                  <a:srgbClr val="6b7280"/>
                </a:solidFill>
                <a:effectLst/>
                <a:uFillTx/>
                <a:latin typeface="WenQuanYiZenHei"/>
                <a:ea typeface="WenQuanYiZenHei"/>
              </a:rPr>
              <a:t>保険点数勉強会</a:t>
            </a:r>
            <a:endParaRPr b="0" lang="en-US" sz="620" strike="noStrike" u="none">
              <a:solidFill>
                <a:srgbClr val="000000"/>
              </a:solidFill>
              <a:effectLst/>
              <a:uFillTx/>
              <a:latin typeface="Times New Roman"/>
            </a:endParaRPr>
          </a:p>
        </p:txBody>
      </p:sp>
      <p:sp>
        <p:nvSpPr>
          <p:cNvPr id="686" name=""/>
          <p:cNvSpPr txBox="1"/>
          <p:nvPr/>
        </p:nvSpPr>
        <p:spPr>
          <a:xfrm>
            <a:off x="7943760" y="4608360"/>
            <a:ext cx="78480" cy="91800"/>
          </a:xfrm>
          <a:prstGeom prst="rect">
            <a:avLst/>
          </a:prstGeom>
          <a:noFill/>
          <a:ln w="0">
            <a:noFill/>
          </a:ln>
        </p:spPr>
        <p:txBody>
          <a:bodyPr wrap="none" lIns="0" rIns="0" tIns="0" bIns="0" anchor="t">
            <a:spAutoFit/>
          </a:bodyPr>
          <a:p>
            <a:r>
              <a:rPr b="0" lang="en-US" sz="620" strike="noStrike" u="none">
                <a:solidFill>
                  <a:srgbClr val="6b7280"/>
                </a:solidFill>
                <a:effectLst/>
                <a:uFillTx/>
                <a:latin typeface="DejaVuSans"/>
                <a:ea typeface="DejaVuSans"/>
              </a:rPr>
              <a:t>|</a:t>
            </a:r>
            <a:endParaRPr b="0" lang="en-US" sz="620" strike="noStrike" u="none">
              <a:solidFill>
                <a:srgbClr val="000000"/>
              </a:solidFill>
              <a:effectLst/>
              <a:uFillTx/>
              <a:latin typeface="Times New Roman"/>
            </a:endParaRPr>
          </a:p>
        </p:txBody>
      </p:sp>
      <p:pic>
        <p:nvPicPr>
          <p:cNvPr id="687" name="" descr=""/>
          <p:cNvPicPr/>
          <p:nvPr/>
        </p:nvPicPr>
        <p:blipFill>
          <a:blip r:embed="rId5"/>
          <a:stretch/>
        </p:blipFill>
        <p:spPr>
          <a:xfrm>
            <a:off x="210240" y="529920"/>
            <a:ext cx="630360" cy="25920"/>
          </a:xfrm>
          <a:prstGeom prst="rect">
            <a:avLst/>
          </a:prstGeom>
          <a:noFill/>
          <a:ln w="0">
            <a:noFill/>
          </a:ln>
        </p:spPr>
      </p:pic>
      <p:sp>
        <p:nvSpPr>
          <p:cNvPr id="688" name=""/>
          <p:cNvSpPr txBox="1"/>
          <p:nvPr/>
        </p:nvSpPr>
        <p:spPr>
          <a:xfrm>
            <a:off x="8022960" y="4608360"/>
            <a:ext cx="228960" cy="91800"/>
          </a:xfrm>
          <a:prstGeom prst="rect">
            <a:avLst/>
          </a:prstGeom>
          <a:noFill/>
          <a:ln w="0">
            <a:noFill/>
          </a:ln>
        </p:spPr>
        <p:txBody>
          <a:bodyPr wrap="none" lIns="0" rIns="0" tIns="0" bIns="0" anchor="t">
            <a:spAutoFit/>
          </a:bodyPr>
          <a:p>
            <a:r>
              <a:rPr b="0" lang="en-US" sz="620" strike="noStrike" u="none">
                <a:solidFill>
                  <a:srgbClr val="6b7280"/>
                </a:solidFill>
                <a:effectLst/>
                <a:uFillTx/>
                <a:latin typeface="DejaVuSans"/>
                <a:ea typeface="DejaVuSans"/>
              </a:rPr>
              <a:t>9 / 15</a:t>
            </a:r>
            <a:endParaRPr b="0" lang="en-US" sz="620" strike="noStrike" u="none">
              <a:solidFill>
                <a:srgbClr val="000000"/>
              </a:solidFill>
              <a:effectLst/>
              <a:uFillTx/>
              <a:latin typeface="Times New Roman"/>
            </a:endParaRPr>
          </a:p>
        </p:txBody>
      </p:sp>
      <p:sp>
        <p:nvSpPr>
          <p:cNvPr id="689" name=""/>
          <p:cNvSpPr txBox="1"/>
          <p:nvPr/>
        </p:nvSpPr>
        <p:spPr>
          <a:xfrm>
            <a:off x="210240" y="261360"/>
            <a:ext cx="1774800" cy="247320"/>
          </a:xfrm>
          <a:prstGeom prst="rect">
            <a:avLst/>
          </a:prstGeom>
          <a:noFill/>
          <a:ln w="0">
            <a:noFill/>
          </a:ln>
        </p:spPr>
        <p:txBody>
          <a:bodyPr wrap="none" lIns="0" rIns="0" tIns="0" bIns="0" anchor="t">
            <a:spAutoFit/>
          </a:bodyPr>
          <a:p>
            <a:r>
              <a:rPr b="0" lang="zh-CN" sz="1550" strike="noStrike" u="none">
                <a:solidFill>
                  <a:srgbClr val="1e40af"/>
                </a:solidFill>
                <a:effectLst/>
                <a:uFillTx/>
                <a:latin typeface="WenQuanYiZenHei"/>
                <a:ea typeface="WenQuanYiZenHei"/>
              </a:rPr>
              <a:t>循環器科の保険点数</a:t>
            </a:r>
            <a:endParaRPr b="0" lang="en-US" sz="1550" strike="noStrike" u="none">
              <a:solidFill>
                <a:srgbClr val="000000"/>
              </a:solidFill>
              <a:effectLst/>
              <a:uFillTx/>
              <a:latin typeface="Times New Roman"/>
            </a:endParaRPr>
          </a:p>
        </p:txBody>
      </p:sp>
      <p:sp>
        <p:nvSpPr>
          <p:cNvPr id="690" name=""/>
          <p:cNvSpPr txBox="1"/>
          <p:nvPr/>
        </p:nvSpPr>
        <p:spPr>
          <a:xfrm>
            <a:off x="1990080" y="268560"/>
            <a:ext cx="314280" cy="228960"/>
          </a:xfrm>
          <a:prstGeom prst="rect">
            <a:avLst/>
          </a:prstGeom>
          <a:noFill/>
          <a:ln w="0">
            <a:noFill/>
          </a:ln>
        </p:spPr>
        <p:txBody>
          <a:bodyPr wrap="none" lIns="0" rIns="0" tIns="0" bIns="0" anchor="t">
            <a:spAutoFit/>
          </a:bodyPr>
          <a:p>
            <a:r>
              <a:rPr b="1" lang="en-US" sz="1550" strike="noStrike" u="none">
                <a:solidFill>
                  <a:srgbClr val="1e40af"/>
                </a:solidFill>
                <a:effectLst/>
                <a:uFillTx/>
                <a:latin typeface="DejaVuSans"/>
                <a:ea typeface="DejaVuSans"/>
              </a:rPr>
              <a:t>①: </a:t>
            </a:r>
            <a:endParaRPr b="0" lang="en-US" sz="1550" strike="noStrike" u="none">
              <a:solidFill>
                <a:srgbClr val="000000"/>
              </a:solidFill>
              <a:effectLst/>
              <a:uFillTx/>
              <a:latin typeface="Times New Roman"/>
            </a:endParaRPr>
          </a:p>
        </p:txBody>
      </p:sp>
      <p:sp>
        <p:nvSpPr>
          <p:cNvPr id="691" name=""/>
          <p:cNvSpPr/>
          <p:nvPr/>
        </p:nvSpPr>
        <p:spPr>
          <a:xfrm>
            <a:off x="209880" y="661320"/>
            <a:ext cx="1918440" cy="1103760"/>
          </a:xfrm>
          <a:custGeom>
            <a:avLst/>
            <a:gdLst/>
            <a:ahLst/>
            <a:rect l="0" t="0" r="r" b="b"/>
            <a:pathLst>
              <a:path w="5329" h="3066">
                <a:moveTo>
                  <a:pt x="0" y="2920"/>
                </a:moveTo>
                <a:lnTo>
                  <a:pt x="0" y="146"/>
                </a:lnTo>
                <a:cubicBezTo>
                  <a:pt x="0" y="136"/>
                  <a:pt x="1" y="127"/>
                  <a:pt x="3" y="117"/>
                </a:cubicBezTo>
                <a:cubicBezTo>
                  <a:pt x="5" y="108"/>
                  <a:pt x="8" y="99"/>
                  <a:pt x="11" y="90"/>
                </a:cubicBezTo>
                <a:cubicBezTo>
                  <a:pt x="15" y="81"/>
                  <a:pt x="20" y="73"/>
                  <a:pt x="25" y="65"/>
                </a:cubicBezTo>
                <a:cubicBezTo>
                  <a:pt x="30" y="57"/>
                  <a:pt x="36" y="49"/>
                  <a:pt x="43" y="43"/>
                </a:cubicBezTo>
                <a:cubicBezTo>
                  <a:pt x="50" y="36"/>
                  <a:pt x="57" y="30"/>
                  <a:pt x="65" y="24"/>
                </a:cubicBezTo>
                <a:cubicBezTo>
                  <a:pt x="73" y="19"/>
                  <a:pt x="82" y="15"/>
                  <a:pt x="90" y="11"/>
                </a:cubicBezTo>
                <a:cubicBezTo>
                  <a:pt x="99" y="7"/>
                  <a:pt x="108" y="5"/>
                  <a:pt x="118" y="3"/>
                </a:cubicBezTo>
                <a:cubicBezTo>
                  <a:pt x="127" y="1"/>
                  <a:pt x="137" y="0"/>
                  <a:pt x="146" y="0"/>
                </a:cubicBezTo>
                <a:lnTo>
                  <a:pt x="5183" y="0"/>
                </a:lnTo>
                <a:cubicBezTo>
                  <a:pt x="5193" y="0"/>
                  <a:pt x="5202" y="1"/>
                  <a:pt x="5212" y="3"/>
                </a:cubicBezTo>
                <a:cubicBezTo>
                  <a:pt x="5221" y="5"/>
                  <a:pt x="5230" y="7"/>
                  <a:pt x="5239" y="11"/>
                </a:cubicBezTo>
                <a:cubicBezTo>
                  <a:pt x="5248" y="15"/>
                  <a:pt x="5256" y="19"/>
                  <a:pt x="5264" y="24"/>
                </a:cubicBezTo>
                <a:cubicBezTo>
                  <a:pt x="5272" y="30"/>
                  <a:pt x="5280" y="36"/>
                  <a:pt x="5286" y="43"/>
                </a:cubicBezTo>
                <a:cubicBezTo>
                  <a:pt x="5293" y="49"/>
                  <a:pt x="5299" y="57"/>
                  <a:pt x="5305" y="65"/>
                </a:cubicBezTo>
                <a:cubicBezTo>
                  <a:pt x="5310" y="73"/>
                  <a:pt x="5314" y="81"/>
                  <a:pt x="5318" y="90"/>
                </a:cubicBezTo>
                <a:cubicBezTo>
                  <a:pt x="5322" y="99"/>
                  <a:pt x="5324" y="108"/>
                  <a:pt x="5326" y="117"/>
                </a:cubicBezTo>
                <a:cubicBezTo>
                  <a:pt x="5328" y="127"/>
                  <a:pt x="5329" y="136"/>
                  <a:pt x="5329" y="146"/>
                </a:cubicBezTo>
                <a:lnTo>
                  <a:pt x="5329" y="2920"/>
                </a:lnTo>
                <a:cubicBezTo>
                  <a:pt x="5329" y="2930"/>
                  <a:pt x="5328" y="2939"/>
                  <a:pt x="5326" y="2949"/>
                </a:cubicBezTo>
                <a:cubicBezTo>
                  <a:pt x="5324" y="2958"/>
                  <a:pt x="5322" y="2967"/>
                  <a:pt x="5318" y="2976"/>
                </a:cubicBezTo>
                <a:cubicBezTo>
                  <a:pt x="5314" y="2985"/>
                  <a:pt x="5310" y="2993"/>
                  <a:pt x="5305" y="3001"/>
                </a:cubicBezTo>
                <a:cubicBezTo>
                  <a:pt x="5299" y="3009"/>
                  <a:pt x="5293" y="3017"/>
                  <a:pt x="5286" y="3023"/>
                </a:cubicBezTo>
                <a:cubicBezTo>
                  <a:pt x="5280" y="3030"/>
                  <a:pt x="5272" y="3036"/>
                  <a:pt x="5264" y="3042"/>
                </a:cubicBezTo>
                <a:cubicBezTo>
                  <a:pt x="5256" y="3047"/>
                  <a:pt x="5248" y="3051"/>
                  <a:pt x="5239" y="3055"/>
                </a:cubicBezTo>
                <a:cubicBezTo>
                  <a:pt x="5230" y="3059"/>
                  <a:pt x="5221" y="3061"/>
                  <a:pt x="5212" y="3063"/>
                </a:cubicBezTo>
                <a:cubicBezTo>
                  <a:pt x="5202" y="3065"/>
                  <a:pt x="5193" y="3066"/>
                  <a:pt x="5183" y="3066"/>
                </a:cubicBezTo>
                <a:lnTo>
                  <a:pt x="146" y="3066"/>
                </a:lnTo>
                <a:cubicBezTo>
                  <a:pt x="137" y="3066"/>
                  <a:pt x="127" y="3065"/>
                  <a:pt x="118" y="3063"/>
                </a:cubicBezTo>
                <a:cubicBezTo>
                  <a:pt x="108" y="3061"/>
                  <a:pt x="99" y="3059"/>
                  <a:pt x="90" y="3055"/>
                </a:cubicBezTo>
                <a:cubicBezTo>
                  <a:pt x="82" y="3051"/>
                  <a:pt x="73" y="3047"/>
                  <a:pt x="65" y="3042"/>
                </a:cubicBezTo>
                <a:cubicBezTo>
                  <a:pt x="57" y="3036"/>
                  <a:pt x="50" y="3030"/>
                  <a:pt x="43" y="3023"/>
                </a:cubicBezTo>
                <a:cubicBezTo>
                  <a:pt x="36" y="3017"/>
                  <a:pt x="30" y="3009"/>
                  <a:pt x="25" y="3001"/>
                </a:cubicBezTo>
                <a:cubicBezTo>
                  <a:pt x="20" y="2993"/>
                  <a:pt x="15" y="2985"/>
                  <a:pt x="11" y="2976"/>
                </a:cubicBezTo>
                <a:cubicBezTo>
                  <a:pt x="8" y="2967"/>
                  <a:pt x="5" y="2958"/>
                  <a:pt x="3" y="2949"/>
                </a:cubicBezTo>
                <a:cubicBezTo>
                  <a:pt x="1" y="2939"/>
                  <a:pt x="0" y="2930"/>
                  <a:pt x="0" y="2920"/>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92" name=""/>
          <p:cNvSpPr/>
          <p:nvPr/>
        </p:nvSpPr>
        <p:spPr>
          <a:xfrm>
            <a:off x="209880" y="1869840"/>
            <a:ext cx="1918440" cy="1182600"/>
          </a:xfrm>
          <a:custGeom>
            <a:avLst/>
            <a:gdLst/>
            <a:ahLst/>
            <a:rect l="0" t="0" r="r" b="b"/>
            <a:pathLst>
              <a:path w="5329" h="3285">
                <a:moveTo>
                  <a:pt x="0" y="3139"/>
                </a:moveTo>
                <a:lnTo>
                  <a:pt x="0" y="146"/>
                </a:lnTo>
                <a:cubicBezTo>
                  <a:pt x="0" y="136"/>
                  <a:pt x="1" y="127"/>
                  <a:pt x="3" y="118"/>
                </a:cubicBezTo>
                <a:cubicBezTo>
                  <a:pt x="5" y="108"/>
                  <a:pt x="8" y="99"/>
                  <a:pt x="11" y="90"/>
                </a:cubicBezTo>
                <a:cubicBezTo>
                  <a:pt x="15" y="81"/>
                  <a:pt x="20" y="73"/>
                  <a:pt x="25" y="65"/>
                </a:cubicBezTo>
                <a:cubicBezTo>
                  <a:pt x="30" y="57"/>
                  <a:pt x="36" y="50"/>
                  <a:pt x="43" y="43"/>
                </a:cubicBezTo>
                <a:cubicBezTo>
                  <a:pt x="50" y="36"/>
                  <a:pt x="57" y="30"/>
                  <a:pt x="65" y="25"/>
                </a:cubicBezTo>
                <a:cubicBezTo>
                  <a:pt x="73" y="19"/>
                  <a:pt x="82" y="15"/>
                  <a:pt x="90" y="11"/>
                </a:cubicBezTo>
                <a:cubicBezTo>
                  <a:pt x="99" y="8"/>
                  <a:pt x="108" y="5"/>
                  <a:pt x="118" y="3"/>
                </a:cubicBezTo>
                <a:cubicBezTo>
                  <a:pt x="127" y="1"/>
                  <a:pt x="137" y="0"/>
                  <a:pt x="146" y="0"/>
                </a:cubicBezTo>
                <a:lnTo>
                  <a:pt x="5183" y="0"/>
                </a:lnTo>
                <a:cubicBezTo>
                  <a:pt x="5193" y="0"/>
                  <a:pt x="5202" y="1"/>
                  <a:pt x="5212" y="3"/>
                </a:cubicBezTo>
                <a:cubicBezTo>
                  <a:pt x="5221" y="5"/>
                  <a:pt x="5230" y="8"/>
                  <a:pt x="5239" y="11"/>
                </a:cubicBezTo>
                <a:cubicBezTo>
                  <a:pt x="5248" y="15"/>
                  <a:pt x="5256" y="19"/>
                  <a:pt x="5264" y="25"/>
                </a:cubicBezTo>
                <a:cubicBezTo>
                  <a:pt x="5272" y="30"/>
                  <a:pt x="5280" y="36"/>
                  <a:pt x="5286" y="43"/>
                </a:cubicBezTo>
                <a:cubicBezTo>
                  <a:pt x="5293" y="50"/>
                  <a:pt x="5299" y="57"/>
                  <a:pt x="5305" y="65"/>
                </a:cubicBezTo>
                <a:cubicBezTo>
                  <a:pt x="5310" y="73"/>
                  <a:pt x="5314" y="81"/>
                  <a:pt x="5318" y="90"/>
                </a:cubicBezTo>
                <a:cubicBezTo>
                  <a:pt x="5322" y="99"/>
                  <a:pt x="5324" y="108"/>
                  <a:pt x="5326" y="118"/>
                </a:cubicBezTo>
                <a:cubicBezTo>
                  <a:pt x="5328" y="127"/>
                  <a:pt x="5329" y="136"/>
                  <a:pt x="5329" y="146"/>
                </a:cubicBezTo>
                <a:lnTo>
                  <a:pt x="5329" y="3139"/>
                </a:lnTo>
                <a:cubicBezTo>
                  <a:pt x="5329" y="3149"/>
                  <a:pt x="5328" y="3158"/>
                  <a:pt x="5326" y="3168"/>
                </a:cubicBezTo>
                <a:cubicBezTo>
                  <a:pt x="5324" y="3177"/>
                  <a:pt x="5322" y="3186"/>
                  <a:pt x="5318" y="3195"/>
                </a:cubicBezTo>
                <a:cubicBezTo>
                  <a:pt x="5314" y="3204"/>
                  <a:pt x="5310" y="3212"/>
                  <a:pt x="5305" y="3220"/>
                </a:cubicBezTo>
                <a:cubicBezTo>
                  <a:pt x="5299" y="3228"/>
                  <a:pt x="5293" y="3236"/>
                  <a:pt x="5286" y="3243"/>
                </a:cubicBezTo>
                <a:cubicBezTo>
                  <a:pt x="5280" y="3249"/>
                  <a:pt x="5272" y="3255"/>
                  <a:pt x="5264" y="3261"/>
                </a:cubicBezTo>
                <a:cubicBezTo>
                  <a:pt x="5256" y="3266"/>
                  <a:pt x="5248" y="3271"/>
                  <a:pt x="5239" y="3274"/>
                </a:cubicBezTo>
                <a:cubicBezTo>
                  <a:pt x="5230" y="3278"/>
                  <a:pt x="5221" y="3281"/>
                  <a:pt x="5212" y="3283"/>
                </a:cubicBezTo>
                <a:cubicBezTo>
                  <a:pt x="5202" y="3284"/>
                  <a:pt x="5193" y="3285"/>
                  <a:pt x="5183" y="3285"/>
                </a:cubicBezTo>
                <a:lnTo>
                  <a:pt x="146" y="3285"/>
                </a:lnTo>
                <a:cubicBezTo>
                  <a:pt x="137" y="3285"/>
                  <a:pt x="127" y="3284"/>
                  <a:pt x="118" y="3283"/>
                </a:cubicBezTo>
                <a:cubicBezTo>
                  <a:pt x="108" y="3281"/>
                  <a:pt x="99" y="3278"/>
                  <a:pt x="90" y="3274"/>
                </a:cubicBezTo>
                <a:cubicBezTo>
                  <a:pt x="82" y="3271"/>
                  <a:pt x="73" y="3266"/>
                  <a:pt x="65" y="3261"/>
                </a:cubicBezTo>
                <a:cubicBezTo>
                  <a:pt x="57" y="3255"/>
                  <a:pt x="50" y="3249"/>
                  <a:pt x="43" y="3243"/>
                </a:cubicBezTo>
                <a:cubicBezTo>
                  <a:pt x="36" y="3236"/>
                  <a:pt x="30" y="3228"/>
                  <a:pt x="25" y="3220"/>
                </a:cubicBezTo>
                <a:cubicBezTo>
                  <a:pt x="20" y="3212"/>
                  <a:pt x="15" y="3204"/>
                  <a:pt x="11" y="3195"/>
                </a:cubicBezTo>
                <a:cubicBezTo>
                  <a:pt x="8" y="3186"/>
                  <a:pt x="5" y="3177"/>
                  <a:pt x="3" y="3168"/>
                </a:cubicBezTo>
                <a:cubicBezTo>
                  <a:pt x="1" y="3158"/>
                  <a:pt x="0" y="3149"/>
                  <a:pt x="0" y="3139"/>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693" name="" descr=""/>
          <p:cNvPicPr/>
          <p:nvPr/>
        </p:nvPicPr>
        <p:blipFill>
          <a:blip r:embed="rId6"/>
          <a:stretch/>
        </p:blipFill>
        <p:spPr>
          <a:xfrm>
            <a:off x="1070640" y="753480"/>
            <a:ext cx="196560" cy="196560"/>
          </a:xfrm>
          <a:prstGeom prst="rect">
            <a:avLst/>
          </a:prstGeom>
          <a:noFill/>
          <a:ln w="0">
            <a:noFill/>
          </a:ln>
        </p:spPr>
      </p:pic>
      <p:sp>
        <p:nvSpPr>
          <p:cNvPr id="694" name=""/>
          <p:cNvSpPr txBox="1"/>
          <p:nvPr/>
        </p:nvSpPr>
        <p:spPr>
          <a:xfrm>
            <a:off x="2304360" y="261360"/>
            <a:ext cx="393840" cy="247320"/>
          </a:xfrm>
          <a:prstGeom prst="rect">
            <a:avLst/>
          </a:prstGeom>
          <a:noFill/>
          <a:ln w="0">
            <a:noFill/>
          </a:ln>
        </p:spPr>
        <p:txBody>
          <a:bodyPr wrap="none" lIns="0" rIns="0" tIns="0" bIns="0" anchor="t">
            <a:spAutoFit/>
          </a:bodyPr>
          <a:p>
            <a:r>
              <a:rPr b="0" lang="zh-CN" sz="1550" strike="noStrike" u="none">
                <a:solidFill>
                  <a:srgbClr val="1e40af"/>
                </a:solidFill>
                <a:effectLst/>
                <a:uFillTx/>
                <a:latin typeface="WenQuanYiZenHei"/>
                <a:ea typeface="WenQuanYiZenHei"/>
              </a:rPr>
              <a:t>検査</a:t>
            </a:r>
            <a:endParaRPr b="0" lang="en-US" sz="1550" strike="noStrike" u="none">
              <a:solidFill>
                <a:srgbClr val="000000"/>
              </a:solidFill>
              <a:effectLst/>
              <a:uFillTx/>
              <a:latin typeface="Times New Roman"/>
            </a:endParaRPr>
          </a:p>
        </p:txBody>
      </p:sp>
      <p:sp>
        <p:nvSpPr>
          <p:cNvPr id="695" name=""/>
          <p:cNvSpPr txBox="1"/>
          <p:nvPr/>
        </p:nvSpPr>
        <p:spPr>
          <a:xfrm>
            <a:off x="289080" y="1046880"/>
            <a:ext cx="1176840" cy="148320"/>
          </a:xfrm>
          <a:prstGeom prst="rect">
            <a:avLst/>
          </a:prstGeom>
          <a:noFill/>
          <a:ln w="0">
            <a:noFill/>
          </a:ln>
        </p:spPr>
        <p:txBody>
          <a:bodyPr wrap="none" lIns="0" rIns="0" tIns="0" bIns="0" anchor="t">
            <a:spAutoFit/>
          </a:bodyPr>
          <a:p>
            <a:r>
              <a:rPr b="0" lang="zh-CN" sz="930" strike="noStrike" u="none">
                <a:solidFill>
                  <a:srgbClr val="b91c1c"/>
                </a:solidFill>
                <a:effectLst/>
                <a:uFillTx/>
                <a:latin typeface="WenQuanYiZenHei"/>
                <a:ea typeface="WenQuanYiZenHei"/>
              </a:rPr>
              <a:t>循環器科検査の重要性</a:t>
            </a:r>
            <a:endParaRPr b="0" lang="en-US" sz="930" strike="noStrike" u="none">
              <a:solidFill>
                <a:srgbClr val="000000"/>
              </a:solidFill>
              <a:effectLst/>
              <a:uFillTx/>
              <a:latin typeface="Times New Roman"/>
            </a:endParaRPr>
          </a:p>
        </p:txBody>
      </p:sp>
      <p:sp>
        <p:nvSpPr>
          <p:cNvPr id="696" name=""/>
          <p:cNvSpPr txBox="1"/>
          <p:nvPr/>
        </p:nvSpPr>
        <p:spPr>
          <a:xfrm>
            <a:off x="289080" y="1268640"/>
            <a:ext cx="1677960" cy="99720"/>
          </a:xfrm>
          <a:prstGeom prst="rect">
            <a:avLst/>
          </a:prstGeom>
          <a:noFill/>
          <a:ln w="0">
            <a:noFill/>
          </a:ln>
        </p:spPr>
        <p:txBody>
          <a:bodyPr wrap="none" lIns="0" rIns="0" tIns="0" bIns="0" anchor="t">
            <a:spAutoFit/>
          </a:bodyPr>
          <a:p>
            <a:r>
              <a:rPr b="0" lang="zh-CN" sz="620" strike="noStrike" u="none">
                <a:solidFill>
                  <a:srgbClr val="374151"/>
                </a:solidFill>
                <a:effectLst/>
                <a:uFillTx/>
                <a:latin typeface="WenQuanYiZenHei"/>
                <a:ea typeface="WenQuanYiZenHei"/>
              </a:rPr>
              <a:t>心臓や血管の疾患に対する検査は、専門性が高</a:t>
            </a:r>
            <a:endParaRPr b="0" lang="en-US" sz="620" strike="noStrike" u="none">
              <a:solidFill>
                <a:srgbClr val="000000"/>
              </a:solidFill>
              <a:effectLst/>
              <a:uFillTx/>
              <a:latin typeface="Times New Roman"/>
            </a:endParaRPr>
          </a:p>
        </p:txBody>
      </p:sp>
      <p:sp>
        <p:nvSpPr>
          <p:cNvPr id="697" name=""/>
          <p:cNvSpPr txBox="1"/>
          <p:nvPr/>
        </p:nvSpPr>
        <p:spPr>
          <a:xfrm>
            <a:off x="289080" y="1373760"/>
            <a:ext cx="1757160" cy="99720"/>
          </a:xfrm>
          <a:prstGeom prst="rect">
            <a:avLst/>
          </a:prstGeom>
          <a:noFill/>
          <a:ln w="0">
            <a:noFill/>
          </a:ln>
        </p:spPr>
        <p:txBody>
          <a:bodyPr wrap="none" lIns="0" rIns="0" tIns="0" bIns="0" anchor="t">
            <a:spAutoFit/>
          </a:bodyPr>
          <a:p>
            <a:r>
              <a:rPr b="0" lang="zh-CN" sz="620" strike="noStrike" u="none">
                <a:solidFill>
                  <a:srgbClr val="374151"/>
                </a:solidFill>
                <a:effectLst/>
                <a:uFillTx/>
                <a:latin typeface="WenQuanYiZenHei"/>
                <a:ea typeface="WenQuanYiZenHei"/>
              </a:rPr>
              <a:t>く、診断や治療方針の決定に不可欠です。適切な</a:t>
            </a:r>
            <a:endParaRPr b="0" lang="en-US" sz="620" strike="noStrike" u="none">
              <a:solidFill>
                <a:srgbClr val="000000"/>
              </a:solidFill>
              <a:effectLst/>
              <a:uFillTx/>
              <a:latin typeface="Times New Roman"/>
            </a:endParaRPr>
          </a:p>
        </p:txBody>
      </p:sp>
      <p:sp>
        <p:nvSpPr>
          <p:cNvPr id="698" name=""/>
          <p:cNvSpPr txBox="1"/>
          <p:nvPr/>
        </p:nvSpPr>
        <p:spPr>
          <a:xfrm>
            <a:off x="289080" y="1478880"/>
            <a:ext cx="1760760" cy="99720"/>
          </a:xfrm>
          <a:prstGeom prst="rect">
            <a:avLst/>
          </a:prstGeom>
          <a:noFill/>
          <a:ln w="0">
            <a:noFill/>
          </a:ln>
        </p:spPr>
        <p:txBody>
          <a:bodyPr wrap="none" lIns="0" rIns="0" tIns="0" bIns="0" anchor="t">
            <a:spAutoFit/>
          </a:bodyPr>
          <a:p>
            <a:r>
              <a:rPr b="0" lang="zh-CN" sz="620" strike="noStrike" u="none">
                <a:solidFill>
                  <a:srgbClr val="374151"/>
                </a:solidFill>
                <a:effectLst/>
                <a:uFillTx/>
                <a:latin typeface="WenQuanYiZenHei"/>
                <a:ea typeface="WenQuanYiZenHei"/>
              </a:rPr>
              <a:t>検査の選択と算定により、質の高い医療と適正な</a:t>
            </a:r>
            <a:endParaRPr b="0" lang="en-US" sz="620" strike="noStrike" u="none">
              <a:solidFill>
                <a:srgbClr val="000000"/>
              </a:solidFill>
              <a:effectLst/>
              <a:uFillTx/>
              <a:latin typeface="Times New Roman"/>
            </a:endParaRPr>
          </a:p>
        </p:txBody>
      </p:sp>
      <p:pic>
        <p:nvPicPr>
          <p:cNvPr id="699" name="" descr=""/>
          <p:cNvPicPr/>
          <p:nvPr/>
        </p:nvPicPr>
        <p:blipFill>
          <a:blip r:embed="rId7"/>
          <a:stretch/>
        </p:blipFill>
        <p:spPr>
          <a:xfrm>
            <a:off x="1070640" y="1962000"/>
            <a:ext cx="196560" cy="196560"/>
          </a:xfrm>
          <a:prstGeom prst="rect">
            <a:avLst/>
          </a:prstGeom>
          <a:noFill/>
          <a:ln w="0">
            <a:noFill/>
          </a:ln>
        </p:spPr>
      </p:pic>
      <p:sp>
        <p:nvSpPr>
          <p:cNvPr id="700" name=""/>
          <p:cNvSpPr txBox="1"/>
          <p:nvPr/>
        </p:nvSpPr>
        <p:spPr>
          <a:xfrm>
            <a:off x="289080" y="1584000"/>
            <a:ext cx="964800" cy="99720"/>
          </a:xfrm>
          <a:prstGeom prst="rect">
            <a:avLst/>
          </a:prstGeom>
          <a:noFill/>
          <a:ln w="0">
            <a:noFill/>
          </a:ln>
        </p:spPr>
        <p:txBody>
          <a:bodyPr wrap="none" lIns="0" rIns="0" tIns="0" bIns="0" anchor="t">
            <a:spAutoFit/>
          </a:bodyPr>
          <a:p>
            <a:r>
              <a:rPr b="0" lang="zh-CN" sz="620" strike="noStrike" u="none">
                <a:solidFill>
                  <a:srgbClr val="374151"/>
                </a:solidFill>
                <a:effectLst/>
                <a:uFillTx/>
                <a:latin typeface="WenQuanYiZenHei"/>
                <a:ea typeface="WenQuanYiZenHei"/>
              </a:rPr>
              <a:t>収益確保につながります。</a:t>
            </a:r>
            <a:endParaRPr b="0" lang="en-US" sz="620" strike="noStrike" u="none">
              <a:solidFill>
                <a:srgbClr val="000000"/>
              </a:solidFill>
              <a:effectLst/>
              <a:uFillTx/>
              <a:latin typeface="Times New Roman"/>
            </a:endParaRPr>
          </a:p>
        </p:txBody>
      </p:sp>
      <p:sp>
        <p:nvSpPr>
          <p:cNvPr id="701" name=""/>
          <p:cNvSpPr/>
          <p:nvPr/>
        </p:nvSpPr>
        <p:spPr>
          <a:xfrm>
            <a:off x="302040" y="2520000"/>
            <a:ext cx="26640" cy="26640"/>
          </a:xfrm>
          <a:custGeom>
            <a:avLst/>
            <a:gdLst/>
            <a:ahLst/>
            <a:rect l="0" t="0" r="r" b="b"/>
            <a:pathLst>
              <a:path w="74" h="74">
                <a:moveTo>
                  <a:pt x="74" y="38"/>
                </a:moveTo>
                <a:cubicBezTo>
                  <a:pt x="74" y="43"/>
                  <a:pt x="73" y="47"/>
                  <a:pt x="71" y="52"/>
                </a:cubicBezTo>
                <a:cubicBezTo>
                  <a:pt x="69" y="56"/>
                  <a:pt x="67" y="60"/>
                  <a:pt x="63" y="64"/>
                </a:cubicBezTo>
                <a:cubicBezTo>
                  <a:pt x="59" y="67"/>
                  <a:pt x="55" y="70"/>
                  <a:pt x="50" y="72"/>
                </a:cubicBezTo>
                <a:cubicBezTo>
                  <a:pt x="46" y="73"/>
                  <a:pt x="41" y="74"/>
                  <a:pt x="36" y="74"/>
                </a:cubicBezTo>
                <a:cubicBezTo>
                  <a:pt x="31" y="74"/>
                  <a:pt x="27" y="73"/>
                  <a:pt x="22" y="72"/>
                </a:cubicBezTo>
                <a:cubicBezTo>
                  <a:pt x="18" y="70"/>
                  <a:pt x="14" y="67"/>
                  <a:pt x="10" y="64"/>
                </a:cubicBezTo>
                <a:cubicBezTo>
                  <a:pt x="7" y="60"/>
                  <a:pt x="4" y="56"/>
                  <a:pt x="3" y="52"/>
                </a:cubicBezTo>
                <a:cubicBezTo>
                  <a:pt x="1" y="47"/>
                  <a:pt x="0" y="43"/>
                  <a:pt x="0" y="38"/>
                </a:cubicBezTo>
                <a:cubicBezTo>
                  <a:pt x="0" y="33"/>
                  <a:pt x="1" y="28"/>
                  <a:pt x="3" y="24"/>
                </a:cubicBezTo>
                <a:cubicBezTo>
                  <a:pt x="4" y="18"/>
                  <a:pt x="7" y="15"/>
                  <a:pt x="10" y="11"/>
                </a:cubicBezTo>
                <a:cubicBezTo>
                  <a:pt x="14" y="8"/>
                  <a:pt x="18" y="5"/>
                  <a:pt x="22" y="3"/>
                </a:cubicBezTo>
                <a:cubicBezTo>
                  <a:pt x="27" y="1"/>
                  <a:pt x="31" y="0"/>
                  <a:pt x="36" y="0"/>
                </a:cubicBezTo>
                <a:cubicBezTo>
                  <a:pt x="41" y="0"/>
                  <a:pt x="46" y="1"/>
                  <a:pt x="50" y="3"/>
                </a:cubicBezTo>
                <a:cubicBezTo>
                  <a:pt x="55" y="5"/>
                  <a:pt x="59" y="8"/>
                  <a:pt x="63" y="11"/>
                </a:cubicBezTo>
                <a:cubicBezTo>
                  <a:pt x="67" y="15"/>
                  <a:pt x="69" y="18"/>
                  <a:pt x="71" y="24"/>
                </a:cubicBezTo>
                <a:cubicBezTo>
                  <a:pt x="73" y="28"/>
                  <a:pt x="74" y="33"/>
                  <a:pt x="74" y="38"/>
                </a:cubicBezTo>
                <a:close/>
              </a:path>
            </a:pathLst>
          </a:custGeom>
          <a:solidFill>
            <a:srgbClr val="374151"/>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02" name=""/>
          <p:cNvSpPr txBox="1"/>
          <p:nvPr/>
        </p:nvSpPr>
        <p:spPr>
          <a:xfrm>
            <a:off x="289080" y="2255400"/>
            <a:ext cx="835920" cy="148320"/>
          </a:xfrm>
          <a:prstGeom prst="rect">
            <a:avLst/>
          </a:prstGeom>
          <a:noFill/>
          <a:ln w="0">
            <a:noFill/>
          </a:ln>
        </p:spPr>
        <p:txBody>
          <a:bodyPr wrap="none" lIns="0" rIns="0" tIns="0" bIns="0" anchor="t">
            <a:spAutoFit/>
          </a:bodyPr>
          <a:p>
            <a:r>
              <a:rPr b="0" lang="zh-CN" sz="930" strike="noStrike" u="none">
                <a:solidFill>
                  <a:srgbClr val="1d4ed8"/>
                </a:solidFill>
                <a:effectLst/>
                <a:uFillTx/>
                <a:latin typeface="WenQuanYiZenHei"/>
                <a:ea typeface="WenQuanYiZenHei"/>
              </a:rPr>
              <a:t>加算のポイント</a:t>
            </a:r>
            <a:endParaRPr b="0" lang="en-US" sz="930" strike="noStrike" u="none">
              <a:solidFill>
                <a:srgbClr val="000000"/>
              </a:solidFill>
              <a:effectLst/>
              <a:uFillTx/>
              <a:latin typeface="Times New Roman"/>
            </a:endParaRPr>
          </a:p>
        </p:txBody>
      </p:sp>
      <p:sp>
        <p:nvSpPr>
          <p:cNvPr id="703" name=""/>
          <p:cNvSpPr/>
          <p:nvPr/>
        </p:nvSpPr>
        <p:spPr>
          <a:xfrm>
            <a:off x="302040" y="2651400"/>
            <a:ext cx="26640" cy="26640"/>
          </a:xfrm>
          <a:custGeom>
            <a:avLst/>
            <a:gdLst/>
            <a:ahLst/>
            <a:rect l="0" t="0" r="r" b="b"/>
            <a:pathLst>
              <a:path w="74" h="74">
                <a:moveTo>
                  <a:pt x="74" y="38"/>
                </a:moveTo>
                <a:cubicBezTo>
                  <a:pt x="74" y="43"/>
                  <a:pt x="73" y="47"/>
                  <a:pt x="71" y="52"/>
                </a:cubicBezTo>
                <a:cubicBezTo>
                  <a:pt x="69" y="56"/>
                  <a:pt x="67" y="60"/>
                  <a:pt x="63" y="64"/>
                </a:cubicBezTo>
                <a:cubicBezTo>
                  <a:pt x="59" y="67"/>
                  <a:pt x="55" y="70"/>
                  <a:pt x="50" y="72"/>
                </a:cubicBezTo>
                <a:cubicBezTo>
                  <a:pt x="46" y="73"/>
                  <a:pt x="41" y="74"/>
                  <a:pt x="36" y="74"/>
                </a:cubicBezTo>
                <a:cubicBezTo>
                  <a:pt x="31" y="74"/>
                  <a:pt x="27" y="73"/>
                  <a:pt x="22" y="72"/>
                </a:cubicBezTo>
                <a:cubicBezTo>
                  <a:pt x="18" y="70"/>
                  <a:pt x="14" y="67"/>
                  <a:pt x="10" y="64"/>
                </a:cubicBezTo>
                <a:cubicBezTo>
                  <a:pt x="7" y="60"/>
                  <a:pt x="4" y="56"/>
                  <a:pt x="3" y="52"/>
                </a:cubicBezTo>
                <a:cubicBezTo>
                  <a:pt x="1" y="47"/>
                  <a:pt x="0" y="43"/>
                  <a:pt x="0" y="38"/>
                </a:cubicBezTo>
                <a:cubicBezTo>
                  <a:pt x="0" y="33"/>
                  <a:pt x="1" y="28"/>
                  <a:pt x="3" y="24"/>
                </a:cubicBezTo>
                <a:cubicBezTo>
                  <a:pt x="4" y="19"/>
                  <a:pt x="7" y="14"/>
                  <a:pt x="10" y="11"/>
                </a:cubicBezTo>
                <a:cubicBezTo>
                  <a:pt x="14" y="8"/>
                  <a:pt x="18" y="5"/>
                  <a:pt x="22" y="3"/>
                </a:cubicBezTo>
                <a:cubicBezTo>
                  <a:pt x="27" y="1"/>
                  <a:pt x="31" y="0"/>
                  <a:pt x="36" y="0"/>
                </a:cubicBezTo>
                <a:cubicBezTo>
                  <a:pt x="41" y="0"/>
                  <a:pt x="46" y="1"/>
                  <a:pt x="50" y="3"/>
                </a:cubicBezTo>
                <a:cubicBezTo>
                  <a:pt x="55" y="5"/>
                  <a:pt x="59" y="8"/>
                  <a:pt x="63" y="11"/>
                </a:cubicBezTo>
                <a:cubicBezTo>
                  <a:pt x="67" y="14"/>
                  <a:pt x="69" y="19"/>
                  <a:pt x="71" y="24"/>
                </a:cubicBezTo>
                <a:cubicBezTo>
                  <a:pt x="73" y="28"/>
                  <a:pt x="74" y="33"/>
                  <a:pt x="74" y="38"/>
                </a:cubicBezTo>
                <a:close/>
              </a:path>
            </a:pathLst>
          </a:custGeom>
          <a:solidFill>
            <a:srgbClr val="374151"/>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04" name=""/>
          <p:cNvSpPr txBox="1"/>
          <p:nvPr/>
        </p:nvSpPr>
        <p:spPr>
          <a:xfrm>
            <a:off x="394200" y="2477160"/>
            <a:ext cx="1044000" cy="99720"/>
          </a:xfrm>
          <a:prstGeom prst="rect">
            <a:avLst/>
          </a:prstGeom>
          <a:noFill/>
          <a:ln w="0">
            <a:noFill/>
          </a:ln>
        </p:spPr>
        <p:txBody>
          <a:bodyPr wrap="none" lIns="0" rIns="0" tIns="0" bIns="0" anchor="t">
            <a:spAutoFit/>
          </a:bodyPr>
          <a:p>
            <a:r>
              <a:rPr b="0" lang="zh-CN" sz="620" strike="noStrike" u="none">
                <a:solidFill>
                  <a:srgbClr val="374151"/>
                </a:solidFill>
                <a:effectLst/>
                <a:uFillTx/>
                <a:latin typeface="WenQuanYiZenHei"/>
                <a:ea typeface="WenQuanYiZenHei"/>
              </a:rPr>
              <a:t>検査の組み合わせによる算定</a:t>
            </a:r>
            <a:endParaRPr b="0" lang="en-US" sz="620" strike="noStrike" u="none">
              <a:solidFill>
                <a:srgbClr val="000000"/>
              </a:solidFill>
              <a:effectLst/>
              <a:uFillTx/>
              <a:latin typeface="Times New Roman"/>
            </a:endParaRPr>
          </a:p>
        </p:txBody>
      </p:sp>
      <p:sp>
        <p:nvSpPr>
          <p:cNvPr id="705" name=""/>
          <p:cNvSpPr/>
          <p:nvPr/>
        </p:nvSpPr>
        <p:spPr>
          <a:xfrm>
            <a:off x="302040" y="2782800"/>
            <a:ext cx="26640" cy="26640"/>
          </a:xfrm>
          <a:custGeom>
            <a:avLst/>
            <a:gdLst/>
            <a:ahLst/>
            <a:rect l="0" t="0" r="r" b="b"/>
            <a:pathLst>
              <a:path w="74" h="74">
                <a:moveTo>
                  <a:pt x="74" y="38"/>
                </a:moveTo>
                <a:cubicBezTo>
                  <a:pt x="74" y="43"/>
                  <a:pt x="73" y="47"/>
                  <a:pt x="71" y="52"/>
                </a:cubicBezTo>
                <a:cubicBezTo>
                  <a:pt x="69" y="56"/>
                  <a:pt x="67" y="60"/>
                  <a:pt x="63" y="64"/>
                </a:cubicBezTo>
                <a:cubicBezTo>
                  <a:pt x="59" y="67"/>
                  <a:pt x="55" y="70"/>
                  <a:pt x="50" y="71"/>
                </a:cubicBezTo>
                <a:cubicBezTo>
                  <a:pt x="46" y="73"/>
                  <a:pt x="41" y="74"/>
                  <a:pt x="36" y="74"/>
                </a:cubicBezTo>
                <a:cubicBezTo>
                  <a:pt x="31" y="74"/>
                  <a:pt x="27" y="73"/>
                  <a:pt x="22" y="71"/>
                </a:cubicBezTo>
                <a:cubicBezTo>
                  <a:pt x="18" y="70"/>
                  <a:pt x="14" y="67"/>
                  <a:pt x="10" y="64"/>
                </a:cubicBezTo>
                <a:cubicBezTo>
                  <a:pt x="7" y="60"/>
                  <a:pt x="4" y="56"/>
                  <a:pt x="3" y="52"/>
                </a:cubicBezTo>
                <a:cubicBezTo>
                  <a:pt x="1" y="47"/>
                  <a:pt x="0" y="43"/>
                  <a:pt x="0" y="38"/>
                </a:cubicBezTo>
                <a:cubicBezTo>
                  <a:pt x="0" y="33"/>
                  <a:pt x="1" y="28"/>
                  <a:pt x="3" y="24"/>
                </a:cubicBezTo>
                <a:cubicBezTo>
                  <a:pt x="4" y="19"/>
                  <a:pt x="7" y="15"/>
                  <a:pt x="10" y="12"/>
                </a:cubicBezTo>
                <a:cubicBezTo>
                  <a:pt x="14" y="8"/>
                  <a:pt x="18" y="5"/>
                  <a:pt x="22" y="3"/>
                </a:cubicBezTo>
                <a:cubicBezTo>
                  <a:pt x="27" y="1"/>
                  <a:pt x="31" y="0"/>
                  <a:pt x="36" y="0"/>
                </a:cubicBezTo>
                <a:cubicBezTo>
                  <a:pt x="41" y="0"/>
                  <a:pt x="46" y="1"/>
                  <a:pt x="50" y="3"/>
                </a:cubicBezTo>
                <a:cubicBezTo>
                  <a:pt x="55" y="5"/>
                  <a:pt x="59" y="8"/>
                  <a:pt x="63" y="12"/>
                </a:cubicBezTo>
                <a:cubicBezTo>
                  <a:pt x="67" y="15"/>
                  <a:pt x="69" y="19"/>
                  <a:pt x="71" y="24"/>
                </a:cubicBezTo>
                <a:cubicBezTo>
                  <a:pt x="73" y="28"/>
                  <a:pt x="74" y="33"/>
                  <a:pt x="74" y="38"/>
                </a:cubicBezTo>
                <a:close/>
              </a:path>
            </a:pathLst>
          </a:custGeom>
          <a:solidFill>
            <a:srgbClr val="374151"/>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06" name=""/>
          <p:cNvSpPr txBox="1"/>
          <p:nvPr/>
        </p:nvSpPr>
        <p:spPr>
          <a:xfrm>
            <a:off x="394200" y="2608560"/>
            <a:ext cx="715680" cy="99720"/>
          </a:xfrm>
          <a:prstGeom prst="rect">
            <a:avLst/>
          </a:prstGeom>
          <a:noFill/>
          <a:ln w="0">
            <a:noFill/>
          </a:ln>
        </p:spPr>
        <p:txBody>
          <a:bodyPr wrap="none" lIns="0" rIns="0" tIns="0" bIns="0" anchor="t">
            <a:spAutoFit/>
          </a:bodyPr>
          <a:p>
            <a:r>
              <a:rPr b="0" lang="zh-CN" sz="620" strike="noStrike" u="none">
                <a:solidFill>
                  <a:srgbClr val="374151"/>
                </a:solidFill>
                <a:effectLst/>
                <a:uFillTx/>
                <a:latin typeface="WenQuanYiZenHei"/>
                <a:ea typeface="WenQuanYiZenHei"/>
              </a:rPr>
              <a:t>精密検査加算の活用</a:t>
            </a:r>
            <a:endParaRPr b="0" lang="en-US" sz="620" strike="noStrike" u="none">
              <a:solidFill>
                <a:srgbClr val="000000"/>
              </a:solidFill>
              <a:effectLst/>
              <a:uFillTx/>
              <a:latin typeface="Times New Roman"/>
            </a:endParaRPr>
          </a:p>
        </p:txBody>
      </p:sp>
      <p:sp>
        <p:nvSpPr>
          <p:cNvPr id="707" name=""/>
          <p:cNvSpPr/>
          <p:nvPr/>
        </p:nvSpPr>
        <p:spPr>
          <a:xfrm>
            <a:off x="302040" y="2914200"/>
            <a:ext cx="26640" cy="26640"/>
          </a:xfrm>
          <a:custGeom>
            <a:avLst/>
            <a:gdLst/>
            <a:ahLst/>
            <a:rect l="0" t="0" r="r" b="b"/>
            <a:pathLst>
              <a:path w="74" h="74">
                <a:moveTo>
                  <a:pt x="74" y="38"/>
                </a:moveTo>
                <a:cubicBezTo>
                  <a:pt x="74" y="42"/>
                  <a:pt x="73" y="47"/>
                  <a:pt x="71" y="52"/>
                </a:cubicBezTo>
                <a:cubicBezTo>
                  <a:pt x="69" y="56"/>
                  <a:pt x="67" y="60"/>
                  <a:pt x="63" y="63"/>
                </a:cubicBezTo>
                <a:cubicBezTo>
                  <a:pt x="59" y="67"/>
                  <a:pt x="55" y="70"/>
                  <a:pt x="50" y="71"/>
                </a:cubicBezTo>
                <a:cubicBezTo>
                  <a:pt x="46" y="73"/>
                  <a:pt x="41" y="74"/>
                  <a:pt x="36" y="74"/>
                </a:cubicBezTo>
                <a:cubicBezTo>
                  <a:pt x="31" y="74"/>
                  <a:pt x="27" y="73"/>
                  <a:pt x="22" y="71"/>
                </a:cubicBezTo>
                <a:cubicBezTo>
                  <a:pt x="18" y="70"/>
                  <a:pt x="14" y="67"/>
                  <a:pt x="10" y="63"/>
                </a:cubicBezTo>
                <a:cubicBezTo>
                  <a:pt x="7" y="60"/>
                  <a:pt x="4" y="56"/>
                  <a:pt x="3" y="52"/>
                </a:cubicBezTo>
                <a:cubicBezTo>
                  <a:pt x="1" y="47"/>
                  <a:pt x="0" y="42"/>
                  <a:pt x="0" y="38"/>
                </a:cubicBezTo>
                <a:cubicBezTo>
                  <a:pt x="0" y="33"/>
                  <a:pt x="1" y="28"/>
                  <a:pt x="3" y="24"/>
                </a:cubicBezTo>
                <a:cubicBezTo>
                  <a:pt x="4" y="19"/>
                  <a:pt x="7" y="15"/>
                  <a:pt x="10" y="12"/>
                </a:cubicBezTo>
                <a:cubicBezTo>
                  <a:pt x="14" y="8"/>
                  <a:pt x="18" y="6"/>
                  <a:pt x="22" y="3"/>
                </a:cubicBezTo>
                <a:cubicBezTo>
                  <a:pt x="27" y="1"/>
                  <a:pt x="31" y="0"/>
                  <a:pt x="36" y="0"/>
                </a:cubicBezTo>
                <a:cubicBezTo>
                  <a:pt x="41" y="0"/>
                  <a:pt x="46" y="1"/>
                  <a:pt x="50" y="3"/>
                </a:cubicBezTo>
                <a:cubicBezTo>
                  <a:pt x="55" y="6"/>
                  <a:pt x="59" y="8"/>
                  <a:pt x="63" y="12"/>
                </a:cubicBezTo>
                <a:cubicBezTo>
                  <a:pt x="67" y="15"/>
                  <a:pt x="69" y="19"/>
                  <a:pt x="71" y="24"/>
                </a:cubicBezTo>
                <a:cubicBezTo>
                  <a:pt x="73" y="28"/>
                  <a:pt x="74" y="33"/>
                  <a:pt x="74" y="38"/>
                </a:cubicBezTo>
                <a:close/>
              </a:path>
            </a:pathLst>
          </a:custGeom>
          <a:solidFill>
            <a:srgbClr val="374151"/>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708" name=""/>
          <p:cNvSpPr txBox="1"/>
          <p:nvPr/>
        </p:nvSpPr>
        <p:spPr>
          <a:xfrm>
            <a:off x="394200" y="2739960"/>
            <a:ext cx="715680" cy="99720"/>
          </a:xfrm>
          <a:prstGeom prst="rect">
            <a:avLst/>
          </a:prstGeom>
          <a:noFill/>
          <a:ln w="0">
            <a:noFill/>
          </a:ln>
        </p:spPr>
        <p:txBody>
          <a:bodyPr wrap="none" lIns="0" rIns="0" tIns="0" bIns="0" anchor="t">
            <a:spAutoFit/>
          </a:bodyPr>
          <a:p>
            <a:r>
              <a:rPr b="0" lang="zh-CN" sz="620" strike="noStrike" u="none">
                <a:solidFill>
                  <a:srgbClr val="374151"/>
                </a:solidFill>
                <a:effectLst/>
                <a:uFillTx/>
                <a:latin typeface="WenQuanYiZenHei"/>
                <a:ea typeface="WenQuanYiZenHei"/>
              </a:rPr>
              <a:t>造影剤使用時の加算</a:t>
            </a:r>
            <a:endParaRPr b="0" lang="en-US" sz="620" strike="noStrike" u="none">
              <a:solidFill>
                <a:srgbClr val="000000"/>
              </a:solidFill>
              <a:effectLst/>
              <a:uFillTx/>
              <a:latin typeface="Times New Roman"/>
            </a:endParaRPr>
          </a:p>
        </p:txBody>
      </p:sp>
      <p:sp>
        <p:nvSpPr>
          <p:cNvPr id="709" name=""/>
          <p:cNvSpPr/>
          <p:nvPr/>
        </p:nvSpPr>
        <p:spPr>
          <a:xfrm>
            <a:off x="2233080" y="661320"/>
            <a:ext cx="2930040" cy="1182600"/>
          </a:xfrm>
          <a:custGeom>
            <a:avLst/>
            <a:gdLst/>
            <a:ahLst/>
            <a:rect l="0" t="0" r="r" b="b"/>
            <a:pathLst>
              <a:path w="8139" h="3285">
                <a:moveTo>
                  <a:pt x="0" y="3139"/>
                </a:moveTo>
                <a:lnTo>
                  <a:pt x="0" y="146"/>
                </a:lnTo>
                <a:cubicBezTo>
                  <a:pt x="0" y="136"/>
                  <a:pt x="1" y="127"/>
                  <a:pt x="3" y="117"/>
                </a:cubicBezTo>
                <a:cubicBezTo>
                  <a:pt x="5" y="108"/>
                  <a:pt x="8" y="99"/>
                  <a:pt x="11" y="90"/>
                </a:cubicBezTo>
                <a:cubicBezTo>
                  <a:pt x="15" y="81"/>
                  <a:pt x="19" y="73"/>
                  <a:pt x="25" y="65"/>
                </a:cubicBezTo>
                <a:cubicBezTo>
                  <a:pt x="30" y="57"/>
                  <a:pt x="36" y="49"/>
                  <a:pt x="43" y="43"/>
                </a:cubicBezTo>
                <a:cubicBezTo>
                  <a:pt x="50" y="36"/>
                  <a:pt x="57" y="30"/>
                  <a:pt x="65" y="24"/>
                </a:cubicBezTo>
                <a:cubicBezTo>
                  <a:pt x="73" y="19"/>
                  <a:pt x="81" y="15"/>
                  <a:pt x="90" y="11"/>
                </a:cubicBezTo>
                <a:cubicBezTo>
                  <a:pt x="99" y="7"/>
                  <a:pt x="108" y="5"/>
                  <a:pt x="118" y="3"/>
                </a:cubicBezTo>
                <a:cubicBezTo>
                  <a:pt x="127" y="1"/>
                  <a:pt x="136" y="0"/>
                  <a:pt x="146" y="0"/>
                </a:cubicBezTo>
                <a:lnTo>
                  <a:pt x="7993" y="0"/>
                </a:lnTo>
                <a:cubicBezTo>
                  <a:pt x="8002" y="0"/>
                  <a:pt x="8012" y="1"/>
                  <a:pt x="8021" y="3"/>
                </a:cubicBezTo>
                <a:cubicBezTo>
                  <a:pt x="8031" y="5"/>
                  <a:pt x="8040" y="7"/>
                  <a:pt x="8049" y="11"/>
                </a:cubicBezTo>
                <a:cubicBezTo>
                  <a:pt x="8057" y="15"/>
                  <a:pt x="8066" y="19"/>
                  <a:pt x="8074" y="24"/>
                </a:cubicBezTo>
                <a:cubicBezTo>
                  <a:pt x="8082" y="30"/>
                  <a:pt x="8089" y="36"/>
                  <a:pt x="8096" y="43"/>
                </a:cubicBezTo>
                <a:cubicBezTo>
                  <a:pt x="8103" y="49"/>
                  <a:pt x="8109" y="57"/>
                  <a:pt x="8114" y="65"/>
                </a:cubicBezTo>
                <a:cubicBezTo>
                  <a:pt x="8119" y="73"/>
                  <a:pt x="8124" y="81"/>
                  <a:pt x="8128" y="90"/>
                </a:cubicBezTo>
                <a:cubicBezTo>
                  <a:pt x="8131" y="99"/>
                  <a:pt x="8134" y="108"/>
                  <a:pt x="8136" y="117"/>
                </a:cubicBezTo>
                <a:cubicBezTo>
                  <a:pt x="8138" y="127"/>
                  <a:pt x="8139" y="136"/>
                  <a:pt x="8139" y="146"/>
                </a:cubicBezTo>
                <a:lnTo>
                  <a:pt x="8139" y="3139"/>
                </a:lnTo>
                <a:cubicBezTo>
                  <a:pt x="8139" y="3149"/>
                  <a:pt x="8138" y="3158"/>
                  <a:pt x="8136" y="3168"/>
                </a:cubicBezTo>
                <a:cubicBezTo>
                  <a:pt x="8134" y="3177"/>
                  <a:pt x="8131" y="3186"/>
                  <a:pt x="8128" y="3195"/>
                </a:cubicBezTo>
                <a:cubicBezTo>
                  <a:pt x="8124" y="3204"/>
                  <a:pt x="8119" y="3212"/>
                  <a:pt x="8114" y="3220"/>
                </a:cubicBezTo>
                <a:cubicBezTo>
                  <a:pt x="8109" y="3228"/>
                  <a:pt x="8103" y="3236"/>
                  <a:pt x="8096" y="3242"/>
                </a:cubicBezTo>
                <a:cubicBezTo>
                  <a:pt x="8089" y="3249"/>
                  <a:pt x="8082" y="3255"/>
                  <a:pt x="8074" y="3261"/>
                </a:cubicBezTo>
                <a:cubicBezTo>
                  <a:pt x="8066" y="3266"/>
                  <a:pt x="8057" y="3270"/>
                  <a:pt x="8049" y="3274"/>
                </a:cubicBezTo>
                <a:cubicBezTo>
                  <a:pt x="8040" y="3278"/>
                  <a:pt x="8031" y="3280"/>
                  <a:pt x="8021" y="3282"/>
                </a:cubicBezTo>
                <a:cubicBezTo>
                  <a:pt x="8012" y="3284"/>
                  <a:pt x="8002" y="3285"/>
                  <a:pt x="7993" y="3285"/>
                </a:cubicBezTo>
                <a:lnTo>
                  <a:pt x="146" y="3285"/>
                </a:lnTo>
                <a:cubicBezTo>
                  <a:pt x="136" y="3285"/>
                  <a:pt x="127" y="3284"/>
                  <a:pt x="118" y="3282"/>
                </a:cubicBezTo>
                <a:cubicBezTo>
                  <a:pt x="108" y="3280"/>
                  <a:pt x="99" y="3278"/>
                  <a:pt x="90" y="3274"/>
                </a:cubicBezTo>
                <a:cubicBezTo>
                  <a:pt x="81" y="3270"/>
                  <a:pt x="73" y="3266"/>
                  <a:pt x="65" y="3261"/>
                </a:cubicBezTo>
                <a:cubicBezTo>
                  <a:pt x="57" y="3255"/>
                  <a:pt x="50" y="3249"/>
                  <a:pt x="43" y="3242"/>
                </a:cubicBezTo>
                <a:cubicBezTo>
                  <a:pt x="36" y="3236"/>
                  <a:pt x="30" y="3228"/>
                  <a:pt x="25" y="3220"/>
                </a:cubicBezTo>
                <a:cubicBezTo>
                  <a:pt x="19" y="3212"/>
                  <a:pt x="15" y="3204"/>
                  <a:pt x="11" y="3195"/>
                </a:cubicBezTo>
                <a:cubicBezTo>
                  <a:pt x="8" y="3186"/>
                  <a:pt x="5" y="3177"/>
                  <a:pt x="3" y="3168"/>
                </a:cubicBezTo>
                <a:cubicBezTo>
                  <a:pt x="1" y="3158"/>
                  <a:pt x="0" y="3149"/>
                  <a:pt x="0" y="3139"/>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10" name=""/>
          <p:cNvSpPr/>
          <p:nvPr/>
        </p:nvSpPr>
        <p:spPr>
          <a:xfrm>
            <a:off x="2311920" y="976680"/>
            <a:ext cx="2194200" cy="158040"/>
          </a:xfrm>
          <a:custGeom>
            <a:avLst/>
            <a:gdLst/>
            <a:ahLst/>
            <a:rect l="0" t="0" r="r" b="b"/>
            <a:pathLst>
              <a:path w="6095" h="439">
                <a:moveTo>
                  <a:pt x="0" y="0"/>
                </a:moveTo>
                <a:lnTo>
                  <a:pt x="6095" y="0"/>
                </a:lnTo>
                <a:lnTo>
                  <a:pt x="6095" y="439"/>
                </a:lnTo>
                <a:lnTo>
                  <a:pt x="0" y="439"/>
                </a:lnTo>
                <a:lnTo>
                  <a:pt x="0" y="0"/>
                </a:lnTo>
                <a:close/>
              </a:path>
            </a:pathLst>
          </a:custGeom>
          <a:solidFill>
            <a:srgbClr val="fee2e2"/>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11" name=""/>
          <p:cNvSpPr/>
          <p:nvPr/>
        </p:nvSpPr>
        <p:spPr>
          <a:xfrm>
            <a:off x="4505760" y="976680"/>
            <a:ext cx="578520" cy="158040"/>
          </a:xfrm>
          <a:custGeom>
            <a:avLst/>
            <a:gdLst/>
            <a:ahLst/>
            <a:rect l="0" t="0" r="r" b="b"/>
            <a:pathLst>
              <a:path w="1607" h="439">
                <a:moveTo>
                  <a:pt x="0" y="0"/>
                </a:moveTo>
                <a:lnTo>
                  <a:pt x="1607" y="0"/>
                </a:lnTo>
                <a:lnTo>
                  <a:pt x="1607" y="439"/>
                </a:lnTo>
                <a:lnTo>
                  <a:pt x="0" y="439"/>
                </a:lnTo>
                <a:lnTo>
                  <a:pt x="0" y="0"/>
                </a:lnTo>
                <a:close/>
              </a:path>
            </a:pathLst>
          </a:custGeom>
          <a:solidFill>
            <a:srgbClr val="fee2e2"/>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12" name=""/>
          <p:cNvSpPr/>
          <p:nvPr/>
        </p:nvSpPr>
        <p:spPr>
          <a:xfrm>
            <a:off x="2311920" y="1134360"/>
            <a:ext cx="2194200" cy="157680"/>
          </a:xfrm>
          <a:custGeom>
            <a:avLst/>
            <a:gdLst/>
            <a:ahLst/>
            <a:rect l="0" t="0" r="r" b="b"/>
            <a:pathLst>
              <a:path w="6095" h="438">
                <a:moveTo>
                  <a:pt x="0" y="0"/>
                </a:moveTo>
                <a:lnTo>
                  <a:pt x="6095" y="0"/>
                </a:lnTo>
                <a:lnTo>
                  <a:pt x="6095" y="438"/>
                </a:lnTo>
                <a:lnTo>
                  <a:pt x="0" y="438"/>
                </a:lnTo>
                <a:lnTo>
                  <a:pt x="0" y="0"/>
                </a:lnTo>
                <a:close/>
              </a:path>
            </a:pathLst>
          </a:custGeom>
          <a:solidFill>
            <a:srgbClr val="ffff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13" name=""/>
          <p:cNvSpPr/>
          <p:nvPr/>
        </p:nvSpPr>
        <p:spPr>
          <a:xfrm>
            <a:off x="4505760" y="1134360"/>
            <a:ext cx="578520" cy="157680"/>
          </a:xfrm>
          <a:custGeom>
            <a:avLst/>
            <a:gdLst/>
            <a:ahLst/>
            <a:rect l="0" t="0" r="r" b="b"/>
            <a:pathLst>
              <a:path w="1607" h="438">
                <a:moveTo>
                  <a:pt x="0" y="0"/>
                </a:moveTo>
                <a:lnTo>
                  <a:pt x="1607" y="0"/>
                </a:lnTo>
                <a:lnTo>
                  <a:pt x="1607" y="438"/>
                </a:lnTo>
                <a:lnTo>
                  <a:pt x="0" y="438"/>
                </a:lnTo>
                <a:lnTo>
                  <a:pt x="0" y="0"/>
                </a:lnTo>
                <a:close/>
              </a:path>
            </a:pathLst>
          </a:custGeom>
          <a:solidFill>
            <a:srgbClr val="ffff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14" name=""/>
          <p:cNvSpPr/>
          <p:nvPr/>
        </p:nvSpPr>
        <p:spPr>
          <a:xfrm>
            <a:off x="2311920" y="1291680"/>
            <a:ext cx="2194200" cy="158040"/>
          </a:xfrm>
          <a:custGeom>
            <a:avLst/>
            <a:gdLst/>
            <a:ahLst/>
            <a:rect l="0" t="0" r="r" b="b"/>
            <a:pathLst>
              <a:path w="6095" h="439">
                <a:moveTo>
                  <a:pt x="0" y="0"/>
                </a:moveTo>
                <a:lnTo>
                  <a:pt x="6095" y="0"/>
                </a:lnTo>
                <a:lnTo>
                  <a:pt x="6095" y="439"/>
                </a:lnTo>
                <a:lnTo>
                  <a:pt x="0" y="439"/>
                </a:lnTo>
                <a:lnTo>
                  <a:pt x="0" y="0"/>
                </a:lnTo>
                <a:close/>
              </a:path>
            </a:pathLst>
          </a:custGeom>
          <a:solidFill>
            <a:srgbClr val="eff6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15" name=""/>
          <p:cNvSpPr/>
          <p:nvPr/>
        </p:nvSpPr>
        <p:spPr>
          <a:xfrm>
            <a:off x="4505760" y="1291680"/>
            <a:ext cx="578520" cy="158040"/>
          </a:xfrm>
          <a:custGeom>
            <a:avLst/>
            <a:gdLst/>
            <a:ahLst/>
            <a:rect l="0" t="0" r="r" b="b"/>
            <a:pathLst>
              <a:path w="1607" h="439">
                <a:moveTo>
                  <a:pt x="0" y="0"/>
                </a:moveTo>
                <a:lnTo>
                  <a:pt x="1607" y="0"/>
                </a:lnTo>
                <a:lnTo>
                  <a:pt x="1607" y="439"/>
                </a:lnTo>
                <a:lnTo>
                  <a:pt x="0" y="439"/>
                </a:lnTo>
                <a:lnTo>
                  <a:pt x="0" y="0"/>
                </a:lnTo>
                <a:close/>
              </a:path>
            </a:pathLst>
          </a:custGeom>
          <a:solidFill>
            <a:srgbClr val="eff6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16" name=""/>
          <p:cNvSpPr/>
          <p:nvPr/>
        </p:nvSpPr>
        <p:spPr>
          <a:xfrm>
            <a:off x="2311920" y="1449360"/>
            <a:ext cx="2194200" cy="158040"/>
          </a:xfrm>
          <a:custGeom>
            <a:avLst/>
            <a:gdLst/>
            <a:ahLst/>
            <a:rect l="0" t="0" r="r" b="b"/>
            <a:pathLst>
              <a:path w="6095" h="439">
                <a:moveTo>
                  <a:pt x="0" y="0"/>
                </a:moveTo>
                <a:lnTo>
                  <a:pt x="6095" y="0"/>
                </a:lnTo>
                <a:lnTo>
                  <a:pt x="6095" y="439"/>
                </a:lnTo>
                <a:lnTo>
                  <a:pt x="0" y="439"/>
                </a:lnTo>
                <a:lnTo>
                  <a:pt x="0" y="0"/>
                </a:lnTo>
                <a:close/>
              </a:path>
            </a:pathLst>
          </a:custGeom>
          <a:solidFill>
            <a:srgbClr val="ffff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17" name=""/>
          <p:cNvSpPr/>
          <p:nvPr/>
        </p:nvSpPr>
        <p:spPr>
          <a:xfrm>
            <a:off x="4505760" y="1449360"/>
            <a:ext cx="578520" cy="158040"/>
          </a:xfrm>
          <a:custGeom>
            <a:avLst/>
            <a:gdLst/>
            <a:ahLst/>
            <a:rect l="0" t="0" r="r" b="b"/>
            <a:pathLst>
              <a:path w="1607" h="439">
                <a:moveTo>
                  <a:pt x="0" y="0"/>
                </a:moveTo>
                <a:lnTo>
                  <a:pt x="1607" y="0"/>
                </a:lnTo>
                <a:lnTo>
                  <a:pt x="1607" y="439"/>
                </a:lnTo>
                <a:lnTo>
                  <a:pt x="0" y="439"/>
                </a:lnTo>
                <a:lnTo>
                  <a:pt x="0" y="0"/>
                </a:lnTo>
                <a:close/>
              </a:path>
            </a:pathLst>
          </a:custGeom>
          <a:solidFill>
            <a:srgbClr val="ffff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18" name="" descr=""/>
          <p:cNvPicPr/>
          <p:nvPr/>
        </p:nvPicPr>
        <p:blipFill>
          <a:blip r:embed="rId8"/>
          <a:stretch/>
        </p:blipFill>
        <p:spPr>
          <a:xfrm>
            <a:off x="2312280" y="766440"/>
            <a:ext cx="163800" cy="131040"/>
          </a:xfrm>
          <a:prstGeom prst="rect">
            <a:avLst/>
          </a:prstGeom>
          <a:noFill/>
          <a:ln w="0">
            <a:noFill/>
          </a:ln>
        </p:spPr>
      </p:pic>
      <p:sp>
        <p:nvSpPr>
          <p:cNvPr id="719" name=""/>
          <p:cNvSpPr txBox="1"/>
          <p:nvPr/>
        </p:nvSpPr>
        <p:spPr>
          <a:xfrm>
            <a:off x="394200" y="2871360"/>
            <a:ext cx="1038240" cy="99720"/>
          </a:xfrm>
          <a:prstGeom prst="rect">
            <a:avLst/>
          </a:prstGeom>
          <a:noFill/>
          <a:ln w="0">
            <a:noFill/>
          </a:ln>
        </p:spPr>
        <p:txBody>
          <a:bodyPr wrap="none" lIns="0" rIns="0" tIns="0" bIns="0" anchor="t">
            <a:spAutoFit/>
          </a:bodyPr>
          <a:p>
            <a:r>
              <a:rPr b="0" lang="zh-CN" sz="620" strike="noStrike" u="none">
                <a:solidFill>
                  <a:srgbClr val="374151"/>
                </a:solidFill>
                <a:effectLst/>
                <a:uFillTx/>
                <a:latin typeface="WenQuanYiZenHei"/>
                <a:ea typeface="WenQuanYiZenHei"/>
              </a:rPr>
              <a:t>特殊な検査技術に対する加算</a:t>
            </a:r>
            <a:endParaRPr b="0" lang="en-US" sz="620" strike="noStrike" u="none">
              <a:solidFill>
                <a:srgbClr val="000000"/>
              </a:solidFill>
              <a:effectLst/>
              <a:uFillTx/>
              <a:latin typeface="Times New Roman"/>
            </a:endParaRPr>
          </a:p>
        </p:txBody>
      </p:sp>
      <p:sp>
        <p:nvSpPr>
          <p:cNvPr id="720" name=""/>
          <p:cNvSpPr txBox="1"/>
          <p:nvPr/>
        </p:nvSpPr>
        <p:spPr>
          <a:xfrm>
            <a:off x="2529000" y="757800"/>
            <a:ext cx="587520" cy="148320"/>
          </a:xfrm>
          <a:prstGeom prst="rect">
            <a:avLst/>
          </a:prstGeom>
          <a:noFill/>
          <a:ln w="0">
            <a:noFill/>
          </a:ln>
        </p:spPr>
        <p:txBody>
          <a:bodyPr wrap="none" lIns="0" rIns="0" tIns="0" bIns="0" anchor="t">
            <a:spAutoFit/>
          </a:bodyPr>
          <a:p>
            <a:r>
              <a:rPr b="0" lang="zh-CN" sz="930" strike="noStrike" u="none">
                <a:solidFill>
                  <a:srgbClr val="b91c1c"/>
                </a:solidFill>
                <a:effectLst/>
                <a:uFillTx/>
                <a:latin typeface="WenQuanYiZenHei"/>
                <a:ea typeface="WenQuanYiZenHei"/>
              </a:rPr>
              <a:t>心電図検査</a:t>
            </a:r>
            <a:endParaRPr b="0" lang="en-US" sz="930" strike="noStrike" u="none">
              <a:solidFill>
                <a:srgbClr val="000000"/>
              </a:solidFill>
              <a:effectLst/>
              <a:uFillTx/>
              <a:latin typeface="Times New Roman"/>
            </a:endParaRPr>
          </a:p>
        </p:txBody>
      </p:sp>
      <p:sp>
        <p:nvSpPr>
          <p:cNvPr id="721" name=""/>
          <p:cNvSpPr txBox="1"/>
          <p:nvPr/>
        </p:nvSpPr>
        <p:spPr>
          <a:xfrm>
            <a:off x="2364480" y="1005840"/>
            <a:ext cx="317880" cy="99720"/>
          </a:xfrm>
          <a:prstGeom prst="rect">
            <a:avLst/>
          </a:prstGeom>
          <a:noFill/>
          <a:ln w="0">
            <a:noFill/>
          </a:ln>
        </p:spPr>
        <p:txBody>
          <a:bodyPr wrap="none" lIns="0" rIns="0" tIns="0" bIns="0" anchor="t">
            <a:spAutoFit/>
          </a:bodyPr>
          <a:p>
            <a:r>
              <a:rPr b="0" lang="zh-CN" sz="620" strike="noStrike" u="none">
                <a:solidFill>
                  <a:srgbClr val="991b1b"/>
                </a:solidFill>
                <a:effectLst/>
                <a:uFillTx/>
                <a:latin typeface="WenQuanYiZenHei"/>
                <a:ea typeface="WenQuanYiZenHei"/>
              </a:rPr>
              <a:t>検査項目</a:t>
            </a:r>
            <a:endParaRPr b="0" lang="en-US" sz="620" strike="noStrike" u="none">
              <a:solidFill>
                <a:srgbClr val="000000"/>
              </a:solidFill>
              <a:effectLst/>
              <a:uFillTx/>
              <a:latin typeface="Times New Roman"/>
            </a:endParaRPr>
          </a:p>
        </p:txBody>
      </p:sp>
      <p:sp>
        <p:nvSpPr>
          <p:cNvPr id="722" name=""/>
          <p:cNvSpPr txBox="1"/>
          <p:nvPr/>
        </p:nvSpPr>
        <p:spPr>
          <a:xfrm>
            <a:off x="4716000" y="1005840"/>
            <a:ext cx="317880" cy="99720"/>
          </a:xfrm>
          <a:prstGeom prst="rect">
            <a:avLst/>
          </a:prstGeom>
          <a:noFill/>
          <a:ln w="0">
            <a:noFill/>
          </a:ln>
        </p:spPr>
        <p:txBody>
          <a:bodyPr wrap="none" lIns="0" rIns="0" tIns="0" bIns="0" anchor="t">
            <a:spAutoFit/>
          </a:bodyPr>
          <a:p>
            <a:r>
              <a:rPr b="0" lang="zh-CN" sz="620" strike="noStrike" u="none">
                <a:solidFill>
                  <a:srgbClr val="991b1b"/>
                </a:solidFill>
                <a:effectLst/>
                <a:uFillTx/>
                <a:latin typeface="WenQuanYiZenHei"/>
                <a:ea typeface="WenQuanYiZenHei"/>
              </a:rPr>
              <a:t>保険点数</a:t>
            </a:r>
            <a:endParaRPr b="0" lang="en-US" sz="620" strike="noStrike" u="none">
              <a:solidFill>
                <a:srgbClr val="000000"/>
              </a:solidFill>
              <a:effectLst/>
              <a:uFillTx/>
              <a:latin typeface="Times New Roman"/>
            </a:endParaRPr>
          </a:p>
        </p:txBody>
      </p:sp>
      <p:sp>
        <p:nvSpPr>
          <p:cNvPr id="723" name=""/>
          <p:cNvSpPr txBox="1"/>
          <p:nvPr/>
        </p:nvSpPr>
        <p:spPr>
          <a:xfrm>
            <a:off x="2364480" y="1166400"/>
            <a:ext cx="1015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12</a:t>
            </a:r>
            <a:endParaRPr b="0" lang="en-US" sz="620" strike="noStrike" u="none">
              <a:solidFill>
                <a:srgbClr val="000000"/>
              </a:solidFill>
              <a:effectLst/>
              <a:uFillTx/>
              <a:latin typeface="Times New Roman"/>
            </a:endParaRPr>
          </a:p>
        </p:txBody>
      </p:sp>
      <p:sp>
        <p:nvSpPr>
          <p:cNvPr id="724" name=""/>
          <p:cNvSpPr txBox="1"/>
          <p:nvPr/>
        </p:nvSpPr>
        <p:spPr>
          <a:xfrm>
            <a:off x="2464920" y="1163520"/>
            <a:ext cx="397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誘導心電図</a:t>
            </a:r>
            <a:endParaRPr b="0" lang="en-US" sz="620" strike="noStrike" u="none">
              <a:solidFill>
                <a:srgbClr val="000000"/>
              </a:solidFill>
              <a:effectLst/>
              <a:uFillTx/>
              <a:latin typeface="Times New Roman"/>
            </a:endParaRPr>
          </a:p>
        </p:txBody>
      </p:sp>
      <p:sp>
        <p:nvSpPr>
          <p:cNvPr id="725" name=""/>
          <p:cNvSpPr txBox="1"/>
          <p:nvPr/>
        </p:nvSpPr>
        <p:spPr>
          <a:xfrm>
            <a:off x="4802040" y="1166400"/>
            <a:ext cx="1519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130</a:t>
            </a:r>
            <a:endParaRPr b="0" lang="en-US" sz="620" strike="noStrike" u="none">
              <a:solidFill>
                <a:srgbClr val="000000"/>
              </a:solidFill>
              <a:effectLst/>
              <a:uFillTx/>
              <a:latin typeface="Times New Roman"/>
            </a:endParaRPr>
          </a:p>
        </p:txBody>
      </p:sp>
      <p:sp>
        <p:nvSpPr>
          <p:cNvPr id="726" name=""/>
          <p:cNvSpPr txBox="1"/>
          <p:nvPr/>
        </p:nvSpPr>
        <p:spPr>
          <a:xfrm>
            <a:off x="4952520" y="116352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727" name=""/>
          <p:cNvSpPr txBox="1"/>
          <p:nvPr/>
        </p:nvSpPr>
        <p:spPr>
          <a:xfrm>
            <a:off x="2364480" y="1321200"/>
            <a:ext cx="152316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負荷心電図（マスター、トレッドミル等）</a:t>
            </a:r>
            <a:endParaRPr b="0" lang="en-US" sz="620" strike="noStrike" u="none">
              <a:solidFill>
                <a:srgbClr val="000000"/>
              </a:solidFill>
              <a:effectLst/>
              <a:uFillTx/>
              <a:latin typeface="Times New Roman"/>
            </a:endParaRPr>
          </a:p>
        </p:txBody>
      </p:sp>
      <p:sp>
        <p:nvSpPr>
          <p:cNvPr id="728" name=""/>
          <p:cNvSpPr txBox="1"/>
          <p:nvPr/>
        </p:nvSpPr>
        <p:spPr>
          <a:xfrm>
            <a:off x="4723200" y="1324080"/>
            <a:ext cx="1519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300</a:t>
            </a:r>
            <a:endParaRPr b="0" lang="en-US" sz="620" strike="noStrike" u="none">
              <a:solidFill>
                <a:srgbClr val="000000"/>
              </a:solidFill>
              <a:effectLst/>
              <a:uFillTx/>
              <a:latin typeface="Times New Roman"/>
            </a:endParaRPr>
          </a:p>
        </p:txBody>
      </p:sp>
      <p:sp>
        <p:nvSpPr>
          <p:cNvPr id="729" name=""/>
          <p:cNvSpPr txBox="1"/>
          <p:nvPr/>
        </p:nvSpPr>
        <p:spPr>
          <a:xfrm>
            <a:off x="4873680" y="1321200"/>
            <a:ext cx="1591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730" name=""/>
          <p:cNvSpPr txBox="1"/>
          <p:nvPr/>
        </p:nvSpPr>
        <p:spPr>
          <a:xfrm>
            <a:off x="2364480" y="1478880"/>
            <a:ext cx="64044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ホルター心電図（</a:t>
            </a:r>
            <a:endParaRPr b="0" lang="en-US" sz="620" strike="noStrike" u="none">
              <a:solidFill>
                <a:srgbClr val="000000"/>
              </a:solidFill>
              <a:effectLst/>
              <a:uFillTx/>
              <a:latin typeface="Times New Roman"/>
            </a:endParaRPr>
          </a:p>
        </p:txBody>
      </p:sp>
      <p:sp>
        <p:nvSpPr>
          <p:cNvPr id="731" name=""/>
          <p:cNvSpPr txBox="1"/>
          <p:nvPr/>
        </p:nvSpPr>
        <p:spPr>
          <a:xfrm>
            <a:off x="2995200" y="1481760"/>
            <a:ext cx="1015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24</a:t>
            </a:r>
            <a:endParaRPr b="0" lang="en-US" sz="620" strike="noStrike" u="none">
              <a:solidFill>
                <a:srgbClr val="000000"/>
              </a:solidFill>
              <a:effectLst/>
              <a:uFillTx/>
              <a:latin typeface="Times New Roman"/>
            </a:endParaRPr>
          </a:p>
        </p:txBody>
      </p:sp>
      <p:sp>
        <p:nvSpPr>
          <p:cNvPr id="732" name=""/>
          <p:cNvSpPr txBox="1"/>
          <p:nvPr/>
        </p:nvSpPr>
        <p:spPr>
          <a:xfrm>
            <a:off x="3095640" y="1478880"/>
            <a:ext cx="5572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時間解析含む）</a:t>
            </a:r>
            <a:endParaRPr b="0" lang="en-US" sz="620" strike="noStrike" u="none">
              <a:solidFill>
                <a:srgbClr val="000000"/>
              </a:solidFill>
              <a:effectLst/>
              <a:uFillTx/>
              <a:latin typeface="Times New Roman"/>
            </a:endParaRPr>
          </a:p>
        </p:txBody>
      </p:sp>
      <p:sp>
        <p:nvSpPr>
          <p:cNvPr id="733" name=""/>
          <p:cNvSpPr txBox="1"/>
          <p:nvPr/>
        </p:nvSpPr>
        <p:spPr>
          <a:xfrm>
            <a:off x="4726800" y="1481760"/>
            <a:ext cx="2275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1,500</a:t>
            </a:r>
            <a:endParaRPr b="0" lang="en-US" sz="620" strike="noStrike" u="none">
              <a:solidFill>
                <a:srgbClr val="000000"/>
              </a:solidFill>
              <a:effectLst/>
              <a:uFillTx/>
              <a:latin typeface="Times New Roman"/>
            </a:endParaRPr>
          </a:p>
        </p:txBody>
      </p:sp>
      <p:sp>
        <p:nvSpPr>
          <p:cNvPr id="734" name=""/>
          <p:cNvSpPr/>
          <p:nvPr/>
        </p:nvSpPr>
        <p:spPr>
          <a:xfrm>
            <a:off x="5267880" y="661320"/>
            <a:ext cx="2929680" cy="1182600"/>
          </a:xfrm>
          <a:custGeom>
            <a:avLst/>
            <a:gdLst/>
            <a:ahLst/>
            <a:rect l="0" t="0" r="r" b="b"/>
            <a:pathLst>
              <a:path w="8138" h="3285">
                <a:moveTo>
                  <a:pt x="0" y="3139"/>
                </a:moveTo>
                <a:lnTo>
                  <a:pt x="0" y="146"/>
                </a:lnTo>
                <a:cubicBezTo>
                  <a:pt x="0" y="136"/>
                  <a:pt x="1" y="127"/>
                  <a:pt x="2" y="117"/>
                </a:cubicBezTo>
                <a:cubicBezTo>
                  <a:pt x="4" y="108"/>
                  <a:pt x="7" y="99"/>
                  <a:pt x="11" y="90"/>
                </a:cubicBezTo>
                <a:cubicBezTo>
                  <a:pt x="14" y="81"/>
                  <a:pt x="19" y="73"/>
                  <a:pt x="24" y="65"/>
                </a:cubicBezTo>
                <a:cubicBezTo>
                  <a:pt x="30" y="57"/>
                  <a:pt x="36" y="49"/>
                  <a:pt x="42" y="43"/>
                </a:cubicBezTo>
                <a:cubicBezTo>
                  <a:pt x="49" y="36"/>
                  <a:pt x="57" y="30"/>
                  <a:pt x="64" y="24"/>
                </a:cubicBezTo>
                <a:cubicBezTo>
                  <a:pt x="72" y="19"/>
                  <a:pt x="81" y="15"/>
                  <a:pt x="90" y="11"/>
                </a:cubicBezTo>
                <a:cubicBezTo>
                  <a:pt x="99" y="7"/>
                  <a:pt x="108" y="5"/>
                  <a:pt x="117" y="3"/>
                </a:cubicBezTo>
                <a:cubicBezTo>
                  <a:pt x="127" y="1"/>
                  <a:pt x="136" y="0"/>
                  <a:pt x="146" y="0"/>
                </a:cubicBezTo>
                <a:lnTo>
                  <a:pt x="7992" y="0"/>
                </a:lnTo>
                <a:cubicBezTo>
                  <a:pt x="8002" y="0"/>
                  <a:pt x="8011" y="1"/>
                  <a:pt x="8021" y="3"/>
                </a:cubicBezTo>
                <a:cubicBezTo>
                  <a:pt x="8030" y="5"/>
                  <a:pt x="8039" y="7"/>
                  <a:pt x="8048" y="11"/>
                </a:cubicBezTo>
                <a:cubicBezTo>
                  <a:pt x="8057" y="15"/>
                  <a:pt x="8065" y="19"/>
                  <a:pt x="8073" y="24"/>
                </a:cubicBezTo>
                <a:cubicBezTo>
                  <a:pt x="8081" y="30"/>
                  <a:pt x="8089" y="36"/>
                  <a:pt x="8095" y="43"/>
                </a:cubicBezTo>
                <a:cubicBezTo>
                  <a:pt x="8102" y="49"/>
                  <a:pt x="8108" y="57"/>
                  <a:pt x="8114" y="65"/>
                </a:cubicBezTo>
                <a:cubicBezTo>
                  <a:pt x="8119" y="73"/>
                  <a:pt x="8123" y="81"/>
                  <a:pt x="8127" y="90"/>
                </a:cubicBezTo>
                <a:cubicBezTo>
                  <a:pt x="8131" y="99"/>
                  <a:pt x="8134" y="108"/>
                  <a:pt x="8135" y="117"/>
                </a:cubicBezTo>
                <a:cubicBezTo>
                  <a:pt x="8137" y="127"/>
                  <a:pt x="8138" y="136"/>
                  <a:pt x="8138" y="146"/>
                </a:cubicBezTo>
                <a:lnTo>
                  <a:pt x="8138" y="3139"/>
                </a:lnTo>
                <a:cubicBezTo>
                  <a:pt x="8138" y="3149"/>
                  <a:pt x="8137" y="3158"/>
                  <a:pt x="8135" y="3168"/>
                </a:cubicBezTo>
                <a:cubicBezTo>
                  <a:pt x="8134" y="3177"/>
                  <a:pt x="8131" y="3186"/>
                  <a:pt x="8127" y="3195"/>
                </a:cubicBezTo>
                <a:cubicBezTo>
                  <a:pt x="8123" y="3204"/>
                  <a:pt x="8119" y="3212"/>
                  <a:pt x="8114" y="3220"/>
                </a:cubicBezTo>
                <a:cubicBezTo>
                  <a:pt x="8108" y="3228"/>
                  <a:pt x="8102" y="3236"/>
                  <a:pt x="8095" y="3242"/>
                </a:cubicBezTo>
                <a:cubicBezTo>
                  <a:pt x="8089" y="3249"/>
                  <a:pt x="8081" y="3255"/>
                  <a:pt x="8073" y="3261"/>
                </a:cubicBezTo>
                <a:cubicBezTo>
                  <a:pt x="8065" y="3266"/>
                  <a:pt x="8057" y="3270"/>
                  <a:pt x="8048" y="3274"/>
                </a:cubicBezTo>
                <a:cubicBezTo>
                  <a:pt x="8039" y="3278"/>
                  <a:pt x="8030" y="3280"/>
                  <a:pt x="8021" y="3282"/>
                </a:cubicBezTo>
                <a:cubicBezTo>
                  <a:pt x="8011" y="3284"/>
                  <a:pt x="8002" y="3285"/>
                  <a:pt x="7992" y="3285"/>
                </a:cubicBezTo>
                <a:lnTo>
                  <a:pt x="146" y="3285"/>
                </a:lnTo>
                <a:cubicBezTo>
                  <a:pt x="136" y="3285"/>
                  <a:pt x="127" y="3284"/>
                  <a:pt x="117" y="3282"/>
                </a:cubicBezTo>
                <a:cubicBezTo>
                  <a:pt x="108" y="3280"/>
                  <a:pt x="99" y="3278"/>
                  <a:pt x="90" y="3274"/>
                </a:cubicBezTo>
                <a:cubicBezTo>
                  <a:pt x="81" y="3270"/>
                  <a:pt x="72" y="3266"/>
                  <a:pt x="64" y="3261"/>
                </a:cubicBezTo>
                <a:cubicBezTo>
                  <a:pt x="57" y="3255"/>
                  <a:pt x="49" y="3249"/>
                  <a:pt x="42" y="3242"/>
                </a:cubicBezTo>
                <a:cubicBezTo>
                  <a:pt x="36" y="3236"/>
                  <a:pt x="30" y="3228"/>
                  <a:pt x="24" y="3220"/>
                </a:cubicBezTo>
                <a:cubicBezTo>
                  <a:pt x="19" y="3212"/>
                  <a:pt x="14" y="3204"/>
                  <a:pt x="11" y="3195"/>
                </a:cubicBezTo>
                <a:cubicBezTo>
                  <a:pt x="7" y="3186"/>
                  <a:pt x="4" y="3177"/>
                  <a:pt x="2" y="3168"/>
                </a:cubicBezTo>
                <a:cubicBezTo>
                  <a:pt x="1" y="3158"/>
                  <a:pt x="0" y="3149"/>
                  <a:pt x="0" y="3139"/>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35" name=""/>
          <p:cNvSpPr/>
          <p:nvPr/>
        </p:nvSpPr>
        <p:spPr>
          <a:xfrm>
            <a:off x="5346720" y="976680"/>
            <a:ext cx="1891800" cy="158040"/>
          </a:xfrm>
          <a:custGeom>
            <a:avLst/>
            <a:gdLst/>
            <a:ahLst/>
            <a:rect l="0" t="0" r="r" b="b"/>
            <a:pathLst>
              <a:path w="5255" h="439">
                <a:moveTo>
                  <a:pt x="0" y="0"/>
                </a:moveTo>
                <a:lnTo>
                  <a:pt x="5255" y="0"/>
                </a:lnTo>
                <a:lnTo>
                  <a:pt x="5255" y="439"/>
                </a:lnTo>
                <a:lnTo>
                  <a:pt x="0" y="439"/>
                </a:lnTo>
                <a:lnTo>
                  <a:pt x="0" y="0"/>
                </a:lnTo>
                <a:close/>
              </a:path>
            </a:pathLst>
          </a:custGeom>
          <a:solidFill>
            <a:srgbClr val="dbea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36" name=""/>
          <p:cNvSpPr/>
          <p:nvPr/>
        </p:nvSpPr>
        <p:spPr>
          <a:xfrm>
            <a:off x="7238160" y="976680"/>
            <a:ext cx="880560" cy="158040"/>
          </a:xfrm>
          <a:custGeom>
            <a:avLst/>
            <a:gdLst/>
            <a:ahLst/>
            <a:rect l="0" t="0" r="r" b="b"/>
            <a:pathLst>
              <a:path w="2446" h="439">
                <a:moveTo>
                  <a:pt x="0" y="0"/>
                </a:moveTo>
                <a:lnTo>
                  <a:pt x="2446" y="0"/>
                </a:lnTo>
                <a:lnTo>
                  <a:pt x="2446" y="439"/>
                </a:lnTo>
                <a:lnTo>
                  <a:pt x="0" y="439"/>
                </a:lnTo>
                <a:lnTo>
                  <a:pt x="0" y="0"/>
                </a:lnTo>
                <a:close/>
              </a:path>
            </a:pathLst>
          </a:custGeom>
          <a:solidFill>
            <a:srgbClr val="dbea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37" name=""/>
          <p:cNvSpPr/>
          <p:nvPr/>
        </p:nvSpPr>
        <p:spPr>
          <a:xfrm>
            <a:off x="5346720" y="1134360"/>
            <a:ext cx="1891800" cy="157680"/>
          </a:xfrm>
          <a:custGeom>
            <a:avLst/>
            <a:gdLst/>
            <a:ahLst/>
            <a:rect l="0" t="0" r="r" b="b"/>
            <a:pathLst>
              <a:path w="5255" h="438">
                <a:moveTo>
                  <a:pt x="0" y="0"/>
                </a:moveTo>
                <a:lnTo>
                  <a:pt x="5255" y="0"/>
                </a:lnTo>
                <a:lnTo>
                  <a:pt x="5255" y="438"/>
                </a:lnTo>
                <a:lnTo>
                  <a:pt x="0" y="438"/>
                </a:lnTo>
                <a:lnTo>
                  <a:pt x="0" y="0"/>
                </a:lnTo>
                <a:close/>
              </a:path>
            </a:pathLst>
          </a:custGeom>
          <a:solidFill>
            <a:srgbClr val="ffff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38" name=""/>
          <p:cNvSpPr/>
          <p:nvPr/>
        </p:nvSpPr>
        <p:spPr>
          <a:xfrm>
            <a:off x="7238160" y="1134360"/>
            <a:ext cx="880560" cy="157680"/>
          </a:xfrm>
          <a:custGeom>
            <a:avLst/>
            <a:gdLst/>
            <a:ahLst/>
            <a:rect l="0" t="0" r="r" b="b"/>
            <a:pathLst>
              <a:path w="2446" h="438">
                <a:moveTo>
                  <a:pt x="0" y="0"/>
                </a:moveTo>
                <a:lnTo>
                  <a:pt x="2446" y="0"/>
                </a:lnTo>
                <a:lnTo>
                  <a:pt x="2446" y="438"/>
                </a:lnTo>
                <a:lnTo>
                  <a:pt x="0" y="438"/>
                </a:lnTo>
                <a:lnTo>
                  <a:pt x="0" y="0"/>
                </a:lnTo>
                <a:close/>
              </a:path>
            </a:pathLst>
          </a:custGeom>
          <a:solidFill>
            <a:srgbClr val="ffff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39" name=""/>
          <p:cNvSpPr/>
          <p:nvPr/>
        </p:nvSpPr>
        <p:spPr>
          <a:xfrm>
            <a:off x="5346720" y="1291680"/>
            <a:ext cx="1891800" cy="158040"/>
          </a:xfrm>
          <a:custGeom>
            <a:avLst/>
            <a:gdLst/>
            <a:ahLst/>
            <a:rect l="0" t="0" r="r" b="b"/>
            <a:pathLst>
              <a:path w="5255" h="439">
                <a:moveTo>
                  <a:pt x="0" y="0"/>
                </a:moveTo>
                <a:lnTo>
                  <a:pt x="5255" y="0"/>
                </a:lnTo>
                <a:lnTo>
                  <a:pt x="5255" y="439"/>
                </a:lnTo>
                <a:lnTo>
                  <a:pt x="0" y="439"/>
                </a:lnTo>
                <a:lnTo>
                  <a:pt x="0" y="0"/>
                </a:lnTo>
                <a:close/>
              </a:path>
            </a:pathLst>
          </a:custGeom>
          <a:solidFill>
            <a:srgbClr val="eff6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40" name=""/>
          <p:cNvSpPr/>
          <p:nvPr/>
        </p:nvSpPr>
        <p:spPr>
          <a:xfrm>
            <a:off x="7238160" y="1291680"/>
            <a:ext cx="880560" cy="158040"/>
          </a:xfrm>
          <a:custGeom>
            <a:avLst/>
            <a:gdLst/>
            <a:ahLst/>
            <a:rect l="0" t="0" r="r" b="b"/>
            <a:pathLst>
              <a:path w="2446" h="439">
                <a:moveTo>
                  <a:pt x="0" y="0"/>
                </a:moveTo>
                <a:lnTo>
                  <a:pt x="2446" y="0"/>
                </a:lnTo>
                <a:lnTo>
                  <a:pt x="2446" y="439"/>
                </a:lnTo>
                <a:lnTo>
                  <a:pt x="0" y="439"/>
                </a:lnTo>
                <a:lnTo>
                  <a:pt x="0" y="0"/>
                </a:lnTo>
                <a:close/>
              </a:path>
            </a:pathLst>
          </a:custGeom>
          <a:solidFill>
            <a:srgbClr val="eff6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41" name=""/>
          <p:cNvSpPr/>
          <p:nvPr/>
        </p:nvSpPr>
        <p:spPr>
          <a:xfrm>
            <a:off x="5346720" y="1449360"/>
            <a:ext cx="1891800" cy="158040"/>
          </a:xfrm>
          <a:custGeom>
            <a:avLst/>
            <a:gdLst/>
            <a:ahLst/>
            <a:rect l="0" t="0" r="r" b="b"/>
            <a:pathLst>
              <a:path w="5255" h="439">
                <a:moveTo>
                  <a:pt x="0" y="0"/>
                </a:moveTo>
                <a:lnTo>
                  <a:pt x="5255" y="0"/>
                </a:lnTo>
                <a:lnTo>
                  <a:pt x="5255" y="439"/>
                </a:lnTo>
                <a:lnTo>
                  <a:pt x="0" y="439"/>
                </a:lnTo>
                <a:lnTo>
                  <a:pt x="0" y="0"/>
                </a:lnTo>
                <a:close/>
              </a:path>
            </a:pathLst>
          </a:custGeom>
          <a:solidFill>
            <a:srgbClr val="ffff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42" name=""/>
          <p:cNvSpPr/>
          <p:nvPr/>
        </p:nvSpPr>
        <p:spPr>
          <a:xfrm>
            <a:off x="7238160" y="1449360"/>
            <a:ext cx="880560" cy="158040"/>
          </a:xfrm>
          <a:custGeom>
            <a:avLst/>
            <a:gdLst/>
            <a:ahLst/>
            <a:rect l="0" t="0" r="r" b="b"/>
            <a:pathLst>
              <a:path w="2446" h="439">
                <a:moveTo>
                  <a:pt x="0" y="0"/>
                </a:moveTo>
                <a:lnTo>
                  <a:pt x="2446" y="0"/>
                </a:lnTo>
                <a:lnTo>
                  <a:pt x="2446" y="439"/>
                </a:lnTo>
                <a:lnTo>
                  <a:pt x="0" y="439"/>
                </a:lnTo>
                <a:lnTo>
                  <a:pt x="0" y="0"/>
                </a:lnTo>
                <a:close/>
              </a:path>
            </a:pathLst>
          </a:custGeom>
          <a:solidFill>
            <a:srgbClr val="ffff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43" name=""/>
          <p:cNvSpPr/>
          <p:nvPr/>
        </p:nvSpPr>
        <p:spPr>
          <a:xfrm>
            <a:off x="5346720" y="1607040"/>
            <a:ext cx="1891800" cy="158040"/>
          </a:xfrm>
          <a:custGeom>
            <a:avLst/>
            <a:gdLst/>
            <a:ahLst/>
            <a:rect l="0" t="0" r="r" b="b"/>
            <a:pathLst>
              <a:path w="5255" h="439">
                <a:moveTo>
                  <a:pt x="0" y="0"/>
                </a:moveTo>
                <a:lnTo>
                  <a:pt x="5255" y="0"/>
                </a:lnTo>
                <a:lnTo>
                  <a:pt x="5255" y="439"/>
                </a:lnTo>
                <a:lnTo>
                  <a:pt x="0" y="439"/>
                </a:lnTo>
                <a:lnTo>
                  <a:pt x="0" y="0"/>
                </a:lnTo>
                <a:close/>
              </a:path>
            </a:pathLst>
          </a:custGeom>
          <a:solidFill>
            <a:srgbClr val="eff6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44" name=""/>
          <p:cNvSpPr/>
          <p:nvPr/>
        </p:nvSpPr>
        <p:spPr>
          <a:xfrm>
            <a:off x="7238160" y="1607040"/>
            <a:ext cx="880560" cy="158040"/>
          </a:xfrm>
          <a:custGeom>
            <a:avLst/>
            <a:gdLst/>
            <a:ahLst/>
            <a:rect l="0" t="0" r="r" b="b"/>
            <a:pathLst>
              <a:path w="2446" h="439">
                <a:moveTo>
                  <a:pt x="0" y="0"/>
                </a:moveTo>
                <a:lnTo>
                  <a:pt x="2446" y="0"/>
                </a:lnTo>
                <a:lnTo>
                  <a:pt x="2446" y="439"/>
                </a:lnTo>
                <a:lnTo>
                  <a:pt x="0" y="439"/>
                </a:lnTo>
                <a:lnTo>
                  <a:pt x="0" y="0"/>
                </a:lnTo>
                <a:close/>
              </a:path>
            </a:pathLst>
          </a:custGeom>
          <a:solidFill>
            <a:srgbClr val="eff6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45" name="" descr=""/>
          <p:cNvPicPr/>
          <p:nvPr/>
        </p:nvPicPr>
        <p:blipFill>
          <a:blip r:embed="rId9"/>
          <a:stretch/>
        </p:blipFill>
        <p:spPr>
          <a:xfrm>
            <a:off x="5346720" y="766440"/>
            <a:ext cx="150840" cy="131040"/>
          </a:xfrm>
          <a:prstGeom prst="rect">
            <a:avLst/>
          </a:prstGeom>
          <a:noFill/>
          <a:ln w="0">
            <a:noFill/>
          </a:ln>
        </p:spPr>
      </p:pic>
      <p:sp>
        <p:nvSpPr>
          <p:cNvPr id="746" name=""/>
          <p:cNvSpPr txBox="1"/>
          <p:nvPr/>
        </p:nvSpPr>
        <p:spPr>
          <a:xfrm>
            <a:off x="4952520" y="147888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747" name=""/>
          <p:cNvSpPr txBox="1"/>
          <p:nvPr/>
        </p:nvSpPr>
        <p:spPr>
          <a:xfrm>
            <a:off x="5550480" y="757800"/>
            <a:ext cx="710280" cy="148320"/>
          </a:xfrm>
          <a:prstGeom prst="rect">
            <a:avLst/>
          </a:prstGeom>
          <a:noFill/>
          <a:ln w="0">
            <a:noFill/>
          </a:ln>
        </p:spPr>
        <p:txBody>
          <a:bodyPr wrap="none" lIns="0" rIns="0" tIns="0" bIns="0" anchor="t">
            <a:spAutoFit/>
          </a:bodyPr>
          <a:p>
            <a:r>
              <a:rPr b="0" lang="zh-CN" sz="930" strike="noStrike" u="none">
                <a:solidFill>
                  <a:srgbClr val="1d4ed8"/>
                </a:solidFill>
                <a:effectLst/>
                <a:uFillTx/>
                <a:latin typeface="WenQuanYiZenHei"/>
                <a:ea typeface="WenQuanYiZenHei"/>
              </a:rPr>
              <a:t>心エコー検査</a:t>
            </a:r>
            <a:endParaRPr b="0" lang="en-US" sz="930" strike="noStrike" u="none">
              <a:solidFill>
                <a:srgbClr val="000000"/>
              </a:solidFill>
              <a:effectLst/>
              <a:uFillTx/>
              <a:latin typeface="Times New Roman"/>
            </a:endParaRPr>
          </a:p>
        </p:txBody>
      </p:sp>
      <p:sp>
        <p:nvSpPr>
          <p:cNvPr id="748" name=""/>
          <p:cNvSpPr txBox="1"/>
          <p:nvPr/>
        </p:nvSpPr>
        <p:spPr>
          <a:xfrm>
            <a:off x="5399280" y="1005840"/>
            <a:ext cx="317880" cy="99720"/>
          </a:xfrm>
          <a:prstGeom prst="rect">
            <a:avLst/>
          </a:prstGeom>
          <a:noFill/>
          <a:ln w="0">
            <a:noFill/>
          </a:ln>
        </p:spPr>
        <p:txBody>
          <a:bodyPr wrap="none" lIns="0" rIns="0" tIns="0" bIns="0" anchor="t">
            <a:spAutoFit/>
          </a:bodyPr>
          <a:p>
            <a:r>
              <a:rPr b="0" lang="zh-CN" sz="620" strike="noStrike" u="none">
                <a:solidFill>
                  <a:srgbClr val="1e40af"/>
                </a:solidFill>
                <a:effectLst/>
                <a:uFillTx/>
                <a:latin typeface="WenQuanYiZenHei"/>
                <a:ea typeface="WenQuanYiZenHei"/>
              </a:rPr>
              <a:t>検査項目</a:t>
            </a:r>
            <a:endParaRPr b="0" lang="en-US" sz="620" strike="noStrike" u="none">
              <a:solidFill>
                <a:srgbClr val="000000"/>
              </a:solidFill>
              <a:effectLst/>
              <a:uFillTx/>
              <a:latin typeface="Times New Roman"/>
            </a:endParaRPr>
          </a:p>
        </p:txBody>
      </p:sp>
      <p:sp>
        <p:nvSpPr>
          <p:cNvPr id="749" name=""/>
          <p:cNvSpPr txBox="1"/>
          <p:nvPr/>
        </p:nvSpPr>
        <p:spPr>
          <a:xfrm>
            <a:off x="7750800" y="1005840"/>
            <a:ext cx="317880" cy="99720"/>
          </a:xfrm>
          <a:prstGeom prst="rect">
            <a:avLst/>
          </a:prstGeom>
          <a:noFill/>
          <a:ln w="0">
            <a:noFill/>
          </a:ln>
        </p:spPr>
        <p:txBody>
          <a:bodyPr wrap="none" lIns="0" rIns="0" tIns="0" bIns="0" anchor="t">
            <a:spAutoFit/>
          </a:bodyPr>
          <a:p>
            <a:r>
              <a:rPr b="0" lang="zh-CN" sz="620" strike="noStrike" u="none">
                <a:solidFill>
                  <a:srgbClr val="1e40af"/>
                </a:solidFill>
                <a:effectLst/>
                <a:uFillTx/>
                <a:latin typeface="WenQuanYiZenHei"/>
                <a:ea typeface="WenQuanYiZenHei"/>
              </a:rPr>
              <a:t>保険点数</a:t>
            </a:r>
            <a:endParaRPr b="0" lang="en-US" sz="620" strike="noStrike" u="none">
              <a:solidFill>
                <a:srgbClr val="000000"/>
              </a:solidFill>
              <a:effectLst/>
              <a:uFillTx/>
              <a:latin typeface="Times New Roman"/>
            </a:endParaRPr>
          </a:p>
        </p:txBody>
      </p:sp>
      <p:sp>
        <p:nvSpPr>
          <p:cNvPr id="750" name=""/>
          <p:cNvSpPr txBox="1"/>
          <p:nvPr/>
        </p:nvSpPr>
        <p:spPr>
          <a:xfrm>
            <a:off x="5399280" y="1163520"/>
            <a:ext cx="95544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断層心エコー法（経胸壁）</a:t>
            </a:r>
            <a:endParaRPr b="0" lang="en-US" sz="620" strike="noStrike" u="none">
              <a:solidFill>
                <a:srgbClr val="000000"/>
              </a:solidFill>
              <a:effectLst/>
              <a:uFillTx/>
              <a:latin typeface="Times New Roman"/>
            </a:endParaRPr>
          </a:p>
        </p:txBody>
      </p:sp>
      <p:sp>
        <p:nvSpPr>
          <p:cNvPr id="751" name=""/>
          <p:cNvSpPr txBox="1"/>
          <p:nvPr/>
        </p:nvSpPr>
        <p:spPr>
          <a:xfrm>
            <a:off x="7836840" y="1166400"/>
            <a:ext cx="1519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880</a:t>
            </a:r>
            <a:endParaRPr b="0" lang="en-US" sz="620" strike="noStrike" u="none">
              <a:solidFill>
                <a:srgbClr val="000000"/>
              </a:solidFill>
              <a:effectLst/>
              <a:uFillTx/>
              <a:latin typeface="Times New Roman"/>
            </a:endParaRPr>
          </a:p>
        </p:txBody>
      </p:sp>
      <p:sp>
        <p:nvSpPr>
          <p:cNvPr id="752" name=""/>
          <p:cNvSpPr txBox="1"/>
          <p:nvPr/>
        </p:nvSpPr>
        <p:spPr>
          <a:xfrm>
            <a:off x="7987320" y="116352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753" name=""/>
          <p:cNvSpPr txBox="1"/>
          <p:nvPr/>
        </p:nvSpPr>
        <p:spPr>
          <a:xfrm>
            <a:off x="5399280" y="1321200"/>
            <a:ext cx="95724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ドプラ法加算（血流評価）</a:t>
            </a:r>
            <a:endParaRPr b="0" lang="en-US" sz="620" strike="noStrike" u="none">
              <a:solidFill>
                <a:srgbClr val="000000"/>
              </a:solidFill>
              <a:effectLst/>
              <a:uFillTx/>
              <a:latin typeface="Times New Roman"/>
            </a:endParaRPr>
          </a:p>
        </p:txBody>
      </p:sp>
      <p:sp>
        <p:nvSpPr>
          <p:cNvPr id="754" name=""/>
          <p:cNvSpPr txBox="1"/>
          <p:nvPr/>
        </p:nvSpPr>
        <p:spPr>
          <a:xfrm>
            <a:off x="7770600" y="1324080"/>
            <a:ext cx="2185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+500</a:t>
            </a:r>
            <a:endParaRPr b="0" lang="en-US" sz="620" strike="noStrike" u="none">
              <a:solidFill>
                <a:srgbClr val="000000"/>
              </a:solidFill>
              <a:effectLst/>
              <a:uFillTx/>
              <a:latin typeface="Times New Roman"/>
            </a:endParaRPr>
          </a:p>
        </p:txBody>
      </p:sp>
      <p:sp>
        <p:nvSpPr>
          <p:cNvPr id="755" name=""/>
          <p:cNvSpPr txBox="1"/>
          <p:nvPr/>
        </p:nvSpPr>
        <p:spPr>
          <a:xfrm>
            <a:off x="7987320" y="132120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756" name=""/>
          <p:cNvSpPr txBox="1"/>
          <p:nvPr/>
        </p:nvSpPr>
        <p:spPr>
          <a:xfrm>
            <a:off x="5399280" y="1478880"/>
            <a:ext cx="559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負荷心エコー法</a:t>
            </a:r>
            <a:endParaRPr b="0" lang="en-US" sz="620" strike="noStrike" u="none">
              <a:solidFill>
                <a:srgbClr val="000000"/>
              </a:solidFill>
              <a:effectLst/>
              <a:uFillTx/>
              <a:latin typeface="Times New Roman"/>
            </a:endParaRPr>
          </a:p>
        </p:txBody>
      </p:sp>
      <p:sp>
        <p:nvSpPr>
          <p:cNvPr id="757" name=""/>
          <p:cNvSpPr txBox="1"/>
          <p:nvPr/>
        </p:nvSpPr>
        <p:spPr>
          <a:xfrm>
            <a:off x="7682760" y="1481760"/>
            <a:ext cx="2275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1,280</a:t>
            </a:r>
            <a:endParaRPr b="0" lang="en-US" sz="620" strike="noStrike" u="none">
              <a:solidFill>
                <a:srgbClr val="000000"/>
              </a:solidFill>
              <a:effectLst/>
              <a:uFillTx/>
              <a:latin typeface="Times New Roman"/>
            </a:endParaRPr>
          </a:p>
        </p:txBody>
      </p:sp>
      <p:sp>
        <p:nvSpPr>
          <p:cNvPr id="758" name=""/>
          <p:cNvSpPr txBox="1"/>
          <p:nvPr/>
        </p:nvSpPr>
        <p:spPr>
          <a:xfrm>
            <a:off x="7908480" y="1478880"/>
            <a:ext cx="1591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759" name=""/>
          <p:cNvSpPr txBox="1"/>
          <p:nvPr/>
        </p:nvSpPr>
        <p:spPr>
          <a:xfrm>
            <a:off x="5399280" y="1636560"/>
            <a:ext cx="6382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経食道心エコー法</a:t>
            </a:r>
            <a:endParaRPr b="0" lang="en-US" sz="620" strike="noStrike" u="none">
              <a:solidFill>
                <a:srgbClr val="000000"/>
              </a:solidFill>
              <a:effectLst/>
              <a:uFillTx/>
              <a:latin typeface="Times New Roman"/>
            </a:endParaRPr>
          </a:p>
        </p:txBody>
      </p:sp>
      <p:sp>
        <p:nvSpPr>
          <p:cNvPr id="760" name=""/>
          <p:cNvSpPr txBox="1"/>
          <p:nvPr/>
        </p:nvSpPr>
        <p:spPr>
          <a:xfrm>
            <a:off x="7761600" y="1639440"/>
            <a:ext cx="2275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1,500</a:t>
            </a:r>
            <a:endParaRPr b="0" lang="en-US" sz="620" strike="noStrike" u="none">
              <a:solidFill>
                <a:srgbClr val="000000"/>
              </a:solidFill>
              <a:effectLst/>
              <a:uFillTx/>
              <a:latin typeface="Times New Roman"/>
            </a:endParaRPr>
          </a:p>
        </p:txBody>
      </p:sp>
      <p:sp>
        <p:nvSpPr>
          <p:cNvPr id="761" name=""/>
          <p:cNvSpPr/>
          <p:nvPr/>
        </p:nvSpPr>
        <p:spPr>
          <a:xfrm>
            <a:off x="2233080" y="1922400"/>
            <a:ext cx="2930040" cy="1182600"/>
          </a:xfrm>
          <a:custGeom>
            <a:avLst/>
            <a:gdLst/>
            <a:ahLst/>
            <a:rect l="0" t="0" r="r" b="b"/>
            <a:pathLst>
              <a:path w="8139" h="3285">
                <a:moveTo>
                  <a:pt x="0" y="3139"/>
                </a:moveTo>
                <a:lnTo>
                  <a:pt x="0" y="146"/>
                </a:lnTo>
                <a:cubicBezTo>
                  <a:pt x="0" y="136"/>
                  <a:pt x="1" y="127"/>
                  <a:pt x="3" y="118"/>
                </a:cubicBezTo>
                <a:cubicBezTo>
                  <a:pt x="5" y="108"/>
                  <a:pt x="8" y="99"/>
                  <a:pt x="11" y="90"/>
                </a:cubicBezTo>
                <a:cubicBezTo>
                  <a:pt x="15" y="81"/>
                  <a:pt x="19" y="73"/>
                  <a:pt x="25" y="65"/>
                </a:cubicBezTo>
                <a:cubicBezTo>
                  <a:pt x="30" y="57"/>
                  <a:pt x="36" y="50"/>
                  <a:pt x="43" y="43"/>
                </a:cubicBezTo>
                <a:cubicBezTo>
                  <a:pt x="50" y="36"/>
                  <a:pt x="57" y="30"/>
                  <a:pt x="65" y="25"/>
                </a:cubicBezTo>
                <a:cubicBezTo>
                  <a:pt x="73" y="19"/>
                  <a:pt x="81" y="15"/>
                  <a:pt x="90" y="11"/>
                </a:cubicBezTo>
                <a:cubicBezTo>
                  <a:pt x="99" y="7"/>
                  <a:pt x="108" y="5"/>
                  <a:pt x="118" y="3"/>
                </a:cubicBezTo>
                <a:cubicBezTo>
                  <a:pt x="127" y="1"/>
                  <a:pt x="136" y="0"/>
                  <a:pt x="146" y="0"/>
                </a:cubicBezTo>
                <a:lnTo>
                  <a:pt x="7993" y="0"/>
                </a:lnTo>
                <a:cubicBezTo>
                  <a:pt x="8002" y="0"/>
                  <a:pt x="8012" y="1"/>
                  <a:pt x="8021" y="3"/>
                </a:cubicBezTo>
                <a:cubicBezTo>
                  <a:pt x="8031" y="5"/>
                  <a:pt x="8040" y="7"/>
                  <a:pt x="8049" y="11"/>
                </a:cubicBezTo>
                <a:cubicBezTo>
                  <a:pt x="8057" y="15"/>
                  <a:pt x="8066" y="19"/>
                  <a:pt x="8074" y="25"/>
                </a:cubicBezTo>
                <a:cubicBezTo>
                  <a:pt x="8082" y="30"/>
                  <a:pt x="8089" y="36"/>
                  <a:pt x="8096" y="43"/>
                </a:cubicBezTo>
                <a:cubicBezTo>
                  <a:pt x="8103" y="50"/>
                  <a:pt x="8109" y="57"/>
                  <a:pt x="8114" y="65"/>
                </a:cubicBezTo>
                <a:cubicBezTo>
                  <a:pt x="8119" y="73"/>
                  <a:pt x="8124" y="81"/>
                  <a:pt x="8128" y="90"/>
                </a:cubicBezTo>
                <a:cubicBezTo>
                  <a:pt x="8131" y="99"/>
                  <a:pt x="8134" y="108"/>
                  <a:pt x="8136" y="118"/>
                </a:cubicBezTo>
                <a:cubicBezTo>
                  <a:pt x="8138" y="127"/>
                  <a:pt x="8139" y="136"/>
                  <a:pt x="8139" y="146"/>
                </a:cubicBezTo>
                <a:lnTo>
                  <a:pt x="8139" y="3139"/>
                </a:lnTo>
                <a:cubicBezTo>
                  <a:pt x="8139" y="3149"/>
                  <a:pt x="8138" y="3158"/>
                  <a:pt x="8136" y="3168"/>
                </a:cubicBezTo>
                <a:cubicBezTo>
                  <a:pt x="8134" y="3177"/>
                  <a:pt x="8131" y="3186"/>
                  <a:pt x="8128" y="3195"/>
                </a:cubicBezTo>
                <a:cubicBezTo>
                  <a:pt x="8124" y="3204"/>
                  <a:pt x="8119" y="3212"/>
                  <a:pt x="8114" y="3220"/>
                </a:cubicBezTo>
                <a:cubicBezTo>
                  <a:pt x="8109" y="3228"/>
                  <a:pt x="8103" y="3236"/>
                  <a:pt x="8096" y="3243"/>
                </a:cubicBezTo>
                <a:cubicBezTo>
                  <a:pt x="8089" y="3249"/>
                  <a:pt x="8082" y="3255"/>
                  <a:pt x="8074" y="3261"/>
                </a:cubicBezTo>
                <a:cubicBezTo>
                  <a:pt x="8066" y="3266"/>
                  <a:pt x="8057" y="3271"/>
                  <a:pt x="8049" y="3274"/>
                </a:cubicBezTo>
                <a:cubicBezTo>
                  <a:pt x="8040" y="3278"/>
                  <a:pt x="8031" y="3281"/>
                  <a:pt x="8021" y="3282"/>
                </a:cubicBezTo>
                <a:cubicBezTo>
                  <a:pt x="8012" y="3284"/>
                  <a:pt x="8002" y="3285"/>
                  <a:pt x="7993" y="3285"/>
                </a:cubicBezTo>
                <a:lnTo>
                  <a:pt x="146" y="3285"/>
                </a:lnTo>
                <a:cubicBezTo>
                  <a:pt x="136" y="3285"/>
                  <a:pt x="127" y="3284"/>
                  <a:pt x="118" y="3282"/>
                </a:cubicBezTo>
                <a:cubicBezTo>
                  <a:pt x="108" y="3281"/>
                  <a:pt x="99" y="3278"/>
                  <a:pt x="90" y="3274"/>
                </a:cubicBezTo>
                <a:cubicBezTo>
                  <a:pt x="81" y="3271"/>
                  <a:pt x="73" y="3266"/>
                  <a:pt x="65" y="3261"/>
                </a:cubicBezTo>
                <a:cubicBezTo>
                  <a:pt x="57" y="3255"/>
                  <a:pt x="50" y="3249"/>
                  <a:pt x="43" y="3243"/>
                </a:cubicBezTo>
                <a:cubicBezTo>
                  <a:pt x="36" y="3236"/>
                  <a:pt x="30" y="3228"/>
                  <a:pt x="25" y="3220"/>
                </a:cubicBezTo>
                <a:cubicBezTo>
                  <a:pt x="19" y="3212"/>
                  <a:pt x="15" y="3204"/>
                  <a:pt x="11" y="3195"/>
                </a:cubicBezTo>
                <a:cubicBezTo>
                  <a:pt x="8" y="3186"/>
                  <a:pt x="5" y="3177"/>
                  <a:pt x="3" y="3168"/>
                </a:cubicBezTo>
                <a:cubicBezTo>
                  <a:pt x="1" y="3158"/>
                  <a:pt x="0" y="3149"/>
                  <a:pt x="0" y="3139"/>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62" name=""/>
          <p:cNvSpPr/>
          <p:nvPr/>
        </p:nvSpPr>
        <p:spPr>
          <a:xfrm>
            <a:off x="2311920" y="2237760"/>
            <a:ext cx="1550520" cy="158040"/>
          </a:xfrm>
          <a:custGeom>
            <a:avLst/>
            <a:gdLst/>
            <a:ahLst/>
            <a:rect l="0" t="0" r="r" b="b"/>
            <a:pathLst>
              <a:path w="4307" h="439">
                <a:moveTo>
                  <a:pt x="0" y="0"/>
                </a:moveTo>
                <a:lnTo>
                  <a:pt x="4307" y="0"/>
                </a:lnTo>
                <a:lnTo>
                  <a:pt x="4307" y="439"/>
                </a:lnTo>
                <a:lnTo>
                  <a:pt x="0" y="439"/>
                </a:lnTo>
                <a:lnTo>
                  <a:pt x="0" y="0"/>
                </a:lnTo>
                <a:close/>
              </a:path>
            </a:pathLst>
          </a:custGeom>
          <a:solidFill>
            <a:srgbClr val="d1fae5"/>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63" name=""/>
          <p:cNvSpPr/>
          <p:nvPr/>
        </p:nvSpPr>
        <p:spPr>
          <a:xfrm>
            <a:off x="3862080" y="2237760"/>
            <a:ext cx="1222200" cy="158040"/>
          </a:xfrm>
          <a:custGeom>
            <a:avLst/>
            <a:gdLst/>
            <a:ahLst/>
            <a:rect l="0" t="0" r="r" b="b"/>
            <a:pathLst>
              <a:path w="3395" h="439">
                <a:moveTo>
                  <a:pt x="0" y="0"/>
                </a:moveTo>
                <a:lnTo>
                  <a:pt x="3395" y="0"/>
                </a:lnTo>
                <a:lnTo>
                  <a:pt x="3395" y="439"/>
                </a:lnTo>
                <a:lnTo>
                  <a:pt x="0" y="439"/>
                </a:lnTo>
                <a:lnTo>
                  <a:pt x="0" y="0"/>
                </a:lnTo>
                <a:close/>
              </a:path>
            </a:pathLst>
          </a:custGeom>
          <a:solidFill>
            <a:srgbClr val="d1fae5"/>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64" name=""/>
          <p:cNvSpPr/>
          <p:nvPr/>
        </p:nvSpPr>
        <p:spPr>
          <a:xfrm>
            <a:off x="2311920" y="2395440"/>
            <a:ext cx="1550520" cy="158040"/>
          </a:xfrm>
          <a:custGeom>
            <a:avLst/>
            <a:gdLst/>
            <a:ahLst/>
            <a:rect l="0" t="0" r="r" b="b"/>
            <a:pathLst>
              <a:path w="4307" h="439">
                <a:moveTo>
                  <a:pt x="0" y="0"/>
                </a:moveTo>
                <a:lnTo>
                  <a:pt x="4307" y="0"/>
                </a:lnTo>
                <a:lnTo>
                  <a:pt x="4307" y="439"/>
                </a:lnTo>
                <a:lnTo>
                  <a:pt x="0" y="439"/>
                </a:lnTo>
                <a:lnTo>
                  <a:pt x="0" y="0"/>
                </a:lnTo>
                <a:close/>
              </a:path>
            </a:pathLst>
          </a:custGeom>
          <a:solidFill>
            <a:srgbClr val="ffff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65" name=""/>
          <p:cNvSpPr/>
          <p:nvPr/>
        </p:nvSpPr>
        <p:spPr>
          <a:xfrm>
            <a:off x="3862080" y="2395440"/>
            <a:ext cx="1222200" cy="158040"/>
          </a:xfrm>
          <a:custGeom>
            <a:avLst/>
            <a:gdLst/>
            <a:ahLst/>
            <a:rect l="0" t="0" r="r" b="b"/>
            <a:pathLst>
              <a:path w="3395" h="439">
                <a:moveTo>
                  <a:pt x="0" y="0"/>
                </a:moveTo>
                <a:lnTo>
                  <a:pt x="3395" y="0"/>
                </a:lnTo>
                <a:lnTo>
                  <a:pt x="3395" y="439"/>
                </a:lnTo>
                <a:lnTo>
                  <a:pt x="0" y="439"/>
                </a:lnTo>
                <a:lnTo>
                  <a:pt x="0" y="0"/>
                </a:lnTo>
                <a:close/>
              </a:path>
            </a:pathLst>
          </a:custGeom>
          <a:solidFill>
            <a:srgbClr val="ffff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66" name=""/>
          <p:cNvSpPr/>
          <p:nvPr/>
        </p:nvSpPr>
        <p:spPr>
          <a:xfrm>
            <a:off x="2311920" y="2553120"/>
            <a:ext cx="1550520" cy="158040"/>
          </a:xfrm>
          <a:custGeom>
            <a:avLst/>
            <a:gdLst/>
            <a:ahLst/>
            <a:rect l="0" t="0" r="r" b="b"/>
            <a:pathLst>
              <a:path w="4307" h="439">
                <a:moveTo>
                  <a:pt x="0" y="0"/>
                </a:moveTo>
                <a:lnTo>
                  <a:pt x="4307" y="0"/>
                </a:lnTo>
                <a:lnTo>
                  <a:pt x="4307" y="439"/>
                </a:lnTo>
                <a:lnTo>
                  <a:pt x="0" y="439"/>
                </a:lnTo>
                <a:lnTo>
                  <a:pt x="0" y="0"/>
                </a:lnTo>
                <a:close/>
              </a:path>
            </a:pathLst>
          </a:custGeom>
          <a:solidFill>
            <a:srgbClr val="eff6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67" name=""/>
          <p:cNvSpPr/>
          <p:nvPr/>
        </p:nvSpPr>
        <p:spPr>
          <a:xfrm>
            <a:off x="3862080" y="2553120"/>
            <a:ext cx="1222200" cy="158040"/>
          </a:xfrm>
          <a:custGeom>
            <a:avLst/>
            <a:gdLst/>
            <a:ahLst/>
            <a:rect l="0" t="0" r="r" b="b"/>
            <a:pathLst>
              <a:path w="3395" h="439">
                <a:moveTo>
                  <a:pt x="0" y="0"/>
                </a:moveTo>
                <a:lnTo>
                  <a:pt x="3395" y="0"/>
                </a:lnTo>
                <a:lnTo>
                  <a:pt x="3395" y="439"/>
                </a:lnTo>
                <a:lnTo>
                  <a:pt x="0" y="439"/>
                </a:lnTo>
                <a:lnTo>
                  <a:pt x="0" y="0"/>
                </a:lnTo>
                <a:close/>
              </a:path>
            </a:pathLst>
          </a:custGeom>
          <a:solidFill>
            <a:srgbClr val="eff6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68" name=""/>
          <p:cNvSpPr/>
          <p:nvPr/>
        </p:nvSpPr>
        <p:spPr>
          <a:xfrm>
            <a:off x="2311920" y="2710800"/>
            <a:ext cx="1550520" cy="157680"/>
          </a:xfrm>
          <a:custGeom>
            <a:avLst/>
            <a:gdLst/>
            <a:ahLst/>
            <a:rect l="0" t="0" r="r" b="b"/>
            <a:pathLst>
              <a:path w="4307" h="438">
                <a:moveTo>
                  <a:pt x="0" y="0"/>
                </a:moveTo>
                <a:lnTo>
                  <a:pt x="4307" y="0"/>
                </a:lnTo>
                <a:lnTo>
                  <a:pt x="4307" y="438"/>
                </a:lnTo>
                <a:lnTo>
                  <a:pt x="0" y="438"/>
                </a:lnTo>
                <a:lnTo>
                  <a:pt x="0" y="0"/>
                </a:lnTo>
                <a:close/>
              </a:path>
            </a:pathLst>
          </a:custGeom>
          <a:solidFill>
            <a:srgbClr val="ffff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69" name=""/>
          <p:cNvSpPr/>
          <p:nvPr/>
        </p:nvSpPr>
        <p:spPr>
          <a:xfrm>
            <a:off x="3862080" y="2710800"/>
            <a:ext cx="1222200" cy="157680"/>
          </a:xfrm>
          <a:custGeom>
            <a:avLst/>
            <a:gdLst/>
            <a:ahLst/>
            <a:rect l="0" t="0" r="r" b="b"/>
            <a:pathLst>
              <a:path w="3395" h="438">
                <a:moveTo>
                  <a:pt x="0" y="0"/>
                </a:moveTo>
                <a:lnTo>
                  <a:pt x="3395" y="0"/>
                </a:lnTo>
                <a:lnTo>
                  <a:pt x="3395" y="438"/>
                </a:lnTo>
                <a:lnTo>
                  <a:pt x="0" y="438"/>
                </a:lnTo>
                <a:lnTo>
                  <a:pt x="0" y="0"/>
                </a:lnTo>
                <a:close/>
              </a:path>
            </a:pathLst>
          </a:custGeom>
          <a:solidFill>
            <a:srgbClr val="ffff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70" name=""/>
          <p:cNvSpPr/>
          <p:nvPr/>
        </p:nvSpPr>
        <p:spPr>
          <a:xfrm>
            <a:off x="2311920" y="2868120"/>
            <a:ext cx="1550520" cy="158040"/>
          </a:xfrm>
          <a:custGeom>
            <a:avLst/>
            <a:gdLst/>
            <a:ahLst/>
            <a:rect l="0" t="0" r="r" b="b"/>
            <a:pathLst>
              <a:path w="4307" h="439">
                <a:moveTo>
                  <a:pt x="0" y="0"/>
                </a:moveTo>
                <a:lnTo>
                  <a:pt x="4307" y="0"/>
                </a:lnTo>
                <a:lnTo>
                  <a:pt x="4307" y="439"/>
                </a:lnTo>
                <a:lnTo>
                  <a:pt x="0" y="439"/>
                </a:lnTo>
                <a:lnTo>
                  <a:pt x="0" y="0"/>
                </a:lnTo>
                <a:close/>
              </a:path>
            </a:pathLst>
          </a:custGeom>
          <a:solidFill>
            <a:srgbClr val="eff6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71" name=""/>
          <p:cNvSpPr/>
          <p:nvPr/>
        </p:nvSpPr>
        <p:spPr>
          <a:xfrm>
            <a:off x="3862080" y="2868120"/>
            <a:ext cx="1222200" cy="158040"/>
          </a:xfrm>
          <a:custGeom>
            <a:avLst/>
            <a:gdLst/>
            <a:ahLst/>
            <a:rect l="0" t="0" r="r" b="b"/>
            <a:pathLst>
              <a:path w="3395" h="439">
                <a:moveTo>
                  <a:pt x="0" y="0"/>
                </a:moveTo>
                <a:lnTo>
                  <a:pt x="3395" y="0"/>
                </a:lnTo>
                <a:lnTo>
                  <a:pt x="3395" y="439"/>
                </a:lnTo>
                <a:lnTo>
                  <a:pt x="0" y="439"/>
                </a:lnTo>
                <a:lnTo>
                  <a:pt x="0" y="0"/>
                </a:lnTo>
                <a:close/>
              </a:path>
            </a:pathLst>
          </a:custGeom>
          <a:solidFill>
            <a:srgbClr val="eff6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72" name="" descr=""/>
          <p:cNvPicPr/>
          <p:nvPr/>
        </p:nvPicPr>
        <p:blipFill>
          <a:blip r:embed="rId10"/>
          <a:stretch/>
        </p:blipFill>
        <p:spPr>
          <a:xfrm>
            <a:off x="2312280" y="2027520"/>
            <a:ext cx="131040" cy="131040"/>
          </a:xfrm>
          <a:prstGeom prst="rect">
            <a:avLst/>
          </a:prstGeom>
          <a:noFill/>
          <a:ln w="0">
            <a:noFill/>
          </a:ln>
        </p:spPr>
      </p:pic>
      <p:sp>
        <p:nvSpPr>
          <p:cNvPr id="773" name=""/>
          <p:cNvSpPr txBox="1"/>
          <p:nvPr/>
        </p:nvSpPr>
        <p:spPr>
          <a:xfrm>
            <a:off x="7987320" y="163656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774" name=""/>
          <p:cNvSpPr txBox="1"/>
          <p:nvPr/>
        </p:nvSpPr>
        <p:spPr>
          <a:xfrm>
            <a:off x="2495880" y="2018880"/>
            <a:ext cx="1067760" cy="148320"/>
          </a:xfrm>
          <a:prstGeom prst="rect">
            <a:avLst/>
          </a:prstGeom>
          <a:noFill/>
          <a:ln w="0">
            <a:noFill/>
          </a:ln>
        </p:spPr>
        <p:txBody>
          <a:bodyPr wrap="none" lIns="0" rIns="0" tIns="0" bIns="0" anchor="t">
            <a:spAutoFit/>
          </a:bodyPr>
          <a:p>
            <a:r>
              <a:rPr b="0" lang="zh-CN" sz="930" strike="noStrike" u="none">
                <a:solidFill>
                  <a:srgbClr val="047857"/>
                </a:solidFill>
                <a:effectLst/>
                <a:uFillTx/>
                <a:latin typeface="WenQuanYiZenHei"/>
                <a:ea typeface="WenQuanYiZenHei"/>
              </a:rPr>
              <a:t>心臓カテーテル検査</a:t>
            </a:r>
            <a:endParaRPr b="0" lang="en-US" sz="930" strike="noStrike" u="none">
              <a:solidFill>
                <a:srgbClr val="000000"/>
              </a:solidFill>
              <a:effectLst/>
              <a:uFillTx/>
              <a:latin typeface="Times New Roman"/>
            </a:endParaRPr>
          </a:p>
        </p:txBody>
      </p:sp>
      <p:sp>
        <p:nvSpPr>
          <p:cNvPr id="775" name=""/>
          <p:cNvSpPr txBox="1"/>
          <p:nvPr/>
        </p:nvSpPr>
        <p:spPr>
          <a:xfrm>
            <a:off x="2364480" y="2266920"/>
            <a:ext cx="317880" cy="99720"/>
          </a:xfrm>
          <a:prstGeom prst="rect">
            <a:avLst/>
          </a:prstGeom>
          <a:noFill/>
          <a:ln w="0">
            <a:noFill/>
          </a:ln>
        </p:spPr>
        <p:txBody>
          <a:bodyPr wrap="none" lIns="0" rIns="0" tIns="0" bIns="0" anchor="t">
            <a:spAutoFit/>
          </a:bodyPr>
          <a:p>
            <a:r>
              <a:rPr b="0" lang="zh-CN" sz="620" strike="noStrike" u="none">
                <a:solidFill>
                  <a:srgbClr val="065f46"/>
                </a:solidFill>
                <a:effectLst/>
                <a:uFillTx/>
                <a:latin typeface="WenQuanYiZenHei"/>
                <a:ea typeface="WenQuanYiZenHei"/>
              </a:rPr>
              <a:t>検査項目</a:t>
            </a:r>
            <a:endParaRPr b="0" lang="en-US" sz="620" strike="noStrike" u="none">
              <a:solidFill>
                <a:srgbClr val="000000"/>
              </a:solidFill>
              <a:effectLst/>
              <a:uFillTx/>
              <a:latin typeface="Times New Roman"/>
            </a:endParaRPr>
          </a:p>
        </p:txBody>
      </p:sp>
      <p:sp>
        <p:nvSpPr>
          <p:cNvPr id="776" name=""/>
          <p:cNvSpPr txBox="1"/>
          <p:nvPr/>
        </p:nvSpPr>
        <p:spPr>
          <a:xfrm>
            <a:off x="4716000" y="2266920"/>
            <a:ext cx="317880" cy="99720"/>
          </a:xfrm>
          <a:prstGeom prst="rect">
            <a:avLst/>
          </a:prstGeom>
          <a:noFill/>
          <a:ln w="0">
            <a:noFill/>
          </a:ln>
        </p:spPr>
        <p:txBody>
          <a:bodyPr wrap="none" lIns="0" rIns="0" tIns="0" bIns="0" anchor="t">
            <a:spAutoFit/>
          </a:bodyPr>
          <a:p>
            <a:r>
              <a:rPr b="0" lang="zh-CN" sz="620" strike="noStrike" u="none">
                <a:solidFill>
                  <a:srgbClr val="065f46"/>
                </a:solidFill>
                <a:effectLst/>
                <a:uFillTx/>
                <a:latin typeface="WenQuanYiZenHei"/>
                <a:ea typeface="WenQuanYiZenHei"/>
              </a:rPr>
              <a:t>保険点数</a:t>
            </a:r>
            <a:endParaRPr b="0" lang="en-US" sz="620" strike="noStrike" u="none">
              <a:solidFill>
                <a:srgbClr val="000000"/>
              </a:solidFill>
              <a:effectLst/>
              <a:uFillTx/>
              <a:latin typeface="Times New Roman"/>
            </a:endParaRPr>
          </a:p>
        </p:txBody>
      </p:sp>
      <p:sp>
        <p:nvSpPr>
          <p:cNvPr id="777" name=""/>
          <p:cNvSpPr txBox="1"/>
          <p:nvPr/>
        </p:nvSpPr>
        <p:spPr>
          <a:xfrm>
            <a:off x="2364480" y="2424600"/>
            <a:ext cx="56304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右心カテーテル</a:t>
            </a:r>
            <a:endParaRPr b="0" lang="en-US" sz="620" strike="noStrike" u="none">
              <a:solidFill>
                <a:srgbClr val="000000"/>
              </a:solidFill>
              <a:effectLst/>
              <a:uFillTx/>
              <a:latin typeface="Times New Roman"/>
            </a:endParaRPr>
          </a:p>
        </p:txBody>
      </p:sp>
      <p:sp>
        <p:nvSpPr>
          <p:cNvPr id="778" name=""/>
          <p:cNvSpPr txBox="1"/>
          <p:nvPr/>
        </p:nvSpPr>
        <p:spPr>
          <a:xfrm>
            <a:off x="4726800" y="2427480"/>
            <a:ext cx="2275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3,000</a:t>
            </a:r>
            <a:endParaRPr b="0" lang="en-US" sz="620" strike="noStrike" u="none">
              <a:solidFill>
                <a:srgbClr val="000000"/>
              </a:solidFill>
              <a:effectLst/>
              <a:uFillTx/>
              <a:latin typeface="Times New Roman"/>
            </a:endParaRPr>
          </a:p>
        </p:txBody>
      </p:sp>
      <p:sp>
        <p:nvSpPr>
          <p:cNvPr id="779" name=""/>
          <p:cNvSpPr txBox="1"/>
          <p:nvPr/>
        </p:nvSpPr>
        <p:spPr>
          <a:xfrm>
            <a:off x="4952520" y="242460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780" name=""/>
          <p:cNvSpPr txBox="1"/>
          <p:nvPr/>
        </p:nvSpPr>
        <p:spPr>
          <a:xfrm>
            <a:off x="2364480" y="2582280"/>
            <a:ext cx="56304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左心カテーテル</a:t>
            </a:r>
            <a:endParaRPr b="0" lang="en-US" sz="620" strike="noStrike" u="none">
              <a:solidFill>
                <a:srgbClr val="000000"/>
              </a:solidFill>
              <a:effectLst/>
              <a:uFillTx/>
              <a:latin typeface="Times New Roman"/>
            </a:endParaRPr>
          </a:p>
        </p:txBody>
      </p:sp>
      <p:sp>
        <p:nvSpPr>
          <p:cNvPr id="781" name=""/>
          <p:cNvSpPr txBox="1"/>
          <p:nvPr/>
        </p:nvSpPr>
        <p:spPr>
          <a:xfrm>
            <a:off x="4726800" y="2585160"/>
            <a:ext cx="2275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4,000</a:t>
            </a:r>
            <a:endParaRPr b="0" lang="en-US" sz="620" strike="noStrike" u="none">
              <a:solidFill>
                <a:srgbClr val="000000"/>
              </a:solidFill>
              <a:effectLst/>
              <a:uFillTx/>
              <a:latin typeface="Times New Roman"/>
            </a:endParaRPr>
          </a:p>
        </p:txBody>
      </p:sp>
      <p:sp>
        <p:nvSpPr>
          <p:cNvPr id="782" name=""/>
          <p:cNvSpPr txBox="1"/>
          <p:nvPr/>
        </p:nvSpPr>
        <p:spPr>
          <a:xfrm>
            <a:off x="4952520" y="258228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783" name=""/>
          <p:cNvSpPr txBox="1"/>
          <p:nvPr/>
        </p:nvSpPr>
        <p:spPr>
          <a:xfrm>
            <a:off x="2364480" y="2739960"/>
            <a:ext cx="127440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冠動脈造影（左心カテと同時実施）</a:t>
            </a:r>
            <a:endParaRPr b="0" lang="en-US" sz="620" strike="noStrike" u="none">
              <a:solidFill>
                <a:srgbClr val="000000"/>
              </a:solidFill>
              <a:effectLst/>
              <a:uFillTx/>
              <a:latin typeface="Times New Roman"/>
            </a:endParaRPr>
          </a:p>
        </p:txBody>
      </p:sp>
      <p:sp>
        <p:nvSpPr>
          <p:cNvPr id="784" name=""/>
          <p:cNvSpPr txBox="1"/>
          <p:nvPr/>
        </p:nvSpPr>
        <p:spPr>
          <a:xfrm>
            <a:off x="4726800" y="2742840"/>
            <a:ext cx="2275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5,000</a:t>
            </a:r>
            <a:endParaRPr b="0" lang="en-US" sz="620" strike="noStrike" u="none">
              <a:solidFill>
                <a:srgbClr val="000000"/>
              </a:solidFill>
              <a:effectLst/>
              <a:uFillTx/>
              <a:latin typeface="Times New Roman"/>
            </a:endParaRPr>
          </a:p>
        </p:txBody>
      </p:sp>
      <p:sp>
        <p:nvSpPr>
          <p:cNvPr id="785" name=""/>
          <p:cNvSpPr txBox="1"/>
          <p:nvPr/>
        </p:nvSpPr>
        <p:spPr>
          <a:xfrm>
            <a:off x="4952520" y="273996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786" name=""/>
          <p:cNvSpPr txBox="1"/>
          <p:nvPr/>
        </p:nvSpPr>
        <p:spPr>
          <a:xfrm>
            <a:off x="2364480" y="2897640"/>
            <a:ext cx="3196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主な加算</a:t>
            </a:r>
            <a:endParaRPr b="0" lang="en-US" sz="620" strike="noStrike" u="none">
              <a:solidFill>
                <a:srgbClr val="000000"/>
              </a:solidFill>
              <a:effectLst/>
              <a:uFillTx/>
              <a:latin typeface="Times New Roman"/>
            </a:endParaRPr>
          </a:p>
        </p:txBody>
      </p:sp>
      <p:sp>
        <p:nvSpPr>
          <p:cNvPr id="787" name=""/>
          <p:cNvSpPr txBox="1"/>
          <p:nvPr/>
        </p:nvSpPr>
        <p:spPr>
          <a:xfrm>
            <a:off x="3916800" y="2900520"/>
            <a:ext cx="18648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IVUS</a:t>
            </a:r>
            <a:endParaRPr b="0" lang="en-US" sz="620" strike="noStrike" u="none">
              <a:solidFill>
                <a:srgbClr val="000000"/>
              </a:solidFill>
              <a:effectLst/>
              <a:uFillTx/>
              <a:latin typeface="Times New Roman"/>
            </a:endParaRPr>
          </a:p>
        </p:txBody>
      </p:sp>
      <p:sp>
        <p:nvSpPr>
          <p:cNvPr id="788" name=""/>
          <p:cNvSpPr txBox="1"/>
          <p:nvPr/>
        </p:nvSpPr>
        <p:spPr>
          <a:xfrm>
            <a:off x="4101480" y="289764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a:t>
            </a:r>
            <a:endParaRPr b="0" lang="en-US" sz="620" strike="noStrike" u="none">
              <a:solidFill>
                <a:srgbClr val="000000"/>
              </a:solidFill>
              <a:effectLst/>
              <a:uFillTx/>
              <a:latin typeface="Times New Roman"/>
            </a:endParaRPr>
          </a:p>
        </p:txBody>
      </p:sp>
      <p:sp>
        <p:nvSpPr>
          <p:cNvPr id="789" name=""/>
          <p:cNvSpPr txBox="1"/>
          <p:nvPr/>
        </p:nvSpPr>
        <p:spPr>
          <a:xfrm>
            <a:off x="4180320" y="2900520"/>
            <a:ext cx="16668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OCT</a:t>
            </a:r>
            <a:endParaRPr b="0" lang="en-US" sz="620" strike="noStrike" u="none">
              <a:solidFill>
                <a:srgbClr val="000000"/>
              </a:solidFill>
              <a:effectLst/>
              <a:uFillTx/>
              <a:latin typeface="Times New Roman"/>
            </a:endParaRPr>
          </a:p>
        </p:txBody>
      </p:sp>
      <p:sp>
        <p:nvSpPr>
          <p:cNvPr id="790" name=""/>
          <p:cNvSpPr txBox="1"/>
          <p:nvPr/>
        </p:nvSpPr>
        <p:spPr>
          <a:xfrm>
            <a:off x="4345560" y="289764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a:t>
            </a:r>
            <a:endParaRPr b="0" lang="en-US" sz="620" strike="noStrike" u="none">
              <a:solidFill>
                <a:srgbClr val="000000"/>
              </a:solidFill>
              <a:effectLst/>
              <a:uFillTx/>
              <a:latin typeface="Times New Roman"/>
            </a:endParaRPr>
          </a:p>
        </p:txBody>
      </p:sp>
      <p:sp>
        <p:nvSpPr>
          <p:cNvPr id="791" name=""/>
          <p:cNvSpPr txBox="1"/>
          <p:nvPr/>
        </p:nvSpPr>
        <p:spPr>
          <a:xfrm>
            <a:off x="4424400" y="2900520"/>
            <a:ext cx="14688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FFR</a:t>
            </a:r>
            <a:endParaRPr b="0" lang="en-US" sz="620" strike="noStrike" u="none">
              <a:solidFill>
                <a:srgbClr val="000000"/>
              </a:solidFill>
              <a:effectLst/>
              <a:uFillTx/>
              <a:latin typeface="Times New Roman"/>
            </a:endParaRPr>
          </a:p>
        </p:txBody>
      </p:sp>
      <p:sp>
        <p:nvSpPr>
          <p:cNvPr id="792" name=""/>
          <p:cNvSpPr/>
          <p:nvPr/>
        </p:nvSpPr>
        <p:spPr>
          <a:xfrm>
            <a:off x="5267880" y="1922400"/>
            <a:ext cx="2929680" cy="1182600"/>
          </a:xfrm>
          <a:custGeom>
            <a:avLst/>
            <a:gdLst/>
            <a:ahLst/>
            <a:rect l="0" t="0" r="r" b="b"/>
            <a:pathLst>
              <a:path w="8138" h="3285">
                <a:moveTo>
                  <a:pt x="0" y="3139"/>
                </a:moveTo>
                <a:lnTo>
                  <a:pt x="0" y="146"/>
                </a:lnTo>
                <a:cubicBezTo>
                  <a:pt x="0" y="136"/>
                  <a:pt x="1" y="127"/>
                  <a:pt x="2" y="118"/>
                </a:cubicBezTo>
                <a:cubicBezTo>
                  <a:pt x="4" y="108"/>
                  <a:pt x="7" y="99"/>
                  <a:pt x="11" y="90"/>
                </a:cubicBezTo>
                <a:cubicBezTo>
                  <a:pt x="14" y="81"/>
                  <a:pt x="19" y="73"/>
                  <a:pt x="24" y="65"/>
                </a:cubicBezTo>
                <a:cubicBezTo>
                  <a:pt x="30" y="57"/>
                  <a:pt x="36" y="50"/>
                  <a:pt x="42" y="43"/>
                </a:cubicBezTo>
                <a:cubicBezTo>
                  <a:pt x="49" y="36"/>
                  <a:pt x="57" y="30"/>
                  <a:pt x="64" y="25"/>
                </a:cubicBezTo>
                <a:cubicBezTo>
                  <a:pt x="72" y="19"/>
                  <a:pt x="81" y="15"/>
                  <a:pt x="90" y="11"/>
                </a:cubicBezTo>
                <a:cubicBezTo>
                  <a:pt x="99" y="7"/>
                  <a:pt x="108" y="5"/>
                  <a:pt x="117" y="3"/>
                </a:cubicBezTo>
                <a:cubicBezTo>
                  <a:pt x="127" y="1"/>
                  <a:pt x="136" y="0"/>
                  <a:pt x="146" y="0"/>
                </a:cubicBezTo>
                <a:lnTo>
                  <a:pt x="7992" y="0"/>
                </a:lnTo>
                <a:cubicBezTo>
                  <a:pt x="8002" y="0"/>
                  <a:pt x="8011" y="1"/>
                  <a:pt x="8021" y="3"/>
                </a:cubicBezTo>
                <a:cubicBezTo>
                  <a:pt x="8030" y="5"/>
                  <a:pt x="8039" y="7"/>
                  <a:pt x="8048" y="11"/>
                </a:cubicBezTo>
                <a:cubicBezTo>
                  <a:pt x="8057" y="15"/>
                  <a:pt x="8065" y="19"/>
                  <a:pt x="8073" y="25"/>
                </a:cubicBezTo>
                <a:cubicBezTo>
                  <a:pt x="8081" y="30"/>
                  <a:pt x="8089" y="36"/>
                  <a:pt x="8095" y="43"/>
                </a:cubicBezTo>
                <a:cubicBezTo>
                  <a:pt x="8102" y="50"/>
                  <a:pt x="8108" y="57"/>
                  <a:pt x="8114" y="65"/>
                </a:cubicBezTo>
                <a:cubicBezTo>
                  <a:pt x="8119" y="73"/>
                  <a:pt x="8123" y="81"/>
                  <a:pt x="8127" y="90"/>
                </a:cubicBezTo>
                <a:cubicBezTo>
                  <a:pt x="8131" y="99"/>
                  <a:pt x="8134" y="108"/>
                  <a:pt x="8135" y="118"/>
                </a:cubicBezTo>
                <a:cubicBezTo>
                  <a:pt x="8137" y="127"/>
                  <a:pt x="8138" y="136"/>
                  <a:pt x="8138" y="146"/>
                </a:cubicBezTo>
                <a:lnTo>
                  <a:pt x="8138" y="3139"/>
                </a:lnTo>
                <a:cubicBezTo>
                  <a:pt x="8138" y="3149"/>
                  <a:pt x="8137" y="3158"/>
                  <a:pt x="8135" y="3168"/>
                </a:cubicBezTo>
                <a:cubicBezTo>
                  <a:pt x="8134" y="3177"/>
                  <a:pt x="8131" y="3186"/>
                  <a:pt x="8127" y="3195"/>
                </a:cubicBezTo>
                <a:cubicBezTo>
                  <a:pt x="8123" y="3204"/>
                  <a:pt x="8119" y="3212"/>
                  <a:pt x="8114" y="3220"/>
                </a:cubicBezTo>
                <a:cubicBezTo>
                  <a:pt x="8108" y="3228"/>
                  <a:pt x="8102" y="3236"/>
                  <a:pt x="8095" y="3243"/>
                </a:cubicBezTo>
                <a:cubicBezTo>
                  <a:pt x="8089" y="3249"/>
                  <a:pt x="8081" y="3255"/>
                  <a:pt x="8073" y="3261"/>
                </a:cubicBezTo>
                <a:cubicBezTo>
                  <a:pt x="8065" y="3266"/>
                  <a:pt x="8057" y="3271"/>
                  <a:pt x="8048" y="3274"/>
                </a:cubicBezTo>
                <a:cubicBezTo>
                  <a:pt x="8039" y="3278"/>
                  <a:pt x="8030" y="3281"/>
                  <a:pt x="8021" y="3282"/>
                </a:cubicBezTo>
                <a:cubicBezTo>
                  <a:pt x="8011" y="3284"/>
                  <a:pt x="8002" y="3285"/>
                  <a:pt x="7992" y="3285"/>
                </a:cubicBezTo>
                <a:lnTo>
                  <a:pt x="146" y="3285"/>
                </a:lnTo>
                <a:cubicBezTo>
                  <a:pt x="136" y="3285"/>
                  <a:pt x="127" y="3284"/>
                  <a:pt x="117" y="3282"/>
                </a:cubicBezTo>
                <a:cubicBezTo>
                  <a:pt x="108" y="3281"/>
                  <a:pt x="99" y="3278"/>
                  <a:pt x="90" y="3274"/>
                </a:cubicBezTo>
                <a:cubicBezTo>
                  <a:pt x="81" y="3271"/>
                  <a:pt x="72" y="3266"/>
                  <a:pt x="64" y="3261"/>
                </a:cubicBezTo>
                <a:cubicBezTo>
                  <a:pt x="57" y="3255"/>
                  <a:pt x="49" y="3249"/>
                  <a:pt x="42" y="3243"/>
                </a:cubicBezTo>
                <a:cubicBezTo>
                  <a:pt x="36" y="3236"/>
                  <a:pt x="30" y="3228"/>
                  <a:pt x="24" y="3220"/>
                </a:cubicBezTo>
                <a:cubicBezTo>
                  <a:pt x="19" y="3212"/>
                  <a:pt x="14" y="3204"/>
                  <a:pt x="11" y="3195"/>
                </a:cubicBezTo>
                <a:cubicBezTo>
                  <a:pt x="7" y="3186"/>
                  <a:pt x="4" y="3177"/>
                  <a:pt x="2" y="3168"/>
                </a:cubicBezTo>
                <a:cubicBezTo>
                  <a:pt x="1" y="3158"/>
                  <a:pt x="0" y="3149"/>
                  <a:pt x="0" y="3139"/>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93" name=""/>
          <p:cNvSpPr/>
          <p:nvPr/>
        </p:nvSpPr>
        <p:spPr>
          <a:xfrm>
            <a:off x="5346720" y="2237760"/>
            <a:ext cx="1373040" cy="158040"/>
          </a:xfrm>
          <a:custGeom>
            <a:avLst/>
            <a:gdLst/>
            <a:ahLst/>
            <a:rect l="0" t="0" r="r" b="b"/>
            <a:pathLst>
              <a:path w="3814" h="439">
                <a:moveTo>
                  <a:pt x="0" y="0"/>
                </a:moveTo>
                <a:lnTo>
                  <a:pt x="3814" y="0"/>
                </a:lnTo>
                <a:lnTo>
                  <a:pt x="3814" y="439"/>
                </a:lnTo>
                <a:lnTo>
                  <a:pt x="0" y="439"/>
                </a:lnTo>
                <a:lnTo>
                  <a:pt x="0" y="0"/>
                </a:lnTo>
                <a:close/>
              </a:path>
            </a:pathLst>
          </a:custGeom>
          <a:solidFill>
            <a:srgbClr val="ede9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94" name=""/>
          <p:cNvSpPr/>
          <p:nvPr/>
        </p:nvSpPr>
        <p:spPr>
          <a:xfrm>
            <a:off x="6719400" y="2237760"/>
            <a:ext cx="1399320" cy="158040"/>
          </a:xfrm>
          <a:custGeom>
            <a:avLst/>
            <a:gdLst/>
            <a:ahLst/>
            <a:rect l="0" t="0" r="r" b="b"/>
            <a:pathLst>
              <a:path w="3887" h="439">
                <a:moveTo>
                  <a:pt x="0" y="0"/>
                </a:moveTo>
                <a:lnTo>
                  <a:pt x="3887" y="0"/>
                </a:lnTo>
                <a:lnTo>
                  <a:pt x="3887" y="439"/>
                </a:lnTo>
                <a:lnTo>
                  <a:pt x="0" y="439"/>
                </a:lnTo>
                <a:lnTo>
                  <a:pt x="0" y="0"/>
                </a:lnTo>
                <a:close/>
              </a:path>
            </a:pathLst>
          </a:custGeom>
          <a:solidFill>
            <a:srgbClr val="ede9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95" name=""/>
          <p:cNvSpPr/>
          <p:nvPr/>
        </p:nvSpPr>
        <p:spPr>
          <a:xfrm>
            <a:off x="5346720" y="2395440"/>
            <a:ext cx="1373040" cy="158040"/>
          </a:xfrm>
          <a:custGeom>
            <a:avLst/>
            <a:gdLst/>
            <a:ahLst/>
            <a:rect l="0" t="0" r="r" b="b"/>
            <a:pathLst>
              <a:path w="3814" h="439">
                <a:moveTo>
                  <a:pt x="0" y="0"/>
                </a:moveTo>
                <a:lnTo>
                  <a:pt x="3814" y="0"/>
                </a:lnTo>
                <a:lnTo>
                  <a:pt x="3814" y="439"/>
                </a:lnTo>
                <a:lnTo>
                  <a:pt x="0" y="439"/>
                </a:lnTo>
                <a:lnTo>
                  <a:pt x="0" y="0"/>
                </a:lnTo>
                <a:close/>
              </a:path>
            </a:pathLst>
          </a:custGeom>
          <a:solidFill>
            <a:srgbClr val="ffff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96" name=""/>
          <p:cNvSpPr/>
          <p:nvPr/>
        </p:nvSpPr>
        <p:spPr>
          <a:xfrm>
            <a:off x="6719400" y="2395440"/>
            <a:ext cx="1399320" cy="158040"/>
          </a:xfrm>
          <a:custGeom>
            <a:avLst/>
            <a:gdLst/>
            <a:ahLst/>
            <a:rect l="0" t="0" r="r" b="b"/>
            <a:pathLst>
              <a:path w="3887" h="439">
                <a:moveTo>
                  <a:pt x="0" y="0"/>
                </a:moveTo>
                <a:lnTo>
                  <a:pt x="3887" y="0"/>
                </a:lnTo>
                <a:lnTo>
                  <a:pt x="3887" y="439"/>
                </a:lnTo>
                <a:lnTo>
                  <a:pt x="0" y="439"/>
                </a:lnTo>
                <a:lnTo>
                  <a:pt x="0" y="0"/>
                </a:lnTo>
                <a:close/>
              </a:path>
            </a:pathLst>
          </a:custGeom>
          <a:solidFill>
            <a:srgbClr val="ffff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97" name=""/>
          <p:cNvSpPr/>
          <p:nvPr/>
        </p:nvSpPr>
        <p:spPr>
          <a:xfrm>
            <a:off x="5346720" y="2553120"/>
            <a:ext cx="1373040" cy="158040"/>
          </a:xfrm>
          <a:custGeom>
            <a:avLst/>
            <a:gdLst/>
            <a:ahLst/>
            <a:rect l="0" t="0" r="r" b="b"/>
            <a:pathLst>
              <a:path w="3814" h="439">
                <a:moveTo>
                  <a:pt x="0" y="0"/>
                </a:moveTo>
                <a:lnTo>
                  <a:pt x="3814" y="0"/>
                </a:lnTo>
                <a:lnTo>
                  <a:pt x="3814" y="439"/>
                </a:lnTo>
                <a:lnTo>
                  <a:pt x="0" y="439"/>
                </a:lnTo>
                <a:lnTo>
                  <a:pt x="0" y="0"/>
                </a:lnTo>
                <a:close/>
              </a:path>
            </a:pathLst>
          </a:custGeom>
          <a:solidFill>
            <a:srgbClr val="eff6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98" name=""/>
          <p:cNvSpPr/>
          <p:nvPr/>
        </p:nvSpPr>
        <p:spPr>
          <a:xfrm>
            <a:off x="6719400" y="2553120"/>
            <a:ext cx="1399320" cy="158040"/>
          </a:xfrm>
          <a:custGeom>
            <a:avLst/>
            <a:gdLst/>
            <a:ahLst/>
            <a:rect l="0" t="0" r="r" b="b"/>
            <a:pathLst>
              <a:path w="3887" h="439">
                <a:moveTo>
                  <a:pt x="0" y="0"/>
                </a:moveTo>
                <a:lnTo>
                  <a:pt x="3887" y="0"/>
                </a:lnTo>
                <a:lnTo>
                  <a:pt x="3887" y="439"/>
                </a:lnTo>
                <a:lnTo>
                  <a:pt x="0" y="439"/>
                </a:lnTo>
                <a:lnTo>
                  <a:pt x="0" y="0"/>
                </a:lnTo>
                <a:close/>
              </a:path>
            </a:pathLst>
          </a:custGeom>
          <a:solidFill>
            <a:srgbClr val="eff6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99" name=""/>
          <p:cNvSpPr/>
          <p:nvPr/>
        </p:nvSpPr>
        <p:spPr>
          <a:xfrm>
            <a:off x="5346720" y="2710800"/>
            <a:ext cx="1373040" cy="157680"/>
          </a:xfrm>
          <a:custGeom>
            <a:avLst/>
            <a:gdLst/>
            <a:ahLst/>
            <a:rect l="0" t="0" r="r" b="b"/>
            <a:pathLst>
              <a:path w="3814" h="438">
                <a:moveTo>
                  <a:pt x="0" y="0"/>
                </a:moveTo>
                <a:lnTo>
                  <a:pt x="3814" y="0"/>
                </a:lnTo>
                <a:lnTo>
                  <a:pt x="3814" y="438"/>
                </a:lnTo>
                <a:lnTo>
                  <a:pt x="0" y="438"/>
                </a:lnTo>
                <a:lnTo>
                  <a:pt x="0" y="0"/>
                </a:lnTo>
                <a:close/>
              </a:path>
            </a:pathLst>
          </a:custGeom>
          <a:solidFill>
            <a:srgbClr val="ffff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00" name=""/>
          <p:cNvSpPr/>
          <p:nvPr/>
        </p:nvSpPr>
        <p:spPr>
          <a:xfrm>
            <a:off x="6719400" y="2710800"/>
            <a:ext cx="1399320" cy="157680"/>
          </a:xfrm>
          <a:custGeom>
            <a:avLst/>
            <a:gdLst/>
            <a:ahLst/>
            <a:rect l="0" t="0" r="r" b="b"/>
            <a:pathLst>
              <a:path w="3887" h="438">
                <a:moveTo>
                  <a:pt x="0" y="0"/>
                </a:moveTo>
                <a:lnTo>
                  <a:pt x="3887" y="0"/>
                </a:lnTo>
                <a:lnTo>
                  <a:pt x="3887" y="438"/>
                </a:lnTo>
                <a:lnTo>
                  <a:pt x="0" y="438"/>
                </a:lnTo>
                <a:lnTo>
                  <a:pt x="0" y="0"/>
                </a:lnTo>
                <a:close/>
              </a:path>
            </a:pathLst>
          </a:custGeom>
          <a:solidFill>
            <a:srgbClr val="ffffff">
              <a:alpha val="6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801" name="" descr=""/>
          <p:cNvPicPr/>
          <p:nvPr/>
        </p:nvPicPr>
        <p:blipFill>
          <a:blip r:embed="rId11"/>
          <a:stretch/>
        </p:blipFill>
        <p:spPr>
          <a:xfrm>
            <a:off x="5346720" y="2027520"/>
            <a:ext cx="131040" cy="131040"/>
          </a:xfrm>
          <a:prstGeom prst="rect">
            <a:avLst/>
          </a:prstGeom>
          <a:noFill/>
          <a:ln w="0">
            <a:noFill/>
          </a:ln>
        </p:spPr>
      </p:pic>
      <p:sp>
        <p:nvSpPr>
          <p:cNvPr id="802" name=""/>
          <p:cNvSpPr txBox="1"/>
          <p:nvPr/>
        </p:nvSpPr>
        <p:spPr>
          <a:xfrm>
            <a:off x="4569840" y="2897640"/>
            <a:ext cx="3214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測定など</a:t>
            </a:r>
            <a:endParaRPr b="0" lang="en-US" sz="620" strike="noStrike" u="none">
              <a:solidFill>
                <a:srgbClr val="000000"/>
              </a:solidFill>
              <a:effectLst/>
              <a:uFillTx/>
              <a:latin typeface="Times New Roman"/>
            </a:endParaRPr>
          </a:p>
        </p:txBody>
      </p:sp>
      <p:sp>
        <p:nvSpPr>
          <p:cNvPr id="803" name=""/>
          <p:cNvSpPr txBox="1"/>
          <p:nvPr/>
        </p:nvSpPr>
        <p:spPr>
          <a:xfrm>
            <a:off x="5530680" y="2018880"/>
            <a:ext cx="713160" cy="148320"/>
          </a:xfrm>
          <a:prstGeom prst="rect">
            <a:avLst/>
          </a:prstGeom>
          <a:noFill/>
          <a:ln w="0">
            <a:noFill/>
          </a:ln>
        </p:spPr>
        <p:txBody>
          <a:bodyPr wrap="none" lIns="0" rIns="0" tIns="0" bIns="0" anchor="t">
            <a:spAutoFit/>
          </a:bodyPr>
          <a:p>
            <a:r>
              <a:rPr b="0" lang="zh-CN" sz="930" strike="noStrike" u="none">
                <a:solidFill>
                  <a:srgbClr val="6d28d9"/>
                </a:solidFill>
                <a:effectLst/>
                <a:uFillTx/>
                <a:latin typeface="WenQuanYiZenHei"/>
                <a:ea typeface="WenQuanYiZenHei"/>
              </a:rPr>
              <a:t>その他の検査</a:t>
            </a:r>
            <a:endParaRPr b="0" lang="en-US" sz="930" strike="noStrike" u="none">
              <a:solidFill>
                <a:srgbClr val="000000"/>
              </a:solidFill>
              <a:effectLst/>
              <a:uFillTx/>
              <a:latin typeface="Times New Roman"/>
            </a:endParaRPr>
          </a:p>
        </p:txBody>
      </p:sp>
      <p:sp>
        <p:nvSpPr>
          <p:cNvPr id="804" name=""/>
          <p:cNvSpPr txBox="1"/>
          <p:nvPr/>
        </p:nvSpPr>
        <p:spPr>
          <a:xfrm>
            <a:off x="5399280" y="2266920"/>
            <a:ext cx="317880" cy="99720"/>
          </a:xfrm>
          <a:prstGeom prst="rect">
            <a:avLst/>
          </a:prstGeom>
          <a:noFill/>
          <a:ln w="0">
            <a:noFill/>
          </a:ln>
        </p:spPr>
        <p:txBody>
          <a:bodyPr wrap="none" lIns="0" rIns="0" tIns="0" bIns="0" anchor="t">
            <a:spAutoFit/>
          </a:bodyPr>
          <a:p>
            <a:r>
              <a:rPr b="0" lang="zh-CN" sz="620" strike="noStrike" u="none">
                <a:solidFill>
                  <a:srgbClr val="5b21b6"/>
                </a:solidFill>
                <a:effectLst/>
                <a:uFillTx/>
                <a:latin typeface="WenQuanYiZenHei"/>
                <a:ea typeface="WenQuanYiZenHei"/>
              </a:rPr>
              <a:t>検査項目</a:t>
            </a:r>
            <a:endParaRPr b="0" lang="en-US" sz="620" strike="noStrike" u="none">
              <a:solidFill>
                <a:srgbClr val="000000"/>
              </a:solidFill>
              <a:effectLst/>
              <a:uFillTx/>
              <a:latin typeface="Times New Roman"/>
            </a:endParaRPr>
          </a:p>
        </p:txBody>
      </p:sp>
      <p:sp>
        <p:nvSpPr>
          <p:cNvPr id="805" name=""/>
          <p:cNvSpPr txBox="1"/>
          <p:nvPr/>
        </p:nvSpPr>
        <p:spPr>
          <a:xfrm>
            <a:off x="7750800" y="2266920"/>
            <a:ext cx="317880" cy="99720"/>
          </a:xfrm>
          <a:prstGeom prst="rect">
            <a:avLst/>
          </a:prstGeom>
          <a:noFill/>
          <a:ln w="0">
            <a:noFill/>
          </a:ln>
        </p:spPr>
        <p:txBody>
          <a:bodyPr wrap="none" lIns="0" rIns="0" tIns="0" bIns="0" anchor="t">
            <a:spAutoFit/>
          </a:bodyPr>
          <a:p>
            <a:r>
              <a:rPr b="0" lang="zh-CN" sz="620" strike="noStrike" u="none">
                <a:solidFill>
                  <a:srgbClr val="5b21b6"/>
                </a:solidFill>
                <a:effectLst/>
                <a:uFillTx/>
                <a:latin typeface="WenQuanYiZenHei"/>
                <a:ea typeface="WenQuanYiZenHei"/>
              </a:rPr>
              <a:t>保険点数</a:t>
            </a:r>
            <a:endParaRPr b="0" lang="en-US" sz="620" strike="noStrike" u="none">
              <a:solidFill>
                <a:srgbClr val="000000"/>
              </a:solidFill>
              <a:effectLst/>
              <a:uFillTx/>
              <a:latin typeface="Times New Roman"/>
            </a:endParaRPr>
          </a:p>
        </p:txBody>
      </p:sp>
      <p:sp>
        <p:nvSpPr>
          <p:cNvPr id="806" name=""/>
          <p:cNvSpPr txBox="1"/>
          <p:nvPr/>
        </p:nvSpPr>
        <p:spPr>
          <a:xfrm>
            <a:off x="5399280" y="2427480"/>
            <a:ext cx="13284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ABI</a:t>
            </a:r>
            <a:endParaRPr b="0" lang="en-US" sz="620" strike="noStrike" u="none">
              <a:solidFill>
                <a:srgbClr val="000000"/>
              </a:solidFill>
              <a:effectLst/>
              <a:uFillTx/>
              <a:latin typeface="Times New Roman"/>
            </a:endParaRPr>
          </a:p>
        </p:txBody>
      </p:sp>
      <p:sp>
        <p:nvSpPr>
          <p:cNvPr id="807" name=""/>
          <p:cNvSpPr txBox="1"/>
          <p:nvPr/>
        </p:nvSpPr>
        <p:spPr>
          <a:xfrm>
            <a:off x="5530680" y="2424600"/>
            <a:ext cx="95184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検査（足関節上腕血圧比）</a:t>
            </a:r>
            <a:endParaRPr b="0" lang="en-US" sz="620" strike="noStrike" u="none">
              <a:solidFill>
                <a:srgbClr val="000000"/>
              </a:solidFill>
              <a:effectLst/>
              <a:uFillTx/>
              <a:latin typeface="Times New Roman"/>
            </a:endParaRPr>
          </a:p>
        </p:txBody>
      </p:sp>
      <p:sp>
        <p:nvSpPr>
          <p:cNvPr id="808" name=""/>
          <p:cNvSpPr txBox="1"/>
          <p:nvPr/>
        </p:nvSpPr>
        <p:spPr>
          <a:xfrm>
            <a:off x="7836840" y="2427480"/>
            <a:ext cx="1519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150</a:t>
            </a:r>
            <a:endParaRPr b="0" lang="en-US" sz="620" strike="noStrike" u="none">
              <a:solidFill>
                <a:srgbClr val="000000"/>
              </a:solidFill>
              <a:effectLst/>
              <a:uFillTx/>
              <a:latin typeface="Times New Roman"/>
            </a:endParaRPr>
          </a:p>
        </p:txBody>
      </p:sp>
      <p:sp>
        <p:nvSpPr>
          <p:cNvPr id="809" name=""/>
          <p:cNvSpPr txBox="1"/>
          <p:nvPr/>
        </p:nvSpPr>
        <p:spPr>
          <a:xfrm>
            <a:off x="7987320" y="242460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810" name=""/>
          <p:cNvSpPr txBox="1"/>
          <p:nvPr/>
        </p:nvSpPr>
        <p:spPr>
          <a:xfrm>
            <a:off x="5399280" y="2585160"/>
            <a:ext cx="18108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PWV</a:t>
            </a:r>
            <a:endParaRPr b="0" lang="en-US" sz="620" strike="noStrike" u="none">
              <a:solidFill>
                <a:srgbClr val="000000"/>
              </a:solidFill>
              <a:effectLst/>
              <a:uFillTx/>
              <a:latin typeface="Times New Roman"/>
            </a:endParaRPr>
          </a:p>
        </p:txBody>
      </p:sp>
      <p:sp>
        <p:nvSpPr>
          <p:cNvPr id="811" name=""/>
          <p:cNvSpPr txBox="1"/>
          <p:nvPr/>
        </p:nvSpPr>
        <p:spPr>
          <a:xfrm>
            <a:off x="5578560" y="2582280"/>
            <a:ext cx="793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検査（脈波伝播速度）</a:t>
            </a:r>
            <a:endParaRPr b="0" lang="en-US" sz="620" strike="noStrike" u="none">
              <a:solidFill>
                <a:srgbClr val="000000"/>
              </a:solidFill>
              <a:effectLst/>
              <a:uFillTx/>
              <a:latin typeface="Times New Roman"/>
            </a:endParaRPr>
          </a:p>
        </p:txBody>
      </p:sp>
      <p:sp>
        <p:nvSpPr>
          <p:cNvPr id="812" name=""/>
          <p:cNvSpPr txBox="1"/>
          <p:nvPr/>
        </p:nvSpPr>
        <p:spPr>
          <a:xfrm>
            <a:off x="7836840" y="2585160"/>
            <a:ext cx="15192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150</a:t>
            </a:r>
            <a:endParaRPr b="0" lang="en-US" sz="620" strike="noStrike" u="none">
              <a:solidFill>
                <a:srgbClr val="000000"/>
              </a:solidFill>
              <a:effectLst/>
              <a:uFillTx/>
              <a:latin typeface="Times New Roman"/>
            </a:endParaRPr>
          </a:p>
        </p:txBody>
      </p:sp>
      <p:sp>
        <p:nvSpPr>
          <p:cNvPr id="813" name=""/>
          <p:cNvSpPr txBox="1"/>
          <p:nvPr/>
        </p:nvSpPr>
        <p:spPr>
          <a:xfrm>
            <a:off x="7987320" y="258228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814" name=""/>
          <p:cNvSpPr txBox="1"/>
          <p:nvPr/>
        </p:nvSpPr>
        <p:spPr>
          <a:xfrm>
            <a:off x="5399280" y="2739960"/>
            <a:ext cx="1591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備考</a:t>
            </a:r>
            <a:endParaRPr b="0" lang="en-US" sz="620" strike="noStrike" u="none">
              <a:solidFill>
                <a:srgbClr val="000000"/>
              </a:solidFill>
              <a:effectLst/>
              <a:uFillTx/>
              <a:latin typeface="Times New Roman"/>
            </a:endParaRPr>
          </a:p>
        </p:txBody>
      </p:sp>
      <p:sp>
        <p:nvSpPr>
          <p:cNvPr id="815" name=""/>
          <p:cNvSpPr/>
          <p:nvPr/>
        </p:nvSpPr>
        <p:spPr>
          <a:xfrm>
            <a:off x="223200" y="4313520"/>
            <a:ext cx="7974360" cy="210240"/>
          </a:xfrm>
          <a:custGeom>
            <a:avLst/>
            <a:gdLst/>
            <a:ahLst/>
            <a:rect l="0" t="0" r="r" b="b"/>
            <a:pathLst>
              <a:path w="22151" h="584">
                <a:moveTo>
                  <a:pt x="0" y="474"/>
                </a:moveTo>
                <a:lnTo>
                  <a:pt x="0" y="109"/>
                </a:lnTo>
                <a:cubicBezTo>
                  <a:pt x="0" y="94"/>
                  <a:pt x="2" y="81"/>
                  <a:pt x="5" y="67"/>
                </a:cubicBezTo>
                <a:cubicBezTo>
                  <a:pt x="9" y="54"/>
                  <a:pt x="14" y="42"/>
                  <a:pt x="21" y="32"/>
                </a:cubicBezTo>
                <a:cubicBezTo>
                  <a:pt x="28" y="21"/>
                  <a:pt x="36" y="13"/>
                  <a:pt x="45" y="8"/>
                </a:cubicBezTo>
                <a:cubicBezTo>
                  <a:pt x="54" y="2"/>
                  <a:pt x="63" y="0"/>
                  <a:pt x="73" y="0"/>
                </a:cubicBezTo>
                <a:lnTo>
                  <a:pt x="22042" y="0"/>
                </a:lnTo>
                <a:cubicBezTo>
                  <a:pt x="22056" y="0"/>
                  <a:pt x="22070" y="2"/>
                  <a:pt x="22084" y="8"/>
                </a:cubicBezTo>
                <a:cubicBezTo>
                  <a:pt x="22097" y="13"/>
                  <a:pt x="22109" y="21"/>
                  <a:pt x="22119" y="32"/>
                </a:cubicBezTo>
                <a:cubicBezTo>
                  <a:pt x="22129" y="42"/>
                  <a:pt x="22137" y="54"/>
                  <a:pt x="22143" y="67"/>
                </a:cubicBezTo>
                <a:cubicBezTo>
                  <a:pt x="22148" y="81"/>
                  <a:pt x="22151" y="94"/>
                  <a:pt x="22151" y="109"/>
                </a:cubicBezTo>
                <a:lnTo>
                  <a:pt x="22151" y="474"/>
                </a:lnTo>
                <a:cubicBezTo>
                  <a:pt x="22151" y="488"/>
                  <a:pt x="22148" y="502"/>
                  <a:pt x="22143" y="516"/>
                </a:cubicBezTo>
                <a:cubicBezTo>
                  <a:pt x="22137" y="529"/>
                  <a:pt x="22129" y="541"/>
                  <a:pt x="22119" y="551"/>
                </a:cubicBezTo>
                <a:cubicBezTo>
                  <a:pt x="22109" y="563"/>
                  <a:pt x="22097" y="570"/>
                  <a:pt x="22084" y="576"/>
                </a:cubicBezTo>
                <a:cubicBezTo>
                  <a:pt x="22070" y="582"/>
                  <a:pt x="22056" y="584"/>
                  <a:pt x="22042" y="584"/>
                </a:cubicBezTo>
                <a:lnTo>
                  <a:pt x="73" y="584"/>
                </a:lnTo>
                <a:cubicBezTo>
                  <a:pt x="63" y="584"/>
                  <a:pt x="54" y="582"/>
                  <a:pt x="45" y="576"/>
                </a:cubicBezTo>
                <a:cubicBezTo>
                  <a:pt x="36" y="570"/>
                  <a:pt x="28" y="563"/>
                  <a:pt x="21" y="551"/>
                </a:cubicBezTo>
                <a:cubicBezTo>
                  <a:pt x="14" y="541"/>
                  <a:pt x="9" y="529"/>
                  <a:pt x="5" y="516"/>
                </a:cubicBezTo>
                <a:cubicBezTo>
                  <a:pt x="2" y="502"/>
                  <a:pt x="0" y="488"/>
                  <a:pt x="0" y="474"/>
                </a:cubicBezTo>
                <a:close/>
              </a:path>
            </a:pathLst>
          </a:custGeom>
          <a:solidFill>
            <a:srgbClr val="fffbeb">
              <a:alpha val="8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16" name=""/>
          <p:cNvSpPr/>
          <p:nvPr/>
        </p:nvSpPr>
        <p:spPr>
          <a:xfrm>
            <a:off x="209880" y="4313520"/>
            <a:ext cx="39960" cy="210240"/>
          </a:xfrm>
          <a:custGeom>
            <a:avLst/>
            <a:gdLst/>
            <a:ahLst/>
            <a:rect l="0" t="0" r="r" b="b"/>
            <a:pathLst>
              <a:path w="111" h="584">
                <a:moveTo>
                  <a:pt x="85" y="32"/>
                </a:moveTo>
                <a:cubicBezTo>
                  <a:pt x="78" y="53"/>
                  <a:pt x="74" y="79"/>
                  <a:pt x="74" y="109"/>
                </a:cubicBezTo>
                <a:lnTo>
                  <a:pt x="74" y="474"/>
                </a:lnTo>
                <a:cubicBezTo>
                  <a:pt x="74" y="504"/>
                  <a:pt x="78" y="530"/>
                  <a:pt x="85" y="551"/>
                </a:cubicBezTo>
                <a:cubicBezTo>
                  <a:pt x="92" y="574"/>
                  <a:pt x="101" y="584"/>
                  <a:pt x="111" y="584"/>
                </a:cubicBezTo>
                <a:cubicBezTo>
                  <a:pt x="81" y="584"/>
                  <a:pt x="55" y="574"/>
                  <a:pt x="33" y="551"/>
                </a:cubicBezTo>
                <a:cubicBezTo>
                  <a:pt x="11" y="530"/>
                  <a:pt x="0" y="504"/>
                  <a:pt x="0" y="474"/>
                </a:cubicBezTo>
                <a:lnTo>
                  <a:pt x="0" y="109"/>
                </a:lnTo>
                <a:cubicBezTo>
                  <a:pt x="0" y="79"/>
                  <a:pt x="11" y="53"/>
                  <a:pt x="33" y="32"/>
                </a:cubicBezTo>
                <a:cubicBezTo>
                  <a:pt x="55" y="10"/>
                  <a:pt x="81" y="0"/>
                  <a:pt x="111" y="0"/>
                </a:cubicBezTo>
                <a:cubicBezTo>
                  <a:pt x="101" y="0"/>
                  <a:pt x="92" y="10"/>
                  <a:pt x="85" y="32"/>
                </a:cubicBezTo>
                <a:close/>
              </a:path>
            </a:pathLst>
          </a:custGeom>
          <a:solidFill>
            <a:srgbClr val="fbbf24"/>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17" name=""/>
          <p:cNvSpPr txBox="1"/>
          <p:nvPr/>
        </p:nvSpPr>
        <p:spPr>
          <a:xfrm>
            <a:off x="6769800" y="2739960"/>
            <a:ext cx="111204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末梢動脈疾患・動脈硬化の評価</a:t>
            </a:r>
            <a:endParaRPr b="0" lang="en-US" sz="620" strike="noStrike" u="none">
              <a:solidFill>
                <a:srgbClr val="000000"/>
              </a:solidFill>
              <a:effectLst/>
              <a:uFillTx/>
              <a:latin typeface="Times New Roman"/>
            </a:endParaRPr>
          </a:p>
        </p:txBody>
      </p:sp>
      <p:sp>
        <p:nvSpPr>
          <p:cNvPr id="818" name=""/>
          <p:cNvSpPr txBox="1"/>
          <p:nvPr/>
        </p:nvSpPr>
        <p:spPr>
          <a:xfrm>
            <a:off x="289080" y="4368960"/>
            <a:ext cx="79920" cy="99720"/>
          </a:xfrm>
          <a:prstGeom prst="rect">
            <a:avLst/>
          </a:prstGeom>
          <a:noFill/>
          <a:ln w="0">
            <a:noFill/>
          </a:ln>
        </p:spPr>
        <p:txBody>
          <a:bodyPr wrap="none" lIns="0" rIns="0" tIns="0" bIns="0" anchor="t">
            <a:spAutoFit/>
          </a:bodyPr>
          <a:p>
            <a:r>
              <a:rPr b="0" lang="zh-CN" sz="620" strike="noStrike" u="none">
                <a:solidFill>
                  <a:srgbClr val="b45309"/>
                </a:solidFill>
                <a:effectLst/>
                <a:uFillTx/>
                <a:latin typeface="WenQuanYiZenHei"/>
                <a:ea typeface="WenQuanYiZenHei"/>
              </a:rPr>
              <a:t>注</a:t>
            </a:r>
            <a:endParaRPr b="0" lang="en-US" sz="620" strike="noStrike" u="none">
              <a:solidFill>
                <a:srgbClr val="000000"/>
              </a:solidFill>
              <a:effectLst/>
              <a:uFillTx/>
              <a:latin typeface="Times New Roman"/>
            </a:endParaRPr>
          </a:p>
        </p:txBody>
      </p:sp>
      <p:sp>
        <p:nvSpPr>
          <p:cNvPr id="819" name=""/>
          <p:cNvSpPr txBox="1"/>
          <p:nvPr/>
        </p:nvSpPr>
        <p:spPr>
          <a:xfrm>
            <a:off x="367920" y="4371840"/>
            <a:ext cx="78480" cy="91800"/>
          </a:xfrm>
          <a:prstGeom prst="rect">
            <a:avLst/>
          </a:prstGeom>
          <a:noFill/>
          <a:ln w="0">
            <a:noFill/>
          </a:ln>
        </p:spPr>
        <p:txBody>
          <a:bodyPr wrap="none" lIns="0" rIns="0" tIns="0" bIns="0" anchor="t">
            <a:spAutoFit/>
          </a:bodyPr>
          <a:p>
            <a:r>
              <a:rPr b="1" lang="en-US" sz="620" strike="noStrike" u="none">
                <a:solidFill>
                  <a:srgbClr val="b45309"/>
                </a:solidFill>
                <a:effectLst/>
                <a:uFillTx/>
                <a:latin typeface="DejaVuSans"/>
                <a:ea typeface="DejaVuSans"/>
              </a:rPr>
              <a:t>:</a:t>
            </a:r>
            <a:r>
              <a:rPr b="0" lang="en-US" sz="620" strike="noStrike" u="none">
                <a:solidFill>
                  <a:srgbClr val="374151"/>
                </a:solidFill>
                <a:effectLst/>
                <a:uFillTx/>
                <a:latin typeface="DejaVuSans"/>
                <a:ea typeface="DejaVuSans"/>
              </a:rPr>
              <a:t> </a:t>
            </a:r>
            <a:endParaRPr b="0" lang="en-US" sz="620" strike="noStrike" u="none">
              <a:solidFill>
                <a:srgbClr val="000000"/>
              </a:solidFill>
              <a:effectLst/>
              <a:uFillTx/>
              <a:latin typeface="Times New Roman"/>
            </a:endParaRPr>
          </a:p>
        </p:txBody>
      </p:sp>
      <p:sp>
        <p:nvSpPr>
          <p:cNvPr id="820" name=""/>
          <p:cNvSpPr txBox="1"/>
          <p:nvPr/>
        </p:nvSpPr>
        <p:spPr>
          <a:xfrm>
            <a:off x="424440" y="4368960"/>
            <a:ext cx="4475880" cy="99720"/>
          </a:xfrm>
          <a:prstGeom prst="rect">
            <a:avLst/>
          </a:prstGeom>
          <a:noFill/>
          <a:ln w="0">
            <a:noFill/>
          </a:ln>
        </p:spPr>
        <p:txBody>
          <a:bodyPr wrap="none" lIns="0" rIns="0" tIns="0" bIns="0" anchor="t">
            <a:spAutoFit/>
          </a:bodyPr>
          <a:p>
            <a:r>
              <a:rPr b="0" lang="zh-CN" sz="620" strike="noStrike" u="none">
                <a:solidFill>
                  <a:srgbClr val="374151"/>
                </a:solidFill>
                <a:effectLst/>
                <a:uFillTx/>
                <a:latin typeface="WenQuanYiZenHei"/>
                <a:ea typeface="WenQuanYiZenHei"/>
              </a:rPr>
              <a:t>上記は代表的な点数であり、手技や使用材料、施設基準により変動します。正確な点数は診療報酬点数表をご確認ください。</a:t>
            </a:r>
            <a:endParaRPr b="0" lang="en-US" sz="6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1" name="" descr=""/>
          <p:cNvPicPr/>
          <p:nvPr/>
        </p:nvPicPr>
        <p:blipFill>
          <a:blip r:embed="rId1"/>
          <a:stretch/>
        </p:blipFill>
        <p:spPr>
          <a:xfrm>
            <a:off x="0" y="171360"/>
            <a:ext cx="8712000" cy="4900320"/>
          </a:xfrm>
          <a:prstGeom prst="rect">
            <a:avLst/>
          </a:prstGeom>
          <a:noFill/>
          <a:ln w="0">
            <a:noFill/>
          </a:ln>
        </p:spPr>
      </p:pic>
      <p:pic>
        <p:nvPicPr>
          <p:cNvPr id="822" name="" descr=""/>
          <p:cNvPicPr/>
          <p:nvPr/>
        </p:nvPicPr>
        <p:blipFill>
          <a:blip r:embed="rId2"/>
          <a:stretch/>
        </p:blipFill>
        <p:spPr>
          <a:xfrm>
            <a:off x="6670440" y="-849600"/>
            <a:ext cx="2722320" cy="2722320"/>
          </a:xfrm>
          <a:prstGeom prst="rect">
            <a:avLst/>
          </a:prstGeom>
          <a:noFill/>
          <a:ln w="0">
            <a:noFill/>
          </a:ln>
        </p:spPr>
      </p:pic>
      <p:pic>
        <p:nvPicPr>
          <p:cNvPr id="823" name="" descr=""/>
          <p:cNvPicPr/>
          <p:nvPr/>
        </p:nvPicPr>
        <p:blipFill>
          <a:blip r:embed="rId3"/>
          <a:stretch/>
        </p:blipFill>
        <p:spPr>
          <a:xfrm>
            <a:off x="-544680" y="3710880"/>
            <a:ext cx="2041560" cy="2041560"/>
          </a:xfrm>
          <a:prstGeom prst="rect">
            <a:avLst/>
          </a:prstGeom>
          <a:noFill/>
          <a:ln w="0">
            <a:noFill/>
          </a:ln>
        </p:spPr>
      </p:pic>
      <p:sp>
        <p:nvSpPr>
          <p:cNvPr id="824" name=""/>
          <p:cNvSpPr/>
          <p:nvPr/>
        </p:nvSpPr>
        <p:spPr>
          <a:xfrm>
            <a:off x="2191680" y="4119120"/>
            <a:ext cx="5213880" cy="572040"/>
          </a:xfrm>
          <a:custGeom>
            <a:avLst/>
            <a:gdLst/>
            <a:ahLst/>
            <a:rect l="0" t="0" r="r" b="b"/>
            <a:pathLst>
              <a:path w="14483" h="1589">
                <a:moveTo>
                  <a:pt x="0" y="1513"/>
                </a:moveTo>
                <a:lnTo>
                  <a:pt x="0" y="75"/>
                </a:lnTo>
                <a:cubicBezTo>
                  <a:pt x="0" y="65"/>
                  <a:pt x="0" y="56"/>
                  <a:pt x="2" y="46"/>
                </a:cubicBezTo>
                <a:cubicBezTo>
                  <a:pt x="4" y="37"/>
                  <a:pt x="7" y="29"/>
                  <a:pt x="11" y="22"/>
                </a:cubicBezTo>
                <a:cubicBezTo>
                  <a:pt x="14" y="15"/>
                  <a:pt x="18" y="9"/>
                  <a:pt x="23" y="5"/>
                </a:cubicBezTo>
                <a:cubicBezTo>
                  <a:pt x="27" y="2"/>
                  <a:pt x="32" y="0"/>
                  <a:pt x="37" y="0"/>
                </a:cubicBezTo>
                <a:lnTo>
                  <a:pt x="14408" y="0"/>
                </a:lnTo>
                <a:cubicBezTo>
                  <a:pt x="14418" y="0"/>
                  <a:pt x="14427" y="2"/>
                  <a:pt x="14436" y="5"/>
                </a:cubicBezTo>
                <a:cubicBezTo>
                  <a:pt x="14446" y="9"/>
                  <a:pt x="14454" y="15"/>
                  <a:pt x="14461" y="22"/>
                </a:cubicBezTo>
                <a:cubicBezTo>
                  <a:pt x="14468" y="29"/>
                  <a:pt x="14474" y="37"/>
                  <a:pt x="14477" y="46"/>
                </a:cubicBezTo>
                <a:cubicBezTo>
                  <a:pt x="14481" y="56"/>
                  <a:pt x="14483" y="65"/>
                  <a:pt x="14483" y="75"/>
                </a:cubicBezTo>
                <a:lnTo>
                  <a:pt x="14483" y="1513"/>
                </a:lnTo>
                <a:cubicBezTo>
                  <a:pt x="14483" y="1523"/>
                  <a:pt x="14481" y="1533"/>
                  <a:pt x="14477" y="1542"/>
                </a:cubicBezTo>
                <a:cubicBezTo>
                  <a:pt x="14474" y="1551"/>
                  <a:pt x="14468" y="1560"/>
                  <a:pt x="14461" y="1567"/>
                </a:cubicBezTo>
                <a:cubicBezTo>
                  <a:pt x="14454" y="1574"/>
                  <a:pt x="14446" y="1579"/>
                  <a:pt x="14436" y="1583"/>
                </a:cubicBezTo>
                <a:cubicBezTo>
                  <a:pt x="14427" y="1587"/>
                  <a:pt x="14418" y="1589"/>
                  <a:pt x="14408" y="1589"/>
                </a:cubicBezTo>
                <a:lnTo>
                  <a:pt x="37" y="1589"/>
                </a:lnTo>
                <a:cubicBezTo>
                  <a:pt x="32" y="1589"/>
                  <a:pt x="27" y="1587"/>
                  <a:pt x="23" y="1583"/>
                </a:cubicBezTo>
                <a:cubicBezTo>
                  <a:pt x="18" y="1579"/>
                  <a:pt x="14" y="1574"/>
                  <a:pt x="11" y="1567"/>
                </a:cubicBezTo>
                <a:cubicBezTo>
                  <a:pt x="7" y="1560"/>
                  <a:pt x="4" y="1551"/>
                  <a:pt x="2" y="1542"/>
                </a:cubicBezTo>
                <a:cubicBezTo>
                  <a:pt x="0" y="1533"/>
                  <a:pt x="0" y="1523"/>
                  <a:pt x="0" y="1513"/>
                </a:cubicBezTo>
                <a:close/>
              </a:path>
            </a:pathLst>
          </a:custGeom>
          <a:solidFill>
            <a:srgbClr val="eff6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25" name=""/>
          <p:cNvSpPr/>
          <p:nvPr/>
        </p:nvSpPr>
        <p:spPr>
          <a:xfrm>
            <a:off x="2178000" y="4119120"/>
            <a:ext cx="27360" cy="572040"/>
          </a:xfrm>
          <a:custGeom>
            <a:avLst/>
            <a:gdLst/>
            <a:ahLst/>
            <a:rect l="0" t="0" r="r" b="b"/>
            <a:pathLst>
              <a:path w="76" h="1589">
                <a:moveTo>
                  <a:pt x="76" y="1589"/>
                </a:moveTo>
                <a:cubicBezTo>
                  <a:pt x="54" y="1589"/>
                  <a:pt x="37" y="1582"/>
                  <a:pt x="22" y="1567"/>
                </a:cubicBezTo>
                <a:cubicBezTo>
                  <a:pt x="7" y="1552"/>
                  <a:pt x="0" y="1534"/>
                  <a:pt x="0" y="1513"/>
                </a:cubicBezTo>
                <a:lnTo>
                  <a:pt x="0" y="75"/>
                </a:lnTo>
                <a:cubicBezTo>
                  <a:pt x="0" y="54"/>
                  <a:pt x="7" y="37"/>
                  <a:pt x="22" y="22"/>
                </a:cubicBezTo>
                <a:cubicBezTo>
                  <a:pt x="37" y="7"/>
                  <a:pt x="54" y="0"/>
                  <a:pt x="76" y="0"/>
                </a:cubicBezTo>
                <a:lnTo>
                  <a:pt x="76" y="1589"/>
                </a:lnTo>
                <a:close/>
              </a:path>
            </a:pathLst>
          </a:custGeom>
          <a:solidFill>
            <a:srgbClr val="3b82f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826" name="" descr=""/>
          <p:cNvPicPr/>
          <p:nvPr/>
        </p:nvPicPr>
        <p:blipFill>
          <a:blip r:embed="rId4"/>
          <a:stretch/>
        </p:blipFill>
        <p:spPr>
          <a:xfrm>
            <a:off x="2287080" y="4228200"/>
            <a:ext cx="95040" cy="122040"/>
          </a:xfrm>
          <a:prstGeom prst="rect">
            <a:avLst/>
          </a:prstGeom>
          <a:noFill/>
          <a:ln w="0">
            <a:noFill/>
          </a:ln>
        </p:spPr>
      </p:pic>
      <p:sp>
        <p:nvSpPr>
          <p:cNvPr id="827" name=""/>
          <p:cNvSpPr txBox="1"/>
          <p:nvPr/>
        </p:nvSpPr>
        <p:spPr>
          <a:xfrm>
            <a:off x="2436840" y="4211280"/>
            <a:ext cx="68400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算定のポイント</a:t>
            </a:r>
            <a:endParaRPr b="0" lang="en-US" sz="750" strike="noStrike" u="none">
              <a:solidFill>
                <a:srgbClr val="000000"/>
              </a:solidFill>
              <a:effectLst/>
              <a:uFillTx/>
              <a:latin typeface="Times New Roman"/>
            </a:endParaRPr>
          </a:p>
        </p:txBody>
      </p:sp>
      <p:sp>
        <p:nvSpPr>
          <p:cNvPr id="828" name=""/>
          <p:cNvSpPr txBox="1"/>
          <p:nvPr/>
        </p:nvSpPr>
        <p:spPr>
          <a:xfrm>
            <a:off x="3103920" y="4214520"/>
            <a:ext cx="95040" cy="111960"/>
          </a:xfrm>
          <a:prstGeom prst="rect">
            <a:avLst/>
          </a:prstGeom>
          <a:noFill/>
          <a:ln w="0">
            <a:noFill/>
          </a:ln>
        </p:spPr>
        <p:txBody>
          <a:bodyPr wrap="none" lIns="0" rIns="0" tIns="0" bIns="0" anchor="t">
            <a:spAutoFit/>
          </a:bodyPr>
          <a:p>
            <a:r>
              <a:rPr b="1" lang="en-US" sz="750" strike="noStrike" u="none">
                <a:solidFill>
                  <a:srgbClr val="374151"/>
                </a:solidFill>
                <a:effectLst/>
                <a:uFillTx/>
                <a:latin typeface="DejaVuSans"/>
                <a:ea typeface="DejaVuSans"/>
              </a:rPr>
              <a:t>: </a:t>
            </a:r>
            <a:endParaRPr b="0" lang="en-US" sz="750" strike="noStrike" u="none">
              <a:solidFill>
                <a:srgbClr val="000000"/>
              </a:solidFill>
              <a:effectLst/>
              <a:uFillTx/>
              <a:latin typeface="Times New Roman"/>
            </a:endParaRPr>
          </a:p>
        </p:txBody>
      </p:sp>
      <p:sp>
        <p:nvSpPr>
          <p:cNvPr id="829" name=""/>
          <p:cNvSpPr txBox="1"/>
          <p:nvPr/>
        </p:nvSpPr>
        <p:spPr>
          <a:xfrm>
            <a:off x="3172320" y="4211280"/>
            <a:ext cx="416304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循環器科では高度な医療技術や専門的管理に対する評価（加算）を確実に取得することが重要で</a:t>
            </a:r>
            <a:endParaRPr b="0" lang="en-US" sz="750" strike="noStrike" u="none">
              <a:solidFill>
                <a:srgbClr val="000000"/>
              </a:solidFill>
              <a:effectLst/>
              <a:uFillTx/>
              <a:latin typeface="Times New Roman"/>
            </a:endParaRPr>
          </a:p>
        </p:txBody>
      </p:sp>
      <p:sp>
        <p:nvSpPr>
          <p:cNvPr id="830" name=""/>
          <p:cNvSpPr txBox="1"/>
          <p:nvPr/>
        </p:nvSpPr>
        <p:spPr>
          <a:xfrm>
            <a:off x="2436840" y="4347360"/>
            <a:ext cx="483948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す。使用した特定保険医療材料の正確な記録と、各種管理料の算定要件を満たす詳細な診療記録を心がけましょ</a:t>
            </a:r>
            <a:endParaRPr b="0" lang="en-US" sz="750" strike="noStrike" u="none">
              <a:solidFill>
                <a:srgbClr val="000000"/>
              </a:solidFill>
              <a:effectLst/>
              <a:uFillTx/>
              <a:latin typeface="Times New Roman"/>
            </a:endParaRPr>
          </a:p>
        </p:txBody>
      </p:sp>
      <p:pic>
        <p:nvPicPr>
          <p:cNvPr id="831" name="" descr=""/>
          <p:cNvPicPr/>
          <p:nvPr/>
        </p:nvPicPr>
        <p:blipFill>
          <a:blip r:embed="rId5"/>
          <a:stretch/>
        </p:blipFill>
        <p:spPr>
          <a:xfrm>
            <a:off x="6820200" y="4847400"/>
            <a:ext cx="122040" cy="95040"/>
          </a:xfrm>
          <a:prstGeom prst="rect">
            <a:avLst/>
          </a:prstGeom>
          <a:noFill/>
          <a:ln w="0">
            <a:noFill/>
          </a:ln>
        </p:spPr>
      </p:pic>
      <p:sp>
        <p:nvSpPr>
          <p:cNvPr id="832" name=""/>
          <p:cNvSpPr txBox="1"/>
          <p:nvPr/>
        </p:nvSpPr>
        <p:spPr>
          <a:xfrm>
            <a:off x="2436840" y="4483440"/>
            <a:ext cx="19512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う。</a:t>
            </a:r>
            <a:endParaRPr b="0" lang="en-US" sz="750" strike="noStrike" u="none">
              <a:solidFill>
                <a:srgbClr val="000000"/>
              </a:solidFill>
              <a:effectLst/>
              <a:uFillTx/>
              <a:latin typeface="Times New Roman"/>
            </a:endParaRPr>
          </a:p>
        </p:txBody>
      </p:sp>
      <p:sp>
        <p:nvSpPr>
          <p:cNvPr id="833" name=""/>
          <p:cNvSpPr txBox="1"/>
          <p:nvPr/>
        </p:nvSpPr>
        <p:spPr>
          <a:xfrm>
            <a:off x="6994080" y="4837320"/>
            <a:ext cx="384840" cy="122400"/>
          </a:xfrm>
          <a:prstGeom prst="rect">
            <a:avLst/>
          </a:prstGeom>
          <a:noFill/>
          <a:ln w="0">
            <a:noFill/>
          </a:ln>
        </p:spPr>
        <p:txBody>
          <a:bodyPr wrap="none" lIns="0" rIns="0" tIns="0" bIns="0" anchor="t">
            <a:spAutoFit/>
          </a:bodyPr>
          <a:p>
            <a:r>
              <a:rPr b="0" lang="zh-CN" sz="750" strike="noStrike" u="none">
                <a:solidFill>
                  <a:srgbClr val="6b7280"/>
                </a:solidFill>
                <a:effectLst/>
                <a:uFillTx/>
                <a:latin typeface="WenQuanYiZenHei"/>
                <a:ea typeface="WenQuanYiZenHei"/>
              </a:rPr>
              <a:t>東和病院</a:t>
            </a:r>
            <a:endParaRPr b="0" lang="en-US" sz="750" strike="noStrike" u="none">
              <a:solidFill>
                <a:srgbClr val="000000"/>
              </a:solidFill>
              <a:effectLst/>
              <a:uFillTx/>
              <a:latin typeface="Times New Roman"/>
            </a:endParaRPr>
          </a:p>
        </p:txBody>
      </p:sp>
      <p:sp>
        <p:nvSpPr>
          <p:cNvPr id="834" name=""/>
          <p:cNvSpPr txBox="1"/>
          <p:nvPr/>
        </p:nvSpPr>
        <p:spPr>
          <a:xfrm>
            <a:off x="7375320" y="4840920"/>
            <a:ext cx="95040" cy="111960"/>
          </a:xfrm>
          <a:prstGeom prst="rect">
            <a:avLst/>
          </a:prstGeom>
          <a:noFill/>
          <a:ln w="0">
            <a:noFill/>
          </a:ln>
        </p:spPr>
        <p:txBody>
          <a:bodyPr wrap="none" lIns="0" rIns="0" tIns="0" bIns="0" anchor="t">
            <a:spAutoFit/>
          </a:bodyPr>
          <a:p>
            <a:r>
              <a:rPr b="0" lang="en-US" sz="750" strike="noStrike" u="none">
                <a:solidFill>
                  <a:srgbClr val="6b7280"/>
                </a:solidFill>
                <a:effectLst/>
                <a:uFillTx/>
                <a:latin typeface="DejaVuSans"/>
                <a:ea typeface="DejaVuSans"/>
              </a:rPr>
              <a:t> </a:t>
            </a:r>
            <a:endParaRPr b="0" lang="en-US" sz="750" strike="noStrike" u="none">
              <a:solidFill>
                <a:srgbClr val="000000"/>
              </a:solidFill>
              <a:effectLst/>
              <a:uFillTx/>
              <a:latin typeface="Times New Roman"/>
            </a:endParaRPr>
          </a:p>
        </p:txBody>
      </p:sp>
      <p:sp>
        <p:nvSpPr>
          <p:cNvPr id="835" name=""/>
          <p:cNvSpPr txBox="1"/>
          <p:nvPr/>
        </p:nvSpPr>
        <p:spPr>
          <a:xfrm>
            <a:off x="7405560" y="4837320"/>
            <a:ext cx="672840" cy="122400"/>
          </a:xfrm>
          <a:prstGeom prst="rect">
            <a:avLst/>
          </a:prstGeom>
          <a:noFill/>
          <a:ln w="0">
            <a:noFill/>
          </a:ln>
        </p:spPr>
        <p:txBody>
          <a:bodyPr wrap="none" lIns="0" rIns="0" tIns="0" bIns="0" anchor="t">
            <a:spAutoFit/>
          </a:bodyPr>
          <a:p>
            <a:r>
              <a:rPr b="0" lang="zh-CN" sz="750" strike="noStrike" u="none">
                <a:solidFill>
                  <a:srgbClr val="6b7280"/>
                </a:solidFill>
                <a:effectLst/>
                <a:uFillTx/>
                <a:latin typeface="WenQuanYiZenHei"/>
                <a:ea typeface="WenQuanYiZenHei"/>
              </a:rPr>
              <a:t>保険点数勉強会</a:t>
            </a:r>
            <a:endParaRPr b="0" lang="en-US" sz="750" strike="noStrike" u="none">
              <a:solidFill>
                <a:srgbClr val="000000"/>
              </a:solidFill>
              <a:effectLst/>
              <a:uFillTx/>
              <a:latin typeface="Times New Roman"/>
            </a:endParaRPr>
          </a:p>
        </p:txBody>
      </p:sp>
      <p:sp>
        <p:nvSpPr>
          <p:cNvPr id="836" name=""/>
          <p:cNvSpPr txBox="1"/>
          <p:nvPr/>
        </p:nvSpPr>
        <p:spPr>
          <a:xfrm>
            <a:off x="8127000" y="4840920"/>
            <a:ext cx="95040" cy="111960"/>
          </a:xfrm>
          <a:prstGeom prst="rect">
            <a:avLst/>
          </a:prstGeom>
          <a:noFill/>
          <a:ln w="0">
            <a:noFill/>
          </a:ln>
        </p:spPr>
        <p:txBody>
          <a:bodyPr wrap="none" lIns="0" rIns="0" tIns="0" bIns="0" anchor="t">
            <a:spAutoFit/>
          </a:bodyPr>
          <a:p>
            <a:r>
              <a:rPr b="0" lang="en-US" sz="750" strike="noStrike" u="none">
                <a:solidFill>
                  <a:srgbClr val="6b7280"/>
                </a:solidFill>
                <a:effectLst/>
                <a:uFillTx/>
                <a:latin typeface="DejaVuSans"/>
                <a:ea typeface="DejaVuSans"/>
              </a:rPr>
              <a:t>|</a:t>
            </a:r>
            <a:endParaRPr b="0" lang="en-US" sz="750" strike="noStrike" u="none">
              <a:solidFill>
                <a:srgbClr val="000000"/>
              </a:solidFill>
              <a:effectLst/>
              <a:uFillTx/>
              <a:latin typeface="Times New Roman"/>
            </a:endParaRPr>
          </a:p>
        </p:txBody>
      </p:sp>
      <p:pic>
        <p:nvPicPr>
          <p:cNvPr id="837" name="" descr=""/>
          <p:cNvPicPr/>
          <p:nvPr/>
        </p:nvPicPr>
        <p:blipFill>
          <a:blip r:embed="rId6"/>
          <a:stretch/>
        </p:blipFill>
        <p:spPr>
          <a:xfrm>
            <a:off x="217800" y="661680"/>
            <a:ext cx="870840" cy="27000"/>
          </a:xfrm>
          <a:prstGeom prst="rect">
            <a:avLst/>
          </a:prstGeom>
          <a:noFill/>
          <a:ln w="0">
            <a:noFill/>
          </a:ln>
        </p:spPr>
      </p:pic>
      <p:sp>
        <p:nvSpPr>
          <p:cNvPr id="838" name=""/>
          <p:cNvSpPr txBox="1"/>
          <p:nvPr/>
        </p:nvSpPr>
        <p:spPr>
          <a:xfrm>
            <a:off x="8213760" y="4840920"/>
            <a:ext cx="338400" cy="111960"/>
          </a:xfrm>
          <a:prstGeom prst="rect">
            <a:avLst/>
          </a:prstGeom>
          <a:noFill/>
          <a:ln w="0">
            <a:noFill/>
          </a:ln>
        </p:spPr>
        <p:txBody>
          <a:bodyPr wrap="none" lIns="0" rIns="0" tIns="0" bIns="0" anchor="t">
            <a:spAutoFit/>
          </a:bodyPr>
          <a:p>
            <a:r>
              <a:rPr b="0" lang="en-US" sz="750" strike="noStrike" u="none">
                <a:solidFill>
                  <a:srgbClr val="6b7280"/>
                </a:solidFill>
                <a:effectLst/>
                <a:uFillTx/>
                <a:latin typeface="DejaVuSans"/>
                <a:ea typeface="DejaVuSans"/>
              </a:rPr>
              <a:t>10 / 15</a:t>
            </a:r>
            <a:endParaRPr b="0" lang="en-US" sz="750" strike="noStrike" u="none">
              <a:solidFill>
                <a:srgbClr val="000000"/>
              </a:solidFill>
              <a:effectLst/>
              <a:uFillTx/>
              <a:latin typeface="Times New Roman"/>
            </a:endParaRPr>
          </a:p>
        </p:txBody>
      </p:sp>
      <p:sp>
        <p:nvSpPr>
          <p:cNvPr id="839" name=""/>
          <p:cNvSpPr txBox="1"/>
          <p:nvPr/>
        </p:nvSpPr>
        <p:spPr>
          <a:xfrm>
            <a:off x="217800" y="383040"/>
            <a:ext cx="1843560" cy="257760"/>
          </a:xfrm>
          <a:prstGeom prst="rect">
            <a:avLst/>
          </a:prstGeom>
          <a:noFill/>
          <a:ln w="0">
            <a:noFill/>
          </a:ln>
        </p:spPr>
        <p:txBody>
          <a:bodyPr wrap="none" lIns="0" rIns="0" tIns="0" bIns="0" anchor="t">
            <a:spAutoFit/>
          </a:bodyPr>
          <a:p>
            <a:r>
              <a:rPr b="0" lang="zh-CN" sz="1610" strike="noStrike" u="none">
                <a:solidFill>
                  <a:srgbClr val="1e40af"/>
                </a:solidFill>
                <a:effectLst/>
                <a:uFillTx/>
                <a:latin typeface="WenQuanYiZenHei"/>
                <a:ea typeface="WenQuanYiZenHei"/>
              </a:rPr>
              <a:t>循環器科の保険点数</a:t>
            </a:r>
            <a:endParaRPr b="0" lang="en-US" sz="1610" strike="noStrike" u="none">
              <a:solidFill>
                <a:srgbClr val="000000"/>
              </a:solidFill>
              <a:effectLst/>
              <a:uFillTx/>
              <a:latin typeface="Times New Roman"/>
            </a:endParaRPr>
          </a:p>
        </p:txBody>
      </p:sp>
      <p:sp>
        <p:nvSpPr>
          <p:cNvPr id="840" name=""/>
          <p:cNvSpPr txBox="1"/>
          <p:nvPr/>
        </p:nvSpPr>
        <p:spPr>
          <a:xfrm>
            <a:off x="2062440" y="390240"/>
            <a:ext cx="326520" cy="237960"/>
          </a:xfrm>
          <a:prstGeom prst="rect">
            <a:avLst/>
          </a:prstGeom>
          <a:noFill/>
          <a:ln w="0">
            <a:noFill/>
          </a:ln>
        </p:spPr>
        <p:txBody>
          <a:bodyPr wrap="none" lIns="0" rIns="0" tIns="0" bIns="0" anchor="t">
            <a:spAutoFit/>
          </a:bodyPr>
          <a:p>
            <a:r>
              <a:rPr b="1" lang="en-US" sz="1610" strike="noStrike" u="none">
                <a:solidFill>
                  <a:srgbClr val="1e40af"/>
                </a:solidFill>
                <a:effectLst/>
                <a:uFillTx/>
                <a:latin typeface="DejaVuSans"/>
                <a:ea typeface="DejaVuSans"/>
              </a:rPr>
              <a:t>②: </a:t>
            </a:r>
            <a:endParaRPr b="0" lang="en-US" sz="1610" strike="noStrike" u="none">
              <a:solidFill>
                <a:srgbClr val="000000"/>
              </a:solidFill>
              <a:effectLst/>
              <a:uFillTx/>
              <a:latin typeface="Times New Roman"/>
            </a:endParaRPr>
          </a:p>
        </p:txBody>
      </p:sp>
      <p:sp>
        <p:nvSpPr>
          <p:cNvPr id="841" name=""/>
          <p:cNvSpPr/>
          <p:nvPr/>
        </p:nvSpPr>
        <p:spPr>
          <a:xfrm>
            <a:off x="217800" y="797400"/>
            <a:ext cx="4084200" cy="926280"/>
          </a:xfrm>
          <a:custGeom>
            <a:avLst/>
            <a:gdLst/>
            <a:ahLst/>
            <a:rect l="0" t="0" r="r" b="b"/>
            <a:pathLst>
              <a:path w="11345" h="2573">
                <a:moveTo>
                  <a:pt x="0" y="2421"/>
                </a:moveTo>
                <a:lnTo>
                  <a:pt x="0" y="151"/>
                </a:lnTo>
                <a:cubicBezTo>
                  <a:pt x="0" y="142"/>
                  <a:pt x="0" y="132"/>
                  <a:pt x="2" y="122"/>
                </a:cubicBezTo>
                <a:cubicBezTo>
                  <a:pt x="4" y="112"/>
                  <a:pt x="7" y="103"/>
                  <a:pt x="11" y="94"/>
                </a:cubicBezTo>
                <a:cubicBezTo>
                  <a:pt x="15" y="84"/>
                  <a:pt x="19" y="76"/>
                  <a:pt x="25" y="67"/>
                </a:cubicBezTo>
                <a:cubicBezTo>
                  <a:pt x="31" y="59"/>
                  <a:pt x="37" y="52"/>
                  <a:pt x="44" y="44"/>
                </a:cubicBezTo>
                <a:cubicBezTo>
                  <a:pt x="51" y="37"/>
                  <a:pt x="58" y="31"/>
                  <a:pt x="67" y="26"/>
                </a:cubicBezTo>
                <a:cubicBezTo>
                  <a:pt x="75" y="20"/>
                  <a:pt x="84" y="15"/>
                  <a:pt x="93" y="12"/>
                </a:cubicBezTo>
                <a:cubicBezTo>
                  <a:pt x="102" y="8"/>
                  <a:pt x="112" y="5"/>
                  <a:pt x="121" y="3"/>
                </a:cubicBezTo>
                <a:cubicBezTo>
                  <a:pt x="131" y="1"/>
                  <a:pt x="141" y="0"/>
                  <a:pt x="151" y="0"/>
                </a:cubicBezTo>
                <a:lnTo>
                  <a:pt x="11193" y="0"/>
                </a:lnTo>
                <a:cubicBezTo>
                  <a:pt x="11203" y="0"/>
                  <a:pt x="11213" y="1"/>
                  <a:pt x="11223" y="3"/>
                </a:cubicBezTo>
                <a:cubicBezTo>
                  <a:pt x="11233" y="5"/>
                  <a:pt x="11242" y="8"/>
                  <a:pt x="11251" y="12"/>
                </a:cubicBezTo>
                <a:cubicBezTo>
                  <a:pt x="11260" y="15"/>
                  <a:pt x="11269" y="20"/>
                  <a:pt x="11277" y="26"/>
                </a:cubicBezTo>
                <a:cubicBezTo>
                  <a:pt x="11286" y="31"/>
                  <a:pt x="11293" y="37"/>
                  <a:pt x="11300" y="44"/>
                </a:cubicBezTo>
                <a:cubicBezTo>
                  <a:pt x="11307" y="52"/>
                  <a:pt x="11314" y="59"/>
                  <a:pt x="11319" y="67"/>
                </a:cubicBezTo>
                <a:cubicBezTo>
                  <a:pt x="11325" y="76"/>
                  <a:pt x="11329" y="84"/>
                  <a:pt x="11333" y="94"/>
                </a:cubicBezTo>
                <a:cubicBezTo>
                  <a:pt x="11337" y="103"/>
                  <a:pt x="11340" y="112"/>
                  <a:pt x="11342" y="122"/>
                </a:cubicBezTo>
                <a:cubicBezTo>
                  <a:pt x="11344" y="132"/>
                  <a:pt x="11345" y="142"/>
                  <a:pt x="11345" y="151"/>
                </a:cubicBezTo>
                <a:lnTo>
                  <a:pt x="11345" y="2421"/>
                </a:lnTo>
                <a:cubicBezTo>
                  <a:pt x="11345" y="2431"/>
                  <a:pt x="11344" y="2441"/>
                  <a:pt x="11342" y="2451"/>
                </a:cubicBezTo>
                <a:cubicBezTo>
                  <a:pt x="11340" y="2461"/>
                  <a:pt x="11337" y="2470"/>
                  <a:pt x="11333" y="2479"/>
                </a:cubicBezTo>
                <a:cubicBezTo>
                  <a:pt x="11329" y="2488"/>
                  <a:pt x="11325" y="2497"/>
                  <a:pt x="11319" y="2505"/>
                </a:cubicBezTo>
                <a:cubicBezTo>
                  <a:pt x="11314" y="2514"/>
                  <a:pt x="11307" y="2521"/>
                  <a:pt x="11300" y="2528"/>
                </a:cubicBezTo>
                <a:cubicBezTo>
                  <a:pt x="11293" y="2535"/>
                  <a:pt x="11286" y="2542"/>
                  <a:pt x="11277" y="2547"/>
                </a:cubicBezTo>
                <a:cubicBezTo>
                  <a:pt x="11269" y="2553"/>
                  <a:pt x="11260" y="2557"/>
                  <a:pt x="11251" y="2561"/>
                </a:cubicBezTo>
                <a:cubicBezTo>
                  <a:pt x="11242" y="2565"/>
                  <a:pt x="11233" y="2568"/>
                  <a:pt x="11223" y="2570"/>
                </a:cubicBezTo>
                <a:cubicBezTo>
                  <a:pt x="11213" y="2572"/>
                  <a:pt x="11203" y="2573"/>
                  <a:pt x="11193" y="2573"/>
                </a:cubicBezTo>
                <a:lnTo>
                  <a:pt x="151" y="2573"/>
                </a:lnTo>
                <a:cubicBezTo>
                  <a:pt x="141" y="2573"/>
                  <a:pt x="131" y="2572"/>
                  <a:pt x="121" y="2570"/>
                </a:cubicBezTo>
                <a:cubicBezTo>
                  <a:pt x="112" y="2568"/>
                  <a:pt x="102" y="2565"/>
                  <a:pt x="93" y="2561"/>
                </a:cubicBezTo>
                <a:cubicBezTo>
                  <a:pt x="84" y="2557"/>
                  <a:pt x="75" y="2553"/>
                  <a:pt x="67" y="2547"/>
                </a:cubicBezTo>
                <a:cubicBezTo>
                  <a:pt x="58" y="2542"/>
                  <a:pt x="51" y="2535"/>
                  <a:pt x="44" y="2528"/>
                </a:cubicBezTo>
                <a:cubicBezTo>
                  <a:pt x="37" y="2521"/>
                  <a:pt x="31" y="2514"/>
                  <a:pt x="25" y="2505"/>
                </a:cubicBezTo>
                <a:cubicBezTo>
                  <a:pt x="19" y="2497"/>
                  <a:pt x="15" y="2488"/>
                  <a:pt x="11" y="2479"/>
                </a:cubicBezTo>
                <a:cubicBezTo>
                  <a:pt x="7" y="2470"/>
                  <a:pt x="4" y="2461"/>
                  <a:pt x="2" y="2451"/>
                </a:cubicBezTo>
                <a:cubicBezTo>
                  <a:pt x="0" y="2441"/>
                  <a:pt x="0" y="2431"/>
                  <a:pt x="0" y="2421"/>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42" name=""/>
          <p:cNvSpPr/>
          <p:nvPr/>
        </p:nvSpPr>
        <p:spPr>
          <a:xfrm>
            <a:off x="217800" y="1832040"/>
            <a:ext cx="4084200" cy="1035000"/>
          </a:xfrm>
          <a:custGeom>
            <a:avLst/>
            <a:gdLst/>
            <a:ahLst/>
            <a:rect l="0" t="0" r="r" b="b"/>
            <a:pathLst>
              <a:path w="11345" h="2875">
                <a:moveTo>
                  <a:pt x="0" y="2724"/>
                </a:moveTo>
                <a:lnTo>
                  <a:pt x="0" y="151"/>
                </a:lnTo>
                <a:cubicBezTo>
                  <a:pt x="0" y="141"/>
                  <a:pt x="0" y="132"/>
                  <a:pt x="2" y="122"/>
                </a:cubicBezTo>
                <a:cubicBezTo>
                  <a:pt x="4" y="112"/>
                  <a:pt x="7" y="103"/>
                  <a:pt x="11" y="93"/>
                </a:cubicBezTo>
                <a:cubicBezTo>
                  <a:pt x="15" y="84"/>
                  <a:pt x="19" y="76"/>
                  <a:pt x="25" y="67"/>
                </a:cubicBezTo>
                <a:cubicBezTo>
                  <a:pt x="31" y="59"/>
                  <a:pt x="37" y="51"/>
                  <a:pt x="44" y="44"/>
                </a:cubicBezTo>
                <a:cubicBezTo>
                  <a:pt x="51" y="37"/>
                  <a:pt x="58" y="31"/>
                  <a:pt x="67" y="26"/>
                </a:cubicBezTo>
                <a:cubicBezTo>
                  <a:pt x="75" y="20"/>
                  <a:pt x="84" y="15"/>
                  <a:pt x="93" y="12"/>
                </a:cubicBezTo>
                <a:cubicBezTo>
                  <a:pt x="102" y="8"/>
                  <a:pt x="112" y="5"/>
                  <a:pt x="121" y="3"/>
                </a:cubicBezTo>
                <a:cubicBezTo>
                  <a:pt x="131" y="1"/>
                  <a:pt x="141" y="0"/>
                  <a:pt x="151" y="0"/>
                </a:cubicBezTo>
                <a:lnTo>
                  <a:pt x="11193" y="0"/>
                </a:lnTo>
                <a:cubicBezTo>
                  <a:pt x="11203" y="0"/>
                  <a:pt x="11213" y="1"/>
                  <a:pt x="11223" y="3"/>
                </a:cubicBezTo>
                <a:cubicBezTo>
                  <a:pt x="11233" y="5"/>
                  <a:pt x="11242" y="8"/>
                  <a:pt x="11251" y="12"/>
                </a:cubicBezTo>
                <a:cubicBezTo>
                  <a:pt x="11260" y="15"/>
                  <a:pt x="11269" y="20"/>
                  <a:pt x="11277" y="26"/>
                </a:cubicBezTo>
                <a:cubicBezTo>
                  <a:pt x="11286" y="31"/>
                  <a:pt x="11293" y="37"/>
                  <a:pt x="11300" y="44"/>
                </a:cubicBezTo>
                <a:cubicBezTo>
                  <a:pt x="11307" y="51"/>
                  <a:pt x="11314" y="59"/>
                  <a:pt x="11319" y="67"/>
                </a:cubicBezTo>
                <a:cubicBezTo>
                  <a:pt x="11325" y="76"/>
                  <a:pt x="11329" y="84"/>
                  <a:pt x="11333" y="93"/>
                </a:cubicBezTo>
                <a:cubicBezTo>
                  <a:pt x="11337" y="103"/>
                  <a:pt x="11340" y="112"/>
                  <a:pt x="11342" y="122"/>
                </a:cubicBezTo>
                <a:cubicBezTo>
                  <a:pt x="11344" y="132"/>
                  <a:pt x="11345" y="141"/>
                  <a:pt x="11345" y="151"/>
                </a:cubicBezTo>
                <a:lnTo>
                  <a:pt x="11345" y="2724"/>
                </a:lnTo>
                <a:cubicBezTo>
                  <a:pt x="11345" y="2734"/>
                  <a:pt x="11344" y="2743"/>
                  <a:pt x="11342" y="2753"/>
                </a:cubicBezTo>
                <a:cubicBezTo>
                  <a:pt x="11340" y="2763"/>
                  <a:pt x="11337" y="2772"/>
                  <a:pt x="11333" y="2781"/>
                </a:cubicBezTo>
                <a:cubicBezTo>
                  <a:pt x="11329" y="2791"/>
                  <a:pt x="11325" y="2799"/>
                  <a:pt x="11319" y="2808"/>
                </a:cubicBezTo>
                <a:cubicBezTo>
                  <a:pt x="11314" y="2816"/>
                  <a:pt x="11307" y="2824"/>
                  <a:pt x="11300" y="2831"/>
                </a:cubicBezTo>
                <a:cubicBezTo>
                  <a:pt x="11293" y="2838"/>
                  <a:pt x="11286" y="2844"/>
                  <a:pt x="11277" y="2849"/>
                </a:cubicBezTo>
                <a:cubicBezTo>
                  <a:pt x="11269" y="2855"/>
                  <a:pt x="11260" y="2860"/>
                  <a:pt x="11251" y="2863"/>
                </a:cubicBezTo>
                <a:cubicBezTo>
                  <a:pt x="11242" y="2867"/>
                  <a:pt x="11233" y="2870"/>
                  <a:pt x="11223" y="2872"/>
                </a:cubicBezTo>
                <a:cubicBezTo>
                  <a:pt x="11213" y="2874"/>
                  <a:pt x="11203" y="2875"/>
                  <a:pt x="11193" y="2875"/>
                </a:cubicBezTo>
                <a:lnTo>
                  <a:pt x="151" y="2875"/>
                </a:lnTo>
                <a:cubicBezTo>
                  <a:pt x="141" y="2875"/>
                  <a:pt x="131" y="2874"/>
                  <a:pt x="121" y="2872"/>
                </a:cubicBezTo>
                <a:cubicBezTo>
                  <a:pt x="112" y="2870"/>
                  <a:pt x="102" y="2867"/>
                  <a:pt x="93" y="2863"/>
                </a:cubicBezTo>
                <a:cubicBezTo>
                  <a:pt x="84" y="2860"/>
                  <a:pt x="75" y="2855"/>
                  <a:pt x="67" y="2849"/>
                </a:cubicBezTo>
                <a:cubicBezTo>
                  <a:pt x="58" y="2844"/>
                  <a:pt x="51" y="2838"/>
                  <a:pt x="44" y="2831"/>
                </a:cubicBezTo>
                <a:cubicBezTo>
                  <a:pt x="37" y="2824"/>
                  <a:pt x="31" y="2816"/>
                  <a:pt x="25" y="2808"/>
                </a:cubicBezTo>
                <a:cubicBezTo>
                  <a:pt x="19" y="2799"/>
                  <a:pt x="15" y="2791"/>
                  <a:pt x="11" y="2781"/>
                </a:cubicBezTo>
                <a:cubicBezTo>
                  <a:pt x="7" y="2772"/>
                  <a:pt x="4" y="2763"/>
                  <a:pt x="2" y="2753"/>
                </a:cubicBezTo>
                <a:cubicBezTo>
                  <a:pt x="0" y="2743"/>
                  <a:pt x="0" y="2734"/>
                  <a:pt x="0" y="2724"/>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843" name="" descr=""/>
          <p:cNvPicPr/>
          <p:nvPr/>
        </p:nvPicPr>
        <p:blipFill>
          <a:blip r:embed="rId7"/>
          <a:stretch/>
        </p:blipFill>
        <p:spPr>
          <a:xfrm>
            <a:off x="326880" y="933840"/>
            <a:ext cx="135720" cy="135720"/>
          </a:xfrm>
          <a:prstGeom prst="rect">
            <a:avLst/>
          </a:prstGeom>
          <a:noFill/>
          <a:ln w="0">
            <a:noFill/>
          </a:ln>
        </p:spPr>
      </p:pic>
      <p:sp>
        <p:nvSpPr>
          <p:cNvPr id="844" name=""/>
          <p:cNvSpPr txBox="1"/>
          <p:nvPr/>
        </p:nvSpPr>
        <p:spPr>
          <a:xfrm>
            <a:off x="2387880" y="383040"/>
            <a:ext cx="1021680" cy="257760"/>
          </a:xfrm>
          <a:prstGeom prst="rect">
            <a:avLst/>
          </a:prstGeom>
          <a:noFill/>
          <a:ln w="0">
            <a:noFill/>
          </a:ln>
        </p:spPr>
        <p:txBody>
          <a:bodyPr wrap="none" lIns="0" rIns="0" tIns="0" bIns="0" anchor="t">
            <a:spAutoFit/>
          </a:bodyPr>
          <a:p>
            <a:r>
              <a:rPr b="0" lang="zh-CN" sz="1610" strike="noStrike" u="none">
                <a:solidFill>
                  <a:srgbClr val="1e40af"/>
                </a:solidFill>
                <a:effectLst/>
                <a:uFillTx/>
                <a:latin typeface="WenQuanYiZenHei"/>
                <a:ea typeface="WenQuanYiZenHei"/>
              </a:rPr>
              <a:t>治療・管理</a:t>
            </a:r>
            <a:endParaRPr b="0" lang="en-US" sz="1610" strike="noStrike" u="none">
              <a:solidFill>
                <a:srgbClr val="000000"/>
              </a:solidFill>
              <a:effectLst/>
              <a:uFillTx/>
              <a:latin typeface="Times New Roman"/>
            </a:endParaRPr>
          </a:p>
        </p:txBody>
      </p:sp>
      <p:sp>
        <p:nvSpPr>
          <p:cNvPr id="845" name=""/>
          <p:cNvSpPr/>
          <p:nvPr/>
        </p:nvSpPr>
        <p:spPr>
          <a:xfrm>
            <a:off x="387720" y="1212840"/>
            <a:ext cx="27720" cy="27360"/>
          </a:xfrm>
          <a:custGeom>
            <a:avLst/>
            <a:gdLst/>
            <a:ahLst/>
            <a:rect l="0" t="0" r="r" b="b"/>
            <a:pathLst>
              <a:path w="77" h="76">
                <a:moveTo>
                  <a:pt x="77" y="37"/>
                </a:moveTo>
                <a:cubicBezTo>
                  <a:pt x="77" y="42"/>
                  <a:pt x="76" y="48"/>
                  <a:pt x="74" y="53"/>
                </a:cubicBezTo>
                <a:cubicBezTo>
                  <a:pt x="72" y="57"/>
                  <a:pt x="69" y="62"/>
                  <a:pt x="66" y="65"/>
                </a:cubicBezTo>
                <a:cubicBezTo>
                  <a:pt x="62" y="69"/>
                  <a:pt x="58" y="71"/>
                  <a:pt x="53" y="73"/>
                </a:cubicBezTo>
                <a:cubicBezTo>
                  <a:pt x="49" y="75"/>
                  <a:pt x="44" y="76"/>
                  <a:pt x="39" y="76"/>
                </a:cubicBezTo>
                <a:cubicBezTo>
                  <a:pt x="34" y="76"/>
                  <a:pt x="29" y="75"/>
                  <a:pt x="25" y="73"/>
                </a:cubicBezTo>
                <a:cubicBezTo>
                  <a:pt x="20" y="71"/>
                  <a:pt x="16" y="69"/>
                  <a:pt x="12" y="65"/>
                </a:cubicBezTo>
                <a:cubicBezTo>
                  <a:pt x="8" y="62"/>
                  <a:pt x="5" y="57"/>
                  <a:pt x="3" y="53"/>
                </a:cubicBezTo>
                <a:cubicBezTo>
                  <a:pt x="1" y="48"/>
                  <a:pt x="0" y="42"/>
                  <a:pt x="0" y="37"/>
                </a:cubicBezTo>
                <a:cubicBezTo>
                  <a:pt x="0" y="32"/>
                  <a:pt x="1" y="27"/>
                  <a:pt x="3" y="23"/>
                </a:cubicBezTo>
                <a:cubicBezTo>
                  <a:pt x="5" y="18"/>
                  <a:pt x="8" y="14"/>
                  <a:pt x="12" y="11"/>
                </a:cubicBezTo>
                <a:cubicBezTo>
                  <a:pt x="16" y="7"/>
                  <a:pt x="20" y="4"/>
                  <a:pt x="25" y="2"/>
                </a:cubicBezTo>
                <a:cubicBezTo>
                  <a:pt x="29" y="0"/>
                  <a:pt x="34" y="0"/>
                  <a:pt x="39" y="0"/>
                </a:cubicBezTo>
                <a:cubicBezTo>
                  <a:pt x="44" y="0"/>
                  <a:pt x="49" y="0"/>
                  <a:pt x="53" y="2"/>
                </a:cubicBezTo>
                <a:cubicBezTo>
                  <a:pt x="58" y="4"/>
                  <a:pt x="62" y="7"/>
                  <a:pt x="66" y="11"/>
                </a:cubicBezTo>
                <a:cubicBezTo>
                  <a:pt x="69" y="14"/>
                  <a:pt x="72" y="18"/>
                  <a:pt x="74" y="23"/>
                </a:cubicBezTo>
                <a:cubicBezTo>
                  <a:pt x="76" y="27"/>
                  <a:pt x="77" y="32"/>
                  <a:pt x="77" y="37"/>
                </a:cubicBezTo>
                <a:close/>
              </a:path>
            </a:pathLst>
          </a:custGeom>
          <a:solidFill>
            <a:srgbClr val="374151"/>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46" name=""/>
          <p:cNvSpPr txBox="1"/>
          <p:nvPr/>
        </p:nvSpPr>
        <p:spPr>
          <a:xfrm>
            <a:off x="517320" y="924840"/>
            <a:ext cx="1475280" cy="154440"/>
          </a:xfrm>
          <a:prstGeom prst="rect">
            <a:avLst/>
          </a:prstGeom>
          <a:noFill/>
          <a:ln w="0">
            <a:noFill/>
          </a:ln>
        </p:spPr>
        <p:txBody>
          <a:bodyPr wrap="none" lIns="0" rIns="0" tIns="0" bIns="0" anchor="t">
            <a:spAutoFit/>
          </a:bodyPr>
          <a:p>
            <a:r>
              <a:rPr b="0" lang="zh-CN" sz="960" strike="noStrike" u="none">
                <a:solidFill>
                  <a:srgbClr val="b91c1c"/>
                </a:solidFill>
                <a:effectLst/>
                <a:uFillTx/>
                <a:latin typeface="WenQuanYiZenHei"/>
                <a:ea typeface="WenQuanYiZenHei"/>
              </a:rPr>
              <a:t>ペースメーカー治療・管理</a:t>
            </a:r>
            <a:endParaRPr b="0" lang="en-US" sz="960" strike="noStrike" u="none">
              <a:solidFill>
                <a:srgbClr val="000000"/>
              </a:solidFill>
              <a:effectLst/>
              <a:uFillTx/>
              <a:latin typeface="Times New Roman"/>
            </a:endParaRPr>
          </a:p>
        </p:txBody>
      </p:sp>
      <p:sp>
        <p:nvSpPr>
          <p:cNvPr id="847" name=""/>
          <p:cNvSpPr txBox="1"/>
          <p:nvPr/>
        </p:nvSpPr>
        <p:spPr>
          <a:xfrm>
            <a:off x="489960" y="1162080"/>
            <a:ext cx="96984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ペースメーカー移植術</a:t>
            </a:r>
            <a:endParaRPr b="0" lang="en-US" sz="750" strike="noStrike" u="none">
              <a:solidFill>
                <a:srgbClr val="000000"/>
              </a:solidFill>
              <a:effectLst/>
              <a:uFillTx/>
              <a:latin typeface="Times New Roman"/>
            </a:endParaRPr>
          </a:p>
        </p:txBody>
      </p:sp>
      <p:sp>
        <p:nvSpPr>
          <p:cNvPr id="848" name=""/>
          <p:cNvSpPr txBox="1"/>
          <p:nvPr/>
        </p:nvSpPr>
        <p:spPr>
          <a:xfrm>
            <a:off x="1442880" y="1165320"/>
            <a:ext cx="95040" cy="111960"/>
          </a:xfrm>
          <a:prstGeom prst="rect">
            <a:avLst/>
          </a:prstGeom>
          <a:noFill/>
          <a:ln w="0">
            <a:noFill/>
          </a:ln>
        </p:spPr>
        <p:txBody>
          <a:bodyPr wrap="none" lIns="0" rIns="0" tIns="0" bIns="0" anchor="t">
            <a:spAutoFit/>
          </a:bodyPr>
          <a:p>
            <a:r>
              <a:rPr b="0" lang="en-US" sz="750" strike="noStrike" u="none">
                <a:solidFill>
                  <a:srgbClr val="374151"/>
                </a:solidFill>
                <a:effectLst/>
                <a:uFillTx/>
                <a:latin typeface="DejaVuSans"/>
                <a:ea typeface="DejaVuSans"/>
              </a:rPr>
              <a:t>: </a:t>
            </a:r>
            <a:endParaRPr b="0" lang="en-US" sz="750" strike="noStrike" u="none">
              <a:solidFill>
                <a:srgbClr val="000000"/>
              </a:solidFill>
              <a:effectLst/>
              <a:uFillTx/>
              <a:latin typeface="Times New Roman"/>
            </a:endParaRPr>
          </a:p>
        </p:txBody>
      </p:sp>
      <p:sp>
        <p:nvSpPr>
          <p:cNvPr id="849" name=""/>
          <p:cNvSpPr txBox="1"/>
          <p:nvPr/>
        </p:nvSpPr>
        <p:spPr>
          <a:xfrm>
            <a:off x="1505520" y="1162080"/>
            <a:ext cx="9684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約</a:t>
            </a:r>
            <a:endParaRPr b="0" lang="en-US" sz="750" strike="noStrike" u="none">
              <a:solidFill>
                <a:srgbClr val="000000"/>
              </a:solidFill>
              <a:effectLst/>
              <a:uFillTx/>
              <a:latin typeface="Times New Roman"/>
            </a:endParaRPr>
          </a:p>
        </p:txBody>
      </p:sp>
      <p:sp>
        <p:nvSpPr>
          <p:cNvPr id="850" name=""/>
          <p:cNvSpPr txBox="1"/>
          <p:nvPr/>
        </p:nvSpPr>
        <p:spPr>
          <a:xfrm>
            <a:off x="1600560" y="1165320"/>
            <a:ext cx="371160" cy="111960"/>
          </a:xfrm>
          <a:prstGeom prst="rect">
            <a:avLst/>
          </a:prstGeom>
          <a:noFill/>
          <a:ln w="0">
            <a:noFill/>
          </a:ln>
        </p:spPr>
        <p:txBody>
          <a:bodyPr wrap="none" lIns="0" rIns="0" tIns="0" bIns="0" anchor="t">
            <a:spAutoFit/>
          </a:bodyPr>
          <a:p>
            <a:r>
              <a:rPr b="1" lang="en-US" sz="750" strike="noStrike" u="none">
                <a:solidFill>
                  <a:srgbClr val="374151"/>
                </a:solidFill>
                <a:effectLst/>
                <a:uFillTx/>
                <a:latin typeface="DejaVuSans"/>
                <a:ea typeface="DejaVuSans"/>
              </a:rPr>
              <a:t>40,000</a:t>
            </a:r>
            <a:endParaRPr b="0" lang="en-US" sz="750" strike="noStrike" u="none">
              <a:solidFill>
                <a:srgbClr val="000000"/>
              </a:solidFill>
              <a:effectLst/>
              <a:uFillTx/>
              <a:latin typeface="Times New Roman"/>
            </a:endParaRPr>
          </a:p>
        </p:txBody>
      </p:sp>
      <p:sp>
        <p:nvSpPr>
          <p:cNvPr id="851" name=""/>
          <p:cNvSpPr/>
          <p:nvPr/>
        </p:nvSpPr>
        <p:spPr>
          <a:xfrm>
            <a:off x="387720" y="1375920"/>
            <a:ext cx="27720" cy="27720"/>
          </a:xfrm>
          <a:custGeom>
            <a:avLst/>
            <a:gdLst/>
            <a:ahLst/>
            <a:rect l="0" t="0" r="r" b="b"/>
            <a:pathLst>
              <a:path w="77" h="77">
                <a:moveTo>
                  <a:pt x="77" y="38"/>
                </a:moveTo>
                <a:cubicBezTo>
                  <a:pt x="77" y="44"/>
                  <a:pt x="76" y="49"/>
                  <a:pt x="74" y="54"/>
                </a:cubicBezTo>
                <a:cubicBezTo>
                  <a:pt x="72" y="58"/>
                  <a:pt x="69" y="62"/>
                  <a:pt x="66" y="66"/>
                </a:cubicBezTo>
                <a:cubicBezTo>
                  <a:pt x="62" y="69"/>
                  <a:pt x="58" y="72"/>
                  <a:pt x="53" y="74"/>
                </a:cubicBezTo>
                <a:cubicBezTo>
                  <a:pt x="49" y="76"/>
                  <a:pt x="44" y="77"/>
                  <a:pt x="39" y="77"/>
                </a:cubicBezTo>
                <a:cubicBezTo>
                  <a:pt x="34" y="77"/>
                  <a:pt x="29" y="76"/>
                  <a:pt x="25" y="74"/>
                </a:cubicBezTo>
                <a:cubicBezTo>
                  <a:pt x="20" y="72"/>
                  <a:pt x="16" y="69"/>
                  <a:pt x="12" y="66"/>
                </a:cubicBezTo>
                <a:cubicBezTo>
                  <a:pt x="8" y="62"/>
                  <a:pt x="5" y="58"/>
                  <a:pt x="3" y="54"/>
                </a:cubicBezTo>
                <a:cubicBezTo>
                  <a:pt x="1" y="49"/>
                  <a:pt x="0" y="44"/>
                  <a:pt x="0" y="38"/>
                </a:cubicBezTo>
                <a:cubicBezTo>
                  <a:pt x="0" y="33"/>
                  <a:pt x="1" y="28"/>
                  <a:pt x="3" y="24"/>
                </a:cubicBezTo>
                <a:cubicBezTo>
                  <a:pt x="5" y="19"/>
                  <a:pt x="8" y="15"/>
                  <a:pt x="12" y="11"/>
                </a:cubicBezTo>
                <a:cubicBezTo>
                  <a:pt x="16" y="8"/>
                  <a:pt x="20" y="5"/>
                  <a:pt x="25" y="3"/>
                </a:cubicBezTo>
                <a:cubicBezTo>
                  <a:pt x="29" y="1"/>
                  <a:pt x="34" y="0"/>
                  <a:pt x="39" y="0"/>
                </a:cubicBezTo>
                <a:cubicBezTo>
                  <a:pt x="44" y="0"/>
                  <a:pt x="49" y="1"/>
                  <a:pt x="53" y="3"/>
                </a:cubicBezTo>
                <a:cubicBezTo>
                  <a:pt x="58" y="5"/>
                  <a:pt x="62" y="8"/>
                  <a:pt x="66" y="11"/>
                </a:cubicBezTo>
                <a:cubicBezTo>
                  <a:pt x="69" y="15"/>
                  <a:pt x="72" y="19"/>
                  <a:pt x="74" y="24"/>
                </a:cubicBezTo>
                <a:cubicBezTo>
                  <a:pt x="76" y="28"/>
                  <a:pt x="77" y="33"/>
                  <a:pt x="77" y="38"/>
                </a:cubicBezTo>
                <a:close/>
              </a:path>
            </a:pathLst>
          </a:custGeom>
          <a:solidFill>
            <a:srgbClr val="374151"/>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52" name=""/>
          <p:cNvSpPr txBox="1"/>
          <p:nvPr/>
        </p:nvSpPr>
        <p:spPr>
          <a:xfrm>
            <a:off x="1968480" y="1162080"/>
            <a:ext cx="116424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点～（機種により異なる）</a:t>
            </a:r>
            <a:endParaRPr b="0" lang="en-US" sz="750" strike="noStrike" u="none">
              <a:solidFill>
                <a:srgbClr val="000000"/>
              </a:solidFill>
              <a:effectLst/>
              <a:uFillTx/>
              <a:latin typeface="Times New Roman"/>
            </a:endParaRPr>
          </a:p>
        </p:txBody>
      </p:sp>
      <p:sp>
        <p:nvSpPr>
          <p:cNvPr id="853" name=""/>
          <p:cNvSpPr txBox="1"/>
          <p:nvPr/>
        </p:nvSpPr>
        <p:spPr>
          <a:xfrm>
            <a:off x="489960" y="1325160"/>
            <a:ext cx="96984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ペースメーカー交換術</a:t>
            </a:r>
            <a:endParaRPr b="0" lang="en-US" sz="750" strike="noStrike" u="none">
              <a:solidFill>
                <a:srgbClr val="000000"/>
              </a:solidFill>
              <a:effectLst/>
              <a:uFillTx/>
              <a:latin typeface="Times New Roman"/>
            </a:endParaRPr>
          </a:p>
        </p:txBody>
      </p:sp>
      <p:sp>
        <p:nvSpPr>
          <p:cNvPr id="854" name=""/>
          <p:cNvSpPr txBox="1"/>
          <p:nvPr/>
        </p:nvSpPr>
        <p:spPr>
          <a:xfrm>
            <a:off x="1442880" y="1328760"/>
            <a:ext cx="95040" cy="111960"/>
          </a:xfrm>
          <a:prstGeom prst="rect">
            <a:avLst/>
          </a:prstGeom>
          <a:noFill/>
          <a:ln w="0">
            <a:noFill/>
          </a:ln>
        </p:spPr>
        <p:txBody>
          <a:bodyPr wrap="none" lIns="0" rIns="0" tIns="0" bIns="0" anchor="t">
            <a:spAutoFit/>
          </a:bodyPr>
          <a:p>
            <a:r>
              <a:rPr b="0" lang="en-US" sz="750" strike="noStrike" u="none">
                <a:solidFill>
                  <a:srgbClr val="374151"/>
                </a:solidFill>
                <a:effectLst/>
                <a:uFillTx/>
                <a:latin typeface="DejaVuSans"/>
                <a:ea typeface="DejaVuSans"/>
              </a:rPr>
              <a:t>: </a:t>
            </a:r>
            <a:endParaRPr b="0" lang="en-US" sz="750" strike="noStrike" u="none">
              <a:solidFill>
                <a:srgbClr val="000000"/>
              </a:solidFill>
              <a:effectLst/>
              <a:uFillTx/>
              <a:latin typeface="Times New Roman"/>
            </a:endParaRPr>
          </a:p>
        </p:txBody>
      </p:sp>
      <p:sp>
        <p:nvSpPr>
          <p:cNvPr id="855" name=""/>
          <p:cNvSpPr txBox="1"/>
          <p:nvPr/>
        </p:nvSpPr>
        <p:spPr>
          <a:xfrm>
            <a:off x="1505520" y="1325160"/>
            <a:ext cx="9684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約</a:t>
            </a:r>
            <a:endParaRPr b="0" lang="en-US" sz="750" strike="noStrike" u="none">
              <a:solidFill>
                <a:srgbClr val="000000"/>
              </a:solidFill>
              <a:effectLst/>
              <a:uFillTx/>
              <a:latin typeface="Times New Roman"/>
            </a:endParaRPr>
          </a:p>
        </p:txBody>
      </p:sp>
      <p:sp>
        <p:nvSpPr>
          <p:cNvPr id="856" name=""/>
          <p:cNvSpPr txBox="1"/>
          <p:nvPr/>
        </p:nvSpPr>
        <p:spPr>
          <a:xfrm>
            <a:off x="1600560" y="1328760"/>
            <a:ext cx="371160" cy="111960"/>
          </a:xfrm>
          <a:prstGeom prst="rect">
            <a:avLst/>
          </a:prstGeom>
          <a:noFill/>
          <a:ln w="0">
            <a:noFill/>
          </a:ln>
        </p:spPr>
        <p:txBody>
          <a:bodyPr wrap="none" lIns="0" rIns="0" tIns="0" bIns="0" anchor="t">
            <a:spAutoFit/>
          </a:bodyPr>
          <a:p>
            <a:r>
              <a:rPr b="1" lang="en-US" sz="750" strike="noStrike" u="none">
                <a:solidFill>
                  <a:srgbClr val="374151"/>
                </a:solidFill>
                <a:effectLst/>
                <a:uFillTx/>
                <a:latin typeface="DejaVuSans"/>
                <a:ea typeface="DejaVuSans"/>
              </a:rPr>
              <a:t>20,000</a:t>
            </a:r>
            <a:endParaRPr b="0" lang="en-US" sz="750" strike="noStrike" u="none">
              <a:solidFill>
                <a:srgbClr val="000000"/>
              </a:solidFill>
              <a:effectLst/>
              <a:uFillTx/>
              <a:latin typeface="Times New Roman"/>
            </a:endParaRPr>
          </a:p>
        </p:txBody>
      </p:sp>
      <p:sp>
        <p:nvSpPr>
          <p:cNvPr id="857" name=""/>
          <p:cNvSpPr/>
          <p:nvPr/>
        </p:nvSpPr>
        <p:spPr>
          <a:xfrm>
            <a:off x="387720" y="1539360"/>
            <a:ext cx="27720" cy="27720"/>
          </a:xfrm>
          <a:custGeom>
            <a:avLst/>
            <a:gdLst/>
            <a:ahLst/>
            <a:rect l="0" t="0" r="r" b="b"/>
            <a:pathLst>
              <a:path w="77" h="77">
                <a:moveTo>
                  <a:pt x="77" y="39"/>
                </a:moveTo>
                <a:cubicBezTo>
                  <a:pt x="77" y="44"/>
                  <a:pt x="76" y="49"/>
                  <a:pt x="74" y="53"/>
                </a:cubicBezTo>
                <a:cubicBezTo>
                  <a:pt x="72" y="58"/>
                  <a:pt x="69" y="62"/>
                  <a:pt x="66" y="66"/>
                </a:cubicBezTo>
                <a:cubicBezTo>
                  <a:pt x="62" y="69"/>
                  <a:pt x="58" y="72"/>
                  <a:pt x="53" y="74"/>
                </a:cubicBezTo>
                <a:cubicBezTo>
                  <a:pt x="49" y="76"/>
                  <a:pt x="44" y="77"/>
                  <a:pt x="39" y="77"/>
                </a:cubicBezTo>
                <a:cubicBezTo>
                  <a:pt x="34" y="77"/>
                  <a:pt x="29" y="76"/>
                  <a:pt x="25" y="74"/>
                </a:cubicBezTo>
                <a:cubicBezTo>
                  <a:pt x="20" y="72"/>
                  <a:pt x="16" y="69"/>
                  <a:pt x="12" y="66"/>
                </a:cubicBezTo>
                <a:cubicBezTo>
                  <a:pt x="8" y="62"/>
                  <a:pt x="5" y="58"/>
                  <a:pt x="3" y="53"/>
                </a:cubicBezTo>
                <a:cubicBezTo>
                  <a:pt x="1" y="49"/>
                  <a:pt x="0" y="44"/>
                  <a:pt x="0" y="39"/>
                </a:cubicBezTo>
                <a:cubicBezTo>
                  <a:pt x="0" y="33"/>
                  <a:pt x="1" y="28"/>
                  <a:pt x="3" y="23"/>
                </a:cubicBezTo>
                <a:cubicBezTo>
                  <a:pt x="5" y="19"/>
                  <a:pt x="8" y="15"/>
                  <a:pt x="12" y="11"/>
                </a:cubicBezTo>
                <a:cubicBezTo>
                  <a:pt x="16" y="8"/>
                  <a:pt x="20" y="5"/>
                  <a:pt x="25" y="3"/>
                </a:cubicBezTo>
                <a:cubicBezTo>
                  <a:pt x="29" y="1"/>
                  <a:pt x="34" y="0"/>
                  <a:pt x="39" y="0"/>
                </a:cubicBezTo>
                <a:cubicBezTo>
                  <a:pt x="44" y="0"/>
                  <a:pt x="49" y="1"/>
                  <a:pt x="53" y="3"/>
                </a:cubicBezTo>
                <a:cubicBezTo>
                  <a:pt x="58" y="5"/>
                  <a:pt x="62" y="8"/>
                  <a:pt x="66" y="11"/>
                </a:cubicBezTo>
                <a:cubicBezTo>
                  <a:pt x="69" y="15"/>
                  <a:pt x="72" y="19"/>
                  <a:pt x="74" y="23"/>
                </a:cubicBezTo>
                <a:cubicBezTo>
                  <a:pt x="76" y="28"/>
                  <a:pt x="77" y="33"/>
                  <a:pt x="77" y="39"/>
                </a:cubicBezTo>
                <a:close/>
              </a:path>
            </a:pathLst>
          </a:custGeom>
          <a:solidFill>
            <a:srgbClr val="374151"/>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58" name=""/>
          <p:cNvSpPr txBox="1"/>
          <p:nvPr/>
        </p:nvSpPr>
        <p:spPr>
          <a:xfrm>
            <a:off x="1968480" y="1325160"/>
            <a:ext cx="19260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点～</a:t>
            </a:r>
            <a:endParaRPr b="0" lang="en-US" sz="750" strike="noStrike" u="none">
              <a:solidFill>
                <a:srgbClr val="000000"/>
              </a:solidFill>
              <a:effectLst/>
              <a:uFillTx/>
              <a:latin typeface="Times New Roman"/>
            </a:endParaRPr>
          </a:p>
        </p:txBody>
      </p:sp>
      <p:sp>
        <p:nvSpPr>
          <p:cNvPr id="859" name=""/>
          <p:cNvSpPr txBox="1"/>
          <p:nvPr/>
        </p:nvSpPr>
        <p:spPr>
          <a:xfrm>
            <a:off x="489960" y="1488600"/>
            <a:ext cx="116172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ペースメーカー指導管理料</a:t>
            </a:r>
            <a:endParaRPr b="0" lang="en-US" sz="750" strike="noStrike" u="none">
              <a:solidFill>
                <a:srgbClr val="000000"/>
              </a:solidFill>
              <a:effectLst/>
              <a:uFillTx/>
              <a:latin typeface="Times New Roman"/>
            </a:endParaRPr>
          </a:p>
        </p:txBody>
      </p:sp>
      <p:sp>
        <p:nvSpPr>
          <p:cNvPr id="860" name=""/>
          <p:cNvSpPr txBox="1"/>
          <p:nvPr/>
        </p:nvSpPr>
        <p:spPr>
          <a:xfrm>
            <a:off x="1633680" y="1491840"/>
            <a:ext cx="367560" cy="111960"/>
          </a:xfrm>
          <a:prstGeom prst="rect">
            <a:avLst/>
          </a:prstGeom>
          <a:noFill/>
          <a:ln w="0">
            <a:noFill/>
          </a:ln>
        </p:spPr>
        <p:txBody>
          <a:bodyPr wrap="none" lIns="0" rIns="0" tIns="0" bIns="0" anchor="t">
            <a:spAutoFit/>
          </a:bodyPr>
          <a:p>
            <a:r>
              <a:rPr b="0" lang="en-US" sz="750" strike="noStrike" u="none">
                <a:solidFill>
                  <a:srgbClr val="374151"/>
                </a:solidFill>
                <a:effectLst/>
                <a:uFillTx/>
                <a:latin typeface="DejaVuSans"/>
                <a:ea typeface="DejaVuSans"/>
              </a:rPr>
              <a:t>: </a:t>
            </a:r>
            <a:r>
              <a:rPr b="1" lang="en-US" sz="750" strike="noStrike" u="none">
                <a:solidFill>
                  <a:srgbClr val="374151"/>
                </a:solidFill>
                <a:effectLst/>
                <a:uFillTx/>
                <a:latin typeface="DejaVuSans"/>
                <a:ea typeface="DejaVuSans"/>
              </a:rPr>
              <a:t>2,150</a:t>
            </a:r>
            <a:endParaRPr b="0" lang="en-US" sz="750" strike="noStrike" u="none">
              <a:solidFill>
                <a:srgbClr val="000000"/>
              </a:solidFill>
              <a:effectLst/>
              <a:uFillTx/>
              <a:latin typeface="Times New Roman"/>
            </a:endParaRPr>
          </a:p>
        </p:txBody>
      </p:sp>
      <p:sp>
        <p:nvSpPr>
          <p:cNvPr id="861" name=""/>
          <p:cNvSpPr txBox="1"/>
          <p:nvPr/>
        </p:nvSpPr>
        <p:spPr>
          <a:xfrm>
            <a:off x="1997280" y="1488600"/>
            <a:ext cx="9684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点</a:t>
            </a:r>
            <a:endParaRPr b="0" lang="en-US" sz="750" strike="noStrike" u="none">
              <a:solidFill>
                <a:srgbClr val="000000"/>
              </a:solidFill>
              <a:effectLst/>
              <a:uFillTx/>
              <a:latin typeface="Times New Roman"/>
            </a:endParaRPr>
          </a:p>
        </p:txBody>
      </p:sp>
      <p:sp>
        <p:nvSpPr>
          <p:cNvPr id="862" name=""/>
          <p:cNvSpPr txBox="1"/>
          <p:nvPr/>
        </p:nvSpPr>
        <p:spPr>
          <a:xfrm>
            <a:off x="2092680" y="1491840"/>
            <a:ext cx="95040" cy="111960"/>
          </a:xfrm>
          <a:prstGeom prst="rect">
            <a:avLst/>
          </a:prstGeom>
          <a:noFill/>
          <a:ln w="0">
            <a:noFill/>
          </a:ln>
        </p:spPr>
        <p:txBody>
          <a:bodyPr wrap="none" lIns="0" rIns="0" tIns="0" bIns="0" anchor="t">
            <a:spAutoFit/>
          </a:bodyPr>
          <a:p>
            <a:r>
              <a:rPr b="1" lang="en-US" sz="750" strike="noStrike" u="none">
                <a:solidFill>
                  <a:srgbClr val="374151"/>
                </a:solidFill>
                <a:effectLst/>
                <a:uFillTx/>
                <a:latin typeface="DejaVuSans"/>
                <a:ea typeface="DejaVuSans"/>
              </a:rPr>
              <a:t>/</a:t>
            </a:r>
            <a:endParaRPr b="0" lang="en-US" sz="750" strike="noStrike" u="none">
              <a:solidFill>
                <a:srgbClr val="000000"/>
              </a:solidFill>
              <a:effectLst/>
              <a:uFillTx/>
              <a:latin typeface="Times New Roman"/>
            </a:endParaRPr>
          </a:p>
        </p:txBody>
      </p:sp>
      <p:pic>
        <p:nvPicPr>
          <p:cNvPr id="863" name="" descr=""/>
          <p:cNvPicPr/>
          <p:nvPr/>
        </p:nvPicPr>
        <p:blipFill>
          <a:blip r:embed="rId8"/>
          <a:stretch/>
        </p:blipFill>
        <p:spPr>
          <a:xfrm>
            <a:off x="326880" y="1968480"/>
            <a:ext cx="135720" cy="135720"/>
          </a:xfrm>
          <a:prstGeom prst="rect">
            <a:avLst/>
          </a:prstGeom>
          <a:noFill/>
          <a:ln w="0">
            <a:noFill/>
          </a:ln>
        </p:spPr>
      </p:pic>
      <p:sp>
        <p:nvSpPr>
          <p:cNvPr id="864" name=""/>
          <p:cNvSpPr txBox="1"/>
          <p:nvPr/>
        </p:nvSpPr>
        <p:spPr>
          <a:xfrm>
            <a:off x="2127600" y="1488600"/>
            <a:ext cx="145908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月（遠隔モニタリング加算あり）</a:t>
            </a:r>
            <a:endParaRPr b="0" lang="en-US" sz="750" strike="noStrike" u="none">
              <a:solidFill>
                <a:srgbClr val="000000"/>
              </a:solidFill>
              <a:effectLst/>
              <a:uFillTx/>
              <a:latin typeface="Times New Roman"/>
            </a:endParaRPr>
          </a:p>
        </p:txBody>
      </p:sp>
      <p:sp>
        <p:nvSpPr>
          <p:cNvPr id="865" name=""/>
          <p:cNvSpPr/>
          <p:nvPr/>
        </p:nvSpPr>
        <p:spPr>
          <a:xfrm>
            <a:off x="387720" y="2247120"/>
            <a:ext cx="27720" cy="27720"/>
          </a:xfrm>
          <a:custGeom>
            <a:avLst/>
            <a:gdLst/>
            <a:ahLst/>
            <a:rect l="0" t="0" r="r" b="b"/>
            <a:pathLst>
              <a:path w="77" h="77">
                <a:moveTo>
                  <a:pt x="77" y="39"/>
                </a:moveTo>
                <a:cubicBezTo>
                  <a:pt x="77" y="44"/>
                  <a:pt x="76" y="49"/>
                  <a:pt x="74" y="54"/>
                </a:cubicBezTo>
                <a:cubicBezTo>
                  <a:pt x="72" y="58"/>
                  <a:pt x="69" y="62"/>
                  <a:pt x="66" y="66"/>
                </a:cubicBezTo>
                <a:cubicBezTo>
                  <a:pt x="62" y="69"/>
                  <a:pt x="58" y="72"/>
                  <a:pt x="53" y="74"/>
                </a:cubicBezTo>
                <a:cubicBezTo>
                  <a:pt x="49" y="76"/>
                  <a:pt x="44" y="77"/>
                  <a:pt x="39" y="77"/>
                </a:cubicBezTo>
                <a:cubicBezTo>
                  <a:pt x="34" y="77"/>
                  <a:pt x="29" y="76"/>
                  <a:pt x="25" y="74"/>
                </a:cubicBezTo>
                <a:cubicBezTo>
                  <a:pt x="20" y="72"/>
                  <a:pt x="16" y="69"/>
                  <a:pt x="12" y="66"/>
                </a:cubicBezTo>
                <a:cubicBezTo>
                  <a:pt x="8" y="62"/>
                  <a:pt x="5" y="58"/>
                  <a:pt x="3" y="54"/>
                </a:cubicBezTo>
                <a:cubicBezTo>
                  <a:pt x="1" y="49"/>
                  <a:pt x="0" y="44"/>
                  <a:pt x="0" y="39"/>
                </a:cubicBezTo>
                <a:cubicBezTo>
                  <a:pt x="0" y="34"/>
                  <a:pt x="1" y="29"/>
                  <a:pt x="3" y="25"/>
                </a:cubicBezTo>
                <a:cubicBezTo>
                  <a:pt x="5" y="19"/>
                  <a:pt x="8" y="15"/>
                  <a:pt x="12" y="11"/>
                </a:cubicBezTo>
                <a:cubicBezTo>
                  <a:pt x="16" y="8"/>
                  <a:pt x="20" y="5"/>
                  <a:pt x="25" y="3"/>
                </a:cubicBezTo>
                <a:cubicBezTo>
                  <a:pt x="29" y="1"/>
                  <a:pt x="34" y="0"/>
                  <a:pt x="39" y="0"/>
                </a:cubicBezTo>
                <a:cubicBezTo>
                  <a:pt x="44" y="0"/>
                  <a:pt x="49" y="1"/>
                  <a:pt x="53" y="3"/>
                </a:cubicBezTo>
                <a:cubicBezTo>
                  <a:pt x="58" y="5"/>
                  <a:pt x="62" y="8"/>
                  <a:pt x="66" y="11"/>
                </a:cubicBezTo>
                <a:cubicBezTo>
                  <a:pt x="69" y="15"/>
                  <a:pt x="72" y="19"/>
                  <a:pt x="74" y="25"/>
                </a:cubicBezTo>
                <a:cubicBezTo>
                  <a:pt x="76" y="29"/>
                  <a:pt x="77" y="34"/>
                  <a:pt x="77" y="39"/>
                </a:cubicBezTo>
                <a:close/>
              </a:path>
            </a:pathLst>
          </a:custGeom>
          <a:solidFill>
            <a:srgbClr val="374151"/>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66" name=""/>
          <p:cNvSpPr txBox="1"/>
          <p:nvPr/>
        </p:nvSpPr>
        <p:spPr>
          <a:xfrm>
            <a:off x="517320" y="1959120"/>
            <a:ext cx="1109520" cy="154440"/>
          </a:xfrm>
          <a:prstGeom prst="rect">
            <a:avLst/>
          </a:prstGeom>
          <a:noFill/>
          <a:ln w="0">
            <a:noFill/>
          </a:ln>
        </p:spPr>
        <p:txBody>
          <a:bodyPr wrap="none" lIns="0" rIns="0" tIns="0" bIns="0" anchor="t">
            <a:spAutoFit/>
          </a:bodyPr>
          <a:p>
            <a:r>
              <a:rPr b="0" lang="zh-CN" sz="960" strike="noStrike" u="none">
                <a:solidFill>
                  <a:srgbClr val="1d4ed8"/>
                </a:solidFill>
                <a:effectLst/>
                <a:uFillTx/>
                <a:latin typeface="WenQuanYiZenHei"/>
                <a:ea typeface="WenQuanYiZenHei"/>
              </a:rPr>
              <a:t>心臓カテーテル治療</a:t>
            </a:r>
            <a:endParaRPr b="0" lang="en-US" sz="960" strike="noStrike" u="none">
              <a:solidFill>
                <a:srgbClr val="000000"/>
              </a:solidFill>
              <a:effectLst/>
              <a:uFillTx/>
              <a:latin typeface="Times New Roman"/>
            </a:endParaRPr>
          </a:p>
        </p:txBody>
      </p:sp>
      <p:sp>
        <p:nvSpPr>
          <p:cNvPr id="867" name=""/>
          <p:cNvSpPr txBox="1"/>
          <p:nvPr/>
        </p:nvSpPr>
        <p:spPr>
          <a:xfrm>
            <a:off x="489960" y="2196360"/>
            <a:ext cx="86472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経皮的冠動脈形成術</a:t>
            </a:r>
            <a:endParaRPr b="0" lang="en-US" sz="750" strike="noStrike" u="none">
              <a:solidFill>
                <a:srgbClr val="000000"/>
              </a:solidFill>
              <a:effectLst/>
              <a:uFillTx/>
              <a:latin typeface="Times New Roman"/>
            </a:endParaRPr>
          </a:p>
        </p:txBody>
      </p:sp>
      <p:sp>
        <p:nvSpPr>
          <p:cNvPr id="868" name=""/>
          <p:cNvSpPr txBox="1"/>
          <p:nvPr/>
        </p:nvSpPr>
        <p:spPr>
          <a:xfrm>
            <a:off x="1347840" y="2199960"/>
            <a:ext cx="261360" cy="111960"/>
          </a:xfrm>
          <a:prstGeom prst="rect">
            <a:avLst/>
          </a:prstGeom>
          <a:noFill/>
          <a:ln w="0">
            <a:noFill/>
          </a:ln>
        </p:spPr>
        <p:txBody>
          <a:bodyPr wrap="none" lIns="0" rIns="0" tIns="0" bIns="0" anchor="t">
            <a:spAutoFit/>
          </a:bodyPr>
          <a:p>
            <a:r>
              <a:rPr b="0" lang="en-US" sz="750" strike="noStrike" u="none">
                <a:solidFill>
                  <a:srgbClr val="374151"/>
                </a:solidFill>
                <a:effectLst/>
                <a:uFillTx/>
                <a:latin typeface="DejaVuSans"/>
                <a:ea typeface="DejaVuSans"/>
              </a:rPr>
              <a:t>(PCI):</a:t>
            </a:r>
            <a:endParaRPr b="0" lang="en-US" sz="750" strike="noStrike" u="none">
              <a:solidFill>
                <a:srgbClr val="000000"/>
              </a:solidFill>
              <a:effectLst/>
              <a:uFillTx/>
              <a:latin typeface="Times New Roman"/>
            </a:endParaRPr>
          </a:p>
        </p:txBody>
      </p:sp>
      <p:sp>
        <p:nvSpPr>
          <p:cNvPr id="869" name=""/>
          <p:cNvSpPr txBox="1"/>
          <p:nvPr/>
        </p:nvSpPr>
        <p:spPr>
          <a:xfrm>
            <a:off x="599040" y="2332800"/>
            <a:ext cx="78012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バルーン拡張のみ</a:t>
            </a:r>
            <a:endParaRPr b="0" lang="en-US" sz="750" strike="noStrike" u="none">
              <a:solidFill>
                <a:srgbClr val="000000"/>
              </a:solidFill>
              <a:effectLst/>
              <a:uFillTx/>
              <a:latin typeface="Times New Roman"/>
            </a:endParaRPr>
          </a:p>
        </p:txBody>
      </p:sp>
      <p:sp>
        <p:nvSpPr>
          <p:cNvPr id="870" name=""/>
          <p:cNvSpPr txBox="1"/>
          <p:nvPr/>
        </p:nvSpPr>
        <p:spPr>
          <a:xfrm>
            <a:off x="1361160" y="2336040"/>
            <a:ext cx="95040" cy="111960"/>
          </a:xfrm>
          <a:prstGeom prst="rect">
            <a:avLst/>
          </a:prstGeom>
          <a:noFill/>
          <a:ln w="0">
            <a:noFill/>
          </a:ln>
        </p:spPr>
        <p:txBody>
          <a:bodyPr wrap="none" lIns="0" rIns="0" tIns="0" bIns="0" anchor="t">
            <a:spAutoFit/>
          </a:bodyPr>
          <a:p>
            <a:r>
              <a:rPr b="0" lang="en-US" sz="750" strike="noStrike" u="none">
                <a:solidFill>
                  <a:srgbClr val="374151"/>
                </a:solidFill>
                <a:effectLst/>
                <a:uFillTx/>
                <a:latin typeface="DejaVuSans"/>
                <a:ea typeface="DejaVuSans"/>
              </a:rPr>
              <a:t>: </a:t>
            </a:r>
            <a:endParaRPr b="0" lang="en-US" sz="750" strike="noStrike" u="none">
              <a:solidFill>
                <a:srgbClr val="000000"/>
              </a:solidFill>
              <a:effectLst/>
              <a:uFillTx/>
              <a:latin typeface="Times New Roman"/>
            </a:endParaRPr>
          </a:p>
        </p:txBody>
      </p:sp>
      <p:sp>
        <p:nvSpPr>
          <p:cNvPr id="871" name=""/>
          <p:cNvSpPr txBox="1"/>
          <p:nvPr/>
        </p:nvSpPr>
        <p:spPr>
          <a:xfrm>
            <a:off x="1423800" y="2332800"/>
            <a:ext cx="9684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約</a:t>
            </a:r>
            <a:endParaRPr b="0" lang="en-US" sz="750" strike="noStrike" u="none">
              <a:solidFill>
                <a:srgbClr val="000000"/>
              </a:solidFill>
              <a:effectLst/>
              <a:uFillTx/>
              <a:latin typeface="Times New Roman"/>
            </a:endParaRPr>
          </a:p>
        </p:txBody>
      </p:sp>
      <p:sp>
        <p:nvSpPr>
          <p:cNvPr id="872" name=""/>
          <p:cNvSpPr txBox="1"/>
          <p:nvPr/>
        </p:nvSpPr>
        <p:spPr>
          <a:xfrm>
            <a:off x="1518840" y="2336040"/>
            <a:ext cx="371160" cy="111960"/>
          </a:xfrm>
          <a:prstGeom prst="rect">
            <a:avLst/>
          </a:prstGeom>
          <a:noFill/>
          <a:ln w="0">
            <a:noFill/>
          </a:ln>
        </p:spPr>
        <p:txBody>
          <a:bodyPr wrap="none" lIns="0" rIns="0" tIns="0" bIns="0" anchor="t">
            <a:spAutoFit/>
          </a:bodyPr>
          <a:p>
            <a:r>
              <a:rPr b="1" lang="en-US" sz="750" strike="noStrike" u="none">
                <a:solidFill>
                  <a:srgbClr val="374151"/>
                </a:solidFill>
                <a:effectLst/>
                <a:uFillTx/>
                <a:latin typeface="DejaVuSans"/>
                <a:ea typeface="DejaVuSans"/>
              </a:rPr>
              <a:t>30,000</a:t>
            </a:r>
            <a:endParaRPr b="0" lang="en-US" sz="750" strike="noStrike" u="none">
              <a:solidFill>
                <a:srgbClr val="000000"/>
              </a:solidFill>
              <a:effectLst/>
              <a:uFillTx/>
              <a:latin typeface="Times New Roman"/>
            </a:endParaRPr>
          </a:p>
        </p:txBody>
      </p:sp>
      <p:sp>
        <p:nvSpPr>
          <p:cNvPr id="873" name=""/>
          <p:cNvSpPr txBox="1"/>
          <p:nvPr/>
        </p:nvSpPr>
        <p:spPr>
          <a:xfrm>
            <a:off x="1886760" y="2332800"/>
            <a:ext cx="9684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点</a:t>
            </a:r>
            <a:endParaRPr b="0" lang="en-US" sz="750" strike="noStrike" u="none">
              <a:solidFill>
                <a:srgbClr val="000000"/>
              </a:solidFill>
              <a:effectLst/>
              <a:uFillTx/>
              <a:latin typeface="Times New Roman"/>
            </a:endParaRPr>
          </a:p>
        </p:txBody>
      </p:sp>
      <p:sp>
        <p:nvSpPr>
          <p:cNvPr id="874" name=""/>
          <p:cNvSpPr txBox="1"/>
          <p:nvPr/>
        </p:nvSpPr>
        <p:spPr>
          <a:xfrm>
            <a:off x="599040" y="2468880"/>
            <a:ext cx="68184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ステント留置術</a:t>
            </a:r>
            <a:endParaRPr b="0" lang="en-US" sz="750" strike="noStrike" u="none">
              <a:solidFill>
                <a:srgbClr val="000000"/>
              </a:solidFill>
              <a:effectLst/>
              <a:uFillTx/>
              <a:latin typeface="Times New Roman"/>
            </a:endParaRPr>
          </a:p>
        </p:txBody>
      </p:sp>
      <p:sp>
        <p:nvSpPr>
          <p:cNvPr id="875" name=""/>
          <p:cNvSpPr txBox="1"/>
          <p:nvPr/>
        </p:nvSpPr>
        <p:spPr>
          <a:xfrm>
            <a:off x="1266120" y="2472120"/>
            <a:ext cx="99360" cy="111960"/>
          </a:xfrm>
          <a:prstGeom prst="rect">
            <a:avLst/>
          </a:prstGeom>
          <a:noFill/>
          <a:ln w="0">
            <a:noFill/>
          </a:ln>
        </p:spPr>
        <p:txBody>
          <a:bodyPr wrap="none" lIns="0" rIns="0" tIns="0" bIns="0" anchor="t">
            <a:spAutoFit/>
          </a:bodyPr>
          <a:p>
            <a:r>
              <a:rPr b="0" lang="en-US" sz="750" strike="noStrike" u="none">
                <a:solidFill>
                  <a:srgbClr val="374151"/>
                </a:solidFill>
                <a:effectLst/>
                <a:uFillTx/>
                <a:latin typeface="DejaVuSans"/>
                <a:ea typeface="DejaVuSans"/>
              </a:rPr>
              <a:t>(1</a:t>
            </a:r>
            <a:endParaRPr b="0" lang="en-US" sz="750" strike="noStrike" u="none">
              <a:solidFill>
                <a:srgbClr val="000000"/>
              </a:solidFill>
              <a:effectLst/>
              <a:uFillTx/>
              <a:latin typeface="Times New Roman"/>
            </a:endParaRPr>
          </a:p>
        </p:txBody>
      </p:sp>
      <p:sp>
        <p:nvSpPr>
          <p:cNvPr id="876" name=""/>
          <p:cNvSpPr txBox="1"/>
          <p:nvPr/>
        </p:nvSpPr>
        <p:spPr>
          <a:xfrm>
            <a:off x="1363680" y="2468880"/>
            <a:ext cx="9684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本</a:t>
            </a:r>
            <a:endParaRPr b="0" lang="en-US" sz="750" strike="noStrike" u="none">
              <a:solidFill>
                <a:srgbClr val="000000"/>
              </a:solidFill>
              <a:effectLst/>
              <a:uFillTx/>
              <a:latin typeface="Times New Roman"/>
            </a:endParaRPr>
          </a:p>
        </p:txBody>
      </p:sp>
      <p:sp>
        <p:nvSpPr>
          <p:cNvPr id="877" name=""/>
          <p:cNvSpPr txBox="1"/>
          <p:nvPr/>
        </p:nvSpPr>
        <p:spPr>
          <a:xfrm>
            <a:off x="1459080" y="2472120"/>
            <a:ext cx="101160" cy="111960"/>
          </a:xfrm>
          <a:prstGeom prst="rect">
            <a:avLst/>
          </a:prstGeom>
          <a:noFill/>
          <a:ln w="0">
            <a:noFill/>
          </a:ln>
        </p:spPr>
        <p:txBody>
          <a:bodyPr wrap="none" lIns="0" rIns="0" tIns="0" bIns="0" anchor="t">
            <a:spAutoFit/>
          </a:bodyPr>
          <a:p>
            <a:r>
              <a:rPr b="0" lang="en-US" sz="750" strike="noStrike" u="none">
                <a:solidFill>
                  <a:srgbClr val="374151"/>
                </a:solidFill>
                <a:effectLst/>
                <a:uFillTx/>
                <a:latin typeface="DejaVuSans"/>
                <a:ea typeface="DejaVuSans"/>
              </a:rPr>
              <a:t>): </a:t>
            </a:r>
            <a:endParaRPr b="0" lang="en-US" sz="750" strike="noStrike" u="none">
              <a:solidFill>
                <a:srgbClr val="000000"/>
              </a:solidFill>
              <a:effectLst/>
              <a:uFillTx/>
              <a:latin typeface="Times New Roman"/>
            </a:endParaRPr>
          </a:p>
        </p:txBody>
      </p:sp>
      <p:sp>
        <p:nvSpPr>
          <p:cNvPr id="878" name=""/>
          <p:cNvSpPr txBox="1"/>
          <p:nvPr/>
        </p:nvSpPr>
        <p:spPr>
          <a:xfrm>
            <a:off x="1558800" y="2468880"/>
            <a:ext cx="9684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約</a:t>
            </a:r>
            <a:endParaRPr b="0" lang="en-US" sz="750" strike="noStrike" u="none">
              <a:solidFill>
                <a:srgbClr val="000000"/>
              </a:solidFill>
              <a:effectLst/>
              <a:uFillTx/>
              <a:latin typeface="Times New Roman"/>
            </a:endParaRPr>
          </a:p>
        </p:txBody>
      </p:sp>
      <p:sp>
        <p:nvSpPr>
          <p:cNvPr id="879" name=""/>
          <p:cNvSpPr txBox="1"/>
          <p:nvPr/>
        </p:nvSpPr>
        <p:spPr>
          <a:xfrm>
            <a:off x="1653840" y="2472120"/>
            <a:ext cx="371160" cy="111960"/>
          </a:xfrm>
          <a:prstGeom prst="rect">
            <a:avLst/>
          </a:prstGeom>
          <a:noFill/>
          <a:ln w="0">
            <a:noFill/>
          </a:ln>
        </p:spPr>
        <p:txBody>
          <a:bodyPr wrap="none" lIns="0" rIns="0" tIns="0" bIns="0" anchor="t">
            <a:spAutoFit/>
          </a:bodyPr>
          <a:p>
            <a:r>
              <a:rPr b="1" lang="en-US" sz="750" strike="noStrike" u="none">
                <a:solidFill>
                  <a:srgbClr val="374151"/>
                </a:solidFill>
                <a:effectLst/>
                <a:uFillTx/>
                <a:latin typeface="DejaVuSans"/>
                <a:ea typeface="DejaVuSans"/>
              </a:rPr>
              <a:t>50,000</a:t>
            </a:r>
            <a:endParaRPr b="0" lang="en-US" sz="750" strike="noStrike" u="none">
              <a:solidFill>
                <a:srgbClr val="000000"/>
              </a:solidFill>
              <a:effectLst/>
              <a:uFillTx/>
              <a:latin typeface="Times New Roman"/>
            </a:endParaRPr>
          </a:p>
        </p:txBody>
      </p:sp>
      <p:sp>
        <p:nvSpPr>
          <p:cNvPr id="880" name=""/>
          <p:cNvSpPr/>
          <p:nvPr/>
        </p:nvSpPr>
        <p:spPr>
          <a:xfrm>
            <a:off x="387720" y="2682720"/>
            <a:ext cx="27720" cy="27720"/>
          </a:xfrm>
          <a:custGeom>
            <a:avLst/>
            <a:gdLst/>
            <a:ahLst/>
            <a:rect l="0" t="0" r="r" b="b"/>
            <a:pathLst>
              <a:path w="77" h="77">
                <a:moveTo>
                  <a:pt x="77" y="39"/>
                </a:moveTo>
                <a:cubicBezTo>
                  <a:pt x="77" y="44"/>
                  <a:pt x="76" y="49"/>
                  <a:pt x="74" y="54"/>
                </a:cubicBezTo>
                <a:cubicBezTo>
                  <a:pt x="72" y="58"/>
                  <a:pt x="69" y="62"/>
                  <a:pt x="66" y="66"/>
                </a:cubicBezTo>
                <a:cubicBezTo>
                  <a:pt x="62" y="69"/>
                  <a:pt x="58" y="72"/>
                  <a:pt x="53" y="74"/>
                </a:cubicBezTo>
                <a:cubicBezTo>
                  <a:pt x="49" y="76"/>
                  <a:pt x="44" y="77"/>
                  <a:pt x="39" y="77"/>
                </a:cubicBezTo>
                <a:cubicBezTo>
                  <a:pt x="34" y="77"/>
                  <a:pt x="29" y="76"/>
                  <a:pt x="25" y="74"/>
                </a:cubicBezTo>
                <a:cubicBezTo>
                  <a:pt x="20" y="72"/>
                  <a:pt x="16" y="69"/>
                  <a:pt x="12" y="66"/>
                </a:cubicBezTo>
                <a:cubicBezTo>
                  <a:pt x="8" y="62"/>
                  <a:pt x="5" y="58"/>
                  <a:pt x="3" y="54"/>
                </a:cubicBezTo>
                <a:cubicBezTo>
                  <a:pt x="1" y="49"/>
                  <a:pt x="0" y="44"/>
                  <a:pt x="0" y="39"/>
                </a:cubicBezTo>
                <a:cubicBezTo>
                  <a:pt x="0" y="34"/>
                  <a:pt x="1" y="29"/>
                  <a:pt x="3" y="25"/>
                </a:cubicBezTo>
                <a:cubicBezTo>
                  <a:pt x="5" y="20"/>
                  <a:pt x="8" y="16"/>
                  <a:pt x="12" y="12"/>
                </a:cubicBezTo>
                <a:cubicBezTo>
                  <a:pt x="16" y="8"/>
                  <a:pt x="20" y="5"/>
                  <a:pt x="25" y="3"/>
                </a:cubicBezTo>
                <a:cubicBezTo>
                  <a:pt x="29" y="1"/>
                  <a:pt x="34" y="0"/>
                  <a:pt x="39" y="0"/>
                </a:cubicBezTo>
                <a:cubicBezTo>
                  <a:pt x="44" y="0"/>
                  <a:pt x="49" y="1"/>
                  <a:pt x="53" y="3"/>
                </a:cubicBezTo>
                <a:cubicBezTo>
                  <a:pt x="58" y="5"/>
                  <a:pt x="62" y="8"/>
                  <a:pt x="66" y="12"/>
                </a:cubicBezTo>
                <a:cubicBezTo>
                  <a:pt x="69" y="16"/>
                  <a:pt x="72" y="20"/>
                  <a:pt x="74" y="25"/>
                </a:cubicBezTo>
                <a:cubicBezTo>
                  <a:pt x="76" y="29"/>
                  <a:pt x="77" y="34"/>
                  <a:pt x="77" y="39"/>
                </a:cubicBezTo>
                <a:close/>
              </a:path>
            </a:pathLst>
          </a:custGeom>
          <a:solidFill>
            <a:srgbClr val="374151"/>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881" name=""/>
          <p:cNvSpPr txBox="1"/>
          <p:nvPr/>
        </p:nvSpPr>
        <p:spPr>
          <a:xfrm>
            <a:off x="2021760" y="2468880"/>
            <a:ext cx="19260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点～</a:t>
            </a:r>
            <a:endParaRPr b="0" lang="en-US" sz="750" strike="noStrike" u="none">
              <a:solidFill>
                <a:srgbClr val="000000"/>
              </a:solidFill>
              <a:effectLst/>
              <a:uFillTx/>
              <a:latin typeface="Times New Roman"/>
            </a:endParaRPr>
          </a:p>
        </p:txBody>
      </p:sp>
      <p:sp>
        <p:nvSpPr>
          <p:cNvPr id="882" name=""/>
          <p:cNvSpPr txBox="1"/>
          <p:nvPr/>
        </p:nvSpPr>
        <p:spPr>
          <a:xfrm>
            <a:off x="489960" y="2631960"/>
            <a:ext cx="117540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カテーテルアブレーション</a:t>
            </a:r>
            <a:endParaRPr b="0" lang="en-US" sz="750" strike="noStrike" u="none">
              <a:solidFill>
                <a:srgbClr val="000000"/>
              </a:solidFill>
              <a:effectLst/>
              <a:uFillTx/>
              <a:latin typeface="Times New Roman"/>
            </a:endParaRPr>
          </a:p>
        </p:txBody>
      </p:sp>
      <p:sp>
        <p:nvSpPr>
          <p:cNvPr id="883" name=""/>
          <p:cNvSpPr txBox="1"/>
          <p:nvPr/>
        </p:nvSpPr>
        <p:spPr>
          <a:xfrm>
            <a:off x="1633680" y="2635560"/>
            <a:ext cx="95040" cy="111960"/>
          </a:xfrm>
          <a:prstGeom prst="rect">
            <a:avLst/>
          </a:prstGeom>
          <a:noFill/>
          <a:ln w="0">
            <a:noFill/>
          </a:ln>
        </p:spPr>
        <p:txBody>
          <a:bodyPr wrap="none" lIns="0" rIns="0" tIns="0" bIns="0" anchor="t">
            <a:spAutoFit/>
          </a:bodyPr>
          <a:p>
            <a:r>
              <a:rPr b="0" lang="en-US" sz="750" strike="noStrike" u="none">
                <a:solidFill>
                  <a:srgbClr val="374151"/>
                </a:solidFill>
                <a:effectLst/>
                <a:uFillTx/>
                <a:latin typeface="DejaVuSans"/>
                <a:ea typeface="DejaVuSans"/>
              </a:rPr>
              <a:t>: </a:t>
            </a:r>
            <a:endParaRPr b="0" lang="en-US" sz="750" strike="noStrike" u="none">
              <a:solidFill>
                <a:srgbClr val="000000"/>
              </a:solidFill>
              <a:effectLst/>
              <a:uFillTx/>
              <a:latin typeface="Times New Roman"/>
            </a:endParaRPr>
          </a:p>
        </p:txBody>
      </p:sp>
      <p:sp>
        <p:nvSpPr>
          <p:cNvPr id="884" name=""/>
          <p:cNvSpPr txBox="1"/>
          <p:nvPr/>
        </p:nvSpPr>
        <p:spPr>
          <a:xfrm>
            <a:off x="1695960" y="2631960"/>
            <a:ext cx="9684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約</a:t>
            </a:r>
            <a:endParaRPr b="0" lang="en-US" sz="750" strike="noStrike" u="none">
              <a:solidFill>
                <a:srgbClr val="000000"/>
              </a:solidFill>
              <a:effectLst/>
              <a:uFillTx/>
              <a:latin typeface="Times New Roman"/>
            </a:endParaRPr>
          </a:p>
        </p:txBody>
      </p:sp>
      <p:sp>
        <p:nvSpPr>
          <p:cNvPr id="885" name=""/>
          <p:cNvSpPr txBox="1"/>
          <p:nvPr/>
        </p:nvSpPr>
        <p:spPr>
          <a:xfrm>
            <a:off x="1791360" y="2635560"/>
            <a:ext cx="371160" cy="111960"/>
          </a:xfrm>
          <a:prstGeom prst="rect">
            <a:avLst/>
          </a:prstGeom>
          <a:noFill/>
          <a:ln w="0">
            <a:noFill/>
          </a:ln>
        </p:spPr>
        <p:txBody>
          <a:bodyPr wrap="none" lIns="0" rIns="0" tIns="0" bIns="0" anchor="t">
            <a:spAutoFit/>
          </a:bodyPr>
          <a:p>
            <a:r>
              <a:rPr b="1" lang="en-US" sz="750" strike="noStrike" u="none">
                <a:solidFill>
                  <a:srgbClr val="374151"/>
                </a:solidFill>
                <a:effectLst/>
                <a:uFillTx/>
                <a:latin typeface="DejaVuSans"/>
                <a:ea typeface="DejaVuSans"/>
              </a:rPr>
              <a:t>60,000</a:t>
            </a:r>
            <a:endParaRPr b="0" lang="en-US" sz="750" strike="noStrike" u="none">
              <a:solidFill>
                <a:srgbClr val="000000"/>
              </a:solidFill>
              <a:effectLst/>
              <a:uFillTx/>
              <a:latin typeface="Times New Roman"/>
            </a:endParaRPr>
          </a:p>
        </p:txBody>
      </p:sp>
      <p:sp>
        <p:nvSpPr>
          <p:cNvPr id="886" name=""/>
          <p:cNvSpPr txBox="1"/>
          <p:nvPr/>
        </p:nvSpPr>
        <p:spPr>
          <a:xfrm>
            <a:off x="2158920" y="2631960"/>
            <a:ext cx="19260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点～</a:t>
            </a:r>
            <a:endParaRPr b="0" lang="en-US" sz="750" strike="noStrike" u="none">
              <a:solidFill>
                <a:srgbClr val="000000"/>
              </a:solidFill>
              <a:effectLst/>
              <a:uFillTx/>
              <a:latin typeface="Times New Roman"/>
            </a:endParaRPr>
          </a:p>
        </p:txBody>
      </p:sp>
      <p:sp>
        <p:nvSpPr>
          <p:cNvPr id="887" name=""/>
          <p:cNvSpPr txBox="1"/>
          <p:nvPr/>
        </p:nvSpPr>
        <p:spPr>
          <a:xfrm>
            <a:off x="2349720" y="2635560"/>
            <a:ext cx="438120" cy="111960"/>
          </a:xfrm>
          <a:prstGeom prst="rect">
            <a:avLst/>
          </a:prstGeom>
          <a:noFill/>
          <a:ln w="0">
            <a:noFill/>
          </a:ln>
        </p:spPr>
        <p:txBody>
          <a:bodyPr wrap="none" lIns="0" rIns="0" tIns="0" bIns="0" anchor="t">
            <a:spAutoFit/>
          </a:bodyPr>
          <a:p>
            <a:r>
              <a:rPr b="1" lang="en-US" sz="750" strike="noStrike" u="none">
                <a:solidFill>
                  <a:srgbClr val="374151"/>
                </a:solidFill>
                <a:effectLst/>
                <a:uFillTx/>
                <a:latin typeface="DejaVuSans"/>
                <a:ea typeface="DejaVuSans"/>
              </a:rPr>
              <a:t>150,000</a:t>
            </a:r>
            <a:endParaRPr b="0" lang="en-US" sz="750" strike="noStrike" u="none">
              <a:solidFill>
                <a:srgbClr val="000000"/>
              </a:solidFill>
              <a:effectLst/>
              <a:uFillTx/>
              <a:latin typeface="Times New Roman"/>
            </a:endParaRPr>
          </a:p>
        </p:txBody>
      </p:sp>
      <p:sp>
        <p:nvSpPr>
          <p:cNvPr id="888" name=""/>
          <p:cNvSpPr/>
          <p:nvPr/>
        </p:nvSpPr>
        <p:spPr>
          <a:xfrm>
            <a:off x="4410360" y="797400"/>
            <a:ext cx="4084200" cy="926280"/>
          </a:xfrm>
          <a:custGeom>
            <a:avLst/>
            <a:gdLst/>
            <a:ahLst/>
            <a:rect l="0" t="0" r="r" b="b"/>
            <a:pathLst>
              <a:path w="11345" h="2573">
                <a:moveTo>
                  <a:pt x="0" y="2421"/>
                </a:moveTo>
                <a:lnTo>
                  <a:pt x="0" y="151"/>
                </a:lnTo>
                <a:cubicBezTo>
                  <a:pt x="0" y="142"/>
                  <a:pt x="1" y="132"/>
                  <a:pt x="3" y="122"/>
                </a:cubicBezTo>
                <a:cubicBezTo>
                  <a:pt x="5" y="112"/>
                  <a:pt x="8" y="103"/>
                  <a:pt x="12" y="94"/>
                </a:cubicBezTo>
                <a:cubicBezTo>
                  <a:pt x="15" y="84"/>
                  <a:pt x="20" y="76"/>
                  <a:pt x="26" y="67"/>
                </a:cubicBezTo>
                <a:cubicBezTo>
                  <a:pt x="31" y="59"/>
                  <a:pt x="37" y="52"/>
                  <a:pt x="44" y="44"/>
                </a:cubicBezTo>
                <a:cubicBezTo>
                  <a:pt x="51" y="37"/>
                  <a:pt x="59" y="31"/>
                  <a:pt x="67" y="26"/>
                </a:cubicBezTo>
                <a:cubicBezTo>
                  <a:pt x="76" y="20"/>
                  <a:pt x="84" y="15"/>
                  <a:pt x="94" y="12"/>
                </a:cubicBezTo>
                <a:cubicBezTo>
                  <a:pt x="103" y="8"/>
                  <a:pt x="112" y="5"/>
                  <a:pt x="122" y="3"/>
                </a:cubicBezTo>
                <a:cubicBezTo>
                  <a:pt x="132" y="1"/>
                  <a:pt x="141" y="0"/>
                  <a:pt x="151" y="0"/>
                </a:cubicBezTo>
                <a:lnTo>
                  <a:pt x="11194" y="0"/>
                </a:lnTo>
                <a:cubicBezTo>
                  <a:pt x="11204" y="0"/>
                  <a:pt x="11214" y="1"/>
                  <a:pt x="11224" y="3"/>
                </a:cubicBezTo>
                <a:cubicBezTo>
                  <a:pt x="11233" y="5"/>
                  <a:pt x="11243" y="8"/>
                  <a:pt x="11252" y="12"/>
                </a:cubicBezTo>
                <a:cubicBezTo>
                  <a:pt x="11261" y="15"/>
                  <a:pt x="11270" y="20"/>
                  <a:pt x="11278" y="26"/>
                </a:cubicBezTo>
                <a:cubicBezTo>
                  <a:pt x="11286" y="31"/>
                  <a:pt x="11294" y="37"/>
                  <a:pt x="11301" y="44"/>
                </a:cubicBezTo>
                <a:cubicBezTo>
                  <a:pt x="11308" y="52"/>
                  <a:pt x="11314" y="59"/>
                  <a:pt x="11320" y="67"/>
                </a:cubicBezTo>
                <a:cubicBezTo>
                  <a:pt x="11325" y="76"/>
                  <a:pt x="11330" y="84"/>
                  <a:pt x="11334" y="94"/>
                </a:cubicBezTo>
                <a:cubicBezTo>
                  <a:pt x="11338" y="103"/>
                  <a:pt x="11340" y="112"/>
                  <a:pt x="11342" y="122"/>
                </a:cubicBezTo>
                <a:cubicBezTo>
                  <a:pt x="11344" y="132"/>
                  <a:pt x="11345" y="142"/>
                  <a:pt x="11345" y="151"/>
                </a:cubicBezTo>
                <a:lnTo>
                  <a:pt x="11345" y="2421"/>
                </a:lnTo>
                <a:cubicBezTo>
                  <a:pt x="11345" y="2431"/>
                  <a:pt x="11344" y="2441"/>
                  <a:pt x="11342" y="2451"/>
                </a:cubicBezTo>
                <a:cubicBezTo>
                  <a:pt x="11340" y="2461"/>
                  <a:pt x="11338" y="2470"/>
                  <a:pt x="11334" y="2479"/>
                </a:cubicBezTo>
                <a:cubicBezTo>
                  <a:pt x="11330" y="2488"/>
                  <a:pt x="11325" y="2497"/>
                  <a:pt x="11320" y="2505"/>
                </a:cubicBezTo>
                <a:cubicBezTo>
                  <a:pt x="11314" y="2514"/>
                  <a:pt x="11308" y="2521"/>
                  <a:pt x="11301" y="2528"/>
                </a:cubicBezTo>
                <a:cubicBezTo>
                  <a:pt x="11294" y="2535"/>
                  <a:pt x="11286" y="2542"/>
                  <a:pt x="11278" y="2547"/>
                </a:cubicBezTo>
                <a:cubicBezTo>
                  <a:pt x="11270" y="2553"/>
                  <a:pt x="11261" y="2557"/>
                  <a:pt x="11252" y="2561"/>
                </a:cubicBezTo>
                <a:cubicBezTo>
                  <a:pt x="11243" y="2565"/>
                  <a:pt x="11233" y="2568"/>
                  <a:pt x="11224" y="2570"/>
                </a:cubicBezTo>
                <a:cubicBezTo>
                  <a:pt x="11214" y="2572"/>
                  <a:pt x="11204" y="2573"/>
                  <a:pt x="11194" y="2573"/>
                </a:cubicBezTo>
                <a:lnTo>
                  <a:pt x="151" y="2573"/>
                </a:lnTo>
                <a:cubicBezTo>
                  <a:pt x="141" y="2573"/>
                  <a:pt x="132" y="2572"/>
                  <a:pt x="122" y="2570"/>
                </a:cubicBezTo>
                <a:cubicBezTo>
                  <a:pt x="112" y="2568"/>
                  <a:pt x="103" y="2565"/>
                  <a:pt x="94" y="2561"/>
                </a:cubicBezTo>
                <a:cubicBezTo>
                  <a:pt x="84" y="2557"/>
                  <a:pt x="76" y="2553"/>
                  <a:pt x="67" y="2547"/>
                </a:cubicBezTo>
                <a:cubicBezTo>
                  <a:pt x="59" y="2542"/>
                  <a:pt x="51" y="2535"/>
                  <a:pt x="44" y="2528"/>
                </a:cubicBezTo>
                <a:cubicBezTo>
                  <a:pt x="37" y="2521"/>
                  <a:pt x="31" y="2514"/>
                  <a:pt x="26" y="2505"/>
                </a:cubicBezTo>
                <a:cubicBezTo>
                  <a:pt x="20" y="2497"/>
                  <a:pt x="15" y="2488"/>
                  <a:pt x="12" y="2479"/>
                </a:cubicBezTo>
                <a:cubicBezTo>
                  <a:pt x="8" y="2470"/>
                  <a:pt x="5" y="2461"/>
                  <a:pt x="3" y="2451"/>
                </a:cubicBezTo>
                <a:cubicBezTo>
                  <a:pt x="1" y="2441"/>
                  <a:pt x="0" y="2431"/>
                  <a:pt x="0" y="2421"/>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89" name=""/>
          <p:cNvSpPr/>
          <p:nvPr/>
        </p:nvSpPr>
        <p:spPr>
          <a:xfrm>
            <a:off x="4410360" y="1832040"/>
            <a:ext cx="4084200" cy="1300320"/>
          </a:xfrm>
          <a:custGeom>
            <a:avLst/>
            <a:gdLst/>
            <a:ahLst/>
            <a:rect l="0" t="0" r="r" b="b"/>
            <a:pathLst>
              <a:path w="11345" h="3612">
                <a:moveTo>
                  <a:pt x="0" y="3461"/>
                </a:moveTo>
                <a:lnTo>
                  <a:pt x="0" y="151"/>
                </a:lnTo>
                <a:cubicBezTo>
                  <a:pt x="0" y="141"/>
                  <a:pt x="1" y="132"/>
                  <a:pt x="3" y="122"/>
                </a:cubicBezTo>
                <a:cubicBezTo>
                  <a:pt x="5" y="112"/>
                  <a:pt x="8" y="103"/>
                  <a:pt x="12" y="93"/>
                </a:cubicBezTo>
                <a:cubicBezTo>
                  <a:pt x="15" y="84"/>
                  <a:pt x="20" y="76"/>
                  <a:pt x="26" y="67"/>
                </a:cubicBezTo>
                <a:cubicBezTo>
                  <a:pt x="31" y="59"/>
                  <a:pt x="37" y="51"/>
                  <a:pt x="44" y="44"/>
                </a:cubicBezTo>
                <a:cubicBezTo>
                  <a:pt x="51" y="37"/>
                  <a:pt x="59" y="31"/>
                  <a:pt x="67" y="26"/>
                </a:cubicBezTo>
                <a:cubicBezTo>
                  <a:pt x="76" y="20"/>
                  <a:pt x="84" y="15"/>
                  <a:pt x="94" y="12"/>
                </a:cubicBezTo>
                <a:cubicBezTo>
                  <a:pt x="103" y="8"/>
                  <a:pt x="112" y="5"/>
                  <a:pt x="122" y="3"/>
                </a:cubicBezTo>
                <a:cubicBezTo>
                  <a:pt x="132" y="1"/>
                  <a:pt x="141" y="0"/>
                  <a:pt x="151" y="0"/>
                </a:cubicBezTo>
                <a:lnTo>
                  <a:pt x="11194" y="0"/>
                </a:lnTo>
                <a:cubicBezTo>
                  <a:pt x="11204" y="0"/>
                  <a:pt x="11214" y="1"/>
                  <a:pt x="11224" y="3"/>
                </a:cubicBezTo>
                <a:cubicBezTo>
                  <a:pt x="11233" y="5"/>
                  <a:pt x="11243" y="8"/>
                  <a:pt x="11252" y="12"/>
                </a:cubicBezTo>
                <a:cubicBezTo>
                  <a:pt x="11261" y="15"/>
                  <a:pt x="11270" y="20"/>
                  <a:pt x="11278" y="26"/>
                </a:cubicBezTo>
                <a:cubicBezTo>
                  <a:pt x="11286" y="31"/>
                  <a:pt x="11294" y="37"/>
                  <a:pt x="11301" y="44"/>
                </a:cubicBezTo>
                <a:cubicBezTo>
                  <a:pt x="11308" y="51"/>
                  <a:pt x="11314" y="59"/>
                  <a:pt x="11320" y="67"/>
                </a:cubicBezTo>
                <a:cubicBezTo>
                  <a:pt x="11325" y="76"/>
                  <a:pt x="11330" y="84"/>
                  <a:pt x="11334" y="93"/>
                </a:cubicBezTo>
                <a:cubicBezTo>
                  <a:pt x="11338" y="103"/>
                  <a:pt x="11340" y="112"/>
                  <a:pt x="11342" y="122"/>
                </a:cubicBezTo>
                <a:cubicBezTo>
                  <a:pt x="11344" y="132"/>
                  <a:pt x="11345" y="141"/>
                  <a:pt x="11345" y="151"/>
                </a:cubicBezTo>
                <a:lnTo>
                  <a:pt x="11345" y="3461"/>
                </a:lnTo>
                <a:cubicBezTo>
                  <a:pt x="11345" y="3471"/>
                  <a:pt x="11344" y="3481"/>
                  <a:pt x="11342" y="3490"/>
                </a:cubicBezTo>
                <a:cubicBezTo>
                  <a:pt x="11340" y="3500"/>
                  <a:pt x="11338" y="3510"/>
                  <a:pt x="11334" y="3519"/>
                </a:cubicBezTo>
                <a:cubicBezTo>
                  <a:pt x="11330" y="3528"/>
                  <a:pt x="11325" y="3537"/>
                  <a:pt x="11320" y="3545"/>
                </a:cubicBezTo>
                <a:cubicBezTo>
                  <a:pt x="11314" y="3553"/>
                  <a:pt x="11308" y="3561"/>
                  <a:pt x="11301" y="3568"/>
                </a:cubicBezTo>
                <a:cubicBezTo>
                  <a:pt x="11294" y="3575"/>
                  <a:pt x="11286" y="3581"/>
                  <a:pt x="11278" y="3587"/>
                </a:cubicBezTo>
                <a:cubicBezTo>
                  <a:pt x="11270" y="3592"/>
                  <a:pt x="11261" y="3597"/>
                  <a:pt x="11252" y="3601"/>
                </a:cubicBezTo>
                <a:cubicBezTo>
                  <a:pt x="11243" y="3605"/>
                  <a:pt x="11233" y="3607"/>
                  <a:pt x="11224" y="3609"/>
                </a:cubicBezTo>
                <a:cubicBezTo>
                  <a:pt x="11214" y="3611"/>
                  <a:pt x="11204" y="3612"/>
                  <a:pt x="11194" y="3612"/>
                </a:cubicBezTo>
                <a:lnTo>
                  <a:pt x="151" y="3612"/>
                </a:lnTo>
                <a:cubicBezTo>
                  <a:pt x="141" y="3612"/>
                  <a:pt x="132" y="3611"/>
                  <a:pt x="122" y="3609"/>
                </a:cubicBezTo>
                <a:cubicBezTo>
                  <a:pt x="112" y="3607"/>
                  <a:pt x="103" y="3605"/>
                  <a:pt x="94" y="3601"/>
                </a:cubicBezTo>
                <a:cubicBezTo>
                  <a:pt x="84" y="3597"/>
                  <a:pt x="76" y="3592"/>
                  <a:pt x="67" y="3587"/>
                </a:cubicBezTo>
                <a:cubicBezTo>
                  <a:pt x="59" y="3581"/>
                  <a:pt x="51" y="3575"/>
                  <a:pt x="44" y="3568"/>
                </a:cubicBezTo>
                <a:cubicBezTo>
                  <a:pt x="37" y="3561"/>
                  <a:pt x="31" y="3553"/>
                  <a:pt x="26" y="3545"/>
                </a:cubicBezTo>
                <a:cubicBezTo>
                  <a:pt x="20" y="3537"/>
                  <a:pt x="15" y="3528"/>
                  <a:pt x="12" y="3519"/>
                </a:cubicBezTo>
                <a:cubicBezTo>
                  <a:pt x="8" y="3510"/>
                  <a:pt x="5" y="3500"/>
                  <a:pt x="3" y="3490"/>
                </a:cubicBezTo>
                <a:cubicBezTo>
                  <a:pt x="1" y="3481"/>
                  <a:pt x="0" y="3471"/>
                  <a:pt x="0" y="3461"/>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90" name=""/>
          <p:cNvSpPr/>
          <p:nvPr/>
        </p:nvSpPr>
        <p:spPr>
          <a:xfrm>
            <a:off x="4519440" y="2185920"/>
            <a:ext cx="1143720" cy="163800"/>
          </a:xfrm>
          <a:custGeom>
            <a:avLst/>
            <a:gdLst/>
            <a:ahLst/>
            <a:rect l="0" t="0" r="r" b="b"/>
            <a:pathLst>
              <a:path w="3177" h="455">
                <a:moveTo>
                  <a:pt x="0" y="0"/>
                </a:moveTo>
                <a:lnTo>
                  <a:pt x="3177" y="0"/>
                </a:lnTo>
                <a:lnTo>
                  <a:pt x="3177" y="455"/>
                </a:lnTo>
                <a:lnTo>
                  <a:pt x="0" y="455"/>
                </a:lnTo>
                <a:lnTo>
                  <a:pt x="0" y="0"/>
                </a:lnTo>
                <a:close/>
              </a:path>
            </a:pathLst>
          </a:custGeom>
          <a:solidFill>
            <a:srgbClr val="f3f4f6"/>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91" name=""/>
          <p:cNvSpPr/>
          <p:nvPr/>
        </p:nvSpPr>
        <p:spPr>
          <a:xfrm>
            <a:off x="5662800" y="2185920"/>
            <a:ext cx="2723040" cy="163800"/>
          </a:xfrm>
          <a:custGeom>
            <a:avLst/>
            <a:gdLst/>
            <a:ahLst/>
            <a:rect l="0" t="0" r="r" b="b"/>
            <a:pathLst>
              <a:path w="7564" h="455">
                <a:moveTo>
                  <a:pt x="0" y="0"/>
                </a:moveTo>
                <a:lnTo>
                  <a:pt x="7564" y="0"/>
                </a:lnTo>
                <a:lnTo>
                  <a:pt x="7564" y="455"/>
                </a:lnTo>
                <a:lnTo>
                  <a:pt x="0" y="455"/>
                </a:lnTo>
                <a:lnTo>
                  <a:pt x="0" y="0"/>
                </a:lnTo>
                <a:close/>
              </a:path>
            </a:pathLst>
          </a:custGeom>
          <a:solidFill>
            <a:srgbClr val="f3f4f6"/>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92" name=""/>
          <p:cNvSpPr/>
          <p:nvPr/>
        </p:nvSpPr>
        <p:spPr>
          <a:xfrm>
            <a:off x="4519440" y="2512800"/>
            <a:ext cx="1143720" cy="7200"/>
          </a:xfrm>
          <a:custGeom>
            <a:avLst/>
            <a:gdLst/>
            <a:ahLst/>
            <a:rect l="0" t="0" r="r" b="b"/>
            <a:pathLst>
              <a:path w="3177" h="20">
                <a:moveTo>
                  <a:pt x="0" y="0"/>
                </a:moveTo>
                <a:lnTo>
                  <a:pt x="3177" y="0"/>
                </a:lnTo>
                <a:lnTo>
                  <a:pt x="3177" y="20"/>
                </a:lnTo>
                <a:lnTo>
                  <a:pt x="0" y="20"/>
                </a:lnTo>
                <a:lnTo>
                  <a:pt x="0" y="0"/>
                </a:lnTo>
                <a:close/>
              </a:path>
            </a:pathLst>
          </a:custGeom>
          <a:solidFill>
            <a:srgbClr val="e2e8f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93" name=""/>
          <p:cNvSpPr/>
          <p:nvPr/>
        </p:nvSpPr>
        <p:spPr>
          <a:xfrm>
            <a:off x="5662800" y="2512800"/>
            <a:ext cx="2723040" cy="7200"/>
          </a:xfrm>
          <a:custGeom>
            <a:avLst/>
            <a:gdLst/>
            <a:ahLst/>
            <a:rect l="0" t="0" r="r" b="b"/>
            <a:pathLst>
              <a:path w="7564" h="20">
                <a:moveTo>
                  <a:pt x="0" y="0"/>
                </a:moveTo>
                <a:lnTo>
                  <a:pt x="7564" y="0"/>
                </a:lnTo>
                <a:lnTo>
                  <a:pt x="7564" y="20"/>
                </a:lnTo>
                <a:lnTo>
                  <a:pt x="0" y="20"/>
                </a:lnTo>
                <a:lnTo>
                  <a:pt x="0" y="0"/>
                </a:lnTo>
                <a:close/>
              </a:path>
            </a:pathLst>
          </a:custGeom>
          <a:solidFill>
            <a:srgbClr val="e2e8f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94" name=""/>
          <p:cNvSpPr/>
          <p:nvPr/>
        </p:nvSpPr>
        <p:spPr>
          <a:xfrm>
            <a:off x="4519440" y="2682720"/>
            <a:ext cx="1143720" cy="7200"/>
          </a:xfrm>
          <a:custGeom>
            <a:avLst/>
            <a:gdLst/>
            <a:ahLst/>
            <a:rect l="0" t="0" r="r" b="b"/>
            <a:pathLst>
              <a:path w="3177" h="20">
                <a:moveTo>
                  <a:pt x="0" y="0"/>
                </a:moveTo>
                <a:lnTo>
                  <a:pt x="3177" y="0"/>
                </a:lnTo>
                <a:lnTo>
                  <a:pt x="3177" y="20"/>
                </a:lnTo>
                <a:lnTo>
                  <a:pt x="0" y="20"/>
                </a:lnTo>
                <a:lnTo>
                  <a:pt x="0" y="0"/>
                </a:lnTo>
                <a:close/>
              </a:path>
            </a:pathLst>
          </a:custGeom>
          <a:solidFill>
            <a:srgbClr val="e2e8f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95" name=""/>
          <p:cNvSpPr/>
          <p:nvPr/>
        </p:nvSpPr>
        <p:spPr>
          <a:xfrm>
            <a:off x="5662800" y="2682720"/>
            <a:ext cx="2723040" cy="7200"/>
          </a:xfrm>
          <a:custGeom>
            <a:avLst/>
            <a:gdLst/>
            <a:ahLst/>
            <a:rect l="0" t="0" r="r" b="b"/>
            <a:pathLst>
              <a:path w="7564" h="20">
                <a:moveTo>
                  <a:pt x="0" y="0"/>
                </a:moveTo>
                <a:lnTo>
                  <a:pt x="7564" y="0"/>
                </a:lnTo>
                <a:lnTo>
                  <a:pt x="7564" y="20"/>
                </a:lnTo>
                <a:lnTo>
                  <a:pt x="0" y="20"/>
                </a:lnTo>
                <a:lnTo>
                  <a:pt x="0" y="0"/>
                </a:lnTo>
                <a:close/>
              </a:path>
            </a:pathLst>
          </a:custGeom>
          <a:solidFill>
            <a:srgbClr val="e2e8f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96" name=""/>
          <p:cNvSpPr/>
          <p:nvPr/>
        </p:nvSpPr>
        <p:spPr>
          <a:xfrm>
            <a:off x="4519440" y="2853000"/>
            <a:ext cx="1143720" cy="7200"/>
          </a:xfrm>
          <a:custGeom>
            <a:avLst/>
            <a:gdLst/>
            <a:ahLst/>
            <a:rect l="0" t="0" r="r" b="b"/>
            <a:pathLst>
              <a:path w="3177" h="20">
                <a:moveTo>
                  <a:pt x="0" y="0"/>
                </a:moveTo>
                <a:lnTo>
                  <a:pt x="3177" y="0"/>
                </a:lnTo>
                <a:lnTo>
                  <a:pt x="3177" y="20"/>
                </a:lnTo>
                <a:lnTo>
                  <a:pt x="0" y="20"/>
                </a:lnTo>
                <a:lnTo>
                  <a:pt x="0" y="0"/>
                </a:lnTo>
                <a:close/>
              </a:path>
            </a:pathLst>
          </a:custGeom>
          <a:solidFill>
            <a:srgbClr val="e2e8f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97" name=""/>
          <p:cNvSpPr/>
          <p:nvPr/>
        </p:nvSpPr>
        <p:spPr>
          <a:xfrm>
            <a:off x="5662800" y="2853000"/>
            <a:ext cx="2723040" cy="7200"/>
          </a:xfrm>
          <a:custGeom>
            <a:avLst/>
            <a:gdLst/>
            <a:ahLst/>
            <a:rect l="0" t="0" r="r" b="b"/>
            <a:pathLst>
              <a:path w="7564" h="20">
                <a:moveTo>
                  <a:pt x="0" y="0"/>
                </a:moveTo>
                <a:lnTo>
                  <a:pt x="7564" y="0"/>
                </a:lnTo>
                <a:lnTo>
                  <a:pt x="7564" y="20"/>
                </a:lnTo>
                <a:lnTo>
                  <a:pt x="0" y="20"/>
                </a:lnTo>
                <a:lnTo>
                  <a:pt x="0" y="0"/>
                </a:lnTo>
                <a:close/>
              </a:path>
            </a:pathLst>
          </a:custGeom>
          <a:solidFill>
            <a:srgbClr val="e2e8f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898" name="" descr=""/>
          <p:cNvPicPr/>
          <p:nvPr/>
        </p:nvPicPr>
        <p:blipFill>
          <a:blip r:embed="rId9"/>
          <a:stretch/>
        </p:blipFill>
        <p:spPr>
          <a:xfrm>
            <a:off x="4519440" y="933840"/>
            <a:ext cx="135720" cy="135720"/>
          </a:xfrm>
          <a:prstGeom prst="rect">
            <a:avLst/>
          </a:prstGeom>
          <a:noFill/>
          <a:ln w="0">
            <a:noFill/>
          </a:ln>
        </p:spPr>
      </p:pic>
      <p:sp>
        <p:nvSpPr>
          <p:cNvPr id="899" name=""/>
          <p:cNvSpPr txBox="1"/>
          <p:nvPr/>
        </p:nvSpPr>
        <p:spPr>
          <a:xfrm>
            <a:off x="2783520" y="2631960"/>
            <a:ext cx="28872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点以上</a:t>
            </a:r>
            <a:endParaRPr b="0" lang="en-US" sz="750" strike="noStrike" u="none">
              <a:solidFill>
                <a:srgbClr val="000000"/>
              </a:solidFill>
              <a:effectLst/>
              <a:uFillTx/>
              <a:latin typeface="Times New Roman"/>
            </a:endParaRPr>
          </a:p>
        </p:txBody>
      </p:sp>
      <p:sp>
        <p:nvSpPr>
          <p:cNvPr id="900" name=""/>
          <p:cNvSpPr/>
          <p:nvPr/>
        </p:nvSpPr>
        <p:spPr>
          <a:xfrm>
            <a:off x="4580640" y="1212840"/>
            <a:ext cx="27360" cy="27360"/>
          </a:xfrm>
          <a:custGeom>
            <a:avLst/>
            <a:gdLst/>
            <a:ahLst/>
            <a:rect l="0" t="0" r="r" b="b"/>
            <a:pathLst>
              <a:path w="76" h="76">
                <a:moveTo>
                  <a:pt x="76" y="37"/>
                </a:moveTo>
                <a:cubicBezTo>
                  <a:pt x="76" y="42"/>
                  <a:pt x="75" y="48"/>
                  <a:pt x="74" y="53"/>
                </a:cubicBezTo>
                <a:cubicBezTo>
                  <a:pt x="72" y="57"/>
                  <a:pt x="69" y="62"/>
                  <a:pt x="65" y="65"/>
                </a:cubicBezTo>
                <a:cubicBezTo>
                  <a:pt x="61" y="69"/>
                  <a:pt x="57" y="71"/>
                  <a:pt x="52" y="73"/>
                </a:cubicBezTo>
                <a:cubicBezTo>
                  <a:pt x="47" y="75"/>
                  <a:pt x="43" y="76"/>
                  <a:pt x="38" y="76"/>
                </a:cubicBezTo>
                <a:cubicBezTo>
                  <a:pt x="33" y="76"/>
                  <a:pt x="28" y="75"/>
                  <a:pt x="23" y="73"/>
                </a:cubicBezTo>
                <a:cubicBezTo>
                  <a:pt x="19" y="71"/>
                  <a:pt x="14" y="69"/>
                  <a:pt x="11" y="65"/>
                </a:cubicBezTo>
                <a:cubicBezTo>
                  <a:pt x="7" y="62"/>
                  <a:pt x="5" y="57"/>
                  <a:pt x="3" y="53"/>
                </a:cubicBezTo>
                <a:cubicBezTo>
                  <a:pt x="1" y="48"/>
                  <a:pt x="0" y="42"/>
                  <a:pt x="0" y="37"/>
                </a:cubicBezTo>
                <a:cubicBezTo>
                  <a:pt x="0" y="32"/>
                  <a:pt x="1" y="27"/>
                  <a:pt x="3" y="23"/>
                </a:cubicBezTo>
                <a:cubicBezTo>
                  <a:pt x="5" y="18"/>
                  <a:pt x="7" y="14"/>
                  <a:pt x="11" y="11"/>
                </a:cubicBezTo>
                <a:cubicBezTo>
                  <a:pt x="14" y="7"/>
                  <a:pt x="19" y="4"/>
                  <a:pt x="23" y="2"/>
                </a:cubicBezTo>
                <a:cubicBezTo>
                  <a:pt x="28" y="0"/>
                  <a:pt x="33" y="0"/>
                  <a:pt x="38" y="0"/>
                </a:cubicBezTo>
                <a:cubicBezTo>
                  <a:pt x="43" y="0"/>
                  <a:pt x="47" y="0"/>
                  <a:pt x="52" y="2"/>
                </a:cubicBezTo>
                <a:cubicBezTo>
                  <a:pt x="57" y="4"/>
                  <a:pt x="61" y="7"/>
                  <a:pt x="65" y="11"/>
                </a:cubicBezTo>
                <a:cubicBezTo>
                  <a:pt x="69" y="14"/>
                  <a:pt x="72" y="18"/>
                  <a:pt x="74" y="23"/>
                </a:cubicBezTo>
                <a:cubicBezTo>
                  <a:pt x="75" y="27"/>
                  <a:pt x="76" y="32"/>
                  <a:pt x="76" y="37"/>
                </a:cubicBezTo>
                <a:close/>
              </a:path>
            </a:pathLst>
          </a:custGeom>
          <a:solidFill>
            <a:srgbClr val="374151"/>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01" name=""/>
          <p:cNvSpPr txBox="1"/>
          <p:nvPr/>
        </p:nvSpPr>
        <p:spPr>
          <a:xfrm>
            <a:off x="4710240" y="924840"/>
            <a:ext cx="1103760" cy="154440"/>
          </a:xfrm>
          <a:prstGeom prst="rect">
            <a:avLst/>
          </a:prstGeom>
          <a:noFill/>
          <a:ln w="0">
            <a:noFill/>
          </a:ln>
        </p:spPr>
        <p:txBody>
          <a:bodyPr wrap="none" lIns="0" rIns="0" tIns="0" bIns="0" anchor="t">
            <a:spAutoFit/>
          </a:bodyPr>
          <a:p>
            <a:r>
              <a:rPr b="0" lang="zh-CN" sz="960" strike="noStrike" u="none">
                <a:solidFill>
                  <a:srgbClr val="047857"/>
                </a:solidFill>
                <a:effectLst/>
                <a:uFillTx/>
                <a:latin typeface="WenQuanYiZenHei"/>
                <a:ea typeface="WenQuanYiZenHei"/>
              </a:rPr>
              <a:t>心不全管理・その他</a:t>
            </a:r>
            <a:endParaRPr b="0" lang="en-US" sz="960" strike="noStrike" u="none">
              <a:solidFill>
                <a:srgbClr val="000000"/>
              </a:solidFill>
              <a:effectLst/>
              <a:uFillTx/>
              <a:latin typeface="Times New Roman"/>
            </a:endParaRPr>
          </a:p>
        </p:txBody>
      </p:sp>
      <p:sp>
        <p:nvSpPr>
          <p:cNvPr id="902" name=""/>
          <p:cNvSpPr txBox="1"/>
          <p:nvPr/>
        </p:nvSpPr>
        <p:spPr>
          <a:xfrm>
            <a:off x="4682880" y="1162080"/>
            <a:ext cx="86472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特定疾患療養管理料</a:t>
            </a:r>
            <a:endParaRPr b="0" lang="en-US" sz="750" strike="noStrike" u="none">
              <a:solidFill>
                <a:srgbClr val="000000"/>
              </a:solidFill>
              <a:effectLst/>
              <a:uFillTx/>
              <a:latin typeface="Times New Roman"/>
            </a:endParaRPr>
          </a:p>
        </p:txBody>
      </p:sp>
      <p:sp>
        <p:nvSpPr>
          <p:cNvPr id="903" name=""/>
          <p:cNvSpPr txBox="1"/>
          <p:nvPr/>
        </p:nvSpPr>
        <p:spPr>
          <a:xfrm>
            <a:off x="5540400" y="1165320"/>
            <a:ext cx="264240" cy="111960"/>
          </a:xfrm>
          <a:prstGeom prst="rect">
            <a:avLst/>
          </a:prstGeom>
          <a:noFill/>
          <a:ln w="0">
            <a:noFill/>
          </a:ln>
        </p:spPr>
        <p:txBody>
          <a:bodyPr wrap="none" lIns="0" rIns="0" tIns="0" bIns="0" anchor="t">
            <a:spAutoFit/>
          </a:bodyPr>
          <a:p>
            <a:r>
              <a:rPr b="0" lang="en-US" sz="750" strike="noStrike" u="none">
                <a:solidFill>
                  <a:srgbClr val="374151"/>
                </a:solidFill>
                <a:effectLst/>
                <a:uFillTx/>
                <a:latin typeface="DejaVuSans"/>
                <a:ea typeface="DejaVuSans"/>
              </a:rPr>
              <a:t>: </a:t>
            </a:r>
            <a:r>
              <a:rPr b="1" lang="en-US" sz="750" strike="noStrike" u="none">
                <a:solidFill>
                  <a:srgbClr val="374151"/>
                </a:solidFill>
                <a:effectLst/>
                <a:uFillTx/>
                <a:latin typeface="DejaVuSans"/>
                <a:ea typeface="DejaVuSans"/>
              </a:rPr>
              <a:t>225</a:t>
            </a:r>
            <a:endParaRPr b="0" lang="en-US" sz="750" strike="noStrike" u="none">
              <a:solidFill>
                <a:srgbClr val="000000"/>
              </a:solidFill>
              <a:effectLst/>
              <a:uFillTx/>
              <a:latin typeface="Times New Roman"/>
            </a:endParaRPr>
          </a:p>
        </p:txBody>
      </p:sp>
      <p:sp>
        <p:nvSpPr>
          <p:cNvPr id="904" name=""/>
          <p:cNvSpPr txBox="1"/>
          <p:nvPr/>
        </p:nvSpPr>
        <p:spPr>
          <a:xfrm>
            <a:off x="5801760" y="1162080"/>
            <a:ext cx="9684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点</a:t>
            </a:r>
            <a:endParaRPr b="0" lang="en-US" sz="750" strike="noStrike" u="none">
              <a:solidFill>
                <a:srgbClr val="000000"/>
              </a:solidFill>
              <a:effectLst/>
              <a:uFillTx/>
              <a:latin typeface="Times New Roman"/>
            </a:endParaRPr>
          </a:p>
        </p:txBody>
      </p:sp>
      <p:sp>
        <p:nvSpPr>
          <p:cNvPr id="905" name=""/>
          <p:cNvSpPr txBox="1"/>
          <p:nvPr/>
        </p:nvSpPr>
        <p:spPr>
          <a:xfrm>
            <a:off x="5897160" y="1165320"/>
            <a:ext cx="95040" cy="111960"/>
          </a:xfrm>
          <a:prstGeom prst="rect">
            <a:avLst/>
          </a:prstGeom>
          <a:noFill/>
          <a:ln w="0">
            <a:noFill/>
          </a:ln>
        </p:spPr>
        <p:txBody>
          <a:bodyPr wrap="none" lIns="0" rIns="0" tIns="0" bIns="0" anchor="t">
            <a:spAutoFit/>
          </a:bodyPr>
          <a:p>
            <a:r>
              <a:rPr b="1" lang="en-US" sz="750" strike="noStrike" u="none">
                <a:solidFill>
                  <a:srgbClr val="374151"/>
                </a:solidFill>
                <a:effectLst/>
                <a:uFillTx/>
                <a:latin typeface="DejaVuSans"/>
                <a:ea typeface="DejaVuSans"/>
              </a:rPr>
              <a:t>/</a:t>
            </a:r>
            <a:endParaRPr b="0" lang="en-US" sz="750" strike="noStrike" u="none">
              <a:solidFill>
                <a:srgbClr val="000000"/>
              </a:solidFill>
              <a:effectLst/>
              <a:uFillTx/>
              <a:latin typeface="Times New Roman"/>
            </a:endParaRPr>
          </a:p>
        </p:txBody>
      </p:sp>
      <p:sp>
        <p:nvSpPr>
          <p:cNvPr id="906" name=""/>
          <p:cNvSpPr txBox="1"/>
          <p:nvPr/>
        </p:nvSpPr>
        <p:spPr>
          <a:xfrm>
            <a:off x="5931720" y="1162080"/>
            <a:ext cx="28872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回（月</a:t>
            </a:r>
            <a:endParaRPr b="0" lang="en-US" sz="750" strike="noStrike" u="none">
              <a:solidFill>
                <a:srgbClr val="000000"/>
              </a:solidFill>
              <a:effectLst/>
              <a:uFillTx/>
              <a:latin typeface="Times New Roman"/>
            </a:endParaRPr>
          </a:p>
        </p:txBody>
      </p:sp>
      <p:sp>
        <p:nvSpPr>
          <p:cNvPr id="907" name=""/>
          <p:cNvSpPr txBox="1"/>
          <p:nvPr/>
        </p:nvSpPr>
        <p:spPr>
          <a:xfrm>
            <a:off x="6217920" y="1165320"/>
            <a:ext cx="95040" cy="111960"/>
          </a:xfrm>
          <a:prstGeom prst="rect">
            <a:avLst/>
          </a:prstGeom>
          <a:noFill/>
          <a:ln w="0">
            <a:noFill/>
          </a:ln>
        </p:spPr>
        <p:txBody>
          <a:bodyPr wrap="none" lIns="0" rIns="0" tIns="0" bIns="0" anchor="t">
            <a:spAutoFit/>
          </a:bodyPr>
          <a:p>
            <a:r>
              <a:rPr b="0" lang="en-US" sz="750" strike="noStrike" u="none">
                <a:solidFill>
                  <a:srgbClr val="374151"/>
                </a:solidFill>
                <a:effectLst/>
                <a:uFillTx/>
                <a:latin typeface="DejaVuSans"/>
                <a:ea typeface="DejaVuSans"/>
              </a:rPr>
              <a:t>2</a:t>
            </a:r>
            <a:endParaRPr b="0" lang="en-US" sz="750" strike="noStrike" u="none">
              <a:solidFill>
                <a:srgbClr val="000000"/>
              </a:solidFill>
              <a:effectLst/>
              <a:uFillTx/>
              <a:latin typeface="Times New Roman"/>
            </a:endParaRPr>
          </a:p>
        </p:txBody>
      </p:sp>
      <p:sp>
        <p:nvSpPr>
          <p:cNvPr id="908" name=""/>
          <p:cNvSpPr/>
          <p:nvPr/>
        </p:nvSpPr>
        <p:spPr>
          <a:xfrm>
            <a:off x="4580640" y="1375920"/>
            <a:ext cx="27360" cy="27720"/>
          </a:xfrm>
          <a:custGeom>
            <a:avLst/>
            <a:gdLst/>
            <a:ahLst/>
            <a:rect l="0" t="0" r="r" b="b"/>
            <a:pathLst>
              <a:path w="76" h="77">
                <a:moveTo>
                  <a:pt x="76" y="38"/>
                </a:moveTo>
                <a:cubicBezTo>
                  <a:pt x="76" y="44"/>
                  <a:pt x="75" y="49"/>
                  <a:pt x="74" y="54"/>
                </a:cubicBezTo>
                <a:cubicBezTo>
                  <a:pt x="72" y="58"/>
                  <a:pt x="69" y="62"/>
                  <a:pt x="65" y="66"/>
                </a:cubicBezTo>
                <a:cubicBezTo>
                  <a:pt x="61" y="69"/>
                  <a:pt x="57" y="72"/>
                  <a:pt x="52" y="74"/>
                </a:cubicBezTo>
                <a:cubicBezTo>
                  <a:pt x="47" y="76"/>
                  <a:pt x="43" y="77"/>
                  <a:pt x="38" y="77"/>
                </a:cubicBezTo>
                <a:cubicBezTo>
                  <a:pt x="33" y="77"/>
                  <a:pt x="28" y="76"/>
                  <a:pt x="23" y="74"/>
                </a:cubicBezTo>
                <a:cubicBezTo>
                  <a:pt x="19" y="72"/>
                  <a:pt x="14" y="69"/>
                  <a:pt x="11" y="66"/>
                </a:cubicBezTo>
                <a:cubicBezTo>
                  <a:pt x="7" y="62"/>
                  <a:pt x="5" y="58"/>
                  <a:pt x="3" y="54"/>
                </a:cubicBezTo>
                <a:cubicBezTo>
                  <a:pt x="1" y="49"/>
                  <a:pt x="0" y="44"/>
                  <a:pt x="0" y="38"/>
                </a:cubicBezTo>
                <a:cubicBezTo>
                  <a:pt x="0" y="33"/>
                  <a:pt x="1" y="28"/>
                  <a:pt x="3" y="24"/>
                </a:cubicBezTo>
                <a:cubicBezTo>
                  <a:pt x="5" y="19"/>
                  <a:pt x="7" y="15"/>
                  <a:pt x="11" y="11"/>
                </a:cubicBezTo>
                <a:cubicBezTo>
                  <a:pt x="14" y="8"/>
                  <a:pt x="19" y="5"/>
                  <a:pt x="23" y="3"/>
                </a:cubicBezTo>
                <a:cubicBezTo>
                  <a:pt x="28" y="1"/>
                  <a:pt x="33" y="0"/>
                  <a:pt x="38" y="0"/>
                </a:cubicBezTo>
                <a:cubicBezTo>
                  <a:pt x="43" y="0"/>
                  <a:pt x="47" y="1"/>
                  <a:pt x="52" y="3"/>
                </a:cubicBezTo>
                <a:cubicBezTo>
                  <a:pt x="57" y="5"/>
                  <a:pt x="61" y="8"/>
                  <a:pt x="65" y="11"/>
                </a:cubicBezTo>
                <a:cubicBezTo>
                  <a:pt x="69" y="15"/>
                  <a:pt x="72" y="19"/>
                  <a:pt x="74" y="24"/>
                </a:cubicBezTo>
                <a:cubicBezTo>
                  <a:pt x="75" y="28"/>
                  <a:pt x="76" y="33"/>
                  <a:pt x="76" y="38"/>
                </a:cubicBezTo>
                <a:close/>
              </a:path>
            </a:pathLst>
          </a:custGeom>
          <a:solidFill>
            <a:srgbClr val="374151"/>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09" name=""/>
          <p:cNvSpPr txBox="1"/>
          <p:nvPr/>
        </p:nvSpPr>
        <p:spPr>
          <a:xfrm>
            <a:off x="6278400" y="1162080"/>
            <a:ext cx="38916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回まで）</a:t>
            </a:r>
            <a:endParaRPr b="0" lang="en-US" sz="750" strike="noStrike" u="none">
              <a:solidFill>
                <a:srgbClr val="000000"/>
              </a:solidFill>
              <a:effectLst/>
              <a:uFillTx/>
              <a:latin typeface="Times New Roman"/>
            </a:endParaRPr>
          </a:p>
        </p:txBody>
      </p:sp>
      <p:sp>
        <p:nvSpPr>
          <p:cNvPr id="910" name=""/>
          <p:cNvSpPr txBox="1"/>
          <p:nvPr/>
        </p:nvSpPr>
        <p:spPr>
          <a:xfrm>
            <a:off x="4682880" y="1325160"/>
            <a:ext cx="76896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生活習慣病管理料</a:t>
            </a:r>
            <a:endParaRPr b="0" lang="en-US" sz="750" strike="noStrike" u="none">
              <a:solidFill>
                <a:srgbClr val="000000"/>
              </a:solidFill>
              <a:effectLst/>
              <a:uFillTx/>
              <a:latin typeface="Times New Roman"/>
            </a:endParaRPr>
          </a:p>
        </p:txBody>
      </p:sp>
      <p:sp>
        <p:nvSpPr>
          <p:cNvPr id="911" name=""/>
          <p:cNvSpPr txBox="1"/>
          <p:nvPr/>
        </p:nvSpPr>
        <p:spPr>
          <a:xfrm>
            <a:off x="5445000" y="1328760"/>
            <a:ext cx="95040" cy="111960"/>
          </a:xfrm>
          <a:prstGeom prst="rect">
            <a:avLst/>
          </a:prstGeom>
          <a:noFill/>
          <a:ln w="0">
            <a:noFill/>
          </a:ln>
        </p:spPr>
        <p:txBody>
          <a:bodyPr wrap="none" lIns="0" rIns="0" tIns="0" bIns="0" anchor="t">
            <a:spAutoFit/>
          </a:bodyPr>
          <a:p>
            <a:r>
              <a:rPr b="0" lang="en-US" sz="750" strike="noStrike" u="none">
                <a:solidFill>
                  <a:srgbClr val="374151"/>
                </a:solidFill>
                <a:effectLst/>
                <a:uFillTx/>
                <a:latin typeface="DejaVuSans"/>
                <a:ea typeface="DejaVuSans"/>
              </a:rPr>
              <a:t>: </a:t>
            </a:r>
            <a:endParaRPr b="0" lang="en-US" sz="750" strike="noStrike" u="none">
              <a:solidFill>
                <a:srgbClr val="000000"/>
              </a:solidFill>
              <a:effectLst/>
              <a:uFillTx/>
              <a:latin typeface="Times New Roman"/>
            </a:endParaRPr>
          </a:p>
        </p:txBody>
      </p:sp>
      <p:sp>
        <p:nvSpPr>
          <p:cNvPr id="912" name=""/>
          <p:cNvSpPr/>
          <p:nvPr/>
        </p:nvSpPr>
        <p:spPr>
          <a:xfrm>
            <a:off x="4580640" y="1539360"/>
            <a:ext cx="27360" cy="27720"/>
          </a:xfrm>
          <a:custGeom>
            <a:avLst/>
            <a:gdLst/>
            <a:ahLst/>
            <a:rect l="0" t="0" r="r" b="b"/>
            <a:pathLst>
              <a:path w="76" h="77">
                <a:moveTo>
                  <a:pt x="76" y="39"/>
                </a:moveTo>
                <a:cubicBezTo>
                  <a:pt x="76" y="44"/>
                  <a:pt x="75" y="49"/>
                  <a:pt x="74" y="53"/>
                </a:cubicBezTo>
                <a:cubicBezTo>
                  <a:pt x="72" y="58"/>
                  <a:pt x="69" y="62"/>
                  <a:pt x="65" y="66"/>
                </a:cubicBezTo>
                <a:cubicBezTo>
                  <a:pt x="61" y="69"/>
                  <a:pt x="57" y="72"/>
                  <a:pt x="52" y="74"/>
                </a:cubicBezTo>
                <a:cubicBezTo>
                  <a:pt x="47" y="76"/>
                  <a:pt x="43" y="77"/>
                  <a:pt x="38" y="77"/>
                </a:cubicBezTo>
                <a:cubicBezTo>
                  <a:pt x="33" y="77"/>
                  <a:pt x="28" y="76"/>
                  <a:pt x="23" y="74"/>
                </a:cubicBezTo>
                <a:cubicBezTo>
                  <a:pt x="19" y="72"/>
                  <a:pt x="14" y="69"/>
                  <a:pt x="11" y="66"/>
                </a:cubicBezTo>
                <a:cubicBezTo>
                  <a:pt x="7" y="62"/>
                  <a:pt x="5" y="58"/>
                  <a:pt x="3" y="53"/>
                </a:cubicBezTo>
                <a:cubicBezTo>
                  <a:pt x="1" y="49"/>
                  <a:pt x="0" y="44"/>
                  <a:pt x="0" y="39"/>
                </a:cubicBezTo>
                <a:cubicBezTo>
                  <a:pt x="0" y="33"/>
                  <a:pt x="1" y="28"/>
                  <a:pt x="3" y="23"/>
                </a:cubicBezTo>
                <a:cubicBezTo>
                  <a:pt x="5" y="19"/>
                  <a:pt x="7" y="15"/>
                  <a:pt x="11" y="11"/>
                </a:cubicBezTo>
                <a:cubicBezTo>
                  <a:pt x="14" y="8"/>
                  <a:pt x="19" y="5"/>
                  <a:pt x="23" y="3"/>
                </a:cubicBezTo>
                <a:cubicBezTo>
                  <a:pt x="28" y="1"/>
                  <a:pt x="33" y="0"/>
                  <a:pt x="38" y="0"/>
                </a:cubicBezTo>
                <a:cubicBezTo>
                  <a:pt x="43" y="0"/>
                  <a:pt x="47" y="1"/>
                  <a:pt x="52" y="3"/>
                </a:cubicBezTo>
                <a:cubicBezTo>
                  <a:pt x="57" y="5"/>
                  <a:pt x="61" y="8"/>
                  <a:pt x="65" y="11"/>
                </a:cubicBezTo>
                <a:cubicBezTo>
                  <a:pt x="69" y="15"/>
                  <a:pt x="72" y="19"/>
                  <a:pt x="74" y="23"/>
                </a:cubicBezTo>
                <a:cubicBezTo>
                  <a:pt x="75" y="28"/>
                  <a:pt x="76" y="33"/>
                  <a:pt x="76" y="39"/>
                </a:cubicBezTo>
                <a:close/>
              </a:path>
            </a:pathLst>
          </a:custGeom>
          <a:solidFill>
            <a:srgbClr val="374151"/>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913" name=""/>
          <p:cNvSpPr txBox="1"/>
          <p:nvPr/>
        </p:nvSpPr>
        <p:spPr>
          <a:xfrm>
            <a:off x="5507640" y="1325160"/>
            <a:ext cx="134712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包括算定（計画的な医学管理）</a:t>
            </a:r>
            <a:endParaRPr b="0" lang="en-US" sz="750" strike="noStrike" u="none">
              <a:solidFill>
                <a:srgbClr val="000000"/>
              </a:solidFill>
              <a:effectLst/>
              <a:uFillTx/>
              <a:latin typeface="Times New Roman"/>
            </a:endParaRPr>
          </a:p>
        </p:txBody>
      </p:sp>
      <p:sp>
        <p:nvSpPr>
          <p:cNvPr id="914" name=""/>
          <p:cNvSpPr txBox="1"/>
          <p:nvPr/>
        </p:nvSpPr>
        <p:spPr>
          <a:xfrm>
            <a:off x="4682880" y="1488600"/>
            <a:ext cx="76896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心不全指導管理料</a:t>
            </a:r>
            <a:endParaRPr b="0" lang="en-US" sz="750" strike="noStrike" u="none">
              <a:solidFill>
                <a:srgbClr val="000000"/>
              </a:solidFill>
              <a:effectLst/>
              <a:uFillTx/>
              <a:latin typeface="Times New Roman"/>
            </a:endParaRPr>
          </a:p>
        </p:txBody>
      </p:sp>
      <p:sp>
        <p:nvSpPr>
          <p:cNvPr id="915" name=""/>
          <p:cNvSpPr txBox="1"/>
          <p:nvPr/>
        </p:nvSpPr>
        <p:spPr>
          <a:xfrm>
            <a:off x="5445000" y="1491840"/>
            <a:ext cx="95040" cy="111960"/>
          </a:xfrm>
          <a:prstGeom prst="rect">
            <a:avLst/>
          </a:prstGeom>
          <a:noFill/>
          <a:ln w="0">
            <a:noFill/>
          </a:ln>
        </p:spPr>
        <p:txBody>
          <a:bodyPr wrap="none" lIns="0" rIns="0" tIns="0" bIns="0" anchor="t">
            <a:spAutoFit/>
          </a:bodyPr>
          <a:p>
            <a:r>
              <a:rPr b="0" lang="en-US" sz="750" strike="noStrike" u="none">
                <a:solidFill>
                  <a:srgbClr val="374151"/>
                </a:solidFill>
                <a:effectLst/>
                <a:uFillTx/>
                <a:latin typeface="DejaVuSans"/>
                <a:ea typeface="DejaVuSans"/>
              </a:rPr>
              <a:t>: </a:t>
            </a:r>
            <a:endParaRPr b="0" lang="en-US" sz="750" strike="noStrike" u="none">
              <a:solidFill>
                <a:srgbClr val="000000"/>
              </a:solidFill>
              <a:effectLst/>
              <a:uFillTx/>
              <a:latin typeface="Times New Roman"/>
            </a:endParaRPr>
          </a:p>
        </p:txBody>
      </p:sp>
      <p:pic>
        <p:nvPicPr>
          <p:cNvPr id="916" name="" descr=""/>
          <p:cNvPicPr/>
          <p:nvPr/>
        </p:nvPicPr>
        <p:blipFill>
          <a:blip r:embed="rId10"/>
          <a:stretch/>
        </p:blipFill>
        <p:spPr>
          <a:xfrm>
            <a:off x="4519440" y="1968480"/>
            <a:ext cx="101880" cy="135720"/>
          </a:xfrm>
          <a:prstGeom prst="rect">
            <a:avLst/>
          </a:prstGeom>
          <a:noFill/>
          <a:ln w="0">
            <a:noFill/>
          </a:ln>
        </p:spPr>
      </p:pic>
      <p:sp>
        <p:nvSpPr>
          <p:cNvPr id="917" name=""/>
          <p:cNvSpPr txBox="1"/>
          <p:nvPr/>
        </p:nvSpPr>
        <p:spPr>
          <a:xfrm>
            <a:off x="5507640" y="1488600"/>
            <a:ext cx="1063440" cy="122400"/>
          </a:xfrm>
          <a:prstGeom prst="rect">
            <a:avLst/>
          </a:prstGeom>
          <a:noFill/>
          <a:ln w="0">
            <a:noFill/>
          </a:ln>
        </p:spPr>
        <p:txBody>
          <a:bodyPr wrap="none" lIns="0" rIns="0" tIns="0" bIns="0" anchor="t">
            <a:spAutoFit/>
          </a:bodyPr>
          <a:p>
            <a:r>
              <a:rPr b="0" lang="zh-CN" sz="750" strike="noStrike" u="none">
                <a:solidFill>
                  <a:srgbClr val="374151"/>
                </a:solidFill>
                <a:effectLst/>
                <a:uFillTx/>
                <a:latin typeface="WenQuanYiZenHei"/>
                <a:ea typeface="WenQuanYiZenHei"/>
              </a:rPr>
              <a:t>重症度に応じた点数設定</a:t>
            </a:r>
            <a:endParaRPr b="0" lang="en-US" sz="750" strike="noStrike" u="none">
              <a:solidFill>
                <a:srgbClr val="000000"/>
              </a:solidFill>
              <a:effectLst/>
              <a:uFillTx/>
              <a:latin typeface="Times New Roman"/>
            </a:endParaRPr>
          </a:p>
        </p:txBody>
      </p:sp>
      <p:sp>
        <p:nvSpPr>
          <p:cNvPr id="918" name=""/>
          <p:cNvSpPr txBox="1"/>
          <p:nvPr/>
        </p:nvSpPr>
        <p:spPr>
          <a:xfrm>
            <a:off x="4676040" y="1959120"/>
            <a:ext cx="981720" cy="154440"/>
          </a:xfrm>
          <a:prstGeom prst="rect">
            <a:avLst/>
          </a:prstGeom>
          <a:noFill/>
          <a:ln w="0">
            <a:noFill/>
          </a:ln>
        </p:spPr>
        <p:txBody>
          <a:bodyPr wrap="none" lIns="0" rIns="0" tIns="0" bIns="0" anchor="t">
            <a:spAutoFit/>
          </a:bodyPr>
          <a:p>
            <a:r>
              <a:rPr b="0" lang="zh-CN" sz="960" strike="noStrike" u="none">
                <a:solidFill>
                  <a:srgbClr val="6d28d9"/>
                </a:solidFill>
                <a:effectLst/>
                <a:uFillTx/>
                <a:latin typeface="WenQuanYiZenHei"/>
                <a:ea typeface="WenQuanYiZenHei"/>
              </a:rPr>
              <a:t>主な加算と注意点</a:t>
            </a:r>
            <a:endParaRPr b="0" lang="en-US" sz="960" strike="noStrike" u="none">
              <a:solidFill>
                <a:srgbClr val="000000"/>
              </a:solidFill>
              <a:effectLst/>
              <a:uFillTx/>
              <a:latin typeface="Times New Roman"/>
            </a:endParaRPr>
          </a:p>
        </p:txBody>
      </p:sp>
      <p:sp>
        <p:nvSpPr>
          <p:cNvPr id="919" name=""/>
          <p:cNvSpPr txBox="1"/>
          <p:nvPr/>
        </p:nvSpPr>
        <p:spPr>
          <a:xfrm>
            <a:off x="4546800" y="2216520"/>
            <a:ext cx="329760" cy="104040"/>
          </a:xfrm>
          <a:prstGeom prst="rect">
            <a:avLst/>
          </a:prstGeom>
          <a:noFill/>
          <a:ln w="0">
            <a:noFill/>
          </a:ln>
        </p:spPr>
        <p:txBody>
          <a:bodyPr wrap="none" lIns="0" rIns="0" tIns="0" bIns="0" anchor="t">
            <a:spAutoFit/>
          </a:bodyPr>
          <a:p>
            <a:r>
              <a:rPr b="0" lang="zh-CN" sz="650" strike="noStrike" u="none">
                <a:solidFill>
                  <a:srgbClr val="000000"/>
                </a:solidFill>
                <a:effectLst/>
                <a:uFillTx/>
                <a:latin typeface="WenQuanYiZenHei"/>
                <a:ea typeface="WenQuanYiZenHei"/>
              </a:rPr>
              <a:t>加算種類</a:t>
            </a:r>
            <a:endParaRPr b="0" lang="en-US" sz="650" strike="noStrike" u="none">
              <a:solidFill>
                <a:srgbClr val="000000"/>
              </a:solidFill>
              <a:effectLst/>
              <a:uFillTx/>
              <a:latin typeface="Times New Roman"/>
            </a:endParaRPr>
          </a:p>
        </p:txBody>
      </p:sp>
      <p:sp>
        <p:nvSpPr>
          <p:cNvPr id="920" name=""/>
          <p:cNvSpPr txBox="1"/>
          <p:nvPr/>
        </p:nvSpPr>
        <p:spPr>
          <a:xfrm>
            <a:off x="5689080" y="2216520"/>
            <a:ext cx="329760" cy="104040"/>
          </a:xfrm>
          <a:prstGeom prst="rect">
            <a:avLst/>
          </a:prstGeom>
          <a:noFill/>
          <a:ln w="0">
            <a:noFill/>
          </a:ln>
        </p:spPr>
        <p:txBody>
          <a:bodyPr wrap="none" lIns="0" rIns="0" tIns="0" bIns="0" anchor="t">
            <a:spAutoFit/>
          </a:bodyPr>
          <a:p>
            <a:r>
              <a:rPr b="0" lang="zh-CN" sz="650" strike="noStrike" u="none">
                <a:solidFill>
                  <a:srgbClr val="000000"/>
                </a:solidFill>
                <a:effectLst/>
                <a:uFillTx/>
                <a:latin typeface="WenQuanYiZenHei"/>
                <a:ea typeface="WenQuanYiZenHei"/>
              </a:rPr>
              <a:t>適用対象</a:t>
            </a:r>
            <a:endParaRPr b="0" lang="en-US" sz="650" strike="noStrike" u="none">
              <a:solidFill>
                <a:srgbClr val="000000"/>
              </a:solidFill>
              <a:effectLst/>
              <a:uFillTx/>
              <a:latin typeface="Times New Roman"/>
            </a:endParaRPr>
          </a:p>
        </p:txBody>
      </p:sp>
      <p:sp>
        <p:nvSpPr>
          <p:cNvPr id="921" name=""/>
          <p:cNvSpPr txBox="1"/>
          <p:nvPr/>
        </p:nvSpPr>
        <p:spPr>
          <a:xfrm>
            <a:off x="4546800" y="2379600"/>
            <a:ext cx="659160" cy="104040"/>
          </a:xfrm>
          <a:prstGeom prst="rect">
            <a:avLst/>
          </a:prstGeom>
          <a:noFill/>
          <a:ln w="0">
            <a:noFill/>
          </a:ln>
        </p:spPr>
        <p:txBody>
          <a:bodyPr wrap="none" lIns="0" rIns="0" tIns="0" bIns="0" anchor="t">
            <a:spAutoFit/>
          </a:bodyPr>
          <a:p>
            <a:r>
              <a:rPr b="0" lang="zh-CN" sz="650" strike="noStrike" u="none">
                <a:solidFill>
                  <a:srgbClr val="000000"/>
                </a:solidFill>
                <a:effectLst/>
                <a:uFillTx/>
                <a:latin typeface="WenQuanYiZenHei"/>
                <a:ea typeface="WenQuanYiZenHei"/>
              </a:rPr>
              <a:t>高度医療管理加算</a:t>
            </a:r>
            <a:endParaRPr b="0" lang="en-US" sz="650" strike="noStrike" u="none">
              <a:solidFill>
                <a:srgbClr val="000000"/>
              </a:solidFill>
              <a:effectLst/>
              <a:uFillTx/>
              <a:latin typeface="Times New Roman"/>
            </a:endParaRPr>
          </a:p>
        </p:txBody>
      </p:sp>
      <p:sp>
        <p:nvSpPr>
          <p:cNvPr id="922" name=""/>
          <p:cNvSpPr txBox="1"/>
          <p:nvPr/>
        </p:nvSpPr>
        <p:spPr>
          <a:xfrm>
            <a:off x="5689080" y="2379600"/>
            <a:ext cx="1329120" cy="104040"/>
          </a:xfrm>
          <a:prstGeom prst="rect">
            <a:avLst/>
          </a:prstGeom>
          <a:noFill/>
          <a:ln w="0">
            <a:noFill/>
          </a:ln>
        </p:spPr>
        <p:txBody>
          <a:bodyPr wrap="none" lIns="0" rIns="0" tIns="0" bIns="0" anchor="t">
            <a:spAutoFit/>
          </a:bodyPr>
          <a:p>
            <a:r>
              <a:rPr b="0" lang="zh-CN" sz="650" strike="noStrike" u="none">
                <a:solidFill>
                  <a:srgbClr val="000000"/>
                </a:solidFill>
                <a:effectLst/>
                <a:uFillTx/>
                <a:latin typeface="WenQuanYiZenHei"/>
                <a:ea typeface="WenQuanYiZenHei"/>
              </a:rPr>
              <a:t>カテーテル治療等の高度な医療行為</a:t>
            </a:r>
            <a:endParaRPr b="0" lang="en-US" sz="650" strike="noStrike" u="none">
              <a:solidFill>
                <a:srgbClr val="000000"/>
              </a:solidFill>
              <a:effectLst/>
              <a:uFillTx/>
              <a:latin typeface="Times New Roman"/>
            </a:endParaRPr>
          </a:p>
        </p:txBody>
      </p:sp>
      <p:sp>
        <p:nvSpPr>
          <p:cNvPr id="923" name=""/>
          <p:cNvSpPr txBox="1"/>
          <p:nvPr/>
        </p:nvSpPr>
        <p:spPr>
          <a:xfrm>
            <a:off x="4546800" y="2549880"/>
            <a:ext cx="666720" cy="104040"/>
          </a:xfrm>
          <a:prstGeom prst="rect">
            <a:avLst/>
          </a:prstGeom>
          <a:noFill/>
          <a:ln w="0">
            <a:noFill/>
          </a:ln>
        </p:spPr>
        <p:txBody>
          <a:bodyPr wrap="none" lIns="0" rIns="0" tIns="0" bIns="0" anchor="t">
            <a:spAutoFit/>
          </a:bodyPr>
          <a:p>
            <a:r>
              <a:rPr b="0" lang="zh-CN" sz="650" strike="noStrike" u="none">
                <a:solidFill>
                  <a:srgbClr val="000000"/>
                </a:solidFill>
                <a:effectLst/>
                <a:uFillTx/>
                <a:latin typeface="WenQuanYiZenHei"/>
                <a:ea typeface="WenQuanYiZenHei"/>
              </a:rPr>
              <a:t>使用デバイス加算</a:t>
            </a:r>
            <a:endParaRPr b="0" lang="en-US" sz="650" strike="noStrike" u="none">
              <a:solidFill>
                <a:srgbClr val="000000"/>
              </a:solidFill>
              <a:effectLst/>
              <a:uFillTx/>
              <a:latin typeface="Times New Roman"/>
            </a:endParaRPr>
          </a:p>
        </p:txBody>
      </p:sp>
      <p:sp>
        <p:nvSpPr>
          <p:cNvPr id="924" name=""/>
          <p:cNvSpPr txBox="1"/>
          <p:nvPr/>
        </p:nvSpPr>
        <p:spPr>
          <a:xfrm>
            <a:off x="5689080" y="2549880"/>
            <a:ext cx="1663920" cy="104040"/>
          </a:xfrm>
          <a:prstGeom prst="rect">
            <a:avLst/>
          </a:prstGeom>
          <a:noFill/>
          <a:ln w="0">
            <a:noFill/>
          </a:ln>
        </p:spPr>
        <p:txBody>
          <a:bodyPr wrap="none" lIns="0" rIns="0" tIns="0" bIns="0" anchor="t">
            <a:spAutoFit/>
          </a:bodyPr>
          <a:p>
            <a:r>
              <a:rPr b="0" lang="zh-CN" sz="650" strike="noStrike" u="none">
                <a:solidFill>
                  <a:srgbClr val="000000"/>
                </a:solidFill>
                <a:effectLst/>
                <a:uFillTx/>
                <a:latin typeface="WenQuanYiZenHei"/>
                <a:ea typeface="WenQuanYiZenHei"/>
              </a:rPr>
              <a:t>薬剤溶出性ステント等の特殊デバイス使用時</a:t>
            </a:r>
            <a:endParaRPr b="0" lang="en-US" sz="650" strike="noStrike" u="none">
              <a:solidFill>
                <a:srgbClr val="000000"/>
              </a:solidFill>
              <a:effectLst/>
              <a:uFillTx/>
              <a:latin typeface="Times New Roman"/>
            </a:endParaRPr>
          </a:p>
        </p:txBody>
      </p:sp>
      <p:sp>
        <p:nvSpPr>
          <p:cNvPr id="925" name=""/>
          <p:cNvSpPr txBox="1"/>
          <p:nvPr/>
        </p:nvSpPr>
        <p:spPr>
          <a:xfrm>
            <a:off x="4546800" y="2720160"/>
            <a:ext cx="494640" cy="104040"/>
          </a:xfrm>
          <a:prstGeom prst="rect">
            <a:avLst/>
          </a:prstGeom>
          <a:noFill/>
          <a:ln w="0">
            <a:noFill/>
          </a:ln>
        </p:spPr>
        <p:txBody>
          <a:bodyPr wrap="none" lIns="0" rIns="0" tIns="0" bIns="0" anchor="t">
            <a:spAutoFit/>
          </a:bodyPr>
          <a:p>
            <a:r>
              <a:rPr b="0" lang="zh-CN" sz="650" strike="noStrike" u="none">
                <a:solidFill>
                  <a:srgbClr val="000000"/>
                </a:solidFill>
                <a:effectLst/>
                <a:uFillTx/>
                <a:latin typeface="WenQuanYiZenHei"/>
                <a:ea typeface="WenQuanYiZenHei"/>
              </a:rPr>
              <a:t>画像誘導加算</a:t>
            </a:r>
            <a:endParaRPr b="0" lang="en-US" sz="650" strike="noStrike" u="none">
              <a:solidFill>
                <a:srgbClr val="000000"/>
              </a:solidFill>
              <a:effectLst/>
              <a:uFillTx/>
              <a:latin typeface="Times New Roman"/>
            </a:endParaRPr>
          </a:p>
        </p:txBody>
      </p:sp>
      <p:sp>
        <p:nvSpPr>
          <p:cNvPr id="926" name=""/>
          <p:cNvSpPr txBox="1"/>
          <p:nvPr/>
        </p:nvSpPr>
        <p:spPr>
          <a:xfrm>
            <a:off x="5689080" y="2720160"/>
            <a:ext cx="992160" cy="104040"/>
          </a:xfrm>
          <a:prstGeom prst="rect">
            <a:avLst/>
          </a:prstGeom>
          <a:noFill/>
          <a:ln w="0">
            <a:noFill/>
          </a:ln>
        </p:spPr>
        <p:txBody>
          <a:bodyPr wrap="none" lIns="0" rIns="0" tIns="0" bIns="0" anchor="t">
            <a:spAutoFit/>
          </a:bodyPr>
          <a:p>
            <a:r>
              <a:rPr b="0" lang="zh-CN" sz="650" strike="noStrike" u="none">
                <a:solidFill>
                  <a:srgbClr val="000000"/>
                </a:solidFill>
                <a:effectLst/>
                <a:uFillTx/>
                <a:latin typeface="WenQuanYiZenHei"/>
                <a:ea typeface="WenQuanYiZenHei"/>
              </a:rPr>
              <a:t>画像誘導下での治療実施時</a:t>
            </a:r>
            <a:endParaRPr b="0" lang="en-US" sz="650" strike="noStrike" u="none">
              <a:solidFill>
                <a:srgbClr val="000000"/>
              </a:solidFill>
              <a:effectLst/>
              <a:uFillTx/>
              <a:latin typeface="Times New Roman"/>
            </a:endParaRPr>
          </a:p>
        </p:txBody>
      </p:sp>
      <p:sp>
        <p:nvSpPr>
          <p:cNvPr id="927" name=""/>
          <p:cNvSpPr txBox="1"/>
          <p:nvPr/>
        </p:nvSpPr>
        <p:spPr>
          <a:xfrm>
            <a:off x="4546800" y="2890080"/>
            <a:ext cx="576720" cy="104040"/>
          </a:xfrm>
          <a:prstGeom prst="rect">
            <a:avLst/>
          </a:prstGeom>
          <a:noFill/>
          <a:ln w="0">
            <a:noFill/>
          </a:ln>
        </p:spPr>
        <p:txBody>
          <a:bodyPr wrap="none" lIns="0" rIns="0" tIns="0" bIns="0" anchor="t">
            <a:spAutoFit/>
          </a:bodyPr>
          <a:p>
            <a:r>
              <a:rPr b="0" lang="zh-CN" sz="650" strike="noStrike" u="none">
                <a:solidFill>
                  <a:srgbClr val="000000"/>
                </a:solidFill>
                <a:effectLst/>
                <a:uFillTx/>
                <a:latin typeface="WenQuanYiZenHei"/>
                <a:ea typeface="WenQuanYiZenHei"/>
              </a:rPr>
              <a:t>緊急時対応加算</a:t>
            </a:r>
            <a:endParaRPr b="0" lang="en-US" sz="650" strike="noStrike" u="none">
              <a:solidFill>
                <a:srgbClr val="000000"/>
              </a:solidFill>
              <a:effectLst/>
              <a:uFillTx/>
              <a:latin typeface="Times New Roman"/>
            </a:endParaRPr>
          </a:p>
        </p:txBody>
      </p:sp>
      <p:sp>
        <p:nvSpPr>
          <p:cNvPr id="928" name=""/>
          <p:cNvSpPr txBox="1"/>
          <p:nvPr/>
        </p:nvSpPr>
        <p:spPr>
          <a:xfrm>
            <a:off x="5689080" y="2890080"/>
            <a:ext cx="1072440" cy="104040"/>
          </a:xfrm>
          <a:prstGeom prst="rect">
            <a:avLst/>
          </a:prstGeom>
          <a:noFill/>
          <a:ln w="0">
            <a:noFill/>
          </a:ln>
        </p:spPr>
        <p:txBody>
          <a:bodyPr wrap="none" lIns="0" rIns="0" tIns="0" bIns="0" anchor="t">
            <a:spAutoFit/>
          </a:bodyPr>
          <a:p>
            <a:r>
              <a:rPr b="0" lang="zh-CN" sz="650" strike="noStrike" u="none">
                <a:solidFill>
                  <a:srgbClr val="000000"/>
                </a:solidFill>
                <a:effectLst/>
                <a:uFillTx/>
                <a:latin typeface="WenQuanYiZenHei"/>
                <a:ea typeface="WenQuanYiZenHei"/>
              </a:rPr>
              <a:t>急性心筋梗塞等の緊急治療時</a:t>
            </a:r>
            <a:endParaRPr b="0" lang="en-US" sz="65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29" name="" descr=""/>
          <p:cNvPicPr/>
          <p:nvPr/>
        </p:nvPicPr>
        <p:blipFill>
          <a:blip r:embed="rId1"/>
          <a:stretch/>
        </p:blipFill>
        <p:spPr>
          <a:xfrm>
            <a:off x="0" y="209520"/>
            <a:ext cx="9039600" cy="5084640"/>
          </a:xfrm>
          <a:prstGeom prst="rect">
            <a:avLst/>
          </a:prstGeom>
          <a:noFill/>
          <a:ln w="0">
            <a:noFill/>
          </a:ln>
        </p:spPr>
      </p:pic>
      <p:pic>
        <p:nvPicPr>
          <p:cNvPr id="930" name="" descr=""/>
          <p:cNvPicPr/>
          <p:nvPr/>
        </p:nvPicPr>
        <p:blipFill>
          <a:blip r:embed="rId2"/>
          <a:stretch/>
        </p:blipFill>
        <p:spPr>
          <a:xfrm>
            <a:off x="-706320" y="-496800"/>
            <a:ext cx="2824560" cy="2824560"/>
          </a:xfrm>
          <a:prstGeom prst="rect">
            <a:avLst/>
          </a:prstGeom>
          <a:noFill/>
          <a:ln w="0">
            <a:noFill/>
          </a:ln>
        </p:spPr>
      </p:pic>
      <p:pic>
        <p:nvPicPr>
          <p:cNvPr id="931" name="" descr=""/>
          <p:cNvPicPr/>
          <p:nvPr/>
        </p:nvPicPr>
        <p:blipFill>
          <a:blip r:embed="rId3"/>
          <a:stretch/>
        </p:blipFill>
        <p:spPr>
          <a:xfrm>
            <a:off x="7627320" y="4093920"/>
            <a:ext cx="1765080" cy="1765080"/>
          </a:xfrm>
          <a:prstGeom prst="rect">
            <a:avLst/>
          </a:prstGeom>
          <a:noFill/>
          <a:ln w="0">
            <a:noFill/>
          </a:ln>
        </p:spPr>
      </p:pic>
      <p:pic>
        <p:nvPicPr>
          <p:cNvPr id="932" name="" descr=""/>
          <p:cNvPicPr/>
          <p:nvPr/>
        </p:nvPicPr>
        <p:blipFill>
          <a:blip r:embed="rId4"/>
          <a:stretch/>
        </p:blipFill>
        <p:spPr>
          <a:xfrm>
            <a:off x="7309440" y="5110920"/>
            <a:ext cx="105480" cy="84240"/>
          </a:xfrm>
          <a:prstGeom prst="rect">
            <a:avLst/>
          </a:prstGeom>
          <a:noFill/>
          <a:ln w="0">
            <a:noFill/>
          </a:ln>
        </p:spPr>
      </p:pic>
      <p:sp>
        <p:nvSpPr>
          <p:cNvPr id="933" name=""/>
          <p:cNvSpPr txBox="1"/>
          <p:nvPr/>
        </p:nvSpPr>
        <p:spPr>
          <a:xfrm>
            <a:off x="7471440" y="5099760"/>
            <a:ext cx="342000" cy="108720"/>
          </a:xfrm>
          <a:prstGeom prst="rect">
            <a:avLst/>
          </a:prstGeom>
          <a:noFill/>
          <a:ln w="0">
            <a:noFill/>
          </a:ln>
        </p:spPr>
        <p:txBody>
          <a:bodyPr wrap="none" lIns="0" rIns="0" tIns="0" bIns="0" anchor="t">
            <a:spAutoFit/>
          </a:bodyPr>
          <a:p>
            <a:r>
              <a:rPr b="0" lang="zh-CN" sz="670" strike="noStrike" u="none">
                <a:solidFill>
                  <a:srgbClr val="6b7280"/>
                </a:solidFill>
                <a:effectLst/>
                <a:uFillTx/>
                <a:latin typeface="WenQuanYiZenHei"/>
                <a:ea typeface="WenQuanYiZenHei"/>
              </a:rPr>
              <a:t>東和病院</a:t>
            </a:r>
            <a:endParaRPr b="0" lang="en-US" sz="670" strike="noStrike" u="none">
              <a:solidFill>
                <a:srgbClr val="000000"/>
              </a:solidFill>
              <a:effectLst/>
              <a:uFillTx/>
              <a:latin typeface="Times New Roman"/>
            </a:endParaRPr>
          </a:p>
        </p:txBody>
      </p:sp>
      <p:sp>
        <p:nvSpPr>
          <p:cNvPr id="934" name=""/>
          <p:cNvSpPr txBox="1"/>
          <p:nvPr/>
        </p:nvSpPr>
        <p:spPr>
          <a:xfrm>
            <a:off x="7810200" y="5102640"/>
            <a:ext cx="84240" cy="99360"/>
          </a:xfrm>
          <a:prstGeom prst="rect">
            <a:avLst/>
          </a:prstGeom>
          <a:noFill/>
          <a:ln w="0">
            <a:noFill/>
          </a:ln>
        </p:spPr>
        <p:txBody>
          <a:bodyPr wrap="none" lIns="0" rIns="0" tIns="0" bIns="0" anchor="t">
            <a:spAutoFit/>
          </a:bodyPr>
          <a:p>
            <a:r>
              <a:rPr b="0" lang="en-US" sz="670" strike="noStrike" u="none">
                <a:solidFill>
                  <a:srgbClr val="6b7280"/>
                </a:solidFill>
                <a:effectLst/>
                <a:uFillTx/>
                <a:latin typeface="DejaVuSans"/>
                <a:ea typeface="DejaVuSans"/>
              </a:rPr>
              <a:t> </a:t>
            </a:r>
            <a:endParaRPr b="0" lang="en-US" sz="670" strike="noStrike" u="none">
              <a:solidFill>
                <a:srgbClr val="000000"/>
              </a:solidFill>
              <a:effectLst/>
              <a:uFillTx/>
              <a:latin typeface="Times New Roman"/>
            </a:endParaRPr>
          </a:p>
        </p:txBody>
      </p:sp>
      <p:sp>
        <p:nvSpPr>
          <p:cNvPr id="935" name=""/>
          <p:cNvSpPr txBox="1"/>
          <p:nvPr/>
        </p:nvSpPr>
        <p:spPr>
          <a:xfrm>
            <a:off x="7837200" y="5099760"/>
            <a:ext cx="597960" cy="108720"/>
          </a:xfrm>
          <a:prstGeom prst="rect">
            <a:avLst/>
          </a:prstGeom>
          <a:noFill/>
          <a:ln w="0">
            <a:noFill/>
          </a:ln>
        </p:spPr>
        <p:txBody>
          <a:bodyPr wrap="none" lIns="0" rIns="0" tIns="0" bIns="0" anchor="t">
            <a:spAutoFit/>
          </a:bodyPr>
          <a:p>
            <a:r>
              <a:rPr b="0" lang="zh-CN" sz="670" strike="noStrike" u="none">
                <a:solidFill>
                  <a:srgbClr val="6b7280"/>
                </a:solidFill>
                <a:effectLst/>
                <a:uFillTx/>
                <a:latin typeface="WenQuanYiZenHei"/>
                <a:ea typeface="WenQuanYiZenHei"/>
              </a:rPr>
              <a:t>保険点数勉強会</a:t>
            </a:r>
            <a:endParaRPr b="0" lang="en-US" sz="670" strike="noStrike" u="none">
              <a:solidFill>
                <a:srgbClr val="000000"/>
              </a:solidFill>
              <a:effectLst/>
              <a:uFillTx/>
              <a:latin typeface="Times New Roman"/>
            </a:endParaRPr>
          </a:p>
        </p:txBody>
      </p:sp>
      <p:sp>
        <p:nvSpPr>
          <p:cNvPr id="936" name=""/>
          <p:cNvSpPr txBox="1"/>
          <p:nvPr/>
        </p:nvSpPr>
        <p:spPr>
          <a:xfrm>
            <a:off x="8487000" y="5102640"/>
            <a:ext cx="84240" cy="99360"/>
          </a:xfrm>
          <a:prstGeom prst="rect">
            <a:avLst/>
          </a:prstGeom>
          <a:noFill/>
          <a:ln w="0">
            <a:noFill/>
          </a:ln>
        </p:spPr>
        <p:txBody>
          <a:bodyPr wrap="none" lIns="0" rIns="0" tIns="0" bIns="0" anchor="t">
            <a:spAutoFit/>
          </a:bodyPr>
          <a:p>
            <a:r>
              <a:rPr b="0" lang="en-US" sz="670" strike="noStrike" u="none">
                <a:solidFill>
                  <a:srgbClr val="6b7280"/>
                </a:solidFill>
                <a:effectLst/>
                <a:uFillTx/>
                <a:latin typeface="DejaVuSans"/>
                <a:ea typeface="DejaVuSans"/>
              </a:rPr>
              <a:t>|</a:t>
            </a:r>
            <a:endParaRPr b="0" lang="en-US" sz="670" strike="noStrike" u="none">
              <a:solidFill>
                <a:srgbClr val="000000"/>
              </a:solidFill>
              <a:effectLst/>
              <a:uFillTx/>
              <a:latin typeface="Times New Roman"/>
            </a:endParaRPr>
          </a:p>
        </p:txBody>
      </p:sp>
      <p:pic>
        <p:nvPicPr>
          <p:cNvPr id="937" name="" descr=""/>
          <p:cNvPicPr/>
          <p:nvPr/>
        </p:nvPicPr>
        <p:blipFill>
          <a:blip r:embed="rId5"/>
          <a:stretch/>
        </p:blipFill>
        <p:spPr>
          <a:xfrm>
            <a:off x="226080" y="718200"/>
            <a:ext cx="564480" cy="27720"/>
          </a:xfrm>
          <a:prstGeom prst="rect">
            <a:avLst/>
          </a:prstGeom>
          <a:noFill/>
          <a:ln w="0">
            <a:noFill/>
          </a:ln>
        </p:spPr>
      </p:pic>
      <p:sp>
        <p:nvSpPr>
          <p:cNvPr id="938" name=""/>
          <p:cNvSpPr txBox="1"/>
          <p:nvPr/>
        </p:nvSpPr>
        <p:spPr>
          <a:xfrm>
            <a:off x="8572320" y="5102640"/>
            <a:ext cx="300960" cy="99360"/>
          </a:xfrm>
          <a:prstGeom prst="rect">
            <a:avLst/>
          </a:prstGeom>
          <a:noFill/>
          <a:ln w="0">
            <a:noFill/>
          </a:ln>
        </p:spPr>
        <p:txBody>
          <a:bodyPr wrap="none" lIns="0" rIns="0" tIns="0" bIns="0" anchor="t">
            <a:spAutoFit/>
          </a:bodyPr>
          <a:p>
            <a:r>
              <a:rPr b="0" lang="en-US" sz="670" strike="noStrike" u="none">
                <a:solidFill>
                  <a:srgbClr val="6b7280"/>
                </a:solidFill>
                <a:effectLst/>
                <a:uFillTx/>
                <a:latin typeface="DejaVuSans"/>
                <a:ea typeface="DejaVuSans"/>
              </a:rPr>
              <a:t>11 / 15</a:t>
            </a:r>
            <a:endParaRPr b="0" lang="en-US" sz="670" strike="noStrike" u="none">
              <a:solidFill>
                <a:srgbClr val="000000"/>
              </a:solidFill>
              <a:effectLst/>
              <a:uFillTx/>
              <a:latin typeface="Times New Roman"/>
            </a:endParaRPr>
          </a:p>
        </p:txBody>
      </p:sp>
      <p:sp>
        <p:nvSpPr>
          <p:cNvPr id="939" name=""/>
          <p:cNvSpPr txBox="1"/>
          <p:nvPr/>
        </p:nvSpPr>
        <p:spPr>
          <a:xfrm>
            <a:off x="226080" y="429120"/>
            <a:ext cx="1488600" cy="267120"/>
          </a:xfrm>
          <a:prstGeom prst="rect">
            <a:avLst/>
          </a:prstGeom>
          <a:noFill/>
          <a:ln w="0">
            <a:noFill/>
          </a:ln>
        </p:spPr>
        <p:txBody>
          <a:bodyPr wrap="none" lIns="0" rIns="0" tIns="0" bIns="0" anchor="t">
            <a:spAutoFit/>
          </a:bodyPr>
          <a:p>
            <a:r>
              <a:rPr b="0" lang="zh-CN" sz="1670" strike="noStrike" u="none">
                <a:solidFill>
                  <a:srgbClr val="1e40af"/>
                </a:solidFill>
                <a:effectLst/>
                <a:uFillTx/>
                <a:latin typeface="WenQuanYiZenHei"/>
                <a:ea typeface="WenQuanYiZenHei"/>
              </a:rPr>
              <a:t>共通加算の活用</a:t>
            </a:r>
            <a:endParaRPr b="0" lang="en-US" sz="1670" strike="noStrike" u="none">
              <a:solidFill>
                <a:srgbClr val="000000"/>
              </a:solidFill>
              <a:effectLst/>
              <a:uFillTx/>
              <a:latin typeface="Times New Roman"/>
            </a:endParaRPr>
          </a:p>
        </p:txBody>
      </p:sp>
      <p:sp>
        <p:nvSpPr>
          <p:cNvPr id="940" name=""/>
          <p:cNvSpPr/>
          <p:nvPr/>
        </p:nvSpPr>
        <p:spPr>
          <a:xfrm>
            <a:off x="225720" y="1123920"/>
            <a:ext cx="2804040" cy="1084320"/>
          </a:xfrm>
          <a:custGeom>
            <a:avLst/>
            <a:gdLst/>
            <a:ahLst/>
            <a:rect l="0" t="0" r="r" b="b"/>
            <a:pathLst>
              <a:path w="7789" h="3012">
                <a:moveTo>
                  <a:pt x="0" y="2855"/>
                </a:moveTo>
                <a:lnTo>
                  <a:pt x="0" y="128"/>
                </a:lnTo>
                <a:cubicBezTo>
                  <a:pt x="0" y="119"/>
                  <a:pt x="1" y="111"/>
                  <a:pt x="3" y="103"/>
                </a:cubicBezTo>
                <a:cubicBezTo>
                  <a:pt x="5" y="94"/>
                  <a:pt x="8" y="87"/>
                  <a:pt x="12" y="79"/>
                </a:cubicBezTo>
                <a:cubicBezTo>
                  <a:pt x="16" y="71"/>
                  <a:pt x="21" y="64"/>
                  <a:pt x="27" y="57"/>
                </a:cubicBezTo>
                <a:cubicBezTo>
                  <a:pt x="32" y="50"/>
                  <a:pt x="39" y="43"/>
                  <a:pt x="46" y="37"/>
                </a:cubicBezTo>
                <a:cubicBezTo>
                  <a:pt x="54" y="31"/>
                  <a:pt x="61" y="26"/>
                  <a:pt x="70" y="22"/>
                </a:cubicBezTo>
                <a:cubicBezTo>
                  <a:pt x="79" y="17"/>
                  <a:pt x="88" y="13"/>
                  <a:pt x="97" y="10"/>
                </a:cubicBezTo>
                <a:cubicBezTo>
                  <a:pt x="107" y="7"/>
                  <a:pt x="116" y="4"/>
                  <a:pt x="127" y="3"/>
                </a:cubicBezTo>
                <a:cubicBezTo>
                  <a:pt x="137" y="1"/>
                  <a:pt x="147" y="0"/>
                  <a:pt x="157" y="0"/>
                </a:cubicBezTo>
                <a:lnTo>
                  <a:pt x="7633" y="0"/>
                </a:lnTo>
                <a:cubicBezTo>
                  <a:pt x="7643" y="0"/>
                  <a:pt x="7653" y="1"/>
                  <a:pt x="7663" y="3"/>
                </a:cubicBezTo>
                <a:cubicBezTo>
                  <a:pt x="7673" y="4"/>
                  <a:pt x="7683" y="7"/>
                  <a:pt x="7693" y="10"/>
                </a:cubicBezTo>
                <a:cubicBezTo>
                  <a:pt x="7702" y="13"/>
                  <a:pt x="7711" y="17"/>
                  <a:pt x="7720" y="22"/>
                </a:cubicBezTo>
                <a:cubicBezTo>
                  <a:pt x="7728" y="26"/>
                  <a:pt x="7736" y="31"/>
                  <a:pt x="7744" y="37"/>
                </a:cubicBezTo>
                <a:cubicBezTo>
                  <a:pt x="7751" y="43"/>
                  <a:pt x="7757" y="50"/>
                  <a:pt x="7763" y="57"/>
                </a:cubicBezTo>
                <a:cubicBezTo>
                  <a:pt x="7769" y="64"/>
                  <a:pt x="7774" y="71"/>
                  <a:pt x="7778" y="79"/>
                </a:cubicBezTo>
                <a:cubicBezTo>
                  <a:pt x="7781" y="87"/>
                  <a:pt x="7784" y="94"/>
                  <a:pt x="7786" y="103"/>
                </a:cubicBezTo>
                <a:cubicBezTo>
                  <a:pt x="7788" y="111"/>
                  <a:pt x="7789" y="119"/>
                  <a:pt x="7789" y="128"/>
                </a:cubicBezTo>
                <a:lnTo>
                  <a:pt x="7789" y="2855"/>
                </a:lnTo>
                <a:cubicBezTo>
                  <a:pt x="7789" y="2866"/>
                  <a:pt x="7788" y="2876"/>
                  <a:pt x="7786" y="2886"/>
                </a:cubicBezTo>
                <a:cubicBezTo>
                  <a:pt x="7784" y="2896"/>
                  <a:pt x="7781" y="2906"/>
                  <a:pt x="7778" y="2915"/>
                </a:cubicBezTo>
                <a:cubicBezTo>
                  <a:pt x="7774" y="2925"/>
                  <a:pt x="7769" y="2934"/>
                  <a:pt x="7763" y="2943"/>
                </a:cubicBezTo>
                <a:cubicBezTo>
                  <a:pt x="7757" y="2951"/>
                  <a:pt x="7751" y="2959"/>
                  <a:pt x="7744" y="2966"/>
                </a:cubicBezTo>
                <a:cubicBezTo>
                  <a:pt x="7736" y="2974"/>
                  <a:pt x="7728" y="2980"/>
                  <a:pt x="7720" y="2986"/>
                </a:cubicBezTo>
                <a:cubicBezTo>
                  <a:pt x="7711" y="2992"/>
                  <a:pt x="7702" y="2996"/>
                  <a:pt x="7693" y="3000"/>
                </a:cubicBezTo>
                <a:cubicBezTo>
                  <a:pt x="7683" y="3004"/>
                  <a:pt x="7673" y="3007"/>
                  <a:pt x="7663" y="3009"/>
                </a:cubicBezTo>
                <a:cubicBezTo>
                  <a:pt x="7653" y="3011"/>
                  <a:pt x="7643" y="3012"/>
                  <a:pt x="7633" y="3012"/>
                </a:cubicBezTo>
                <a:lnTo>
                  <a:pt x="157" y="3012"/>
                </a:lnTo>
                <a:cubicBezTo>
                  <a:pt x="147" y="3012"/>
                  <a:pt x="137" y="3011"/>
                  <a:pt x="127" y="3009"/>
                </a:cubicBezTo>
                <a:cubicBezTo>
                  <a:pt x="116" y="3007"/>
                  <a:pt x="107" y="3004"/>
                  <a:pt x="97" y="3000"/>
                </a:cubicBezTo>
                <a:cubicBezTo>
                  <a:pt x="88" y="2996"/>
                  <a:pt x="79" y="2992"/>
                  <a:pt x="70" y="2986"/>
                </a:cubicBezTo>
                <a:cubicBezTo>
                  <a:pt x="61" y="2980"/>
                  <a:pt x="54" y="2974"/>
                  <a:pt x="46" y="2966"/>
                </a:cubicBezTo>
                <a:cubicBezTo>
                  <a:pt x="39" y="2959"/>
                  <a:pt x="32" y="2951"/>
                  <a:pt x="27" y="2943"/>
                </a:cubicBezTo>
                <a:cubicBezTo>
                  <a:pt x="21" y="2934"/>
                  <a:pt x="16" y="2925"/>
                  <a:pt x="12" y="2915"/>
                </a:cubicBezTo>
                <a:cubicBezTo>
                  <a:pt x="8" y="2906"/>
                  <a:pt x="5" y="2896"/>
                  <a:pt x="3" y="2886"/>
                </a:cubicBezTo>
                <a:cubicBezTo>
                  <a:pt x="1" y="2876"/>
                  <a:pt x="0" y="2866"/>
                  <a:pt x="0" y="2855"/>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941" name=""/>
          <p:cNvSpPr/>
          <p:nvPr/>
        </p:nvSpPr>
        <p:spPr>
          <a:xfrm>
            <a:off x="225720" y="1113480"/>
            <a:ext cx="2804040" cy="56880"/>
          </a:xfrm>
          <a:custGeom>
            <a:avLst/>
            <a:gdLst/>
            <a:ahLst/>
            <a:rect l="0" t="0" r="r" b="b"/>
            <a:pathLst>
              <a:path w="7789" h="158">
                <a:moveTo>
                  <a:pt x="0" y="0"/>
                </a:moveTo>
                <a:lnTo>
                  <a:pt x="7789" y="0"/>
                </a:lnTo>
                <a:lnTo>
                  <a:pt x="7789" y="158"/>
                </a:lnTo>
                <a:lnTo>
                  <a:pt x="0" y="158"/>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942" name="" descr=""/>
          <p:cNvPicPr/>
          <p:nvPr/>
        </p:nvPicPr>
        <p:blipFill>
          <a:blip r:embed="rId6"/>
          <a:stretch/>
        </p:blipFill>
        <p:spPr>
          <a:xfrm>
            <a:off x="310680" y="1247760"/>
            <a:ext cx="140760" cy="140760"/>
          </a:xfrm>
          <a:prstGeom prst="rect">
            <a:avLst/>
          </a:prstGeom>
          <a:noFill/>
          <a:ln w="0">
            <a:noFill/>
          </a:ln>
        </p:spPr>
      </p:pic>
      <p:sp>
        <p:nvSpPr>
          <p:cNvPr id="943" name=""/>
          <p:cNvSpPr txBox="1"/>
          <p:nvPr/>
        </p:nvSpPr>
        <p:spPr>
          <a:xfrm>
            <a:off x="226080" y="842400"/>
            <a:ext cx="2730960" cy="142200"/>
          </a:xfrm>
          <a:prstGeom prst="rect">
            <a:avLst/>
          </a:prstGeom>
          <a:noFill/>
          <a:ln w="0">
            <a:noFill/>
          </a:ln>
        </p:spPr>
        <p:txBody>
          <a:bodyPr wrap="none" lIns="0" rIns="0" tIns="0" bIns="0" anchor="t">
            <a:spAutoFit/>
          </a:bodyPr>
          <a:p>
            <a:r>
              <a:rPr b="0" lang="zh-CN" sz="889" strike="noStrike" u="none">
                <a:solidFill>
                  <a:srgbClr val="374151"/>
                </a:solidFill>
                <a:effectLst/>
                <a:uFillTx/>
                <a:latin typeface="WenQuanYiZenHei"/>
                <a:ea typeface="WenQuanYiZenHei"/>
              </a:rPr>
              <a:t>診療科を問わず算定できる加算の種類と主な算定要件</a:t>
            </a:r>
            <a:endParaRPr b="0" lang="en-US" sz="889" strike="noStrike" u="none">
              <a:solidFill>
                <a:srgbClr val="000000"/>
              </a:solidFill>
              <a:effectLst/>
              <a:uFillTx/>
              <a:latin typeface="Times New Roman"/>
            </a:endParaRPr>
          </a:p>
        </p:txBody>
      </p:sp>
      <p:pic>
        <p:nvPicPr>
          <p:cNvPr id="944" name="" descr=""/>
          <p:cNvPicPr/>
          <p:nvPr/>
        </p:nvPicPr>
        <p:blipFill>
          <a:blip r:embed="rId7"/>
          <a:stretch/>
        </p:blipFill>
        <p:spPr>
          <a:xfrm>
            <a:off x="339120" y="1501920"/>
            <a:ext cx="56160" cy="84240"/>
          </a:xfrm>
          <a:prstGeom prst="rect">
            <a:avLst/>
          </a:prstGeom>
          <a:noFill/>
          <a:ln w="0">
            <a:noFill/>
          </a:ln>
        </p:spPr>
      </p:pic>
      <p:sp>
        <p:nvSpPr>
          <p:cNvPr id="945" name=""/>
          <p:cNvSpPr txBox="1"/>
          <p:nvPr/>
        </p:nvSpPr>
        <p:spPr>
          <a:xfrm>
            <a:off x="508320" y="1244880"/>
            <a:ext cx="677520" cy="142200"/>
          </a:xfrm>
          <a:prstGeom prst="rect">
            <a:avLst/>
          </a:prstGeom>
          <a:noFill/>
          <a:ln w="0">
            <a:noFill/>
          </a:ln>
        </p:spPr>
        <p:txBody>
          <a:bodyPr wrap="none" lIns="0" rIns="0" tIns="0" bIns="0" anchor="t">
            <a:spAutoFit/>
          </a:bodyPr>
          <a:p>
            <a:r>
              <a:rPr b="0" lang="zh-CN" sz="889" strike="noStrike" u="none">
                <a:solidFill>
                  <a:srgbClr val="1d4ed8"/>
                </a:solidFill>
                <a:effectLst/>
                <a:uFillTx/>
                <a:latin typeface="WenQuanYiZenHei"/>
                <a:ea typeface="WenQuanYiZenHei"/>
              </a:rPr>
              <a:t>時間外等加算</a:t>
            </a:r>
            <a:endParaRPr b="0" lang="en-US" sz="889" strike="noStrike" u="none">
              <a:solidFill>
                <a:srgbClr val="000000"/>
              </a:solidFill>
              <a:effectLst/>
              <a:uFillTx/>
              <a:latin typeface="Times New Roman"/>
            </a:endParaRPr>
          </a:p>
        </p:txBody>
      </p:sp>
      <p:sp>
        <p:nvSpPr>
          <p:cNvPr id="946" name=""/>
          <p:cNvSpPr txBox="1"/>
          <p:nvPr/>
        </p:nvSpPr>
        <p:spPr>
          <a:xfrm>
            <a:off x="423720" y="1484280"/>
            <a:ext cx="49608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時間外加算</a:t>
            </a:r>
            <a:endParaRPr b="0" lang="en-US" sz="780" strike="noStrike" u="none">
              <a:solidFill>
                <a:srgbClr val="000000"/>
              </a:solidFill>
              <a:effectLst/>
              <a:uFillTx/>
              <a:latin typeface="Times New Roman"/>
            </a:endParaRPr>
          </a:p>
        </p:txBody>
      </p:sp>
      <p:sp>
        <p:nvSpPr>
          <p:cNvPr id="947" name=""/>
          <p:cNvSpPr txBox="1"/>
          <p:nvPr/>
        </p:nvSpPr>
        <p:spPr>
          <a:xfrm>
            <a:off x="918000" y="1487880"/>
            <a:ext cx="9864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 </a:t>
            </a:r>
            <a:endParaRPr b="0" lang="en-US" sz="780" strike="noStrike" u="none">
              <a:solidFill>
                <a:srgbClr val="000000"/>
              </a:solidFill>
              <a:effectLst/>
              <a:uFillTx/>
              <a:latin typeface="Times New Roman"/>
            </a:endParaRPr>
          </a:p>
        </p:txBody>
      </p:sp>
      <p:sp>
        <p:nvSpPr>
          <p:cNvPr id="948" name=""/>
          <p:cNvSpPr txBox="1"/>
          <p:nvPr/>
        </p:nvSpPr>
        <p:spPr>
          <a:xfrm>
            <a:off x="982800" y="1484280"/>
            <a:ext cx="19872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初診</a:t>
            </a:r>
            <a:endParaRPr b="0" lang="en-US" sz="780" strike="noStrike" u="none">
              <a:solidFill>
                <a:srgbClr val="000000"/>
              </a:solidFill>
              <a:effectLst/>
              <a:uFillTx/>
              <a:latin typeface="Times New Roman"/>
            </a:endParaRPr>
          </a:p>
        </p:txBody>
      </p:sp>
      <p:sp>
        <p:nvSpPr>
          <p:cNvPr id="949" name=""/>
          <p:cNvSpPr txBox="1"/>
          <p:nvPr/>
        </p:nvSpPr>
        <p:spPr>
          <a:xfrm>
            <a:off x="1180440" y="1487880"/>
            <a:ext cx="12672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85</a:t>
            </a:r>
            <a:endParaRPr b="0" lang="en-US" sz="780" strike="noStrike" u="none">
              <a:solidFill>
                <a:srgbClr val="000000"/>
              </a:solidFill>
              <a:effectLst/>
              <a:uFillTx/>
              <a:latin typeface="Times New Roman"/>
            </a:endParaRPr>
          </a:p>
        </p:txBody>
      </p:sp>
      <p:sp>
        <p:nvSpPr>
          <p:cNvPr id="950" name=""/>
          <p:cNvSpPr txBox="1"/>
          <p:nvPr/>
        </p:nvSpPr>
        <p:spPr>
          <a:xfrm>
            <a:off x="1306440" y="1484280"/>
            <a:ext cx="39708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点、再診</a:t>
            </a:r>
            <a:endParaRPr b="0" lang="en-US" sz="780" strike="noStrike" u="none">
              <a:solidFill>
                <a:srgbClr val="000000"/>
              </a:solidFill>
              <a:effectLst/>
              <a:uFillTx/>
              <a:latin typeface="Times New Roman"/>
            </a:endParaRPr>
          </a:p>
        </p:txBody>
      </p:sp>
      <p:sp>
        <p:nvSpPr>
          <p:cNvPr id="951" name=""/>
          <p:cNvSpPr txBox="1"/>
          <p:nvPr/>
        </p:nvSpPr>
        <p:spPr>
          <a:xfrm>
            <a:off x="1701720" y="1487880"/>
            <a:ext cx="12672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65</a:t>
            </a:r>
            <a:endParaRPr b="0" lang="en-US" sz="780" strike="noStrike" u="none">
              <a:solidFill>
                <a:srgbClr val="000000"/>
              </a:solidFill>
              <a:effectLst/>
              <a:uFillTx/>
              <a:latin typeface="Times New Roman"/>
            </a:endParaRPr>
          </a:p>
        </p:txBody>
      </p:sp>
      <p:pic>
        <p:nvPicPr>
          <p:cNvPr id="952" name="" descr=""/>
          <p:cNvPicPr/>
          <p:nvPr/>
        </p:nvPicPr>
        <p:blipFill>
          <a:blip r:embed="rId8"/>
          <a:stretch/>
        </p:blipFill>
        <p:spPr>
          <a:xfrm>
            <a:off x="339120" y="1671480"/>
            <a:ext cx="56160" cy="84240"/>
          </a:xfrm>
          <a:prstGeom prst="rect">
            <a:avLst/>
          </a:prstGeom>
          <a:noFill/>
          <a:ln w="0">
            <a:noFill/>
          </a:ln>
        </p:spPr>
      </p:pic>
      <p:sp>
        <p:nvSpPr>
          <p:cNvPr id="953" name=""/>
          <p:cNvSpPr txBox="1"/>
          <p:nvPr/>
        </p:nvSpPr>
        <p:spPr>
          <a:xfrm>
            <a:off x="1827720" y="1484280"/>
            <a:ext cx="9972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点</a:t>
            </a:r>
            <a:endParaRPr b="0" lang="en-US" sz="780" strike="noStrike" u="none">
              <a:solidFill>
                <a:srgbClr val="000000"/>
              </a:solidFill>
              <a:effectLst/>
              <a:uFillTx/>
              <a:latin typeface="Times New Roman"/>
            </a:endParaRPr>
          </a:p>
        </p:txBody>
      </p:sp>
      <p:sp>
        <p:nvSpPr>
          <p:cNvPr id="954" name=""/>
          <p:cNvSpPr txBox="1"/>
          <p:nvPr/>
        </p:nvSpPr>
        <p:spPr>
          <a:xfrm>
            <a:off x="423720" y="1653840"/>
            <a:ext cx="39708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休日加算</a:t>
            </a:r>
            <a:endParaRPr b="0" lang="en-US" sz="780" strike="noStrike" u="none">
              <a:solidFill>
                <a:srgbClr val="000000"/>
              </a:solidFill>
              <a:effectLst/>
              <a:uFillTx/>
              <a:latin typeface="Times New Roman"/>
            </a:endParaRPr>
          </a:p>
        </p:txBody>
      </p:sp>
      <p:sp>
        <p:nvSpPr>
          <p:cNvPr id="955" name=""/>
          <p:cNvSpPr txBox="1"/>
          <p:nvPr/>
        </p:nvSpPr>
        <p:spPr>
          <a:xfrm>
            <a:off x="819360" y="1657440"/>
            <a:ext cx="9864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 </a:t>
            </a:r>
            <a:endParaRPr b="0" lang="en-US" sz="780" strike="noStrike" u="none">
              <a:solidFill>
                <a:srgbClr val="000000"/>
              </a:solidFill>
              <a:effectLst/>
              <a:uFillTx/>
              <a:latin typeface="Times New Roman"/>
            </a:endParaRPr>
          </a:p>
        </p:txBody>
      </p:sp>
      <p:sp>
        <p:nvSpPr>
          <p:cNvPr id="956" name=""/>
          <p:cNvSpPr txBox="1"/>
          <p:nvPr/>
        </p:nvSpPr>
        <p:spPr>
          <a:xfrm>
            <a:off x="883800" y="1653840"/>
            <a:ext cx="19872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初診</a:t>
            </a:r>
            <a:endParaRPr b="0" lang="en-US" sz="780" strike="noStrike" u="none">
              <a:solidFill>
                <a:srgbClr val="000000"/>
              </a:solidFill>
              <a:effectLst/>
              <a:uFillTx/>
              <a:latin typeface="Times New Roman"/>
            </a:endParaRPr>
          </a:p>
        </p:txBody>
      </p:sp>
      <p:sp>
        <p:nvSpPr>
          <p:cNvPr id="957" name=""/>
          <p:cNvSpPr txBox="1"/>
          <p:nvPr/>
        </p:nvSpPr>
        <p:spPr>
          <a:xfrm>
            <a:off x="1081800" y="1657440"/>
            <a:ext cx="18972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250</a:t>
            </a:r>
            <a:endParaRPr b="0" lang="en-US" sz="780" strike="noStrike" u="none">
              <a:solidFill>
                <a:srgbClr val="000000"/>
              </a:solidFill>
              <a:effectLst/>
              <a:uFillTx/>
              <a:latin typeface="Times New Roman"/>
            </a:endParaRPr>
          </a:p>
        </p:txBody>
      </p:sp>
      <p:sp>
        <p:nvSpPr>
          <p:cNvPr id="958" name=""/>
          <p:cNvSpPr txBox="1"/>
          <p:nvPr/>
        </p:nvSpPr>
        <p:spPr>
          <a:xfrm>
            <a:off x="1270440" y="1653840"/>
            <a:ext cx="39708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点、再診</a:t>
            </a:r>
            <a:endParaRPr b="0" lang="en-US" sz="780" strike="noStrike" u="none">
              <a:solidFill>
                <a:srgbClr val="000000"/>
              </a:solidFill>
              <a:effectLst/>
              <a:uFillTx/>
              <a:latin typeface="Times New Roman"/>
            </a:endParaRPr>
          </a:p>
        </p:txBody>
      </p:sp>
      <p:sp>
        <p:nvSpPr>
          <p:cNvPr id="959" name=""/>
          <p:cNvSpPr txBox="1"/>
          <p:nvPr/>
        </p:nvSpPr>
        <p:spPr>
          <a:xfrm>
            <a:off x="1666080" y="1657440"/>
            <a:ext cx="18972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190</a:t>
            </a:r>
            <a:endParaRPr b="0" lang="en-US" sz="780" strike="noStrike" u="none">
              <a:solidFill>
                <a:srgbClr val="000000"/>
              </a:solidFill>
              <a:effectLst/>
              <a:uFillTx/>
              <a:latin typeface="Times New Roman"/>
            </a:endParaRPr>
          </a:p>
        </p:txBody>
      </p:sp>
      <p:pic>
        <p:nvPicPr>
          <p:cNvPr id="960" name="" descr=""/>
          <p:cNvPicPr/>
          <p:nvPr/>
        </p:nvPicPr>
        <p:blipFill>
          <a:blip r:embed="rId9"/>
          <a:stretch/>
        </p:blipFill>
        <p:spPr>
          <a:xfrm>
            <a:off x="339120" y="1841040"/>
            <a:ext cx="56160" cy="84240"/>
          </a:xfrm>
          <a:prstGeom prst="rect">
            <a:avLst/>
          </a:prstGeom>
          <a:noFill/>
          <a:ln w="0">
            <a:noFill/>
          </a:ln>
        </p:spPr>
      </p:pic>
      <p:sp>
        <p:nvSpPr>
          <p:cNvPr id="961" name=""/>
          <p:cNvSpPr txBox="1"/>
          <p:nvPr/>
        </p:nvSpPr>
        <p:spPr>
          <a:xfrm>
            <a:off x="1854720" y="1653840"/>
            <a:ext cx="9972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点</a:t>
            </a:r>
            <a:endParaRPr b="0" lang="en-US" sz="780" strike="noStrike" u="none">
              <a:solidFill>
                <a:srgbClr val="000000"/>
              </a:solidFill>
              <a:effectLst/>
              <a:uFillTx/>
              <a:latin typeface="Times New Roman"/>
            </a:endParaRPr>
          </a:p>
        </p:txBody>
      </p:sp>
      <p:sp>
        <p:nvSpPr>
          <p:cNvPr id="962" name=""/>
          <p:cNvSpPr txBox="1"/>
          <p:nvPr/>
        </p:nvSpPr>
        <p:spPr>
          <a:xfrm>
            <a:off x="423720" y="1823400"/>
            <a:ext cx="39708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深夜加算</a:t>
            </a:r>
            <a:endParaRPr b="0" lang="en-US" sz="780" strike="noStrike" u="none">
              <a:solidFill>
                <a:srgbClr val="000000"/>
              </a:solidFill>
              <a:effectLst/>
              <a:uFillTx/>
              <a:latin typeface="Times New Roman"/>
            </a:endParaRPr>
          </a:p>
        </p:txBody>
      </p:sp>
      <p:sp>
        <p:nvSpPr>
          <p:cNvPr id="963" name=""/>
          <p:cNvSpPr txBox="1"/>
          <p:nvPr/>
        </p:nvSpPr>
        <p:spPr>
          <a:xfrm>
            <a:off x="819360" y="1827000"/>
            <a:ext cx="9864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 </a:t>
            </a:r>
            <a:endParaRPr b="0" lang="en-US" sz="780" strike="noStrike" u="none">
              <a:solidFill>
                <a:srgbClr val="000000"/>
              </a:solidFill>
              <a:effectLst/>
              <a:uFillTx/>
              <a:latin typeface="Times New Roman"/>
            </a:endParaRPr>
          </a:p>
        </p:txBody>
      </p:sp>
      <p:sp>
        <p:nvSpPr>
          <p:cNvPr id="964" name=""/>
          <p:cNvSpPr txBox="1"/>
          <p:nvPr/>
        </p:nvSpPr>
        <p:spPr>
          <a:xfrm>
            <a:off x="883800" y="1823400"/>
            <a:ext cx="19872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初診</a:t>
            </a:r>
            <a:endParaRPr b="0" lang="en-US" sz="780" strike="noStrike" u="none">
              <a:solidFill>
                <a:srgbClr val="000000"/>
              </a:solidFill>
              <a:effectLst/>
              <a:uFillTx/>
              <a:latin typeface="Times New Roman"/>
            </a:endParaRPr>
          </a:p>
        </p:txBody>
      </p:sp>
      <p:sp>
        <p:nvSpPr>
          <p:cNvPr id="965" name=""/>
          <p:cNvSpPr txBox="1"/>
          <p:nvPr/>
        </p:nvSpPr>
        <p:spPr>
          <a:xfrm>
            <a:off x="1081800" y="1827000"/>
            <a:ext cx="18972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480</a:t>
            </a:r>
            <a:endParaRPr b="0" lang="en-US" sz="780" strike="noStrike" u="none">
              <a:solidFill>
                <a:srgbClr val="000000"/>
              </a:solidFill>
              <a:effectLst/>
              <a:uFillTx/>
              <a:latin typeface="Times New Roman"/>
            </a:endParaRPr>
          </a:p>
        </p:txBody>
      </p:sp>
      <p:sp>
        <p:nvSpPr>
          <p:cNvPr id="966" name=""/>
          <p:cNvSpPr txBox="1"/>
          <p:nvPr/>
        </p:nvSpPr>
        <p:spPr>
          <a:xfrm>
            <a:off x="1270440" y="1823400"/>
            <a:ext cx="39708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点、再診</a:t>
            </a:r>
            <a:endParaRPr b="0" lang="en-US" sz="780" strike="noStrike" u="none">
              <a:solidFill>
                <a:srgbClr val="000000"/>
              </a:solidFill>
              <a:effectLst/>
              <a:uFillTx/>
              <a:latin typeface="Times New Roman"/>
            </a:endParaRPr>
          </a:p>
        </p:txBody>
      </p:sp>
      <p:sp>
        <p:nvSpPr>
          <p:cNvPr id="967" name=""/>
          <p:cNvSpPr txBox="1"/>
          <p:nvPr/>
        </p:nvSpPr>
        <p:spPr>
          <a:xfrm>
            <a:off x="1666080" y="1827000"/>
            <a:ext cx="18972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420</a:t>
            </a:r>
            <a:endParaRPr b="0" lang="en-US" sz="780" strike="noStrike" u="none">
              <a:solidFill>
                <a:srgbClr val="000000"/>
              </a:solidFill>
              <a:effectLst/>
              <a:uFillTx/>
              <a:latin typeface="Times New Roman"/>
            </a:endParaRPr>
          </a:p>
        </p:txBody>
      </p:sp>
      <p:pic>
        <p:nvPicPr>
          <p:cNvPr id="968" name="" descr=""/>
          <p:cNvPicPr/>
          <p:nvPr/>
        </p:nvPicPr>
        <p:blipFill>
          <a:blip r:embed="rId10"/>
          <a:stretch/>
        </p:blipFill>
        <p:spPr>
          <a:xfrm>
            <a:off x="339120" y="2010600"/>
            <a:ext cx="56160" cy="84240"/>
          </a:xfrm>
          <a:prstGeom prst="rect">
            <a:avLst/>
          </a:prstGeom>
          <a:noFill/>
          <a:ln w="0">
            <a:noFill/>
          </a:ln>
        </p:spPr>
      </p:pic>
      <p:sp>
        <p:nvSpPr>
          <p:cNvPr id="969" name=""/>
          <p:cNvSpPr txBox="1"/>
          <p:nvPr/>
        </p:nvSpPr>
        <p:spPr>
          <a:xfrm>
            <a:off x="1854720" y="1823400"/>
            <a:ext cx="9972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点</a:t>
            </a:r>
            <a:endParaRPr b="0" lang="en-US" sz="780" strike="noStrike" u="none">
              <a:solidFill>
                <a:srgbClr val="000000"/>
              </a:solidFill>
              <a:effectLst/>
              <a:uFillTx/>
              <a:latin typeface="Times New Roman"/>
            </a:endParaRPr>
          </a:p>
        </p:txBody>
      </p:sp>
      <p:sp>
        <p:nvSpPr>
          <p:cNvPr id="970" name=""/>
          <p:cNvSpPr txBox="1"/>
          <p:nvPr/>
        </p:nvSpPr>
        <p:spPr>
          <a:xfrm>
            <a:off x="423720" y="1996560"/>
            <a:ext cx="14688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※6</a:t>
            </a:r>
            <a:endParaRPr b="0" lang="en-US" sz="780" strike="noStrike" u="none">
              <a:solidFill>
                <a:srgbClr val="000000"/>
              </a:solidFill>
              <a:effectLst/>
              <a:uFillTx/>
              <a:latin typeface="Times New Roman"/>
            </a:endParaRPr>
          </a:p>
        </p:txBody>
      </p:sp>
      <p:sp>
        <p:nvSpPr>
          <p:cNvPr id="971" name=""/>
          <p:cNvSpPr/>
          <p:nvPr/>
        </p:nvSpPr>
        <p:spPr>
          <a:xfrm>
            <a:off x="3114360" y="1123920"/>
            <a:ext cx="2811240" cy="1084320"/>
          </a:xfrm>
          <a:custGeom>
            <a:avLst/>
            <a:gdLst/>
            <a:ahLst/>
            <a:rect l="0" t="0" r="r" b="b"/>
            <a:pathLst>
              <a:path w="7809" h="3012">
                <a:moveTo>
                  <a:pt x="0" y="2855"/>
                </a:moveTo>
                <a:lnTo>
                  <a:pt x="0" y="128"/>
                </a:lnTo>
                <a:cubicBezTo>
                  <a:pt x="0" y="119"/>
                  <a:pt x="1" y="111"/>
                  <a:pt x="3" y="103"/>
                </a:cubicBezTo>
                <a:cubicBezTo>
                  <a:pt x="5" y="94"/>
                  <a:pt x="8" y="87"/>
                  <a:pt x="12" y="79"/>
                </a:cubicBezTo>
                <a:cubicBezTo>
                  <a:pt x="16" y="71"/>
                  <a:pt x="21" y="64"/>
                  <a:pt x="26" y="57"/>
                </a:cubicBezTo>
                <a:cubicBezTo>
                  <a:pt x="32" y="50"/>
                  <a:pt x="39" y="43"/>
                  <a:pt x="46" y="37"/>
                </a:cubicBezTo>
                <a:cubicBezTo>
                  <a:pt x="53" y="31"/>
                  <a:pt x="61" y="26"/>
                  <a:pt x="70" y="22"/>
                </a:cubicBezTo>
                <a:cubicBezTo>
                  <a:pt x="78" y="17"/>
                  <a:pt x="87" y="13"/>
                  <a:pt x="97" y="10"/>
                </a:cubicBezTo>
                <a:cubicBezTo>
                  <a:pt x="106" y="7"/>
                  <a:pt x="116" y="4"/>
                  <a:pt x="126" y="3"/>
                </a:cubicBezTo>
                <a:cubicBezTo>
                  <a:pt x="136" y="1"/>
                  <a:pt x="147" y="0"/>
                  <a:pt x="157" y="0"/>
                </a:cubicBezTo>
                <a:lnTo>
                  <a:pt x="7652" y="0"/>
                </a:lnTo>
                <a:cubicBezTo>
                  <a:pt x="7662" y="0"/>
                  <a:pt x="7672" y="1"/>
                  <a:pt x="7682" y="3"/>
                </a:cubicBezTo>
                <a:cubicBezTo>
                  <a:pt x="7692" y="4"/>
                  <a:pt x="7702" y="7"/>
                  <a:pt x="7712" y="10"/>
                </a:cubicBezTo>
                <a:cubicBezTo>
                  <a:pt x="7721" y="13"/>
                  <a:pt x="7730" y="17"/>
                  <a:pt x="7739" y="22"/>
                </a:cubicBezTo>
                <a:cubicBezTo>
                  <a:pt x="7748" y="26"/>
                  <a:pt x="7755" y="31"/>
                  <a:pt x="7763" y="37"/>
                </a:cubicBezTo>
                <a:cubicBezTo>
                  <a:pt x="7770" y="43"/>
                  <a:pt x="7777" y="50"/>
                  <a:pt x="7782" y="57"/>
                </a:cubicBezTo>
                <a:cubicBezTo>
                  <a:pt x="7788" y="64"/>
                  <a:pt x="7793" y="71"/>
                  <a:pt x="7797" y="79"/>
                </a:cubicBezTo>
                <a:cubicBezTo>
                  <a:pt x="7801" y="87"/>
                  <a:pt x="7804" y="94"/>
                  <a:pt x="7806" y="103"/>
                </a:cubicBezTo>
                <a:cubicBezTo>
                  <a:pt x="7808" y="111"/>
                  <a:pt x="7809" y="119"/>
                  <a:pt x="7809" y="128"/>
                </a:cubicBezTo>
                <a:lnTo>
                  <a:pt x="7809" y="2855"/>
                </a:lnTo>
                <a:cubicBezTo>
                  <a:pt x="7809" y="2866"/>
                  <a:pt x="7808" y="2876"/>
                  <a:pt x="7806" y="2886"/>
                </a:cubicBezTo>
                <a:cubicBezTo>
                  <a:pt x="7804" y="2896"/>
                  <a:pt x="7801" y="2906"/>
                  <a:pt x="7797" y="2915"/>
                </a:cubicBezTo>
                <a:cubicBezTo>
                  <a:pt x="7793" y="2925"/>
                  <a:pt x="7788" y="2934"/>
                  <a:pt x="7782" y="2943"/>
                </a:cubicBezTo>
                <a:cubicBezTo>
                  <a:pt x="7777" y="2951"/>
                  <a:pt x="7770" y="2959"/>
                  <a:pt x="7763" y="2966"/>
                </a:cubicBezTo>
                <a:cubicBezTo>
                  <a:pt x="7755" y="2974"/>
                  <a:pt x="7748" y="2980"/>
                  <a:pt x="7739" y="2986"/>
                </a:cubicBezTo>
                <a:cubicBezTo>
                  <a:pt x="7730" y="2992"/>
                  <a:pt x="7721" y="2996"/>
                  <a:pt x="7712" y="3000"/>
                </a:cubicBezTo>
                <a:cubicBezTo>
                  <a:pt x="7702" y="3004"/>
                  <a:pt x="7692" y="3007"/>
                  <a:pt x="7682" y="3009"/>
                </a:cubicBezTo>
                <a:cubicBezTo>
                  <a:pt x="7672" y="3011"/>
                  <a:pt x="7662" y="3012"/>
                  <a:pt x="7652" y="3012"/>
                </a:cubicBezTo>
                <a:lnTo>
                  <a:pt x="157" y="3012"/>
                </a:lnTo>
                <a:cubicBezTo>
                  <a:pt x="147" y="3012"/>
                  <a:pt x="136" y="3011"/>
                  <a:pt x="126" y="3009"/>
                </a:cubicBezTo>
                <a:cubicBezTo>
                  <a:pt x="116" y="3007"/>
                  <a:pt x="106" y="3004"/>
                  <a:pt x="97" y="3000"/>
                </a:cubicBezTo>
                <a:cubicBezTo>
                  <a:pt x="87" y="2996"/>
                  <a:pt x="78" y="2992"/>
                  <a:pt x="70" y="2986"/>
                </a:cubicBezTo>
                <a:cubicBezTo>
                  <a:pt x="61" y="2980"/>
                  <a:pt x="53" y="2974"/>
                  <a:pt x="46" y="2966"/>
                </a:cubicBezTo>
                <a:cubicBezTo>
                  <a:pt x="39" y="2959"/>
                  <a:pt x="32" y="2951"/>
                  <a:pt x="26" y="2943"/>
                </a:cubicBezTo>
                <a:cubicBezTo>
                  <a:pt x="21" y="2934"/>
                  <a:pt x="16" y="2925"/>
                  <a:pt x="12" y="2915"/>
                </a:cubicBezTo>
                <a:cubicBezTo>
                  <a:pt x="8" y="2906"/>
                  <a:pt x="5" y="2896"/>
                  <a:pt x="3" y="2886"/>
                </a:cubicBezTo>
                <a:cubicBezTo>
                  <a:pt x="1" y="2876"/>
                  <a:pt x="0" y="2866"/>
                  <a:pt x="0" y="2855"/>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972" name=""/>
          <p:cNvSpPr/>
          <p:nvPr/>
        </p:nvSpPr>
        <p:spPr>
          <a:xfrm>
            <a:off x="3114360" y="1113480"/>
            <a:ext cx="2811240" cy="56880"/>
          </a:xfrm>
          <a:custGeom>
            <a:avLst/>
            <a:gdLst/>
            <a:ahLst/>
            <a:rect l="0" t="0" r="r" b="b"/>
            <a:pathLst>
              <a:path w="7809" h="158">
                <a:moveTo>
                  <a:pt x="0" y="0"/>
                </a:moveTo>
                <a:lnTo>
                  <a:pt x="7809" y="0"/>
                </a:lnTo>
                <a:lnTo>
                  <a:pt x="7809" y="158"/>
                </a:lnTo>
                <a:lnTo>
                  <a:pt x="0" y="158"/>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973" name="" descr=""/>
          <p:cNvPicPr/>
          <p:nvPr/>
        </p:nvPicPr>
        <p:blipFill>
          <a:blip r:embed="rId11"/>
          <a:stretch/>
        </p:blipFill>
        <p:spPr>
          <a:xfrm>
            <a:off x="3199320" y="1247760"/>
            <a:ext cx="176040" cy="140760"/>
          </a:xfrm>
          <a:prstGeom prst="rect">
            <a:avLst/>
          </a:prstGeom>
          <a:noFill/>
          <a:ln w="0">
            <a:noFill/>
          </a:ln>
        </p:spPr>
      </p:pic>
      <p:sp>
        <p:nvSpPr>
          <p:cNvPr id="974" name=""/>
          <p:cNvSpPr txBox="1"/>
          <p:nvPr/>
        </p:nvSpPr>
        <p:spPr>
          <a:xfrm>
            <a:off x="569520" y="1992960"/>
            <a:ext cx="129996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歳未満の乳幼児はさらに加算</a:t>
            </a:r>
            <a:endParaRPr b="0" lang="en-US" sz="780" strike="noStrike" u="none">
              <a:solidFill>
                <a:srgbClr val="000000"/>
              </a:solidFill>
              <a:effectLst/>
              <a:uFillTx/>
              <a:latin typeface="Times New Roman"/>
            </a:endParaRPr>
          </a:p>
        </p:txBody>
      </p:sp>
      <p:sp>
        <p:nvSpPr>
          <p:cNvPr id="975" name=""/>
          <p:cNvSpPr txBox="1"/>
          <p:nvPr/>
        </p:nvSpPr>
        <p:spPr>
          <a:xfrm>
            <a:off x="3434760" y="1244880"/>
            <a:ext cx="226440" cy="142200"/>
          </a:xfrm>
          <a:prstGeom prst="rect">
            <a:avLst/>
          </a:prstGeom>
          <a:noFill/>
          <a:ln w="0">
            <a:noFill/>
          </a:ln>
        </p:spPr>
        <p:txBody>
          <a:bodyPr wrap="none" lIns="0" rIns="0" tIns="0" bIns="0" anchor="t">
            <a:spAutoFit/>
          </a:bodyPr>
          <a:p>
            <a:r>
              <a:rPr b="0" lang="zh-CN" sz="889" strike="noStrike" u="none">
                <a:solidFill>
                  <a:srgbClr val="047857"/>
                </a:solidFill>
                <a:effectLst/>
                <a:uFillTx/>
                <a:latin typeface="WenQuanYiZenHei"/>
                <a:ea typeface="WenQuanYiZenHei"/>
              </a:rPr>
              <a:t>医療</a:t>
            </a:r>
            <a:endParaRPr b="0" lang="en-US" sz="889" strike="noStrike" u="none">
              <a:solidFill>
                <a:srgbClr val="000000"/>
              </a:solidFill>
              <a:effectLst/>
              <a:uFillTx/>
              <a:latin typeface="Times New Roman"/>
            </a:endParaRPr>
          </a:p>
        </p:txBody>
      </p:sp>
      <p:sp>
        <p:nvSpPr>
          <p:cNvPr id="976" name=""/>
          <p:cNvSpPr txBox="1"/>
          <p:nvPr/>
        </p:nvSpPr>
        <p:spPr>
          <a:xfrm>
            <a:off x="3660480" y="1248840"/>
            <a:ext cx="181440" cy="131400"/>
          </a:xfrm>
          <a:prstGeom prst="rect">
            <a:avLst/>
          </a:prstGeom>
          <a:noFill/>
          <a:ln w="0">
            <a:noFill/>
          </a:ln>
        </p:spPr>
        <p:txBody>
          <a:bodyPr wrap="none" lIns="0" rIns="0" tIns="0" bIns="0" anchor="t">
            <a:spAutoFit/>
          </a:bodyPr>
          <a:p>
            <a:r>
              <a:rPr b="1" lang="en-US" sz="889" strike="noStrike" u="none">
                <a:solidFill>
                  <a:srgbClr val="047857"/>
                </a:solidFill>
                <a:effectLst/>
                <a:uFillTx/>
                <a:latin typeface="DejaVuSans"/>
                <a:ea typeface="DejaVuSans"/>
              </a:rPr>
              <a:t>DX</a:t>
            </a:r>
            <a:endParaRPr b="0" lang="en-US" sz="889" strike="noStrike" u="none">
              <a:solidFill>
                <a:srgbClr val="000000"/>
              </a:solidFill>
              <a:effectLst/>
              <a:uFillTx/>
              <a:latin typeface="Times New Roman"/>
            </a:endParaRPr>
          </a:p>
        </p:txBody>
      </p:sp>
      <p:pic>
        <p:nvPicPr>
          <p:cNvPr id="977" name="" descr=""/>
          <p:cNvPicPr/>
          <p:nvPr/>
        </p:nvPicPr>
        <p:blipFill>
          <a:blip r:embed="rId12"/>
          <a:stretch/>
        </p:blipFill>
        <p:spPr>
          <a:xfrm>
            <a:off x="3227400" y="1501920"/>
            <a:ext cx="56160" cy="84240"/>
          </a:xfrm>
          <a:prstGeom prst="rect">
            <a:avLst/>
          </a:prstGeom>
          <a:noFill/>
          <a:ln w="0">
            <a:noFill/>
          </a:ln>
        </p:spPr>
      </p:pic>
      <p:sp>
        <p:nvSpPr>
          <p:cNvPr id="978" name=""/>
          <p:cNvSpPr txBox="1"/>
          <p:nvPr/>
        </p:nvSpPr>
        <p:spPr>
          <a:xfrm>
            <a:off x="3841560" y="1244880"/>
            <a:ext cx="451800" cy="142200"/>
          </a:xfrm>
          <a:prstGeom prst="rect">
            <a:avLst/>
          </a:prstGeom>
          <a:noFill/>
          <a:ln w="0">
            <a:noFill/>
          </a:ln>
        </p:spPr>
        <p:txBody>
          <a:bodyPr wrap="none" lIns="0" rIns="0" tIns="0" bIns="0" anchor="t">
            <a:spAutoFit/>
          </a:bodyPr>
          <a:p>
            <a:r>
              <a:rPr b="0" lang="zh-CN" sz="889" strike="noStrike" u="none">
                <a:solidFill>
                  <a:srgbClr val="047857"/>
                </a:solidFill>
                <a:effectLst/>
                <a:uFillTx/>
                <a:latin typeface="WenQuanYiZenHei"/>
                <a:ea typeface="WenQuanYiZenHei"/>
              </a:rPr>
              <a:t>関連加算</a:t>
            </a:r>
            <a:endParaRPr b="0" lang="en-US" sz="889" strike="noStrike" u="none">
              <a:solidFill>
                <a:srgbClr val="000000"/>
              </a:solidFill>
              <a:effectLst/>
              <a:uFillTx/>
              <a:latin typeface="Times New Roman"/>
            </a:endParaRPr>
          </a:p>
        </p:txBody>
      </p:sp>
      <p:sp>
        <p:nvSpPr>
          <p:cNvPr id="979" name=""/>
          <p:cNvSpPr txBox="1"/>
          <p:nvPr/>
        </p:nvSpPr>
        <p:spPr>
          <a:xfrm>
            <a:off x="3314520" y="1484280"/>
            <a:ext cx="189216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医療情報・システム基盤整備体制充実加算</a:t>
            </a:r>
            <a:endParaRPr b="0" lang="en-US" sz="780" strike="noStrike" u="none">
              <a:solidFill>
                <a:srgbClr val="000000"/>
              </a:solidFill>
              <a:effectLst/>
              <a:uFillTx/>
              <a:latin typeface="Times New Roman"/>
            </a:endParaRPr>
          </a:p>
        </p:txBody>
      </p:sp>
      <p:sp>
        <p:nvSpPr>
          <p:cNvPr id="980" name=""/>
          <p:cNvSpPr txBox="1"/>
          <p:nvPr/>
        </p:nvSpPr>
        <p:spPr>
          <a:xfrm>
            <a:off x="3342960" y="1649160"/>
            <a:ext cx="84240" cy="99360"/>
          </a:xfrm>
          <a:prstGeom prst="rect">
            <a:avLst/>
          </a:prstGeom>
          <a:noFill/>
          <a:ln w="0">
            <a:noFill/>
          </a:ln>
        </p:spPr>
        <p:txBody>
          <a:bodyPr wrap="none" lIns="0" rIns="0" tIns="0" bIns="0" anchor="t">
            <a:spAutoFit/>
          </a:bodyPr>
          <a:p>
            <a:r>
              <a:rPr b="0" lang="en-US" sz="670" strike="noStrike" u="none">
                <a:solidFill>
                  <a:srgbClr val="4b5563"/>
                </a:solidFill>
                <a:effectLst/>
                <a:uFillTx/>
                <a:latin typeface="DejaVuSans"/>
                <a:ea typeface="DejaVuSans"/>
              </a:rPr>
              <a:t>- </a:t>
            </a:r>
            <a:endParaRPr b="0" lang="en-US" sz="670" strike="noStrike" u="none">
              <a:solidFill>
                <a:srgbClr val="000000"/>
              </a:solidFill>
              <a:effectLst/>
              <a:uFillTx/>
              <a:latin typeface="Times New Roman"/>
            </a:endParaRPr>
          </a:p>
        </p:txBody>
      </p:sp>
      <p:sp>
        <p:nvSpPr>
          <p:cNvPr id="981" name=""/>
          <p:cNvSpPr txBox="1"/>
          <p:nvPr/>
        </p:nvSpPr>
        <p:spPr>
          <a:xfrm>
            <a:off x="3400200" y="1646280"/>
            <a:ext cx="171360" cy="108720"/>
          </a:xfrm>
          <a:prstGeom prst="rect">
            <a:avLst/>
          </a:prstGeom>
          <a:noFill/>
          <a:ln w="0">
            <a:noFill/>
          </a:ln>
        </p:spPr>
        <p:txBody>
          <a:bodyPr wrap="none" lIns="0" rIns="0" tIns="0" bIns="0" anchor="t">
            <a:spAutoFit/>
          </a:bodyPr>
          <a:p>
            <a:r>
              <a:rPr b="0" lang="zh-CN" sz="670" strike="noStrike" u="none">
                <a:solidFill>
                  <a:srgbClr val="4b5563"/>
                </a:solidFill>
                <a:effectLst/>
                <a:uFillTx/>
                <a:latin typeface="WenQuanYiZenHei"/>
                <a:ea typeface="WenQuanYiZenHei"/>
              </a:rPr>
              <a:t>加算</a:t>
            </a:r>
            <a:endParaRPr b="0" lang="en-US" sz="670" strike="noStrike" u="none">
              <a:solidFill>
                <a:srgbClr val="000000"/>
              </a:solidFill>
              <a:effectLst/>
              <a:uFillTx/>
              <a:latin typeface="Times New Roman"/>
            </a:endParaRPr>
          </a:p>
        </p:txBody>
      </p:sp>
      <p:sp>
        <p:nvSpPr>
          <p:cNvPr id="982" name=""/>
          <p:cNvSpPr txBox="1"/>
          <p:nvPr/>
        </p:nvSpPr>
        <p:spPr>
          <a:xfrm>
            <a:off x="3569760" y="1649160"/>
            <a:ext cx="165240" cy="99360"/>
          </a:xfrm>
          <a:prstGeom prst="rect">
            <a:avLst/>
          </a:prstGeom>
          <a:noFill/>
          <a:ln w="0">
            <a:noFill/>
          </a:ln>
        </p:spPr>
        <p:txBody>
          <a:bodyPr wrap="none" lIns="0" rIns="0" tIns="0" bIns="0" anchor="t">
            <a:spAutoFit/>
          </a:bodyPr>
          <a:p>
            <a:r>
              <a:rPr b="0" lang="en-US" sz="670" strike="noStrike" u="none">
                <a:solidFill>
                  <a:srgbClr val="4b5563"/>
                </a:solidFill>
                <a:effectLst/>
                <a:uFillTx/>
                <a:latin typeface="DejaVuSans"/>
                <a:ea typeface="DejaVuSans"/>
              </a:rPr>
              <a:t>1: 3</a:t>
            </a:r>
            <a:endParaRPr b="0" lang="en-US" sz="670" strike="noStrike" u="none">
              <a:solidFill>
                <a:srgbClr val="000000"/>
              </a:solidFill>
              <a:effectLst/>
              <a:uFillTx/>
              <a:latin typeface="Times New Roman"/>
            </a:endParaRPr>
          </a:p>
        </p:txBody>
      </p:sp>
      <p:sp>
        <p:nvSpPr>
          <p:cNvPr id="983" name=""/>
          <p:cNvSpPr txBox="1"/>
          <p:nvPr/>
        </p:nvSpPr>
        <p:spPr>
          <a:xfrm>
            <a:off x="3733200" y="1646280"/>
            <a:ext cx="256680" cy="108720"/>
          </a:xfrm>
          <a:prstGeom prst="rect">
            <a:avLst/>
          </a:prstGeom>
          <a:noFill/>
          <a:ln w="0">
            <a:noFill/>
          </a:ln>
        </p:spPr>
        <p:txBody>
          <a:bodyPr wrap="none" lIns="0" rIns="0" tIns="0" bIns="0" anchor="t">
            <a:spAutoFit/>
          </a:bodyPr>
          <a:p>
            <a:r>
              <a:rPr b="0" lang="zh-CN" sz="670" strike="noStrike" u="none">
                <a:solidFill>
                  <a:srgbClr val="4b5563"/>
                </a:solidFill>
                <a:effectLst/>
                <a:uFillTx/>
                <a:latin typeface="WenQuanYiZenHei"/>
                <a:ea typeface="WenQuanYiZenHei"/>
              </a:rPr>
              <a:t>点（月</a:t>
            </a:r>
            <a:endParaRPr b="0" lang="en-US" sz="670" strike="noStrike" u="none">
              <a:solidFill>
                <a:srgbClr val="000000"/>
              </a:solidFill>
              <a:effectLst/>
              <a:uFillTx/>
              <a:latin typeface="Times New Roman"/>
            </a:endParaRPr>
          </a:p>
        </p:txBody>
      </p:sp>
      <p:sp>
        <p:nvSpPr>
          <p:cNvPr id="984" name=""/>
          <p:cNvSpPr txBox="1"/>
          <p:nvPr/>
        </p:nvSpPr>
        <p:spPr>
          <a:xfrm>
            <a:off x="3987360" y="1649160"/>
            <a:ext cx="84240" cy="99360"/>
          </a:xfrm>
          <a:prstGeom prst="rect">
            <a:avLst/>
          </a:prstGeom>
          <a:noFill/>
          <a:ln w="0">
            <a:noFill/>
          </a:ln>
        </p:spPr>
        <p:txBody>
          <a:bodyPr wrap="none" lIns="0" rIns="0" tIns="0" bIns="0" anchor="t">
            <a:spAutoFit/>
          </a:bodyPr>
          <a:p>
            <a:r>
              <a:rPr b="0" lang="en-US" sz="670" strike="noStrike" u="none">
                <a:solidFill>
                  <a:srgbClr val="4b5563"/>
                </a:solidFill>
                <a:effectLst/>
                <a:uFillTx/>
                <a:latin typeface="DejaVuSans"/>
                <a:ea typeface="DejaVuSans"/>
              </a:rPr>
              <a:t>1</a:t>
            </a:r>
            <a:endParaRPr b="0" lang="en-US" sz="670" strike="noStrike" u="none">
              <a:solidFill>
                <a:srgbClr val="000000"/>
              </a:solidFill>
              <a:effectLst/>
              <a:uFillTx/>
              <a:latin typeface="Times New Roman"/>
            </a:endParaRPr>
          </a:p>
        </p:txBody>
      </p:sp>
      <p:sp>
        <p:nvSpPr>
          <p:cNvPr id="985" name=""/>
          <p:cNvSpPr txBox="1"/>
          <p:nvPr/>
        </p:nvSpPr>
        <p:spPr>
          <a:xfrm>
            <a:off x="4041360" y="1646280"/>
            <a:ext cx="171360" cy="108720"/>
          </a:xfrm>
          <a:prstGeom prst="rect">
            <a:avLst/>
          </a:prstGeom>
          <a:noFill/>
          <a:ln w="0">
            <a:noFill/>
          </a:ln>
        </p:spPr>
        <p:txBody>
          <a:bodyPr wrap="none" lIns="0" rIns="0" tIns="0" bIns="0" anchor="t">
            <a:spAutoFit/>
          </a:bodyPr>
          <a:p>
            <a:r>
              <a:rPr b="0" lang="zh-CN" sz="670" strike="noStrike" u="none">
                <a:solidFill>
                  <a:srgbClr val="4b5563"/>
                </a:solidFill>
                <a:effectLst/>
                <a:uFillTx/>
                <a:latin typeface="WenQuanYiZenHei"/>
                <a:ea typeface="WenQuanYiZenHei"/>
              </a:rPr>
              <a:t>回）</a:t>
            </a:r>
            <a:endParaRPr b="0" lang="en-US" sz="670" strike="noStrike" u="none">
              <a:solidFill>
                <a:srgbClr val="000000"/>
              </a:solidFill>
              <a:effectLst/>
              <a:uFillTx/>
              <a:latin typeface="Times New Roman"/>
            </a:endParaRPr>
          </a:p>
        </p:txBody>
      </p:sp>
      <p:sp>
        <p:nvSpPr>
          <p:cNvPr id="986" name=""/>
          <p:cNvSpPr txBox="1"/>
          <p:nvPr/>
        </p:nvSpPr>
        <p:spPr>
          <a:xfrm>
            <a:off x="3342960" y="1790640"/>
            <a:ext cx="84240" cy="99360"/>
          </a:xfrm>
          <a:prstGeom prst="rect">
            <a:avLst/>
          </a:prstGeom>
          <a:noFill/>
          <a:ln w="0">
            <a:noFill/>
          </a:ln>
        </p:spPr>
        <p:txBody>
          <a:bodyPr wrap="none" lIns="0" rIns="0" tIns="0" bIns="0" anchor="t">
            <a:spAutoFit/>
          </a:bodyPr>
          <a:p>
            <a:r>
              <a:rPr b="0" lang="en-US" sz="670" strike="noStrike" u="none">
                <a:solidFill>
                  <a:srgbClr val="4b5563"/>
                </a:solidFill>
                <a:effectLst/>
                <a:uFillTx/>
                <a:latin typeface="DejaVuSans"/>
                <a:ea typeface="DejaVuSans"/>
              </a:rPr>
              <a:t>- </a:t>
            </a:r>
            <a:endParaRPr b="0" lang="en-US" sz="670" strike="noStrike" u="none">
              <a:solidFill>
                <a:srgbClr val="000000"/>
              </a:solidFill>
              <a:effectLst/>
              <a:uFillTx/>
              <a:latin typeface="Times New Roman"/>
            </a:endParaRPr>
          </a:p>
        </p:txBody>
      </p:sp>
      <p:sp>
        <p:nvSpPr>
          <p:cNvPr id="987" name=""/>
          <p:cNvSpPr txBox="1"/>
          <p:nvPr/>
        </p:nvSpPr>
        <p:spPr>
          <a:xfrm>
            <a:off x="3400200" y="1787760"/>
            <a:ext cx="171360" cy="108720"/>
          </a:xfrm>
          <a:prstGeom prst="rect">
            <a:avLst/>
          </a:prstGeom>
          <a:noFill/>
          <a:ln w="0">
            <a:noFill/>
          </a:ln>
        </p:spPr>
        <p:txBody>
          <a:bodyPr wrap="none" lIns="0" rIns="0" tIns="0" bIns="0" anchor="t">
            <a:spAutoFit/>
          </a:bodyPr>
          <a:p>
            <a:r>
              <a:rPr b="0" lang="zh-CN" sz="670" strike="noStrike" u="none">
                <a:solidFill>
                  <a:srgbClr val="4b5563"/>
                </a:solidFill>
                <a:effectLst/>
                <a:uFillTx/>
                <a:latin typeface="WenQuanYiZenHei"/>
                <a:ea typeface="WenQuanYiZenHei"/>
              </a:rPr>
              <a:t>加算</a:t>
            </a:r>
            <a:endParaRPr b="0" lang="en-US" sz="670" strike="noStrike" u="none">
              <a:solidFill>
                <a:srgbClr val="000000"/>
              </a:solidFill>
              <a:effectLst/>
              <a:uFillTx/>
              <a:latin typeface="Times New Roman"/>
            </a:endParaRPr>
          </a:p>
        </p:txBody>
      </p:sp>
      <p:sp>
        <p:nvSpPr>
          <p:cNvPr id="988" name=""/>
          <p:cNvSpPr txBox="1"/>
          <p:nvPr/>
        </p:nvSpPr>
        <p:spPr>
          <a:xfrm>
            <a:off x="3569760" y="1790640"/>
            <a:ext cx="165240" cy="99360"/>
          </a:xfrm>
          <a:prstGeom prst="rect">
            <a:avLst/>
          </a:prstGeom>
          <a:noFill/>
          <a:ln w="0">
            <a:noFill/>
          </a:ln>
        </p:spPr>
        <p:txBody>
          <a:bodyPr wrap="none" lIns="0" rIns="0" tIns="0" bIns="0" anchor="t">
            <a:spAutoFit/>
          </a:bodyPr>
          <a:p>
            <a:r>
              <a:rPr b="0" lang="en-US" sz="670" strike="noStrike" u="none">
                <a:solidFill>
                  <a:srgbClr val="4b5563"/>
                </a:solidFill>
                <a:effectLst/>
                <a:uFillTx/>
                <a:latin typeface="DejaVuSans"/>
                <a:ea typeface="DejaVuSans"/>
              </a:rPr>
              <a:t>2: 1</a:t>
            </a:r>
            <a:endParaRPr b="0" lang="en-US" sz="670" strike="noStrike" u="none">
              <a:solidFill>
                <a:srgbClr val="000000"/>
              </a:solidFill>
              <a:effectLst/>
              <a:uFillTx/>
              <a:latin typeface="Times New Roman"/>
            </a:endParaRPr>
          </a:p>
        </p:txBody>
      </p:sp>
      <p:sp>
        <p:nvSpPr>
          <p:cNvPr id="989" name=""/>
          <p:cNvSpPr txBox="1"/>
          <p:nvPr/>
        </p:nvSpPr>
        <p:spPr>
          <a:xfrm>
            <a:off x="3733200" y="1787760"/>
            <a:ext cx="256680" cy="108720"/>
          </a:xfrm>
          <a:prstGeom prst="rect">
            <a:avLst/>
          </a:prstGeom>
          <a:noFill/>
          <a:ln w="0">
            <a:noFill/>
          </a:ln>
        </p:spPr>
        <p:txBody>
          <a:bodyPr wrap="none" lIns="0" rIns="0" tIns="0" bIns="0" anchor="t">
            <a:spAutoFit/>
          </a:bodyPr>
          <a:p>
            <a:r>
              <a:rPr b="0" lang="zh-CN" sz="670" strike="noStrike" u="none">
                <a:solidFill>
                  <a:srgbClr val="4b5563"/>
                </a:solidFill>
                <a:effectLst/>
                <a:uFillTx/>
                <a:latin typeface="WenQuanYiZenHei"/>
                <a:ea typeface="WenQuanYiZenHei"/>
              </a:rPr>
              <a:t>点（月</a:t>
            </a:r>
            <a:endParaRPr b="0" lang="en-US" sz="670" strike="noStrike" u="none">
              <a:solidFill>
                <a:srgbClr val="000000"/>
              </a:solidFill>
              <a:effectLst/>
              <a:uFillTx/>
              <a:latin typeface="Times New Roman"/>
            </a:endParaRPr>
          </a:p>
        </p:txBody>
      </p:sp>
      <p:sp>
        <p:nvSpPr>
          <p:cNvPr id="990" name=""/>
          <p:cNvSpPr txBox="1"/>
          <p:nvPr/>
        </p:nvSpPr>
        <p:spPr>
          <a:xfrm>
            <a:off x="3987360" y="1790640"/>
            <a:ext cx="84240" cy="99360"/>
          </a:xfrm>
          <a:prstGeom prst="rect">
            <a:avLst/>
          </a:prstGeom>
          <a:noFill/>
          <a:ln w="0">
            <a:noFill/>
          </a:ln>
        </p:spPr>
        <p:txBody>
          <a:bodyPr wrap="none" lIns="0" rIns="0" tIns="0" bIns="0" anchor="t">
            <a:spAutoFit/>
          </a:bodyPr>
          <a:p>
            <a:r>
              <a:rPr b="0" lang="en-US" sz="670" strike="noStrike" u="none">
                <a:solidFill>
                  <a:srgbClr val="4b5563"/>
                </a:solidFill>
                <a:effectLst/>
                <a:uFillTx/>
                <a:latin typeface="DejaVuSans"/>
                <a:ea typeface="DejaVuSans"/>
              </a:rPr>
              <a:t>1</a:t>
            </a:r>
            <a:endParaRPr b="0" lang="en-US" sz="670" strike="noStrike" u="none">
              <a:solidFill>
                <a:srgbClr val="000000"/>
              </a:solidFill>
              <a:effectLst/>
              <a:uFillTx/>
              <a:latin typeface="Times New Roman"/>
            </a:endParaRPr>
          </a:p>
        </p:txBody>
      </p:sp>
      <p:pic>
        <p:nvPicPr>
          <p:cNvPr id="991" name="" descr=""/>
          <p:cNvPicPr/>
          <p:nvPr/>
        </p:nvPicPr>
        <p:blipFill>
          <a:blip r:embed="rId13"/>
          <a:stretch/>
        </p:blipFill>
        <p:spPr>
          <a:xfrm>
            <a:off x="3227400" y="1954080"/>
            <a:ext cx="56160" cy="84240"/>
          </a:xfrm>
          <a:prstGeom prst="rect">
            <a:avLst/>
          </a:prstGeom>
          <a:noFill/>
          <a:ln w="0">
            <a:noFill/>
          </a:ln>
        </p:spPr>
      </p:pic>
      <p:sp>
        <p:nvSpPr>
          <p:cNvPr id="992" name=""/>
          <p:cNvSpPr txBox="1"/>
          <p:nvPr/>
        </p:nvSpPr>
        <p:spPr>
          <a:xfrm>
            <a:off x="4041360" y="1787760"/>
            <a:ext cx="171360" cy="108720"/>
          </a:xfrm>
          <a:prstGeom prst="rect">
            <a:avLst/>
          </a:prstGeom>
          <a:noFill/>
          <a:ln w="0">
            <a:noFill/>
          </a:ln>
        </p:spPr>
        <p:txBody>
          <a:bodyPr wrap="none" lIns="0" rIns="0" tIns="0" bIns="0" anchor="t">
            <a:spAutoFit/>
          </a:bodyPr>
          <a:p>
            <a:r>
              <a:rPr b="0" lang="zh-CN" sz="670" strike="noStrike" u="none">
                <a:solidFill>
                  <a:srgbClr val="4b5563"/>
                </a:solidFill>
                <a:effectLst/>
                <a:uFillTx/>
                <a:latin typeface="WenQuanYiZenHei"/>
                <a:ea typeface="WenQuanYiZenHei"/>
              </a:rPr>
              <a:t>回）</a:t>
            </a:r>
            <a:endParaRPr b="0" lang="en-US" sz="670" strike="noStrike" u="none">
              <a:solidFill>
                <a:srgbClr val="000000"/>
              </a:solidFill>
              <a:effectLst/>
              <a:uFillTx/>
              <a:latin typeface="Times New Roman"/>
            </a:endParaRPr>
          </a:p>
        </p:txBody>
      </p:sp>
      <p:sp>
        <p:nvSpPr>
          <p:cNvPr id="993" name=""/>
          <p:cNvSpPr txBox="1"/>
          <p:nvPr/>
        </p:nvSpPr>
        <p:spPr>
          <a:xfrm>
            <a:off x="3314520" y="1936440"/>
            <a:ext cx="19872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医療</a:t>
            </a:r>
            <a:endParaRPr b="0" lang="en-US" sz="780" strike="noStrike" u="none">
              <a:solidFill>
                <a:srgbClr val="000000"/>
              </a:solidFill>
              <a:effectLst/>
              <a:uFillTx/>
              <a:latin typeface="Times New Roman"/>
            </a:endParaRPr>
          </a:p>
        </p:txBody>
      </p:sp>
      <p:sp>
        <p:nvSpPr>
          <p:cNvPr id="994" name=""/>
          <p:cNvSpPr txBox="1"/>
          <p:nvPr/>
        </p:nvSpPr>
        <p:spPr>
          <a:xfrm>
            <a:off x="3512160" y="1940040"/>
            <a:ext cx="14472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DX</a:t>
            </a:r>
            <a:endParaRPr b="0" lang="en-US" sz="780" strike="noStrike" u="none">
              <a:solidFill>
                <a:srgbClr val="000000"/>
              </a:solidFill>
              <a:effectLst/>
              <a:uFillTx/>
              <a:latin typeface="Times New Roman"/>
            </a:endParaRPr>
          </a:p>
        </p:txBody>
      </p:sp>
      <p:sp>
        <p:nvSpPr>
          <p:cNvPr id="995" name=""/>
          <p:cNvSpPr txBox="1"/>
          <p:nvPr/>
        </p:nvSpPr>
        <p:spPr>
          <a:xfrm>
            <a:off x="3656160" y="1936440"/>
            <a:ext cx="79308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推進体制整備加算</a:t>
            </a:r>
            <a:endParaRPr b="0" lang="en-US" sz="780" strike="noStrike" u="none">
              <a:solidFill>
                <a:srgbClr val="000000"/>
              </a:solidFill>
              <a:effectLst/>
              <a:uFillTx/>
              <a:latin typeface="Times New Roman"/>
            </a:endParaRPr>
          </a:p>
        </p:txBody>
      </p:sp>
      <p:sp>
        <p:nvSpPr>
          <p:cNvPr id="996" name=""/>
          <p:cNvSpPr txBox="1"/>
          <p:nvPr/>
        </p:nvSpPr>
        <p:spPr>
          <a:xfrm>
            <a:off x="4447080" y="1940040"/>
            <a:ext cx="9864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 </a:t>
            </a:r>
            <a:endParaRPr b="0" lang="en-US" sz="780" strike="noStrike" u="none">
              <a:solidFill>
                <a:srgbClr val="000000"/>
              </a:solidFill>
              <a:effectLst/>
              <a:uFillTx/>
              <a:latin typeface="Times New Roman"/>
            </a:endParaRPr>
          </a:p>
        </p:txBody>
      </p:sp>
      <p:sp>
        <p:nvSpPr>
          <p:cNvPr id="997" name=""/>
          <p:cNvSpPr txBox="1"/>
          <p:nvPr/>
        </p:nvSpPr>
        <p:spPr>
          <a:xfrm>
            <a:off x="4511880" y="1936440"/>
            <a:ext cx="29808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初診時</a:t>
            </a:r>
            <a:endParaRPr b="0" lang="en-US" sz="780" strike="noStrike" u="none">
              <a:solidFill>
                <a:srgbClr val="000000"/>
              </a:solidFill>
              <a:effectLst/>
              <a:uFillTx/>
              <a:latin typeface="Times New Roman"/>
            </a:endParaRPr>
          </a:p>
        </p:txBody>
      </p:sp>
      <p:sp>
        <p:nvSpPr>
          <p:cNvPr id="998" name=""/>
          <p:cNvSpPr txBox="1"/>
          <p:nvPr/>
        </p:nvSpPr>
        <p:spPr>
          <a:xfrm>
            <a:off x="4808520" y="1940040"/>
            <a:ext cx="9864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8</a:t>
            </a:r>
            <a:endParaRPr b="0" lang="en-US" sz="780" strike="noStrike" u="none">
              <a:solidFill>
                <a:srgbClr val="000000"/>
              </a:solidFill>
              <a:effectLst/>
              <a:uFillTx/>
              <a:latin typeface="Times New Roman"/>
            </a:endParaRPr>
          </a:p>
        </p:txBody>
      </p:sp>
      <p:sp>
        <p:nvSpPr>
          <p:cNvPr id="999" name=""/>
          <p:cNvSpPr/>
          <p:nvPr/>
        </p:nvSpPr>
        <p:spPr>
          <a:xfrm>
            <a:off x="6009840" y="1123920"/>
            <a:ext cx="2804040" cy="1084320"/>
          </a:xfrm>
          <a:custGeom>
            <a:avLst/>
            <a:gdLst/>
            <a:ahLst/>
            <a:rect l="0" t="0" r="r" b="b"/>
            <a:pathLst>
              <a:path w="7789" h="3012">
                <a:moveTo>
                  <a:pt x="0" y="2855"/>
                </a:moveTo>
                <a:lnTo>
                  <a:pt x="0" y="128"/>
                </a:lnTo>
                <a:cubicBezTo>
                  <a:pt x="0" y="119"/>
                  <a:pt x="1" y="111"/>
                  <a:pt x="3" y="103"/>
                </a:cubicBezTo>
                <a:cubicBezTo>
                  <a:pt x="5" y="94"/>
                  <a:pt x="8" y="87"/>
                  <a:pt x="12" y="79"/>
                </a:cubicBezTo>
                <a:cubicBezTo>
                  <a:pt x="16" y="71"/>
                  <a:pt x="21" y="64"/>
                  <a:pt x="27" y="57"/>
                </a:cubicBezTo>
                <a:cubicBezTo>
                  <a:pt x="32" y="50"/>
                  <a:pt x="39" y="43"/>
                  <a:pt x="46" y="37"/>
                </a:cubicBezTo>
                <a:cubicBezTo>
                  <a:pt x="53" y="31"/>
                  <a:pt x="61" y="26"/>
                  <a:pt x="70" y="22"/>
                </a:cubicBezTo>
                <a:cubicBezTo>
                  <a:pt x="78" y="17"/>
                  <a:pt x="87" y="13"/>
                  <a:pt x="97" y="10"/>
                </a:cubicBezTo>
                <a:cubicBezTo>
                  <a:pt x="107" y="7"/>
                  <a:pt x="116" y="4"/>
                  <a:pt x="126" y="3"/>
                </a:cubicBezTo>
                <a:cubicBezTo>
                  <a:pt x="137" y="1"/>
                  <a:pt x="147" y="0"/>
                  <a:pt x="157" y="0"/>
                </a:cubicBezTo>
                <a:lnTo>
                  <a:pt x="7632" y="0"/>
                </a:lnTo>
                <a:cubicBezTo>
                  <a:pt x="7643" y="0"/>
                  <a:pt x="7653" y="1"/>
                  <a:pt x="7663" y="3"/>
                </a:cubicBezTo>
                <a:cubicBezTo>
                  <a:pt x="7673" y="4"/>
                  <a:pt x="7683" y="7"/>
                  <a:pt x="7692" y="10"/>
                </a:cubicBezTo>
                <a:cubicBezTo>
                  <a:pt x="7702" y="13"/>
                  <a:pt x="7711" y="17"/>
                  <a:pt x="7720" y="22"/>
                </a:cubicBezTo>
                <a:cubicBezTo>
                  <a:pt x="7728" y="26"/>
                  <a:pt x="7736" y="31"/>
                  <a:pt x="7743" y="37"/>
                </a:cubicBezTo>
                <a:cubicBezTo>
                  <a:pt x="7751" y="43"/>
                  <a:pt x="7757" y="50"/>
                  <a:pt x="7763" y="57"/>
                </a:cubicBezTo>
                <a:cubicBezTo>
                  <a:pt x="7769" y="64"/>
                  <a:pt x="7773" y="71"/>
                  <a:pt x="7777" y="79"/>
                </a:cubicBezTo>
                <a:cubicBezTo>
                  <a:pt x="7781" y="87"/>
                  <a:pt x="7784" y="94"/>
                  <a:pt x="7786" y="103"/>
                </a:cubicBezTo>
                <a:cubicBezTo>
                  <a:pt x="7788" y="111"/>
                  <a:pt x="7789" y="119"/>
                  <a:pt x="7789" y="128"/>
                </a:cubicBezTo>
                <a:lnTo>
                  <a:pt x="7789" y="2855"/>
                </a:lnTo>
                <a:cubicBezTo>
                  <a:pt x="7789" y="2866"/>
                  <a:pt x="7788" y="2876"/>
                  <a:pt x="7786" y="2886"/>
                </a:cubicBezTo>
                <a:cubicBezTo>
                  <a:pt x="7784" y="2896"/>
                  <a:pt x="7781" y="2906"/>
                  <a:pt x="7777" y="2915"/>
                </a:cubicBezTo>
                <a:cubicBezTo>
                  <a:pt x="7773" y="2925"/>
                  <a:pt x="7769" y="2934"/>
                  <a:pt x="7763" y="2943"/>
                </a:cubicBezTo>
                <a:cubicBezTo>
                  <a:pt x="7757" y="2951"/>
                  <a:pt x="7751" y="2959"/>
                  <a:pt x="7743" y="2966"/>
                </a:cubicBezTo>
                <a:cubicBezTo>
                  <a:pt x="7736" y="2974"/>
                  <a:pt x="7728" y="2980"/>
                  <a:pt x="7720" y="2986"/>
                </a:cubicBezTo>
                <a:cubicBezTo>
                  <a:pt x="7711" y="2992"/>
                  <a:pt x="7702" y="2996"/>
                  <a:pt x="7692" y="3000"/>
                </a:cubicBezTo>
                <a:cubicBezTo>
                  <a:pt x="7683" y="3004"/>
                  <a:pt x="7673" y="3007"/>
                  <a:pt x="7663" y="3009"/>
                </a:cubicBezTo>
                <a:cubicBezTo>
                  <a:pt x="7653" y="3011"/>
                  <a:pt x="7643" y="3012"/>
                  <a:pt x="7632" y="3012"/>
                </a:cubicBezTo>
                <a:lnTo>
                  <a:pt x="157" y="3012"/>
                </a:lnTo>
                <a:cubicBezTo>
                  <a:pt x="147" y="3012"/>
                  <a:pt x="137" y="3011"/>
                  <a:pt x="126" y="3009"/>
                </a:cubicBezTo>
                <a:cubicBezTo>
                  <a:pt x="116" y="3007"/>
                  <a:pt x="107" y="3004"/>
                  <a:pt x="97" y="3000"/>
                </a:cubicBezTo>
                <a:cubicBezTo>
                  <a:pt x="87" y="2996"/>
                  <a:pt x="78" y="2992"/>
                  <a:pt x="70" y="2986"/>
                </a:cubicBezTo>
                <a:cubicBezTo>
                  <a:pt x="61" y="2980"/>
                  <a:pt x="53" y="2974"/>
                  <a:pt x="46" y="2966"/>
                </a:cubicBezTo>
                <a:cubicBezTo>
                  <a:pt x="39" y="2959"/>
                  <a:pt x="32" y="2951"/>
                  <a:pt x="27" y="2943"/>
                </a:cubicBezTo>
                <a:cubicBezTo>
                  <a:pt x="21" y="2934"/>
                  <a:pt x="16" y="2925"/>
                  <a:pt x="12" y="2915"/>
                </a:cubicBezTo>
                <a:cubicBezTo>
                  <a:pt x="8" y="2906"/>
                  <a:pt x="5" y="2896"/>
                  <a:pt x="3" y="2886"/>
                </a:cubicBezTo>
                <a:cubicBezTo>
                  <a:pt x="1" y="2876"/>
                  <a:pt x="0" y="2866"/>
                  <a:pt x="0" y="2855"/>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000" name=""/>
          <p:cNvSpPr/>
          <p:nvPr/>
        </p:nvSpPr>
        <p:spPr>
          <a:xfrm>
            <a:off x="6009840" y="1113480"/>
            <a:ext cx="2804040" cy="56880"/>
          </a:xfrm>
          <a:custGeom>
            <a:avLst/>
            <a:gdLst/>
            <a:ahLst/>
            <a:rect l="0" t="0" r="r" b="b"/>
            <a:pathLst>
              <a:path w="7789" h="158">
                <a:moveTo>
                  <a:pt x="0" y="0"/>
                </a:moveTo>
                <a:lnTo>
                  <a:pt x="7789" y="0"/>
                </a:lnTo>
                <a:lnTo>
                  <a:pt x="7789" y="158"/>
                </a:lnTo>
                <a:lnTo>
                  <a:pt x="0" y="158"/>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001" name="" descr=""/>
          <p:cNvPicPr/>
          <p:nvPr/>
        </p:nvPicPr>
        <p:blipFill>
          <a:blip r:embed="rId14"/>
          <a:stretch/>
        </p:blipFill>
        <p:spPr>
          <a:xfrm>
            <a:off x="6094800" y="1247760"/>
            <a:ext cx="140760" cy="140760"/>
          </a:xfrm>
          <a:prstGeom prst="rect">
            <a:avLst/>
          </a:prstGeom>
          <a:noFill/>
          <a:ln w="0">
            <a:noFill/>
          </a:ln>
        </p:spPr>
      </p:pic>
      <p:sp>
        <p:nvSpPr>
          <p:cNvPr id="1002" name=""/>
          <p:cNvSpPr txBox="1"/>
          <p:nvPr/>
        </p:nvSpPr>
        <p:spPr>
          <a:xfrm>
            <a:off x="4871520" y="1936440"/>
            <a:ext cx="9972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点</a:t>
            </a:r>
            <a:endParaRPr b="0" lang="en-US" sz="780" strike="noStrike" u="none">
              <a:solidFill>
                <a:srgbClr val="000000"/>
              </a:solidFill>
              <a:effectLst/>
              <a:uFillTx/>
              <a:latin typeface="Times New Roman"/>
            </a:endParaRPr>
          </a:p>
        </p:txBody>
      </p:sp>
      <p:pic>
        <p:nvPicPr>
          <p:cNvPr id="1003" name="" descr=""/>
          <p:cNvPicPr/>
          <p:nvPr/>
        </p:nvPicPr>
        <p:blipFill>
          <a:blip r:embed="rId15"/>
          <a:stretch/>
        </p:blipFill>
        <p:spPr>
          <a:xfrm>
            <a:off x="6123240" y="1501920"/>
            <a:ext cx="56160" cy="84240"/>
          </a:xfrm>
          <a:prstGeom prst="rect">
            <a:avLst/>
          </a:prstGeom>
          <a:noFill/>
          <a:ln w="0">
            <a:noFill/>
          </a:ln>
        </p:spPr>
      </p:pic>
      <p:sp>
        <p:nvSpPr>
          <p:cNvPr id="1004" name=""/>
          <p:cNvSpPr txBox="1"/>
          <p:nvPr/>
        </p:nvSpPr>
        <p:spPr>
          <a:xfrm>
            <a:off x="6290280" y="1244880"/>
            <a:ext cx="902880" cy="142200"/>
          </a:xfrm>
          <a:prstGeom prst="rect">
            <a:avLst/>
          </a:prstGeom>
          <a:noFill/>
          <a:ln w="0">
            <a:noFill/>
          </a:ln>
        </p:spPr>
        <p:txBody>
          <a:bodyPr wrap="none" lIns="0" rIns="0" tIns="0" bIns="0" anchor="t">
            <a:spAutoFit/>
          </a:bodyPr>
          <a:p>
            <a:r>
              <a:rPr b="0" lang="zh-CN" sz="889" strike="noStrike" u="none">
                <a:solidFill>
                  <a:srgbClr val="000000"/>
                </a:solidFill>
                <a:effectLst/>
                <a:uFillTx/>
                <a:latin typeface="WenQuanYiZenHei"/>
                <a:ea typeface="WenQuanYiZenHei"/>
              </a:rPr>
              <a:t>感染対策関連加算</a:t>
            </a:r>
            <a:endParaRPr b="0" lang="en-US" sz="889" strike="noStrike" u="none">
              <a:solidFill>
                <a:srgbClr val="000000"/>
              </a:solidFill>
              <a:effectLst/>
              <a:uFillTx/>
              <a:latin typeface="Times New Roman"/>
            </a:endParaRPr>
          </a:p>
        </p:txBody>
      </p:sp>
      <p:sp>
        <p:nvSpPr>
          <p:cNvPr id="1005" name=""/>
          <p:cNvSpPr txBox="1"/>
          <p:nvPr/>
        </p:nvSpPr>
        <p:spPr>
          <a:xfrm>
            <a:off x="6205320" y="1484280"/>
            <a:ext cx="99144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外来感染対策向上加算</a:t>
            </a:r>
            <a:endParaRPr b="0" lang="en-US" sz="780" strike="noStrike" u="none">
              <a:solidFill>
                <a:srgbClr val="000000"/>
              </a:solidFill>
              <a:effectLst/>
              <a:uFillTx/>
              <a:latin typeface="Times New Roman"/>
            </a:endParaRPr>
          </a:p>
        </p:txBody>
      </p:sp>
      <p:sp>
        <p:nvSpPr>
          <p:cNvPr id="1006" name=""/>
          <p:cNvSpPr txBox="1"/>
          <p:nvPr/>
        </p:nvSpPr>
        <p:spPr>
          <a:xfrm>
            <a:off x="7194240" y="1487880"/>
            <a:ext cx="12852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 6</a:t>
            </a:r>
            <a:endParaRPr b="0" lang="en-US" sz="780" strike="noStrike" u="none">
              <a:solidFill>
                <a:srgbClr val="000000"/>
              </a:solidFill>
              <a:effectLst/>
              <a:uFillTx/>
              <a:latin typeface="Times New Roman"/>
            </a:endParaRPr>
          </a:p>
        </p:txBody>
      </p:sp>
      <p:sp>
        <p:nvSpPr>
          <p:cNvPr id="1007" name=""/>
          <p:cNvSpPr txBox="1"/>
          <p:nvPr/>
        </p:nvSpPr>
        <p:spPr>
          <a:xfrm>
            <a:off x="7321680" y="1484280"/>
            <a:ext cx="29808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点（月</a:t>
            </a:r>
            <a:endParaRPr b="0" lang="en-US" sz="780" strike="noStrike" u="none">
              <a:solidFill>
                <a:srgbClr val="000000"/>
              </a:solidFill>
              <a:effectLst/>
              <a:uFillTx/>
              <a:latin typeface="Times New Roman"/>
            </a:endParaRPr>
          </a:p>
        </p:txBody>
      </p:sp>
      <p:sp>
        <p:nvSpPr>
          <p:cNvPr id="1008" name=""/>
          <p:cNvSpPr txBox="1"/>
          <p:nvPr/>
        </p:nvSpPr>
        <p:spPr>
          <a:xfrm>
            <a:off x="7618320" y="1487880"/>
            <a:ext cx="9864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1</a:t>
            </a:r>
            <a:endParaRPr b="0" lang="en-US" sz="780" strike="noStrike" u="none">
              <a:solidFill>
                <a:srgbClr val="000000"/>
              </a:solidFill>
              <a:effectLst/>
              <a:uFillTx/>
              <a:latin typeface="Times New Roman"/>
            </a:endParaRPr>
          </a:p>
        </p:txBody>
      </p:sp>
      <p:sp>
        <p:nvSpPr>
          <p:cNvPr id="1009" name=""/>
          <p:cNvSpPr txBox="1"/>
          <p:nvPr/>
        </p:nvSpPr>
        <p:spPr>
          <a:xfrm>
            <a:off x="7681320" y="1484280"/>
            <a:ext cx="19872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回）</a:t>
            </a:r>
            <a:endParaRPr b="0" lang="en-US" sz="780" strike="noStrike" u="none">
              <a:solidFill>
                <a:srgbClr val="000000"/>
              </a:solidFill>
              <a:effectLst/>
              <a:uFillTx/>
              <a:latin typeface="Times New Roman"/>
            </a:endParaRPr>
          </a:p>
        </p:txBody>
      </p:sp>
      <p:sp>
        <p:nvSpPr>
          <p:cNvPr id="1010" name=""/>
          <p:cNvSpPr txBox="1"/>
          <p:nvPr/>
        </p:nvSpPr>
        <p:spPr>
          <a:xfrm>
            <a:off x="6233760" y="1649160"/>
            <a:ext cx="84240" cy="99360"/>
          </a:xfrm>
          <a:prstGeom prst="rect">
            <a:avLst/>
          </a:prstGeom>
          <a:noFill/>
          <a:ln w="0">
            <a:noFill/>
          </a:ln>
        </p:spPr>
        <p:txBody>
          <a:bodyPr wrap="none" lIns="0" rIns="0" tIns="0" bIns="0" anchor="t">
            <a:spAutoFit/>
          </a:bodyPr>
          <a:p>
            <a:r>
              <a:rPr b="0" lang="en-US" sz="670" strike="noStrike" u="none">
                <a:solidFill>
                  <a:srgbClr val="4b5563"/>
                </a:solidFill>
                <a:effectLst/>
                <a:uFillTx/>
                <a:latin typeface="DejaVuSans"/>
                <a:ea typeface="DejaVuSans"/>
              </a:rPr>
              <a:t>- </a:t>
            </a:r>
            <a:endParaRPr b="0" lang="en-US" sz="670" strike="noStrike" u="none">
              <a:solidFill>
                <a:srgbClr val="000000"/>
              </a:solidFill>
              <a:effectLst/>
              <a:uFillTx/>
              <a:latin typeface="Times New Roman"/>
            </a:endParaRPr>
          </a:p>
        </p:txBody>
      </p:sp>
      <p:sp>
        <p:nvSpPr>
          <p:cNvPr id="1011" name=""/>
          <p:cNvSpPr txBox="1"/>
          <p:nvPr/>
        </p:nvSpPr>
        <p:spPr>
          <a:xfrm>
            <a:off x="6291000" y="1646280"/>
            <a:ext cx="597960" cy="108720"/>
          </a:xfrm>
          <a:prstGeom prst="rect">
            <a:avLst/>
          </a:prstGeom>
          <a:noFill/>
          <a:ln w="0">
            <a:noFill/>
          </a:ln>
        </p:spPr>
        <p:txBody>
          <a:bodyPr wrap="none" lIns="0" rIns="0" tIns="0" bIns="0" anchor="t">
            <a:spAutoFit/>
          </a:bodyPr>
          <a:p>
            <a:r>
              <a:rPr b="0" lang="zh-CN" sz="670" strike="noStrike" u="none">
                <a:solidFill>
                  <a:srgbClr val="4b5563"/>
                </a:solidFill>
                <a:effectLst/>
                <a:uFillTx/>
                <a:latin typeface="WenQuanYiZenHei"/>
                <a:ea typeface="WenQuanYiZenHei"/>
              </a:rPr>
              <a:t>発熱患者対応時</a:t>
            </a:r>
            <a:endParaRPr b="0" lang="en-US" sz="670" strike="noStrike" u="none">
              <a:solidFill>
                <a:srgbClr val="000000"/>
              </a:solidFill>
              <a:effectLst/>
              <a:uFillTx/>
              <a:latin typeface="Times New Roman"/>
            </a:endParaRPr>
          </a:p>
        </p:txBody>
      </p:sp>
      <p:sp>
        <p:nvSpPr>
          <p:cNvPr id="1012" name=""/>
          <p:cNvSpPr txBox="1"/>
          <p:nvPr/>
        </p:nvSpPr>
        <p:spPr>
          <a:xfrm>
            <a:off x="6884280" y="1649160"/>
            <a:ext cx="236880" cy="99360"/>
          </a:xfrm>
          <a:prstGeom prst="rect">
            <a:avLst/>
          </a:prstGeom>
          <a:noFill/>
          <a:ln w="0">
            <a:noFill/>
          </a:ln>
        </p:spPr>
        <p:txBody>
          <a:bodyPr wrap="none" lIns="0" rIns="0" tIns="0" bIns="0" anchor="t">
            <a:spAutoFit/>
          </a:bodyPr>
          <a:p>
            <a:r>
              <a:rPr b="0" lang="en-US" sz="670" strike="noStrike" u="none">
                <a:solidFill>
                  <a:srgbClr val="4b5563"/>
                </a:solidFill>
                <a:effectLst/>
                <a:uFillTx/>
                <a:latin typeface="DejaVuSans"/>
                <a:ea typeface="DejaVuSans"/>
              </a:rPr>
              <a:t>: +20</a:t>
            </a:r>
            <a:endParaRPr b="0" lang="en-US" sz="670" strike="noStrike" u="none">
              <a:solidFill>
                <a:srgbClr val="000000"/>
              </a:solidFill>
              <a:effectLst/>
              <a:uFillTx/>
              <a:latin typeface="Times New Roman"/>
            </a:endParaRPr>
          </a:p>
        </p:txBody>
      </p:sp>
      <p:pic>
        <p:nvPicPr>
          <p:cNvPr id="1013" name="" descr=""/>
          <p:cNvPicPr/>
          <p:nvPr/>
        </p:nvPicPr>
        <p:blipFill>
          <a:blip r:embed="rId16"/>
          <a:stretch/>
        </p:blipFill>
        <p:spPr>
          <a:xfrm>
            <a:off x="6123240" y="1812600"/>
            <a:ext cx="56160" cy="84240"/>
          </a:xfrm>
          <a:prstGeom prst="rect">
            <a:avLst/>
          </a:prstGeom>
          <a:noFill/>
          <a:ln w="0">
            <a:noFill/>
          </a:ln>
        </p:spPr>
      </p:pic>
      <p:sp>
        <p:nvSpPr>
          <p:cNvPr id="1014" name=""/>
          <p:cNvSpPr txBox="1"/>
          <p:nvPr/>
        </p:nvSpPr>
        <p:spPr>
          <a:xfrm>
            <a:off x="7118640" y="1646280"/>
            <a:ext cx="86040" cy="108720"/>
          </a:xfrm>
          <a:prstGeom prst="rect">
            <a:avLst/>
          </a:prstGeom>
          <a:noFill/>
          <a:ln w="0">
            <a:noFill/>
          </a:ln>
        </p:spPr>
        <p:txBody>
          <a:bodyPr wrap="none" lIns="0" rIns="0" tIns="0" bIns="0" anchor="t">
            <a:spAutoFit/>
          </a:bodyPr>
          <a:p>
            <a:r>
              <a:rPr b="0" lang="zh-CN" sz="670" strike="noStrike" u="none">
                <a:solidFill>
                  <a:srgbClr val="4b5563"/>
                </a:solidFill>
                <a:effectLst/>
                <a:uFillTx/>
                <a:latin typeface="WenQuanYiZenHei"/>
                <a:ea typeface="WenQuanYiZenHei"/>
              </a:rPr>
              <a:t>点</a:t>
            </a:r>
            <a:endParaRPr b="0" lang="en-US" sz="670" strike="noStrike" u="none">
              <a:solidFill>
                <a:srgbClr val="000000"/>
              </a:solidFill>
              <a:effectLst/>
              <a:uFillTx/>
              <a:latin typeface="Times New Roman"/>
            </a:endParaRPr>
          </a:p>
        </p:txBody>
      </p:sp>
      <p:pic>
        <p:nvPicPr>
          <p:cNvPr id="1015" name="" descr=""/>
          <p:cNvPicPr/>
          <p:nvPr/>
        </p:nvPicPr>
        <p:blipFill>
          <a:blip r:embed="rId17"/>
          <a:stretch/>
        </p:blipFill>
        <p:spPr>
          <a:xfrm>
            <a:off x="6123240" y="1982160"/>
            <a:ext cx="56160" cy="84240"/>
          </a:xfrm>
          <a:prstGeom prst="rect">
            <a:avLst/>
          </a:prstGeom>
          <a:noFill/>
          <a:ln w="0">
            <a:noFill/>
          </a:ln>
        </p:spPr>
      </p:pic>
      <p:sp>
        <p:nvSpPr>
          <p:cNvPr id="1016" name=""/>
          <p:cNvSpPr txBox="1"/>
          <p:nvPr/>
        </p:nvSpPr>
        <p:spPr>
          <a:xfrm>
            <a:off x="6205320" y="1795320"/>
            <a:ext cx="59508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連携強化加算</a:t>
            </a:r>
            <a:endParaRPr b="0" lang="en-US" sz="780" strike="noStrike" u="none">
              <a:solidFill>
                <a:srgbClr val="000000"/>
              </a:solidFill>
              <a:effectLst/>
              <a:uFillTx/>
              <a:latin typeface="Times New Roman"/>
            </a:endParaRPr>
          </a:p>
        </p:txBody>
      </p:sp>
      <p:sp>
        <p:nvSpPr>
          <p:cNvPr id="1017" name=""/>
          <p:cNvSpPr/>
          <p:nvPr/>
        </p:nvSpPr>
        <p:spPr>
          <a:xfrm>
            <a:off x="225720" y="2303280"/>
            <a:ext cx="2804040" cy="999720"/>
          </a:xfrm>
          <a:custGeom>
            <a:avLst/>
            <a:gdLst/>
            <a:ahLst/>
            <a:rect l="0" t="0" r="r" b="b"/>
            <a:pathLst>
              <a:path w="7789" h="2777">
                <a:moveTo>
                  <a:pt x="0" y="2620"/>
                </a:moveTo>
                <a:lnTo>
                  <a:pt x="0" y="128"/>
                </a:lnTo>
                <a:cubicBezTo>
                  <a:pt x="0" y="119"/>
                  <a:pt x="1" y="111"/>
                  <a:pt x="3" y="103"/>
                </a:cubicBezTo>
                <a:cubicBezTo>
                  <a:pt x="5" y="95"/>
                  <a:pt x="8" y="87"/>
                  <a:pt x="12" y="79"/>
                </a:cubicBezTo>
                <a:cubicBezTo>
                  <a:pt x="16" y="71"/>
                  <a:pt x="21" y="64"/>
                  <a:pt x="27" y="57"/>
                </a:cubicBezTo>
                <a:cubicBezTo>
                  <a:pt x="32" y="50"/>
                  <a:pt x="39" y="43"/>
                  <a:pt x="46" y="38"/>
                </a:cubicBezTo>
                <a:cubicBezTo>
                  <a:pt x="54" y="32"/>
                  <a:pt x="61" y="26"/>
                  <a:pt x="70" y="22"/>
                </a:cubicBezTo>
                <a:cubicBezTo>
                  <a:pt x="79" y="17"/>
                  <a:pt x="88" y="13"/>
                  <a:pt x="97" y="10"/>
                </a:cubicBezTo>
                <a:cubicBezTo>
                  <a:pt x="107" y="7"/>
                  <a:pt x="116" y="4"/>
                  <a:pt x="127" y="3"/>
                </a:cubicBezTo>
                <a:cubicBezTo>
                  <a:pt x="137" y="1"/>
                  <a:pt x="147" y="0"/>
                  <a:pt x="157" y="0"/>
                </a:cubicBezTo>
                <a:lnTo>
                  <a:pt x="7633" y="0"/>
                </a:lnTo>
                <a:cubicBezTo>
                  <a:pt x="7643" y="0"/>
                  <a:pt x="7653" y="1"/>
                  <a:pt x="7663" y="3"/>
                </a:cubicBezTo>
                <a:cubicBezTo>
                  <a:pt x="7673" y="4"/>
                  <a:pt x="7683" y="7"/>
                  <a:pt x="7693" y="10"/>
                </a:cubicBezTo>
                <a:cubicBezTo>
                  <a:pt x="7702" y="13"/>
                  <a:pt x="7711" y="17"/>
                  <a:pt x="7720" y="22"/>
                </a:cubicBezTo>
                <a:cubicBezTo>
                  <a:pt x="7728" y="26"/>
                  <a:pt x="7736" y="32"/>
                  <a:pt x="7744" y="38"/>
                </a:cubicBezTo>
                <a:cubicBezTo>
                  <a:pt x="7751" y="43"/>
                  <a:pt x="7757" y="50"/>
                  <a:pt x="7763" y="57"/>
                </a:cubicBezTo>
                <a:cubicBezTo>
                  <a:pt x="7769" y="64"/>
                  <a:pt x="7774" y="71"/>
                  <a:pt x="7778" y="79"/>
                </a:cubicBezTo>
                <a:cubicBezTo>
                  <a:pt x="7781" y="87"/>
                  <a:pt x="7784" y="95"/>
                  <a:pt x="7786" y="103"/>
                </a:cubicBezTo>
                <a:cubicBezTo>
                  <a:pt x="7788" y="111"/>
                  <a:pt x="7789" y="119"/>
                  <a:pt x="7789" y="128"/>
                </a:cubicBezTo>
                <a:lnTo>
                  <a:pt x="7789" y="2620"/>
                </a:lnTo>
                <a:cubicBezTo>
                  <a:pt x="7789" y="2630"/>
                  <a:pt x="7788" y="2641"/>
                  <a:pt x="7786" y="2651"/>
                </a:cubicBezTo>
                <a:cubicBezTo>
                  <a:pt x="7784" y="2661"/>
                  <a:pt x="7781" y="2671"/>
                  <a:pt x="7778" y="2680"/>
                </a:cubicBezTo>
                <a:cubicBezTo>
                  <a:pt x="7774" y="2690"/>
                  <a:pt x="7769" y="2699"/>
                  <a:pt x="7763" y="2707"/>
                </a:cubicBezTo>
                <a:cubicBezTo>
                  <a:pt x="7757" y="2716"/>
                  <a:pt x="7751" y="2724"/>
                  <a:pt x="7744" y="2731"/>
                </a:cubicBezTo>
                <a:cubicBezTo>
                  <a:pt x="7736" y="2738"/>
                  <a:pt x="7728" y="2745"/>
                  <a:pt x="7720" y="2751"/>
                </a:cubicBezTo>
                <a:cubicBezTo>
                  <a:pt x="7711" y="2756"/>
                  <a:pt x="7702" y="2761"/>
                  <a:pt x="7693" y="2765"/>
                </a:cubicBezTo>
                <a:cubicBezTo>
                  <a:pt x="7683" y="2769"/>
                  <a:pt x="7673" y="2772"/>
                  <a:pt x="7663" y="2774"/>
                </a:cubicBezTo>
                <a:cubicBezTo>
                  <a:pt x="7653" y="2776"/>
                  <a:pt x="7643" y="2777"/>
                  <a:pt x="7633" y="2777"/>
                </a:cubicBezTo>
                <a:lnTo>
                  <a:pt x="157" y="2777"/>
                </a:lnTo>
                <a:cubicBezTo>
                  <a:pt x="147" y="2777"/>
                  <a:pt x="137" y="2776"/>
                  <a:pt x="127" y="2774"/>
                </a:cubicBezTo>
                <a:cubicBezTo>
                  <a:pt x="116" y="2772"/>
                  <a:pt x="107" y="2769"/>
                  <a:pt x="97" y="2765"/>
                </a:cubicBezTo>
                <a:cubicBezTo>
                  <a:pt x="88" y="2761"/>
                  <a:pt x="79" y="2756"/>
                  <a:pt x="70" y="2751"/>
                </a:cubicBezTo>
                <a:cubicBezTo>
                  <a:pt x="61" y="2745"/>
                  <a:pt x="54" y="2738"/>
                  <a:pt x="46" y="2731"/>
                </a:cubicBezTo>
                <a:cubicBezTo>
                  <a:pt x="39" y="2724"/>
                  <a:pt x="32" y="2716"/>
                  <a:pt x="27" y="2707"/>
                </a:cubicBezTo>
                <a:cubicBezTo>
                  <a:pt x="21" y="2699"/>
                  <a:pt x="16" y="2690"/>
                  <a:pt x="12" y="2680"/>
                </a:cubicBezTo>
                <a:cubicBezTo>
                  <a:pt x="8" y="2671"/>
                  <a:pt x="5" y="2661"/>
                  <a:pt x="3" y="2651"/>
                </a:cubicBezTo>
                <a:cubicBezTo>
                  <a:pt x="1" y="2641"/>
                  <a:pt x="0" y="2630"/>
                  <a:pt x="0" y="2620"/>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018" name=""/>
          <p:cNvSpPr/>
          <p:nvPr/>
        </p:nvSpPr>
        <p:spPr>
          <a:xfrm>
            <a:off x="225720" y="2292840"/>
            <a:ext cx="2804040" cy="56880"/>
          </a:xfrm>
          <a:custGeom>
            <a:avLst/>
            <a:gdLst/>
            <a:ahLst/>
            <a:rect l="0" t="0" r="r" b="b"/>
            <a:pathLst>
              <a:path w="7789" h="158">
                <a:moveTo>
                  <a:pt x="0" y="0"/>
                </a:moveTo>
                <a:lnTo>
                  <a:pt x="7789" y="0"/>
                </a:lnTo>
                <a:lnTo>
                  <a:pt x="7789" y="158"/>
                </a:lnTo>
                <a:lnTo>
                  <a:pt x="0" y="158"/>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019" name="" descr=""/>
          <p:cNvPicPr/>
          <p:nvPr/>
        </p:nvPicPr>
        <p:blipFill>
          <a:blip r:embed="rId18"/>
          <a:stretch/>
        </p:blipFill>
        <p:spPr>
          <a:xfrm>
            <a:off x="310680" y="2427120"/>
            <a:ext cx="126720" cy="140760"/>
          </a:xfrm>
          <a:prstGeom prst="rect">
            <a:avLst/>
          </a:prstGeom>
          <a:noFill/>
          <a:ln w="0">
            <a:noFill/>
          </a:ln>
        </p:spPr>
      </p:pic>
      <p:sp>
        <p:nvSpPr>
          <p:cNvPr id="1020" name=""/>
          <p:cNvSpPr txBox="1"/>
          <p:nvPr/>
        </p:nvSpPr>
        <p:spPr>
          <a:xfrm>
            <a:off x="6205320" y="1964520"/>
            <a:ext cx="110448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サーベイランス強化加算</a:t>
            </a:r>
            <a:endParaRPr b="0" lang="en-US" sz="780" strike="noStrike" u="none">
              <a:solidFill>
                <a:srgbClr val="000000"/>
              </a:solidFill>
              <a:effectLst/>
              <a:uFillTx/>
              <a:latin typeface="Times New Roman"/>
            </a:endParaRPr>
          </a:p>
        </p:txBody>
      </p:sp>
      <p:pic>
        <p:nvPicPr>
          <p:cNvPr id="1021" name="" descr=""/>
          <p:cNvPicPr/>
          <p:nvPr/>
        </p:nvPicPr>
        <p:blipFill>
          <a:blip r:embed="rId19"/>
          <a:stretch/>
        </p:blipFill>
        <p:spPr>
          <a:xfrm>
            <a:off x="339120" y="2681280"/>
            <a:ext cx="56160" cy="84240"/>
          </a:xfrm>
          <a:prstGeom prst="rect">
            <a:avLst/>
          </a:prstGeom>
          <a:noFill/>
          <a:ln w="0">
            <a:noFill/>
          </a:ln>
        </p:spPr>
      </p:pic>
      <p:sp>
        <p:nvSpPr>
          <p:cNvPr id="1022" name=""/>
          <p:cNvSpPr txBox="1"/>
          <p:nvPr/>
        </p:nvSpPr>
        <p:spPr>
          <a:xfrm>
            <a:off x="494280" y="2424240"/>
            <a:ext cx="902880" cy="142200"/>
          </a:xfrm>
          <a:prstGeom prst="rect">
            <a:avLst/>
          </a:prstGeom>
          <a:noFill/>
          <a:ln w="0">
            <a:noFill/>
          </a:ln>
        </p:spPr>
        <p:txBody>
          <a:bodyPr wrap="none" lIns="0" rIns="0" tIns="0" bIns="0" anchor="t">
            <a:spAutoFit/>
          </a:bodyPr>
          <a:p>
            <a:r>
              <a:rPr b="0" lang="zh-CN" sz="889" strike="noStrike" u="none">
                <a:solidFill>
                  <a:srgbClr val="6d28d9"/>
                </a:solidFill>
                <a:effectLst/>
                <a:uFillTx/>
                <a:latin typeface="WenQuanYiZenHei"/>
                <a:ea typeface="WenQuanYiZenHei"/>
              </a:rPr>
              <a:t>医学管理関連加算</a:t>
            </a:r>
            <a:endParaRPr b="0" lang="en-US" sz="889" strike="noStrike" u="none">
              <a:solidFill>
                <a:srgbClr val="000000"/>
              </a:solidFill>
              <a:effectLst/>
              <a:uFillTx/>
              <a:latin typeface="Times New Roman"/>
            </a:endParaRPr>
          </a:p>
        </p:txBody>
      </p:sp>
      <p:sp>
        <p:nvSpPr>
          <p:cNvPr id="1023" name=""/>
          <p:cNvSpPr txBox="1"/>
          <p:nvPr/>
        </p:nvSpPr>
        <p:spPr>
          <a:xfrm>
            <a:off x="423720" y="2664000"/>
            <a:ext cx="69408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診療情報提供料</a:t>
            </a:r>
            <a:endParaRPr b="0" lang="en-US" sz="780" strike="noStrike" u="none">
              <a:solidFill>
                <a:srgbClr val="000000"/>
              </a:solidFill>
              <a:effectLst/>
              <a:uFillTx/>
              <a:latin typeface="Times New Roman"/>
            </a:endParaRPr>
          </a:p>
        </p:txBody>
      </p:sp>
      <p:sp>
        <p:nvSpPr>
          <p:cNvPr id="1024" name=""/>
          <p:cNvSpPr txBox="1"/>
          <p:nvPr/>
        </p:nvSpPr>
        <p:spPr>
          <a:xfrm>
            <a:off x="1116000" y="2667240"/>
            <a:ext cx="36108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(I): 250</a:t>
            </a:r>
            <a:endParaRPr b="0" lang="en-US" sz="780" strike="noStrike" u="none">
              <a:solidFill>
                <a:srgbClr val="000000"/>
              </a:solidFill>
              <a:effectLst/>
              <a:uFillTx/>
              <a:latin typeface="Times New Roman"/>
            </a:endParaRPr>
          </a:p>
        </p:txBody>
      </p:sp>
      <p:sp>
        <p:nvSpPr>
          <p:cNvPr id="1025" name=""/>
          <p:cNvSpPr txBox="1"/>
          <p:nvPr/>
        </p:nvSpPr>
        <p:spPr>
          <a:xfrm>
            <a:off x="1475640" y="2664000"/>
            <a:ext cx="29808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点（月</a:t>
            </a:r>
            <a:endParaRPr b="0" lang="en-US" sz="780" strike="noStrike" u="none">
              <a:solidFill>
                <a:srgbClr val="000000"/>
              </a:solidFill>
              <a:effectLst/>
              <a:uFillTx/>
              <a:latin typeface="Times New Roman"/>
            </a:endParaRPr>
          </a:p>
        </p:txBody>
      </p:sp>
      <p:sp>
        <p:nvSpPr>
          <p:cNvPr id="1026" name=""/>
          <p:cNvSpPr txBox="1"/>
          <p:nvPr/>
        </p:nvSpPr>
        <p:spPr>
          <a:xfrm>
            <a:off x="1772280" y="2667240"/>
            <a:ext cx="9864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1</a:t>
            </a:r>
            <a:endParaRPr b="0" lang="en-US" sz="780" strike="noStrike" u="none">
              <a:solidFill>
                <a:srgbClr val="000000"/>
              </a:solidFill>
              <a:effectLst/>
              <a:uFillTx/>
              <a:latin typeface="Times New Roman"/>
            </a:endParaRPr>
          </a:p>
        </p:txBody>
      </p:sp>
      <p:pic>
        <p:nvPicPr>
          <p:cNvPr id="1027" name="" descr=""/>
          <p:cNvPicPr/>
          <p:nvPr/>
        </p:nvPicPr>
        <p:blipFill>
          <a:blip r:embed="rId20"/>
          <a:stretch/>
        </p:blipFill>
        <p:spPr>
          <a:xfrm>
            <a:off x="339120" y="2850840"/>
            <a:ext cx="56160" cy="84240"/>
          </a:xfrm>
          <a:prstGeom prst="rect">
            <a:avLst/>
          </a:prstGeom>
          <a:noFill/>
          <a:ln w="0">
            <a:noFill/>
          </a:ln>
        </p:spPr>
      </p:pic>
      <p:sp>
        <p:nvSpPr>
          <p:cNvPr id="1028" name=""/>
          <p:cNvSpPr txBox="1"/>
          <p:nvPr/>
        </p:nvSpPr>
        <p:spPr>
          <a:xfrm>
            <a:off x="1835280" y="2664000"/>
            <a:ext cx="19872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回）</a:t>
            </a:r>
            <a:endParaRPr b="0" lang="en-US" sz="780" strike="noStrike" u="none">
              <a:solidFill>
                <a:srgbClr val="000000"/>
              </a:solidFill>
              <a:effectLst/>
              <a:uFillTx/>
              <a:latin typeface="Times New Roman"/>
            </a:endParaRPr>
          </a:p>
        </p:txBody>
      </p:sp>
      <p:sp>
        <p:nvSpPr>
          <p:cNvPr id="1029" name=""/>
          <p:cNvSpPr txBox="1"/>
          <p:nvPr/>
        </p:nvSpPr>
        <p:spPr>
          <a:xfrm>
            <a:off x="423720" y="2833200"/>
            <a:ext cx="69408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診療情報提供料</a:t>
            </a:r>
            <a:endParaRPr b="0" lang="en-US" sz="780" strike="noStrike" u="none">
              <a:solidFill>
                <a:srgbClr val="000000"/>
              </a:solidFill>
              <a:effectLst/>
              <a:uFillTx/>
              <a:latin typeface="Times New Roman"/>
            </a:endParaRPr>
          </a:p>
        </p:txBody>
      </p:sp>
      <p:sp>
        <p:nvSpPr>
          <p:cNvPr id="1030" name=""/>
          <p:cNvSpPr txBox="1"/>
          <p:nvPr/>
        </p:nvSpPr>
        <p:spPr>
          <a:xfrm>
            <a:off x="1116000" y="2836800"/>
            <a:ext cx="20124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(II): </a:t>
            </a:r>
            <a:endParaRPr b="0" lang="en-US" sz="780" strike="noStrike" u="none">
              <a:solidFill>
                <a:srgbClr val="000000"/>
              </a:solidFill>
              <a:effectLst/>
              <a:uFillTx/>
              <a:latin typeface="Times New Roman"/>
            </a:endParaRPr>
          </a:p>
        </p:txBody>
      </p:sp>
      <p:pic>
        <p:nvPicPr>
          <p:cNvPr id="1031" name="" descr=""/>
          <p:cNvPicPr/>
          <p:nvPr/>
        </p:nvPicPr>
        <p:blipFill>
          <a:blip r:embed="rId21"/>
          <a:stretch/>
        </p:blipFill>
        <p:spPr>
          <a:xfrm>
            <a:off x="339120" y="3020400"/>
            <a:ext cx="56160" cy="84240"/>
          </a:xfrm>
          <a:prstGeom prst="rect">
            <a:avLst/>
          </a:prstGeom>
          <a:noFill/>
          <a:ln w="0">
            <a:noFill/>
          </a:ln>
        </p:spPr>
      </p:pic>
      <p:sp>
        <p:nvSpPr>
          <p:cNvPr id="1032" name=""/>
          <p:cNvSpPr txBox="1"/>
          <p:nvPr/>
        </p:nvSpPr>
        <p:spPr>
          <a:xfrm>
            <a:off x="1316160" y="2833200"/>
            <a:ext cx="99612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保険薬局への情報提供</a:t>
            </a:r>
            <a:endParaRPr b="0" lang="en-US" sz="780" strike="noStrike" u="none">
              <a:solidFill>
                <a:srgbClr val="000000"/>
              </a:solidFill>
              <a:effectLst/>
              <a:uFillTx/>
              <a:latin typeface="Times New Roman"/>
            </a:endParaRPr>
          </a:p>
        </p:txBody>
      </p:sp>
      <p:sp>
        <p:nvSpPr>
          <p:cNvPr id="1033" name=""/>
          <p:cNvSpPr txBox="1"/>
          <p:nvPr/>
        </p:nvSpPr>
        <p:spPr>
          <a:xfrm>
            <a:off x="423720" y="3002760"/>
            <a:ext cx="69408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薬剤情報提供料</a:t>
            </a:r>
            <a:endParaRPr b="0" lang="en-US" sz="780" strike="noStrike" u="none">
              <a:solidFill>
                <a:srgbClr val="000000"/>
              </a:solidFill>
              <a:effectLst/>
              <a:uFillTx/>
              <a:latin typeface="Times New Roman"/>
            </a:endParaRPr>
          </a:p>
        </p:txBody>
      </p:sp>
      <p:sp>
        <p:nvSpPr>
          <p:cNvPr id="1034" name=""/>
          <p:cNvSpPr txBox="1"/>
          <p:nvPr/>
        </p:nvSpPr>
        <p:spPr>
          <a:xfrm>
            <a:off x="1116000" y="3006360"/>
            <a:ext cx="9864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 </a:t>
            </a:r>
            <a:endParaRPr b="0" lang="en-US" sz="780" strike="noStrike" u="none">
              <a:solidFill>
                <a:srgbClr val="000000"/>
              </a:solidFill>
              <a:effectLst/>
              <a:uFillTx/>
              <a:latin typeface="Times New Roman"/>
            </a:endParaRPr>
          </a:p>
        </p:txBody>
      </p:sp>
      <p:sp>
        <p:nvSpPr>
          <p:cNvPr id="1035" name=""/>
          <p:cNvSpPr/>
          <p:nvPr/>
        </p:nvSpPr>
        <p:spPr>
          <a:xfrm>
            <a:off x="3114360" y="2303280"/>
            <a:ext cx="2811240" cy="999720"/>
          </a:xfrm>
          <a:custGeom>
            <a:avLst/>
            <a:gdLst/>
            <a:ahLst/>
            <a:rect l="0" t="0" r="r" b="b"/>
            <a:pathLst>
              <a:path w="7809" h="2777">
                <a:moveTo>
                  <a:pt x="0" y="2620"/>
                </a:moveTo>
                <a:lnTo>
                  <a:pt x="0" y="128"/>
                </a:lnTo>
                <a:cubicBezTo>
                  <a:pt x="0" y="119"/>
                  <a:pt x="1" y="111"/>
                  <a:pt x="3" y="103"/>
                </a:cubicBezTo>
                <a:cubicBezTo>
                  <a:pt x="5" y="95"/>
                  <a:pt x="8" y="87"/>
                  <a:pt x="12" y="79"/>
                </a:cubicBezTo>
                <a:cubicBezTo>
                  <a:pt x="16" y="71"/>
                  <a:pt x="21" y="64"/>
                  <a:pt x="26" y="57"/>
                </a:cubicBezTo>
                <a:cubicBezTo>
                  <a:pt x="32" y="50"/>
                  <a:pt x="39" y="43"/>
                  <a:pt x="46" y="38"/>
                </a:cubicBezTo>
                <a:cubicBezTo>
                  <a:pt x="53" y="32"/>
                  <a:pt x="61" y="26"/>
                  <a:pt x="70" y="22"/>
                </a:cubicBezTo>
                <a:cubicBezTo>
                  <a:pt x="78" y="17"/>
                  <a:pt x="87" y="13"/>
                  <a:pt x="97" y="10"/>
                </a:cubicBezTo>
                <a:cubicBezTo>
                  <a:pt x="106" y="7"/>
                  <a:pt x="116" y="4"/>
                  <a:pt x="126" y="3"/>
                </a:cubicBezTo>
                <a:cubicBezTo>
                  <a:pt x="136" y="1"/>
                  <a:pt x="147" y="0"/>
                  <a:pt x="157" y="0"/>
                </a:cubicBezTo>
                <a:lnTo>
                  <a:pt x="7652" y="0"/>
                </a:lnTo>
                <a:cubicBezTo>
                  <a:pt x="7662" y="0"/>
                  <a:pt x="7672" y="1"/>
                  <a:pt x="7682" y="3"/>
                </a:cubicBezTo>
                <a:cubicBezTo>
                  <a:pt x="7692" y="4"/>
                  <a:pt x="7702" y="7"/>
                  <a:pt x="7712" y="10"/>
                </a:cubicBezTo>
                <a:cubicBezTo>
                  <a:pt x="7721" y="13"/>
                  <a:pt x="7730" y="17"/>
                  <a:pt x="7739" y="22"/>
                </a:cubicBezTo>
                <a:cubicBezTo>
                  <a:pt x="7748" y="26"/>
                  <a:pt x="7755" y="32"/>
                  <a:pt x="7763" y="38"/>
                </a:cubicBezTo>
                <a:cubicBezTo>
                  <a:pt x="7770" y="43"/>
                  <a:pt x="7777" y="50"/>
                  <a:pt x="7782" y="57"/>
                </a:cubicBezTo>
                <a:cubicBezTo>
                  <a:pt x="7788" y="64"/>
                  <a:pt x="7793" y="71"/>
                  <a:pt x="7797" y="79"/>
                </a:cubicBezTo>
                <a:cubicBezTo>
                  <a:pt x="7801" y="87"/>
                  <a:pt x="7804" y="95"/>
                  <a:pt x="7806" y="103"/>
                </a:cubicBezTo>
                <a:cubicBezTo>
                  <a:pt x="7808" y="111"/>
                  <a:pt x="7809" y="119"/>
                  <a:pt x="7809" y="128"/>
                </a:cubicBezTo>
                <a:lnTo>
                  <a:pt x="7809" y="2620"/>
                </a:lnTo>
                <a:cubicBezTo>
                  <a:pt x="7809" y="2630"/>
                  <a:pt x="7808" y="2641"/>
                  <a:pt x="7806" y="2651"/>
                </a:cubicBezTo>
                <a:cubicBezTo>
                  <a:pt x="7804" y="2661"/>
                  <a:pt x="7801" y="2671"/>
                  <a:pt x="7797" y="2680"/>
                </a:cubicBezTo>
                <a:cubicBezTo>
                  <a:pt x="7793" y="2690"/>
                  <a:pt x="7788" y="2699"/>
                  <a:pt x="7782" y="2707"/>
                </a:cubicBezTo>
                <a:cubicBezTo>
                  <a:pt x="7777" y="2716"/>
                  <a:pt x="7770" y="2724"/>
                  <a:pt x="7763" y="2731"/>
                </a:cubicBezTo>
                <a:cubicBezTo>
                  <a:pt x="7755" y="2738"/>
                  <a:pt x="7748" y="2745"/>
                  <a:pt x="7739" y="2751"/>
                </a:cubicBezTo>
                <a:cubicBezTo>
                  <a:pt x="7730" y="2756"/>
                  <a:pt x="7721" y="2761"/>
                  <a:pt x="7712" y="2765"/>
                </a:cubicBezTo>
                <a:cubicBezTo>
                  <a:pt x="7702" y="2769"/>
                  <a:pt x="7692" y="2772"/>
                  <a:pt x="7682" y="2774"/>
                </a:cubicBezTo>
                <a:cubicBezTo>
                  <a:pt x="7672" y="2776"/>
                  <a:pt x="7662" y="2777"/>
                  <a:pt x="7652" y="2777"/>
                </a:cubicBezTo>
                <a:lnTo>
                  <a:pt x="157" y="2777"/>
                </a:lnTo>
                <a:cubicBezTo>
                  <a:pt x="147" y="2777"/>
                  <a:pt x="136" y="2776"/>
                  <a:pt x="126" y="2774"/>
                </a:cubicBezTo>
                <a:cubicBezTo>
                  <a:pt x="116" y="2772"/>
                  <a:pt x="106" y="2769"/>
                  <a:pt x="97" y="2765"/>
                </a:cubicBezTo>
                <a:cubicBezTo>
                  <a:pt x="87" y="2761"/>
                  <a:pt x="78" y="2756"/>
                  <a:pt x="70" y="2751"/>
                </a:cubicBezTo>
                <a:cubicBezTo>
                  <a:pt x="61" y="2745"/>
                  <a:pt x="53" y="2738"/>
                  <a:pt x="46" y="2731"/>
                </a:cubicBezTo>
                <a:cubicBezTo>
                  <a:pt x="39" y="2724"/>
                  <a:pt x="32" y="2716"/>
                  <a:pt x="26" y="2707"/>
                </a:cubicBezTo>
                <a:cubicBezTo>
                  <a:pt x="21" y="2699"/>
                  <a:pt x="16" y="2690"/>
                  <a:pt x="12" y="2680"/>
                </a:cubicBezTo>
                <a:cubicBezTo>
                  <a:pt x="8" y="2671"/>
                  <a:pt x="5" y="2661"/>
                  <a:pt x="3" y="2651"/>
                </a:cubicBezTo>
                <a:cubicBezTo>
                  <a:pt x="1" y="2641"/>
                  <a:pt x="0" y="2630"/>
                  <a:pt x="0" y="2620"/>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036" name=""/>
          <p:cNvSpPr/>
          <p:nvPr/>
        </p:nvSpPr>
        <p:spPr>
          <a:xfrm>
            <a:off x="3114360" y="2292840"/>
            <a:ext cx="2811240" cy="56880"/>
          </a:xfrm>
          <a:custGeom>
            <a:avLst/>
            <a:gdLst/>
            <a:ahLst/>
            <a:rect l="0" t="0" r="r" b="b"/>
            <a:pathLst>
              <a:path w="7809" h="158">
                <a:moveTo>
                  <a:pt x="0" y="0"/>
                </a:moveTo>
                <a:lnTo>
                  <a:pt x="7809" y="0"/>
                </a:lnTo>
                <a:lnTo>
                  <a:pt x="7809" y="158"/>
                </a:lnTo>
                <a:lnTo>
                  <a:pt x="0" y="158"/>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037" name="" descr=""/>
          <p:cNvPicPr/>
          <p:nvPr/>
        </p:nvPicPr>
        <p:blipFill>
          <a:blip r:embed="rId22"/>
          <a:stretch/>
        </p:blipFill>
        <p:spPr>
          <a:xfrm>
            <a:off x="3199320" y="2427120"/>
            <a:ext cx="162000" cy="140760"/>
          </a:xfrm>
          <a:prstGeom prst="rect">
            <a:avLst/>
          </a:prstGeom>
          <a:noFill/>
          <a:ln w="0">
            <a:noFill/>
          </a:ln>
        </p:spPr>
      </p:pic>
      <p:sp>
        <p:nvSpPr>
          <p:cNvPr id="1038" name=""/>
          <p:cNvSpPr txBox="1"/>
          <p:nvPr/>
        </p:nvSpPr>
        <p:spPr>
          <a:xfrm>
            <a:off x="1180440" y="3002760"/>
            <a:ext cx="119628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処方内容等の文書での提供</a:t>
            </a:r>
            <a:endParaRPr b="0" lang="en-US" sz="780" strike="noStrike" u="none">
              <a:solidFill>
                <a:srgbClr val="000000"/>
              </a:solidFill>
              <a:effectLst/>
              <a:uFillTx/>
              <a:latin typeface="Times New Roman"/>
            </a:endParaRPr>
          </a:p>
        </p:txBody>
      </p:sp>
      <p:pic>
        <p:nvPicPr>
          <p:cNvPr id="1039" name="" descr=""/>
          <p:cNvPicPr/>
          <p:nvPr/>
        </p:nvPicPr>
        <p:blipFill>
          <a:blip r:embed="rId23"/>
          <a:stretch/>
        </p:blipFill>
        <p:spPr>
          <a:xfrm>
            <a:off x="3227400" y="2681280"/>
            <a:ext cx="56160" cy="84240"/>
          </a:xfrm>
          <a:prstGeom prst="rect">
            <a:avLst/>
          </a:prstGeom>
          <a:noFill/>
          <a:ln w="0">
            <a:noFill/>
          </a:ln>
        </p:spPr>
      </p:pic>
      <p:sp>
        <p:nvSpPr>
          <p:cNvPr id="1040" name=""/>
          <p:cNvSpPr txBox="1"/>
          <p:nvPr/>
        </p:nvSpPr>
        <p:spPr>
          <a:xfrm>
            <a:off x="3420360" y="2424240"/>
            <a:ext cx="790200" cy="142200"/>
          </a:xfrm>
          <a:prstGeom prst="rect">
            <a:avLst/>
          </a:prstGeom>
          <a:noFill/>
          <a:ln w="0">
            <a:noFill/>
          </a:ln>
        </p:spPr>
        <p:txBody>
          <a:bodyPr wrap="none" lIns="0" rIns="0" tIns="0" bIns="0" anchor="t">
            <a:spAutoFit/>
          </a:bodyPr>
          <a:p>
            <a:r>
              <a:rPr b="0" lang="zh-CN" sz="889" strike="noStrike" u="none">
                <a:solidFill>
                  <a:srgbClr val="1d4ed8"/>
                </a:solidFill>
                <a:effectLst/>
                <a:uFillTx/>
                <a:latin typeface="WenQuanYiZenHei"/>
                <a:ea typeface="WenQuanYiZenHei"/>
              </a:rPr>
              <a:t>退院時関連加算</a:t>
            </a:r>
            <a:endParaRPr b="0" lang="en-US" sz="889" strike="noStrike" u="none">
              <a:solidFill>
                <a:srgbClr val="000000"/>
              </a:solidFill>
              <a:effectLst/>
              <a:uFillTx/>
              <a:latin typeface="Times New Roman"/>
            </a:endParaRPr>
          </a:p>
        </p:txBody>
      </p:sp>
      <p:sp>
        <p:nvSpPr>
          <p:cNvPr id="1041" name=""/>
          <p:cNvSpPr txBox="1"/>
          <p:nvPr/>
        </p:nvSpPr>
        <p:spPr>
          <a:xfrm>
            <a:off x="3314520" y="2664000"/>
            <a:ext cx="79308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退院時共同指導料</a:t>
            </a:r>
            <a:endParaRPr b="0" lang="en-US" sz="780" strike="noStrike" u="none">
              <a:solidFill>
                <a:srgbClr val="000000"/>
              </a:solidFill>
              <a:effectLst/>
              <a:uFillTx/>
              <a:latin typeface="Times New Roman"/>
            </a:endParaRPr>
          </a:p>
        </p:txBody>
      </p:sp>
      <p:sp>
        <p:nvSpPr>
          <p:cNvPr id="1042" name=""/>
          <p:cNvSpPr txBox="1"/>
          <p:nvPr/>
        </p:nvSpPr>
        <p:spPr>
          <a:xfrm>
            <a:off x="4105440" y="2667240"/>
            <a:ext cx="25452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 400</a:t>
            </a:r>
            <a:endParaRPr b="0" lang="en-US" sz="780" strike="noStrike" u="none">
              <a:solidFill>
                <a:srgbClr val="000000"/>
              </a:solidFill>
              <a:effectLst/>
              <a:uFillTx/>
              <a:latin typeface="Times New Roman"/>
            </a:endParaRPr>
          </a:p>
        </p:txBody>
      </p:sp>
      <p:sp>
        <p:nvSpPr>
          <p:cNvPr id="1043" name=""/>
          <p:cNvSpPr txBox="1"/>
          <p:nvPr/>
        </p:nvSpPr>
        <p:spPr>
          <a:xfrm>
            <a:off x="4358880" y="2664000"/>
            <a:ext cx="49608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点（退院時</a:t>
            </a:r>
            <a:endParaRPr b="0" lang="en-US" sz="780" strike="noStrike" u="none">
              <a:solidFill>
                <a:srgbClr val="000000"/>
              </a:solidFill>
              <a:effectLst/>
              <a:uFillTx/>
              <a:latin typeface="Times New Roman"/>
            </a:endParaRPr>
          </a:p>
        </p:txBody>
      </p:sp>
      <p:sp>
        <p:nvSpPr>
          <p:cNvPr id="1044" name=""/>
          <p:cNvSpPr txBox="1"/>
          <p:nvPr/>
        </p:nvSpPr>
        <p:spPr>
          <a:xfrm>
            <a:off x="4853520" y="2667240"/>
            <a:ext cx="98640" cy="114840"/>
          </a:xfrm>
          <a:prstGeom prst="rect">
            <a:avLst/>
          </a:prstGeom>
          <a:noFill/>
          <a:ln w="0">
            <a:noFill/>
          </a:ln>
        </p:spPr>
        <p:txBody>
          <a:bodyPr wrap="none" lIns="0" rIns="0" tIns="0" bIns="0" anchor="t">
            <a:spAutoFit/>
          </a:bodyPr>
          <a:p>
            <a:r>
              <a:rPr b="0" lang="en-US" sz="780" strike="noStrike" u="none">
                <a:solidFill>
                  <a:srgbClr val="4b5563"/>
                </a:solidFill>
                <a:effectLst/>
                <a:uFillTx/>
                <a:latin typeface="DejaVuSans"/>
                <a:ea typeface="DejaVuSans"/>
              </a:rPr>
              <a:t>1</a:t>
            </a:r>
            <a:endParaRPr b="0" lang="en-US" sz="780" strike="noStrike" u="none">
              <a:solidFill>
                <a:srgbClr val="000000"/>
              </a:solidFill>
              <a:effectLst/>
              <a:uFillTx/>
              <a:latin typeface="Times New Roman"/>
            </a:endParaRPr>
          </a:p>
        </p:txBody>
      </p:sp>
      <p:sp>
        <p:nvSpPr>
          <p:cNvPr id="1045" name=""/>
          <p:cNvSpPr txBox="1"/>
          <p:nvPr/>
        </p:nvSpPr>
        <p:spPr>
          <a:xfrm>
            <a:off x="4916160" y="2664000"/>
            <a:ext cx="19872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回）</a:t>
            </a:r>
            <a:endParaRPr b="0" lang="en-US" sz="780" strike="noStrike" u="none">
              <a:solidFill>
                <a:srgbClr val="000000"/>
              </a:solidFill>
              <a:effectLst/>
              <a:uFillTx/>
              <a:latin typeface="Times New Roman"/>
            </a:endParaRPr>
          </a:p>
        </p:txBody>
      </p:sp>
      <p:sp>
        <p:nvSpPr>
          <p:cNvPr id="1046" name=""/>
          <p:cNvSpPr txBox="1"/>
          <p:nvPr/>
        </p:nvSpPr>
        <p:spPr>
          <a:xfrm>
            <a:off x="3342960" y="2828880"/>
            <a:ext cx="275760" cy="99360"/>
          </a:xfrm>
          <a:prstGeom prst="rect">
            <a:avLst/>
          </a:prstGeom>
          <a:noFill/>
          <a:ln w="0">
            <a:noFill/>
          </a:ln>
        </p:spPr>
        <p:txBody>
          <a:bodyPr wrap="none" lIns="0" rIns="0" tIns="0" bIns="0" anchor="t">
            <a:spAutoFit/>
          </a:bodyPr>
          <a:p>
            <a:r>
              <a:rPr b="0" lang="en-US" sz="670" strike="noStrike" u="none">
                <a:solidFill>
                  <a:srgbClr val="4b5563"/>
                </a:solidFill>
                <a:effectLst/>
                <a:uFillTx/>
                <a:latin typeface="DejaVuSans"/>
                <a:ea typeface="DejaVuSans"/>
              </a:rPr>
              <a:t>- 2024</a:t>
            </a:r>
            <a:endParaRPr b="0" lang="en-US" sz="670" strike="noStrike" u="none">
              <a:solidFill>
                <a:srgbClr val="000000"/>
              </a:solidFill>
              <a:effectLst/>
              <a:uFillTx/>
              <a:latin typeface="Times New Roman"/>
            </a:endParaRPr>
          </a:p>
        </p:txBody>
      </p:sp>
      <p:pic>
        <p:nvPicPr>
          <p:cNvPr id="1047" name="" descr=""/>
          <p:cNvPicPr/>
          <p:nvPr/>
        </p:nvPicPr>
        <p:blipFill>
          <a:blip r:embed="rId24"/>
          <a:stretch/>
        </p:blipFill>
        <p:spPr>
          <a:xfrm>
            <a:off x="3227400" y="2991960"/>
            <a:ext cx="56160" cy="84240"/>
          </a:xfrm>
          <a:prstGeom prst="rect">
            <a:avLst/>
          </a:prstGeom>
          <a:noFill/>
          <a:ln w="0">
            <a:noFill/>
          </a:ln>
        </p:spPr>
      </p:pic>
      <p:sp>
        <p:nvSpPr>
          <p:cNvPr id="1048" name=""/>
          <p:cNvSpPr txBox="1"/>
          <p:nvPr/>
        </p:nvSpPr>
        <p:spPr>
          <a:xfrm>
            <a:off x="3615840" y="2825640"/>
            <a:ext cx="941400" cy="108720"/>
          </a:xfrm>
          <a:prstGeom prst="rect">
            <a:avLst/>
          </a:prstGeom>
          <a:noFill/>
          <a:ln w="0">
            <a:noFill/>
          </a:ln>
        </p:spPr>
        <p:txBody>
          <a:bodyPr wrap="none" lIns="0" rIns="0" tIns="0" bIns="0" anchor="t">
            <a:spAutoFit/>
          </a:bodyPr>
          <a:p>
            <a:r>
              <a:rPr b="0" lang="zh-CN" sz="670" strike="noStrike" u="none">
                <a:solidFill>
                  <a:srgbClr val="4b5563"/>
                </a:solidFill>
                <a:effectLst/>
                <a:uFillTx/>
                <a:latin typeface="WenQuanYiZenHei"/>
                <a:ea typeface="WenQuanYiZenHei"/>
              </a:rPr>
              <a:t>年度改定で参加職種追加</a:t>
            </a:r>
            <a:endParaRPr b="0" lang="en-US" sz="670" strike="noStrike" u="none">
              <a:solidFill>
                <a:srgbClr val="000000"/>
              </a:solidFill>
              <a:effectLst/>
              <a:uFillTx/>
              <a:latin typeface="Times New Roman"/>
            </a:endParaRPr>
          </a:p>
        </p:txBody>
      </p:sp>
      <p:sp>
        <p:nvSpPr>
          <p:cNvPr id="1049" name=""/>
          <p:cNvSpPr/>
          <p:nvPr/>
        </p:nvSpPr>
        <p:spPr>
          <a:xfrm>
            <a:off x="6009840" y="2303280"/>
            <a:ext cx="2804040" cy="999720"/>
          </a:xfrm>
          <a:custGeom>
            <a:avLst/>
            <a:gdLst/>
            <a:ahLst/>
            <a:rect l="0" t="0" r="r" b="b"/>
            <a:pathLst>
              <a:path w="7789" h="2777">
                <a:moveTo>
                  <a:pt x="0" y="2620"/>
                </a:moveTo>
                <a:lnTo>
                  <a:pt x="0" y="128"/>
                </a:lnTo>
                <a:cubicBezTo>
                  <a:pt x="0" y="119"/>
                  <a:pt x="1" y="111"/>
                  <a:pt x="3" y="103"/>
                </a:cubicBezTo>
                <a:cubicBezTo>
                  <a:pt x="5" y="95"/>
                  <a:pt x="8" y="87"/>
                  <a:pt x="12" y="79"/>
                </a:cubicBezTo>
                <a:cubicBezTo>
                  <a:pt x="16" y="71"/>
                  <a:pt x="21" y="64"/>
                  <a:pt x="27" y="57"/>
                </a:cubicBezTo>
                <a:cubicBezTo>
                  <a:pt x="32" y="50"/>
                  <a:pt x="39" y="43"/>
                  <a:pt x="46" y="38"/>
                </a:cubicBezTo>
                <a:cubicBezTo>
                  <a:pt x="53" y="32"/>
                  <a:pt x="61" y="26"/>
                  <a:pt x="70" y="22"/>
                </a:cubicBezTo>
                <a:cubicBezTo>
                  <a:pt x="78" y="17"/>
                  <a:pt x="87" y="13"/>
                  <a:pt x="97" y="10"/>
                </a:cubicBezTo>
                <a:cubicBezTo>
                  <a:pt x="107" y="7"/>
                  <a:pt x="116" y="4"/>
                  <a:pt x="126" y="3"/>
                </a:cubicBezTo>
                <a:cubicBezTo>
                  <a:pt x="137" y="1"/>
                  <a:pt x="147" y="0"/>
                  <a:pt x="157" y="0"/>
                </a:cubicBezTo>
                <a:lnTo>
                  <a:pt x="7632" y="0"/>
                </a:lnTo>
                <a:cubicBezTo>
                  <a:pt x="7643" y="0"/>
                  <a:pt x="7653" y="1"/>
                  <a:pt x="7663" y="3"/>
                </a:cubicBezTo>
                <a:cubicBezTo>
                  <a:pt x="7673" y="4"/>
                  <a:pt x="7683" y="7"/>
                  <a:pt x="7692" y="10"/>
                </a:cubicBezTo>
                <a:cubicBezTo>
                  <a:pt x="7702" y="13"/>
                  <a:pt x="7711" y="17"/>
                  <a:pt x="7720" y="22"/>
                </a:cubicBezTo>
                <a:cubicBezTo>
                  <a:pt x="7728" y="26"/>
                  <a:pt x="7736" y="32"/>
                  <a:pt x="7743" y="38"/>
                </a:cubicBezTo>
                <a:cubicBezTo>
                  <a:pt x="7751" y="43"/>
                  <a:pt x="7757" y="50"/>
                  <a:pt x="7763" y="57"/>
                </a:cubicBezTo>
                <a:cubicBezTo>
                  <a:pt x="7769" y="64"/>
                  <a:pt x="7773" y="71"/>
                  <a:pt x="7777" y="79"/>
                </a:cubicBezTo>
                <a:cubicBezTo>
                  <a:pt x="7781" y="87"/>
                  <a:pt x="7784" y="95"/>
                  <a:pt x="7786" y="103"/>
                </a:cubicBezTo>
                <a:cubicBezTo>
                  <a:pt x="7788" y="111"/>
                  <a:pt x="7789" y="119"/>
                  <a:pt x="7789" y="128"/>
                </a:cubicBezTo>
                <a:lnTo>
                  <a:pt x="7789" y="2620"/>
                </a:lnTo>
                <a:cubicBezTo>
                  <a:pt x="7789" y="2630"/>
                  <a:pt x="7788" y="2641"/>
                  <a:pt x="7786" y="2651"/>
                </a:cubicBezTo>
                <a:cubicBezTo>
                  <a:pt x="7784" y="2661"/>
                  <a:pt x="7781" y="2671"/>
                  <a:pt x="7777" y="2680"/>
                </a:cubicBezTo>
                <a:cubicBezTo>
                  <a:pt x="7773" y="2690"/>
                  <a:pt x="7769" y="2699"/>
                  <a:pt x="7763" y="2707"/>
                </a:cubicBezTo>
                <a:cubicBezTo>
                  <a:pt x="7757" y="2716"/>
                  <a:pt x="7751" y="2724"/>
                  <a:pt x="7743" y="2731"/>
                </a:cubicBezTo>
                <a:cubicBezTo>
                  <a:pt x="7736" y="2738"/>
                  <a:pt x="7728" y="2745"/>
                  <a:pt x="7720" y="2751"/>
                </a:cubicBezTo>
                <a:cubicBezTo>
                  <a:pt x="7711" y="2756"/>
                  <a:pt x="7702" y="2761"/>
                  <a:pt x="7692" y="2765"/>
                </a:cubicBezTo>
                <a:cubicBezTo>
                  <a:pt x="7683" y="2769"/>
                  <a:pt x="7673" y="2772"/>
                  <a:pt x="7663" y="2774"/>
                </a:cubicBezTo>
                <a:cubicBezTo>
                  <a:pt x="7653" y="2776"/>
                  <a:pt x="7643" y="2777"/>
                  <a:pt x="7632" y="2777"/>
                </a:cubicBezTo>
                <a:lnTo>
                  <a:pt x="157" y="2777"/>
                </a:lnTo>
                <a:cubicBezTo>
                  <a:pt x="147" y="2777"/>
                  <a:pt x="137" y="2776"/>
                  <a:pt x="126" y="2774"/>
                </a:cubicBezTo>
                <a:cubicBezTo>
                  <a:pt x="116" y="2772"/>
                  <a:pt x="107" y="2769"/>
                  <a:pt x="97" y="2765"/>
                </a:cubicBezTo>
                <a:cubicBezTo>
                  <a:pt x="87" y="2761"/>
                  <a:pt x="78" y="2756"/>
                  <a:pt x="70" y="2751"/>
                </a:cubicBezTo>
                <a:cubicBezTo>
                  <a:pt x="61" y="2745"/>
                  <a:pt x="53" y="2738"/>
                  <a:pt x="46" y="2731"/>
                </a:cubicBezTo>
                <a:cubicBezTo>
                  <a:pt x="39" y="2724"/>
                  <a:pt x="32" y="2716"/>
                  <a:pt x="27" y="2707"/>
                </a:cubicBezTo>
                <a:cubicBezTo>
                  <a:pt x="21" y="2699"/>
                  <a:pt x="16" y="2690"/>
                  <a:pt x="12" y="2680"/>
                </a:cubicBezTo>
                <a:cubicBezTo>
                  <a:pt x="8" y="2671"/>
                  <a:pt x="5" y="2661"/>
                  <a:pt x="3" y="2651"/>
                </a:cubicBezTo>
                <a:cubicBezTo>
                  <a:pt x="1" y="2641"/>
                  <a:pt x="0" y="2630"/>
                  <a:pt x="0" y="2620"/>
                </a:cubicBez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050" name=""/>
          <p:cNvSpPr/>
          <p:nvPr/>
        </p:nvSpPr>
        <p:spPr>
          <a:xfrm>
            <a:off x="6009840" y="2292840"/>
            <a:ext cx="2804040" cy="56880"/>
          </a:xfrm>
          <a:custGeom>
            <a:avLst/>
            <a:gdLst/>
            <a:ahLst/>
            <a:rect l="0" t="0" r="r" b="b"/>
            <a:pathLst>
              <a:path w="7789" h="158">
                <a:moveTo>
                  <a:pt x="0" y="0"/>
                </a:moveTo>
                <a:lnTo>
                  <a:pt x="7789" y="0"/>
                </a:lnTo>
                <a:lnTo>
                  <a:pt x="7789" y="158"/>
                </a:lnTo>
                <a:lnTo>
                  <a:pt x="0" y="158"/>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051" name="" descr=""/>
          <p:cNvPicPr/>
          <p:nvPr/>
        </p:nvPicPr>
        <p:blipFill>
          <a:blip r:embed="rId25"/>
          <a:stretch/>
        </p:blipFill>
        <p:spPr>
          <a:xfrm>
            <a:off x="6094800" y="2427120"/>
            <a:ext cx="162000" cy="140760"/>
          </a:xfrm>
          <a:prstGeom prst="rect">
            <a:avLst/>
          </a:prstGeom>
          <a:noFill/>
          <a:ln w="0">
            <a:noFill/>
          </a:ln>
        </p:spPr>
      </p:pic>
      <p:sp>
        <p:nvSpPr>
          <p:cNvPr id="1052" name=""/>
          <p:cNvSpPr txBox="1"/>
          <p:nvPr/>
        </p:nvSpPr>
        <p:spPr>
          <a:xfrm>
            <a:off x="3314520" y="2974680"/>
            <a:ext cx="118944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退院時薬剤情報管理指導料</a:t>
            </a:r>
            <a:endParaRPr b="0" lang="en-US" sz="780" strike="noStrike" u="none">
              <a:solidFill>
                <a:srgbClr val="000000"/>
              </a:solidFill>
              <a:effectLst/>
              <a:uFillTx/>
              <a:latin typeface="Times New Roman"/>
            </a:endParaRPr>
          </a:p>
        </p:txBody>
      </p:sp>
      <p:sp>
        <p:nvSpPr>
          <p:cNvPr id="1053" name=""/>
          <p:cNvSpPr txBox="1"/>
          <p:nvPr/>
        </p:nvSpPr>
        <p:spPr>
          <a:xfrm>
            <a:off x="6311160" y="2428200"/>
            <a:ext cx="314640" cy="131400"/>
          </a:xfrm>
          <a:prstGeom prst="rect">
            <a:avLst/>
          </a:prstGeom>
          <a:noFill/>
          <a:ln w="0">
            <a:noFill/>
          </a:ln>
        </p:spPr>
        <p:txBody>
          <a:bodyPr wrap="none" lIns="0" rIns="0" tIns="0" bIns="0" anchor="t">
            <a:spAutoFit/>
          </a:bodyPr>
          <a:p>
            <a:r>
              <a:rPr b="1" lang="en-US" sz="889" strike="noStrike" u="none">
                <a:solidFill>
                  <a:srgbClr val="047857"/>
                </a:solidFill>
                <a:effectLst/>
                <a:uFillTx/>
                <a:latin typeface="DejaVuSans"/>
                <a:ea typeface="DejaVuSans"/>
              </a:rPr>
              <a:t>2024</a:t>
            </a:r>
            <a:endParaRPr b="0" lang="en-US" sz="889" strike="noStrike" u="none">
              <a:solidFill>
                <a:srgbClr val="000000"/>
              </a:solidFill>
              <a:effectLst/>
              <a:uFillTx/>
              <a:latin typeface="Times New Roman"/>
            </a:endParaRPr>
          </a:p>
        </p:txBody>
      </p:sp>
      <p:pic>
        <p:nvPicPr>
          <p:cNvPr id="1054" name="" descr=""/>
          <p:cNvPicPr/>
          <p:nvPr/>
        </p:nvPicPr>
        <p:blipFill>
          <a:blip r:embed="rId26"/>
          <a:stretch/>
        </p:blipFill>
        <p:spPr>
          <a:xfrm>
            <a:off x="6123240" y="2681280"/>
            <a:ext cx="56160" cy="84240"/>
          </a:xfrm>
          <a:prstGeom prst="rect">
            <a:avLst/>
          </a:prstGeom>
          <a:noFill/>
          <a:ln w="0">
            <a:noFill/>
          </a:ln>
        </p:spPr>
      </p:pic>
      <p:sp>
        <p:nvSpPr>
          <p:cNvPr id="1055" name=""/>
          <p:cNvSpPr txBox="1"/>
          <p:nvPr/>
        </p:nvSpPr>
        <p:spPr>
          <a:xfrm>
            <a:off x="6625800" y="2424240"/>
            <a:ext cx="902880" cy="142200"/>
          </a:xfrm>
          <a:prstGeom prst="rect">
            <a:avLst/>
          </a:prstGeom>
          <a:noFill/>
          <a:ln w="0">
            <a:noFill/>
          </a:ln>
        </p:spPr>
        <p:txBody>
          <a:bodyPr wrap="none" lIns="0" rIns="0" tIns="0" bIns="0" anchor="t">
            <a:spAutoFit/>
          </a:bodyPr>
          <a:p>
            <a:r>
              <a:rPr b="0" lang="zh-CN" sz="889" strike="noStrike" u="none">
                <a:solidFill>
                  <a:srgbClr val="047857"/>
                </a:solidFill>
                <a:effectLst/>
                <a:uFillTx/>
                <a:latin typeface="WenQuanYiZenHei"/>
                <a:ea typeface="WenQuanYiZenHei"/>
              </a:rPr>
              <a:t>年度改定新設加算</a:t>
            </a:r>
            <a:endParaRPr b="0" lang="en-US" sz="889" strike="noStrike" u="none">
              <a:solidFill>
                <a:srgbClr val="000000"/>
              </a:solidFill>
              <a:effectLst/>
              <a:uFillTx/>
              <a:latin typeface="Times New Roman"/>
            </a:endParaRPr>
          </a:p>
        </p:txBody>
      </p:sp>
      <p:sp>
        <p:nvSpPr>
          <p:cNvPr id="1056" name=""/>
          <p:cNvSpPr txBox="1"/>
          <p:nvPr/>
        </p:nvSpPr>
        <p:spPr>
          <a:xfrm>
            <a:off x="6205320" y="2664000"/>
            <a:ext cx="2094840" cy="125280"/>
          </a:xfrm>
          <a:prstGeom prst="rect">
            <a:avLst/>
          </a:prstGeom>
          <a:noFill/>
          <a:ln w="0">
            <a:noFill/>
          </a:ln>
        </p:spPr>
        <p:txBody>
          <a:bodyPr wrap="none" lIns="0" rIns="0" tIns="0" bIns="0" anchor="t">
            <a:spAutoFit/>
          </a:bodyPr>
          <a:p>
            <a:r>
              <a:rPr b="0" lang="zh-CN" sz="780" strike="noStrike" u="none">
                <a:solidFill>
                  <a:srgbClr val="4b5563"/>
                </a:solidFill>
                <a:effectLst/>
                <a:uFillTx/>
                <a:latin typeface="WenQuanYiZenHei"/>
                <a:ea typeface="WenQuanYiZenHei"/>
              </a:rPr>
              <a:t>ベースアップ評価料（医療従事者賃上げ目的）</a:t>
            </a:r>
            <a:endParaRPr b="0" lang="en-US" sz="780" strike="noStrike" u="none">
              <a:solidFill>
                <a:srgbClr val="000000"/>
              </a:solidFill>
              <a:effectLst/>
              <a:uFillTx/>
              <a:latin typeface="Times New Roman"/>
            </a:endParaRPr>
          </a:p>
        </p:txBody>
      </p:sp>
      <p:sp>
        <p:nvSpPr>
          <p:cNvPr id="1057" name=""/>
          <p:cNvSpPr txBox="1"/>
          <p:nvPr/>
        </p:nvSpPr>
        <p:spPr>
          <a:xfrm>
            <a:off x="6233760" y="2828880"/>
            <a:ext cx="84240" cy="99360"/>
          </a:xfrm>
          <a:prstGeom prst="rect">
            <a:avLst/>
          </a:prstGeom>
          <a:noFill/>
          <a:ln w="0">
            <a:noFill/>
          </a:ln>
        </p:spPr>
        <p:txBody>
          <a:bodyPr wrap="none" lIns="0" rIns="0" tIns="0" bIns="0" anchor="t">
            <a:spAutoFit/>
          </a:bodyPr>
          <a:p>
            <a:r>
              <a:rPr b="0" lang="en-US" sz="670" strike="noStrike" u="none">
                <a:solidFill>
                  <a:srgbClr val="4b5563"/>
                </a:solidFill>
                <a:effectLst/>
                <a:uFillTx/>
                <a:latin typeface="DejaVuSans"/>
                <a:ea typeface="DejaVuSans"/>
              </a:rPr>
              <a:t>- </a:t>
            </a:r>
            <a:endParaRPr b="0" lang="en-US" sz="670" strike="noStrike" u="none">
              <a:solidFill>
                <a:srgbClr val="000000"/>
              </a:solidFill>
              <a:effectLst/>
              <a:uFillTx/>
              <a:latin typeface="Times New Roman"/>
            </a:endParaRPr>
          </a:p>
        </p:txBody>
      </p:sp>
      <p:sp>
        <p:nvSpPr>
          <p:cNvPr id="1058" name=""/>
          <p:cNvSpPr txBox="1"/>
          <p:nvPr/>
        </p:nvSpPr>
        <p:spPr>
          <a:xfrm>
            <a:off x="6291000" y="2825640"/>
            <a:ext cx="1205640" cy="108720"/>
          </a:xfrm>
          <a:prstGeom prst="rect">
            <a:avLst/>
          </a:prstGeom>
          <a:noFill/>
          <a:ln w="0">
            <a:noFill/>
          </a:ln>
        </p:spPr>
        <p:txBody>
          <a:bodyPr wrap="none" lIns="0" rIns="0" tIns="0" bIns="0" anchor="t">
            <a:spAutoFit/>
          </a:bodyPr>
          <a:p>
            <a:r>
              <a:rPr b="0" lang="zh-CN" sz="670" strike="noStrike" u="none">
                <a:solidFill>
                  <a:srgbClr val="4b5563"/>
                </a:solidFill>
                <a:effectLst/>
                <a:uFillTx/>
                <a:latin typeface="WenQuanYiZenHei"/>
                <a:ea typeface="WenQuanYiZenHei"/>
              </a:rPr>
              <a:t>外来・在宅ベースアップ評価料</a:t>
            </a:r>
            <a:endParaRPr b="0" lang="en-US" sz="670" strike="noStrike" u="none">
              <a:solidFill>
                <a:srgbClr val="000000"/>
              </a:solidFill>
              <a:effectLst/>
              <a:uFillTx/>
              <a:latin typeface="Times New Roman"/>
            </a:endParaRPr>
          </a:p>
        </p:txBody>
      </p:sp>
      <p:sp>
        <p:nvSpPr>
          <p:cNvPr id="1059" name=""/>
          <p:cNvSpPr txBox="1"/>
          <p:nvPr/>
        </p:nvSpPr>
        <p:spPr>
          <a:xfrm>
            <a:off x="7477560" y="2828880"/>
            <a:ext cx="121320" cy="99360"/>
          </a:xfrm>
          <a:prstGeom prst="rect">
            <a:avLst/>
          </a:prstGeom>
          <a:noFill/>
          <a:ln w="0">
            <a:noFill/>
          </a:ln>
        </p:spPr>
        <p:txBody>
          <a:bodyPr wrap="none" lIns="0" rIns="0" tIns="0" bIns="0" anchor="t">
            <a:spAutoFit/>
          </a:bodyPr>
          <a:p>
            <a:r>
              <a:rPr b="0" lang="en-US" sz="670" strike="noStrike" u="none">
                <a:solidFill>
                  <a:srgbClr val="4b5563"/>
                </a:solidFill>
                <a:effectLst/>
                <a:uFillTx/>
                <a:latin typeface="DejaVuSans"/>
                <a:ea typeface="DejaVuSans"/>
              </a:rPr>
              <a:t>(I):</a:t>
            </a:r>
            <a:endParaRPr b="0" lang="en-US" sz="670" strike="noStrike" u="none">
              <a:solidFill>
                <a:srgbClr val="000000"/>
              </a:solidFill>
              <a:effectLst/>
              <a:uFillTx/>
              <a:latin typeface="Times New Roman"/>
            </a:endParaRPr>
          </a:p>
        </p:txBody>
      </p:sp>
      <p:sp>
        <p:nvSpPr>
          <p:cNvPr id="1060" name=""/>
          <p:cNvSpPr txBox="1"/>
          <p:nvPr/>
        </p:nvSpPr>
        <p:spPr>
          <a:xfrm>
            <a:off x="6290280" y="2967120"/>
            <a:ext cx="256680" cy="108720"/>
          </a:xfrm>
          <a:prstGeom prst="rect">
            <a:avLst/>
          </a:prstGeom>
          <a:noFill/>
          <a:ln w="0">
            <a:noFill/>
          </a:ln>
        </p:spPr>
        <p:txBody>
          <a:bodyPr wrap="none" lIns="0" rIns="0" tIns="0" bIns="0" anchor="t">
            <a:spAutoFit/>
          </a:bodyPr>
          <a:p>
            <a:r>
              <a:rPr b="0" lang="zh-CN" sz="670" strike="noStrike" u="none">
                <a:solidFill>
                  <a:srgbClr val="4b5563"/>
                </a:solidFill>
                <a:effectLst/>
                <a:uFillTx/>
                <a:latin typeface="WenQuanYiZenHei"/>
                <a:ea typeface="WenQuanYiZenHei"/>
              </a:rPr>
              <a:t>初診時</a:t>
            </a:r>
            <a:endParaRPr b="0" lang="en-US" sz="670" strike="noStrike" u="none">
              <a:solidFill>
                <a:srgbClr val="000000"/>
              </a:solidFill>
              <a:effectLst/>
              <a:uFillTx/>
              <a:latin typeface="Times New Roman"/>
            </a:endParaRPr>
          </a:p>
        </p:txBody>
      </p:sp>
      <p:sp>
        <p:nvSpPr>
          <p:cNvPr id="1061" name=""/>
          <p:cNvSpPr txBox="1"/>
          <p:nvPr/>
        </p:nvSpPr>
        <p:spPr>
          <a:xfrm>
            <a:off x="6544440" y="2970000"/>
            <a:ext cx="84240" cy="99360"/>
          </a:xfrm>
          <a:prstGeom prst="rect">
            <a:avLst/>
          </a:prstGeom>
          <a:noFill/>
          <a:ln w="0">
            <a:noFill/>
          </a:ln>
        </p:spPr>
        <p:txBody>
          <a:bodyPr wrap="none" lIns="0" rIns="0" tIns="0" bIns="0" anchor="t">
            <a:spAutoFit/>
          </a:bodyPr>
          <a:p>
            <a:r>
              <a:rPr b="0" lang="en-US" sz="670" strike="noStrike" u="none">
                <a:solidFill>
                  <a:srgbClr val="4b5563"/>
                </a:solidFill>
                <a:effectLst/>
                <a:uFillTx/>
                <a:latin typeface="DejaVuSans"/>
                <a:ea typeface="DejaVuSans"/>
              </a:rPr>
              <a:t>8</a:t>
            </a:r>
            <a:endParaRPr b="0" lang="en-US" sz="670" strike="noStrike" u="none">
              <a:solidFill>
                <a:srgbClr val="000000"/>
              </a:solidFill>
              <a:effectLst/>
              <a:uFillTx/>
              <a:latin typeface="Times New Roman"/>
            </a:endParaRPr>
          </a:p>
        </p:txBody>
      </p:sp>
      <p:sp>
        <p:nvSpPr>
          <p:cNvPr id="1062" name=""/>
          <p:cNvSpPr txBox="1"/>
          <p:nvPr/>
        </p:nvSpPr>
        <p:spPr>
          <a:xfrm>
            <a:off x="6598440" y="2967120"/>
            <a:ext cx="427320" cy="108720"/>
          </a:xfrm>
          <a:prstGeom prst="rect">
            <a:avLst/>
          </a:prstGeom>
          <a:noFill/>
          <a:ln w="0">
            <a:noFill/>
          </a:ln>
        </p:spPr>
        <p:txBody>
          <a:bodyPr wrap="none" lIns="0" rIns="0" tIns="0" bIns="0" anchor="t">
            <a:spAutoFit/>
          </a:bodyPr>
          <a:p>
            <a:r>
              <a:rPr b="0" lang="zh-CN" sz="670" strike="noStrike" u="none">
                <a:solidFill>
                  <a:srgbClr val="4b5563"/>
                </a:solidFill>
                <a:effectLst/>
                <a:uFillTx/>
                <a:latin typeface="WenQuanYiZenHei"/>
                <a:ea typeface="WenQuanYiZenHei"/>
              </a:rPr>
              <a:t>点、再診時</a:t>
            </a:r>
            <a:endParaRPr b="0" lang="en-US" sz="670" strike="noStrike" u="none">
              <a:solidFill>
                <a:srgbClr val="000000"/>
              </a:solidFill>
              <a:effectLst/>
              <a:uFillTx/>
              <a:latin typeface="Times New Roman"/>
            </a:endParaRPr>
          </a:p>
        </p:txBody>
      </p:sp>
      <p:sp>
        <p:nvSpPr>
          <p:cNvPr id="1063" name=""/>
          <p:cNvSpPr txBox="1"/>
          <p:nvPr/>
        </p:nvSpPr>
        <p:spPr>
          <a:xfrm>
            <a:off x="7022160" y="2970000"/>
            <a:ext cx="84240" cy="99360"/>
          </a:xfrm>
          <a:prstGeom prst="rect">
            <a:avLst/>
          </a:prstGeom>
          <a:noFill/>
          <a:ln w="0">
            <a:noFill/>
          </a:ln>
        </p:spPr>
        <p:txBody>
          <a:bodyPr wrap="none" lIns="0" rIns="0" tIns="0" bIns="0" anchor="t">
            <a:spAutoFit/>
          </a:bodyPr>
          <a:p>
            <a:r>
              <a:rPr b="0" lang="en-US" sz="670" strike="noStrike" u="none">
                <a:solidFill>
                  <a:srgbClr val="4b5563"/>
                </a:solidFill>
                <a:effectLst/>
                <a:uFillTx/>
                <a:latin typeface="DejaVuSans"/>
                <a:ea typeface="DejaVuSans"/>
              </a:rPr>
              <a:t>2</a:t>
            </a:r>
            <a:endParaRPr b="0" lang="en-US" sz="670" strike="noStrike" u="none">
              <a:solidFill>
                <a:srgbClr val="000000"/>
              </a:solidFill>
              <a:effectLst/>
              <a:uFillTx/>
              <a:latin typeface="Times New Roman"/>
            </a:endParaRPr>
          </a:p>
        </p:txBody>
      </p:sp>
      <p:sp>
        <p:nvSpPr>
          <p:cNvPr id="1064" name=""/>
          <p:cNvSpPr txBox="1"/>
          <p:nvPr/>
        </p:nvSpPr>
        <p:spPr>
          <a:xfrm>
            <a:off x="7075800" y="2967120"/>
            <a:ext cx="260640" cy="108720"/>
          </a:xfrm>
          <a:prstGeom prst="rect">
            <a:avLst/>
          </a:prstGeom>
          <a:noFill/>
          <a:ln w="0">
            <a:noFill/>
          </a:ln>
        </p:spPr>
        <p:txBody>
          <a:bodyPr wrap="none" lIns="0" rIns="0" tIns="0" bIns="0" anchor="t">
            <a:spAutoFit/>
          </a:bodyPr>
          <a:p>
            <a:r>
              <a:rPr b="0" lang="zh-CN" sz="670" strike="noStrike" u="none">
                <a:solidFill>
                  <a:srgbClr val="4b5563"/>
                </a:solidFill>
                <a:effectLst/>
                <a:uFillTx/>
                <a:latin typeface="WenQuanYiZenHei"/>
                <a:ea typeface="WenQuanYiZenHei"/>
              </a:rPr>
              <a:t>点など</a:t>
            </a:r>
            <a:endParaRPr b="0" lang="en-US" sz="670" strike="noStrike" u="none">
              <a:solidFill>
                <a:srgbClr val="000000"/>
              </a:solidFill>
              <a:effectLst/>
              <a:uFillTx/>
              <a:latin typeface="Times New Roman"/>
            </a:endParaRPr>
          </a:p>
        </p:txBody>
      </p:sp>
      <p:sp>
        <p:nvSpPr>
          <p:cNvPr id="1065" name=""/>
          <p:cNvSpPr txBox="1"/>
          <p:nvPr/>
        </p:nvSpPr>
        <p:spPr>
          <a:xfrm>
            <a:off x="6233760" y="3111120"/>
            <a:ext cx="84240" cy="99360"/>
          </a:xfrm>
          <a:prstGeom prst="rect">
            <a:avLst/>
          </a:prstGeom>
          <a:noFill/>
          <a:ln w="0">
            <a:noFill/>
          </a:ln>
        </p:spPr>
        <p:txBody>
          <a:bodyPr wrap="none" lIns="0" rIns="0" tIns="0" bIns="0" anchor="t">
            <a:spAutoFit/>
          </a:bodyPr>
          <a:p>
            <a:r>
              <a:rPr b="0" lang="en-US" sz="670" strike="noStrike" u="none">
                <a:solidFill>
                  <a:srgbClr val="4b5563"/>
                </a:solidFill>
                <a:effectLst/>
                <a:uFillTx/>
                <a:latin typeface="DejaVuSans"/>
                <a:ea typeface="DejaVuSans"/>
              </a:rPr>
              <a:t>- </a:t>
            </a:r>
            <a:endParaRPr b="0" lang="en-US" sz="670" strike="noStrike" u="none">
              <a:solidFill>
                <a:srgbClr val="000000"/>
              </a:solidFill>
              <a:effectLst/>
              <a:uFillTx/>
              <a:latin typeface="Times New Roman"/>
            </a:endParaRPr>
          </a:p>
        </p:txBody>
      </p:sp>
      <p:sp>
        <p:nvSpPr>
          <p:cNvPr id="1066" name=""/>
          <p:cNvSpPr/>
          <p:nvPr/>
        </p:nvSpPr>
        <p:spPr>
          <a:xfrm>
            <a:off x="225720" y="3415680"/>
            <a:ext cx="8588160" cy="480600"/>
          </a:xfrm>
          <a:custGeom>
            <a:avLst/>
            <a:gdLst/>
            <a:ahLst/>
            <a:rect l="0" t="0" r="r" b="b"/>
            <a:pathLst>
              <a:path w="23856" h="1335">
                <a:moveTo>
                  <a:pt x="0" y="1178"/>
                </a:moveTo>
                <a:lnTo>
                  <a:pt x="0" y="157"/>
                </a:lnTo>
                <a:cubicBezTo>
                  <a:pt x="0" y="147"/>
                  <a:pt x="1" y="136"/>
                  <a:pt x="3" y="126"/>
                </a:cubicBezTo>
                <a:cubicBezTo>
                  <a:pt x="5" y="116"/>
                  <a:pt x="8" y="106"/>
                  <a:pt x="12" y="97"/>
                </a:cubicBezTo>
                <a:cubicBezTo>
                  <a:pt x="16" y="87"/>
                  <a:pt x="21" y="78"/>
                  <a:pt x="27" y="70"/>
                </a:cubicBezTo>
                <a:cubicBezTo>
                  <a:pt x="32" y="61"/>
                  <a:pt x="39" y="53"/>
                  <a:pt x="46" y="46"/>
                </a:cubicBezTo>
                <a:cubicBezTo>
                  <a:pt x="54" y="39"/>
                  <a:pt x="61" y="32"/>
                  <a:pt x="70" y="26"/>
                </a:cubicBezTo>
                <a:cubicBezTo>
                  <a:pt x="79" y="21"/>
                  <a:pt x="88" y="16"/>
                  <a:pt x="97" y="12"/>
                </a:cubicBezTo>
                <a:cubicBezTo>
                  <a:pt x="107" y="8"/>
                  <a:pt x="116" y="5"/>
                  <a:pt x="127" y="3"/>
                </a:cubicBezTo>
                <a:cubicBezTo>
                  <a:pt x="137" y="1"/>
                  <a:pt x="147" y="0"/>
                  <a:pt x="157" y="0"/>
                </a:cubicBezTo>
                <a:lnTo>
                  <a:pt x="23699" y="0"/>
                </a:lnTo>
                <a:cubicBezTo>
                  <a:pt x="23710" y="0"/>
                  <a:pt x="23720" y="1"/>
                  <a:pt x="23730" y="3"/>
                </a:cubicBezTo>
                <a:cubicBezTo>
                  <a:pt x="23740" y="5"/>
                  <a:pt x="23750" y="8"/>
                  <a:pt x="23759" y="12"/>
                </a:cubicBezTo>
                <a:cubicBezTo>
                  <a:pt x="23769" y="16"/>
                  <a:pt x="23778" y="21"/>
                  <a:pt x="23787" y="26"/>
                </a:cubicBezTo>
                <a:cubicBezTo>
                  <a:pt x="23795" y="32"/>
                  <a:pt x="23803" y="39"/>
                  <a:pt x="23810" y="46"/>
                </a:cubicBezTo>
                <a:cubicBezTo>
                  <a:pt x="23818" y="53"/>
                  <a:pt x="23824" y="61"/>
                  <a:pt x="23830" y="70"/>
                </a:cubicBezTo>
                <a:cubicBezTo>
                  <a:pt x="23836" y="78"/>
                  <a:pt x="23840" y="87"/>
                  <a:pt x="23844" y="97"/>
                </a:cubicBezTo>
                <a:cubicBezTo>
                  <a:pt x="23848" y="106"/>
                  <a:pt x="23851" y="116"/>
                  <a:pt x="23853" y="126"/>
                </a:cubicBezTo>
                <a:cubicBezTo>
                  <a:pt x="23855" y="136"/>
                  <a:pt x="23856" y="147"/>
                  <a:pt x="23856" y="157"/>
                </a:cubicBezTo>
                <a:lnTo>
                  <a:pt x="23856" y="1178"/>
                </a:lnTo>
                <a:cubicBezTo>
                  <a:pt x="23856" y="1188"/>
                  <a:pt x="23855" y="1199"/>
                  <a:pt x="23853" y="1209"/>
                </a:cubicBezTo>
                <a:cubicBezTo>
                  <a:pt x="23851" y="1219"/>
                  <a:pt x="23848" y="1229"/>
                  <a:pt x="23844" y="1238"/>
                </a:cubicBezTo>
                <a:cubicBezTo>
                  <a:pt x="23840" y="1248"/>
                  <a:pt x="23836" y="1257"/>
                  <a:pt x="23830" y="1265"/>
                </a:cubicBezTo>
                <a:cubicBezTo>
                  <a:pt x="23824" y="1274"/>
                  <a:pt x="23818" y="1282"/>
                  <a:pt x="23810" y="1289"/>
                </a:cubicBezTo>
                <a:cubicBezTo>
                  <a:pt x="23803" y="1296"/>
                  <a:pt x="23795" y="1303"/>
                  <a:pt x="23787" y="1309"/>
                </a:cubicBezTo>
                <a:cubicBezTo>
                  <a:pt x="23778" y="1314"/>
                  <a:pt x="23769" y="1319"/>
                  <a:pt x="23759" y="1323"/>
                </a:cubicBezTo>
                <a:cubicBezTo>
                  <a:pt x="23750" y="1327"/>
                  <a:pt x="23740" y="1330"/>
                  <a:pt x="23730" y="1332"/>
                </a:cubicBezTo>
                <a:cubicBezTo>
                  <a:pt x="23720" y="1334"/>
                  <a:pt x="23710" y="1335"/>
                  <a:pt x="23699" y="1335"/>
                </a:cubicBezTo>
                <a:lnTo>
                  <a:pt x="157" y="1335"/>
                </a:lnTo>
                <a:cubicBezTo>
                  <a:pt x="147" y="1335"/>
                  <a:pt x="137" y="1334"/>
                  <a:pt x="127" y="1332"/>
                </a:cubicBezTo>
                <a:cubicBezTo>
                  <a:pt x="116" y="1330"/>
                  <a:pt x="107" y="1327"/>
                  <a:pt x="97" y="1323"/>
                </a:cubicBezTo>
                <a:cubicBezTo>
                  <a:pt x="88" y="1319"/>
                  <a:pt x="79" y="1314"/>
                  <a:pt x="70" y="1309"/>
                </a:cubicBezTo>
                <a:cubicBezTo>
                  <a:pt x="61" y="1303"/>
                  <a:pt x="54" y="1296"/>
                  <a:pt x="46" y="1289"/>
                </a:cubicBezTo>
                <a:cubicBezTo>
                  <a:pt x="39" y="1282"/>
                  <a:pt x="32" y="1274"/>
                  <a:pt x="27" y="1265"/>
                </a:cubicBezTo>
                <a:cubicBezTo>
                  <a:pt x="21" y="1257"/>
                  <a:pt x="16" y="1248"/>
                  <a:pt x="12" y="1238"/>
                </a:cubicBezTo>
                <a:cubicBezTo>
                  <a:pt x="8" y="1229"/>
                  <a:pt x="5" y="1219"/>
                  <a:pt x="3" y="1209"/>
                </a:cubicBezTo>
                <a:cubicBezTo>
                  <a:pt x="1" y="1199"/>
                  <a:pt x="0" y="1188"/>
                  <a:pt x="0" y="1178"/>
                </a:cubicBezTo>
                <a:close/>
              </a:path>
            </a:pathLst>
          </a:custGeom>
          <a:solidFill>
            <a:srgbClr val="ffffff">
              <a:alpha val="8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067" name="" descr=""/>
          <p:cNvPicPr/>
          <p:nvPr/>
        </p:nvPicPr>
        <p:blipFill>
          <a:blip r:embed="rId27"/>
          <a:stretch/>
        </p:blipFill>
        <p:spPr>
          <a:xfrm>
            <a:off x="310680" y="3521880"/>
            <a:ext cx="77400" cy="98640"/>
          </a:xfrm>
          <a:prstGeom prst="rect">
            <a:avLst/>
          </a:prstGeom>
          <a:noFill/>
          <a:ln w="0">
            <a:noFill/>
          </a:ln>
        </p:spPr>
      </p:pic>
      <p:sp>
        <p:nvSpPr>
          <p:cNvPr id="1068" name=""/>
          <p:cNvSpPr txBox="1"/>
          <p:nvPr/>
        </p:nvSpPr>
        <p:spPr>
          <a:xfrm>
            <a:off x="6291000" y="3108240"/>
            <a:ext cx="949680" cy="108720"/>
          </a:xfrm>
          <a:prstGeom prst="rect">
            <a:avLst/>
          </a:prstGeom>
          <a:noFill/>
          <a:ln w="0">
            <a:noFill/>
          </a:ln>
        </p:spPr>
        <p:txBody>
          <a:bodyPr wrap="none" lIns="0" rIns="0" tIns="0" bIns="0" anchor="t">
            <a:spAutoFit/>
          </a:bodyPr>
          <a:p>
            <a:r>
              <a:rPr b="0" lang="zh-CN" sz="670" strike="noStrike" u="none">
                <a:solidFill>
                  <a:srgbClr val="4b5563"/>
                </a:solidFill>
                <a:effectLst/>
                <a:uFillTx/>
                <a:latin typeface="WenQuanYiZenHei"/>
                <a:ea typeface="WenQuanYiZenHei"/>
              </a:rPr>
              <a:t>入院ベースアップ評価料</a:t>
            </a:r>
            <a:endParaRPr b="0" lang="en-US" sz="670" strike="noStrike" u="none">
              <a:solidFill>
                <a:srgbClr val="000000"/>
              </a:solidFill>
              <a:effectLst/>
              <a:uFillTx/>
              <a:latin typeface="Times New Roman"/>
            </a:endParaRPr>
          </a:p>
        </p:txBody>
      </p:sp>
      <p:sp>
        <p:nvSpPr>
          <p:cNvPr id="1069" name=""/>
          <p:cNvSpPr txBox="1"/>
          <p:nvPr/>
        </p:nvSpPr>
        <p:spPr>
          <a:xfrm>
            <a:off x="444960" y="3511440"/>
            <a:ext cx="705600" cy="125280"/>
          </a:xfrm>
          <a:prstGeom prst="rect">
            <a:avLst/>
          </a:prstGeom>
          <a:noFill/>
          <a:ln w="0">
            <a:noFill/>
          </a:ln>
        </p:spPr>
        <p:txBody>
          <a:bodyPr wrap="none" lIns="0" rIns="0" tIns="0" bIns="0" anchor="t">
            <a:spAutoFit/>
          </a:bodyPr>
          <a:p>
            <a:r>
              <a:rPr b="0" lang="zh-CN" sz="780" strike="noStrike" u="none">
                <a:solidFill>
                  <a:srgbClr val="1e40af"/>
                </a:solidFill>
                <a:effectLst/>
                <a:uFillTx/>
                <a:latin typeface="WenQuanYiZenHei"/>
                <a:ea typeface="WenQuanYiZenHei"/>
              </a:rPr>
              <a:t>算定のポイント</a:t>
            </a:r>
            <a:endParaRPr b="0" lang="en-US" sz="780" strike="noStrike" u="none">
              <a:solidFill>
                <a:srgbClr val="000000"/>
              </a:solidFill>
              <a:effectLst/>
              <a:uFillTx/>
              <a:latin typeface="Times New Roman"/>
            </a:endParaRPr>
          </a:p>
        </p:txBody>
      </p:sp>
      <p:sp>
        <p:nvSpPr>
          <p:cNvPr id="1070" name=""/>
          <p:cNvSpPr txBox="1"/>
          <p:nvPr/>
        </p:nvSpPr>
        <p:spPr>
          <a:xfrm>
            <a:off x="310680" y="3681000"/>
            <a:ext cx="4209840" cy="125280"/>
          </a:xfrm>
          <a:prstGeom prst="rect">
            <a:avLst/>
          </a:prstGeom>
          <a:noFill/>
          <a:ln w="0">
            <a:noFill/>
          </a:ln>
        </p:spPr>
        <p:txBody>
          <a:bodyPr wrap="none" lIns="0" rIns="0" tIns="0" bIns="0" anchor="t">
            <a:spAutoFit/>
          </a:bodyPr>
          <a:p>
            <a:r>
              <a:rPr b="0" lang="zh-CN" sz="780" strike="noStrike" u="none">
                <a:solidFill>
                  <a:srgbClr val="374151"/>
                </a:solidFill>
                <a:effectLst/>
                <a:uFillTx/>
                <a:latin typeface="WenQuanYiZenHei"/>
                <a:ea typeface="WenQuanYiZenHei"/>
              </a:rPr>
              <a:t>共通加算は算定漏れがないように日々の業務フローの中で確認体制を整えることが重要です。</a:t>
            </a:r>
            <a:endParaRPr b="0" lang="en-US" sz="780" strike="noStrike" u="none">
              <a:solidFill>
                <a:srgbClr val="000000"/>
              </a:solidFill>
              <a:effectLst/>
              <a:uFillTx/>
              <a:latin typeface="Times New Roman"/>
            </a:endParaRPr>
          </a:p>
        </p:txBody>
      </p:sp>
      <p:sp>
        <p:nvSpPr>
          <p:cNvPr id="1071" name=""/>
          <p:cNvSpPr txBox="1"/>
          <p:nvPr/>
        </p:nvSpPr>
        <p:spPr>
          <a:xfrm>
            <a:off x="4463280" y="3684240"/>
            <a:ext cx="252720" cy="114840"/>
          </a:xfrm>
          <a:prstGeom prst="rect">
            <a:avLst/>
          </a:prstGeom>
          <a:noFill/>
          <a:ln w="0">
            <a:noFill/>
          </a:ln>
        </p:spPr>
        <p:txBody>
          <a:bodyPr wrap="none" lIns="0" rIns="0" tIns="0" bIns="0" anchor="t">
            <a:spAutoFit/>
          </a:bodyPr>
          <a:p>
            <a:r>
              <a:rPr b="0" lang="en-US" sz="780" strike="noStrike" u="none">
                <a:solidFill>
                  <a:srgbClr val="374151"/>
                </a:solidFill>
                <a:effectLst/>
                <a:uFillTx/>
                <a:latin typeface="DejaVuSans"/>
                <a:ea typeface="DejaVuSans"/>
              </a:rPr>
              <a:t>2024</a:t>
            </a:r>
            <a:endParaRPr b="0" lang="en-US" sz="780" strike="noStrike" u="none">
              <a:solidFill>
                <a:srgbClr val="000000"/>
              </a:solidFill>
              <a:effectLst/>
              <a:uFillTx/>
              <a:latin typeface="Times New Roman"/>
            </a:endParaRPr>
          </a:p>
        </p:txBody>
      </p:sp>
      <p:sp>
        <p:nvSpPr>
          <p:cNvPr id="1072" name=""/>
          <p:cNvSpPr txBox="1"/>
          <p:nvPr/>
        </p:nvSpPr>
        <p:spPr>
          <a:xfrm>
            <a:off x="4714920" y="3681000"/>
            <a:ext cx="2601720" cy="125280"/>
          </a:xfrm>
          <a:prstGeom prst="rect">
            <a:avLst/>
          </a:prstGeom>
          <a:noFill/>
          <a:ln w="0">
            <a:noFill/>
          </a:ln>
        </p:spPr>
        <p:txBody>
          <a:bodyPr wrap="none" lIns="0" rIns="0" tIns="0" bIns="0" anchor="t">
            <a:spAutoFit/>
          </a:bodyPr>
          <a:p>
            <a:r>
              <a:rPr b="0" lang="zh-CN" sz="780" strike="noStrike" u="none">
                <a:solidFill>
                  <a:srgbClr val="374151"/>
                </a:solidFill>
                <a:effectLst/>
                <a:uFillTx/>
                <a:latin typeface="WenQuanYiZenHei"/>
                <a:ea typeface="WenQuanYiZenHei"/>
              </a:rPr>
              <a:t>年度改定による点数変更や新設加算にも注意しましょう。</a:t>
            </a:r>
            <a:endParaRPr b="0" lang="en-US" sz="78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73" name="" descr=""/>
          <p:cNvPicPr/>
          <p:nvPr/>
        </p:nvPicPr>
        <p:blipFill>
          <a:blip r:embed="rId1"/>
          <a:stretch/>
        </p:blipFill>
        <p:spPr>
          <a:xfrm>
            <a:off x="0" y="57240"/>
            <a:ext cx="8407440" cy="4728960"/>
          </a:xfrm>
          <a:prstGeom prst="rect">
            <a:avLst/>
          </a:prstGeom>
          <a:noFill/>
          <a:ln w="0">
            <a:noFill/>
          </a:ln>
        </p:spPr>
      </p:pic>
      <p:pic>
        <p:nvPicPr>
          <p:cNvPr id="1074" name="" descr=""/>
          <p:cNvPicPr/>
          <p:nvPr/>
        </p:nvPicPr>
        <p:blipFill>
          <a:blip r:embed="rId2"/>
          <a:stretch/>
        </p:blipFill>
        <p:spPr>
          <a:xfrm>
            <a:off x="6108840" y="-928080"/>
            <a:ext cx="3283920" cy="3283920"/>
          </a:xfrm>
          <a:prstGeom prst="rect">
            <a:avLst/>
          </a:prstGeom>
          <a:noFill/>
          <a:ln w="0">
            <a:noFill/>
          </a:ln>
        </p:spPr>
      </p:pic>
      <p:pic>
        <p:nvPicPr>
          <p:cNvPr id="1075" name="" descr=""/>
          <p:cNvPicPr/>
          <p:nvPr/>
        </p:nvPicPr>
        <p:blipFill>
          <a:blip r:embed="rId3"/>
          <a:stretch/>
        </p:blipFill>
        <p:spPr>
          <a:xfrm>
            <a:off x="-657000" y="3144240"/>
            <a:ext cx="2298600" cy="2298600"/>
          </a:xfrm>
          <a:prstGeom prst="rect">
            <a:avLst/>
          </a:prstGeom>
          <a:noFill/>
          <a:ln w="0">
            <a:noFill/>
          </a:ln>
        </p:spPr>
      </p:pic>
      <p:pic>
        <p:nvPicPr>
          <p:cNvPr id="1076" name="" descr=""/>
          <p:cNvPicPr/>
          <p:nvPr/>
        </p:nvPicPr>
        <p:blipFill>
          <a:blip r:embed="rId4"/>
          <a:stretch/>
        </p:blipFill>
        <p:spPr>
          <a:xfrm>
            <a:off x="6798240" y="4615560"/>
            <a:ext cx="98280" cy="78480"/>
          </a:xfrm>
          <a:prstGeom prst="rect">
            <a:avLst/>
          </a:prstGeom>
          <a:noFill/>
          <a:ln w="0">
            <a:noFill/>
          </a:ln>
        </p:spPr>
      </p:pic>
      <p:sp>
        <p:nvSpPr>
          <p:cNvPr id="1077" name=""/>
          <p:cNvSpPr txBox="1"/>
          <p:nvPr/>
        </p:nvSpPr>
        <p:spPr>
          <a:xfrm>
            <a:off x="6948720" y="4605480"/>
            <a:ext cx="317880" cy="99720"/>
          </a:xfrm>
          <a:prstGeom prst="rect">
            <a:avLst/>
          </a:prstGeom>
          <a:noFill/>
          <a:ln w="0">
            <a:noFill/>
          </a:ln>
        </p:spPr>
        <p:txBody>
          <a:bodyPr wrap="none" lIns="0" rIns="0" tIns="0" bIns="0" anchor="t">
            <a:spAutoFit/>
          </a:bodyPr>
          <a:p>
            <a:r>
              <a:rPr b="0" lang="zh-CN" sz="620" strike="noStrike" u="none">
                <a:solidFill>
                  <a:srgbClr val="6b7280"/>
                </a:solidFill>
                <a:effectLst/>
                <a:uFillTx/>
                <a:latin typeface="WenQuanYiZenHei"/>
                <a:ea typeface="WenQuanYiZenHei"/>
              </a:rPr>
              <a:t>東和病院</a:t>
            </a:r>
            <a:endParaRPr b="0" lang="en-US" sz="620" strike="noStrike" u="none">
              <a:solidFill>
                <a:srgbClr val="000000"/>
              </a:solidFill>
              <a:effectLst/>
              <a:uFillTx/>
              <a:latin typeface="Times New Roman"/>
            </a:endParaRPr>
          </a:p>
        </p:txBody>
      </p:sp>
      <p:sp>
        <p:nvSpPr>
          <p:cNvPr id="1078" name=""/>
          <p:cNvSpPr txBox="1"/>
          <p:nvPr/>
        </p:nvSpPr>
        <p:spPr>
          <a:xfrm>
            <a:off x="7264080" y="4608360"/>
            <a:ext cx="78480" cy="91800"/>
          </a:xfrm>
          <a:prstGeom prst="rect">
            <a:avLst/>
          </a:prstGeom>
          <a:noFill/>
          <a:ln w="0">
            <a:noFill/>
          </a:ln>
        </p:spPr>
        <p:txBody>
          <a:bodyPr wrap="none" lIns="0" rIns="0" tIns="0" bIns="0" anchor="t">
            <a:spAutoFit/>
          </a:bodyPr>
          <a:p>
            <a:r>
              <a:rPr b="0" lang="en-US" sz="620" strike="noStrike" u="none">
                <a:solidFill>
                  <a:srgbClr val="6b7280"/>
                </a:solidFill>
                <a:effectLst/>
                <a:uFillTx/>
                <a:latin typeface="DejaVuSans"/>
                <a:ea typeface="DejaVuSans"/>
              </a:rPr>
              <a:t> </a:t>
            </a:r>
            <a:endParaRPr b="0" lang="en-US" sz="620" strike="noStrike" u="none">
              <a:solidFill>
                <a:srgbClr val="000000"/>
              </a:solidFill>
              <a:effectLst/>
              <a:uFillTx/>
              <a:latin typeface="Times New Roman"/>
            </a:endParaRPr>
          </a:p>
        </p:txBody>
      </p:sp>
      <p:sp>
        <p:nvSpPr>
          <p:cNvPr id="1079" name=""/>
          <p:cNvSpPr txBox="1"/>
          <p:nvPr/>
        </p:nvSpPr>
        <p:spPr>
          <a:xfrm>
            <a:off x="7289280" y="4605480"/>
            <a:ext cx="555480" cy="99720"/>
          </a:xfrm>
          <a:prstGeom prst="rect">
            <a:avLst/>
          </a:prstGeom>
          <a:noFill/>
          <a:ln w="0">
            <a:noFill/>
          </a:ln>
        </p:spPr>
        <p:txBody>
          <a:bodyPr wrap="none" lIns="0" rIns="0" tIns="0" bIns="0" anchor="t">
            <a:spAutoFit/>
          </a:bodyPr>
          <a:p>
            <a:r>
              <a:rPr b="0" lang="zh-CN" sz="620" strike="noStrike" u="none">
                <a:solidFill>
                  <a:srgbClr val="6b7280"/>
                </a:solidFill>
                <a:effectLst/>
                <a:uFillTx/>
                <a:latin typeface="WenQuanYiZenHei"/>
                <a:ea typeface="WenQuanYiZenHei"/>
              </a:rPr>
              <a:t>保険点数勉強会</a:t>
            </a:r>
            <a:endParaRPr b="0" lang="en-US" sz="620" strike="noStrike" u="none">
              <a:solidFill>
                <a:srgbClr val="000000"/>
              </a:solidFill>
              <a:effectLst/>
              <a:uFillTx/>
              <a:latin typeface="Times New Roman"/>
            </a:endParaRPr>
          </a:p>
        </p:txBody>
      </p:sp>
      <p:sp>
        <p:nvSpPr>
          <p:cNvPr id="1080" name=""/>
          <p:cNvSpPr txBox="1"/>
          <p:nvPr/>
        </p:nvSpPr>
        <p:spPr>
          <a:xfrm>
            <a:off x="7893720" y="4608360"/>
            <a:ext cx="78480" cy="91800"/>
          </a:xfrm>
          <a:prstGeom prst="rect">
            <a:avLst/>
          </a:prstGeom>
          <a:noFill/>
          <a:ln w="0">
            <a:noFill/>
          </a:ln>
        </p:spPr>
        <p:txBody>
          <a:bodyPr wrap="none" lIns="0" rIns="0" tIns="0" bIns="0" anchor="t">
            <a:spAutoFit/>
          </a:bodyPr>
          <a:p>
            <a:r>
              <a:rPr b="0" lang="en-US" sz="620" strike="noStrike" u="none">
                <a:solidFill>
                  <a:srgbClr val="6b7280"/>
                </a:solidFill>
                <a:effectLst/>
                <a:uFillTx/>
                <a:latin typeface="DejaVuSans"/>
                <a:ea typeface="DejaVuSans"/>
              </a:rPr>
              <a:t>|</a:t>
            </a:r>
            <a:endParaRPr b="0" lang="en-US" sz="620" strike="noStrike" u="none">
              <a:solidFill>
                <a:srgbClr val="000000"/>
              </a:solidFill>
              <a:effectLst/>
              <a:uFillTx/>
              <a:latin typeface="Times New Roman"/>
            </a:endParaRPr>
          </a:p>
        </p:txBody>
      </p:sp>
      <p:pic>
        <p:nvPicPr>
          <p:cNvPr id="1081" name="" descr=""/>
          <p:cNvPicPr/>
          <p:nvPr/>
        </p:nvPicPr>
        <p:blipFill>
          <a:blip r:embed="rId5"/>
          <a:stretch/>
        </p:blipFill>
        <p:spPr>
          <a:xfrm>
            <a:off x="157680" y="477360"/>
            <a:ext cx="525240" cy="25920"/>
          </a:xfrm>
          <a:prstGeom prst="rect">
            <a:avLst/>
          </a:prstGeom>
          <a:noFill/>
          <a:ln w="0">
            <a:noFill/>
          </a:ln>
        </p:spPr>
      </p:pic>
      <p:sp>
        <p:nvSpPr>
          <p:cNvPr id="1082" name=""/>
          <p:cNvSpPr txBox="1"/>
          <p:nvPr/>
        </p:nvSpPr>
        <p:spPr>
          <a:xfrm>
            <a:off x="7972560" y="4608360"/>
            <a:ext cx="279360" cy="91800"/>
          </a:xfrm>
          <a:prstGeom prst="rect">
            <a:avLst/>
          </a:prstGeom>
          <a:noFill/>
          <a:ln w="0">
            <a:noFill/>
          </a:ln>
        </p:spPr>
        <p:txBody>
          <a:bodyPr wrap="none" lIns="0" rIns="0" tIns="0" bIns="0" anchor="t">
            <a:spAutoFit/>
          </a:bodyPr>
          <a:p>
            <a:r>
              <a:rPr b="0" lang="en-US" sz="620" strike="noStrike" u="none">
                <a:solidFill>
                  <a:srgbClr val="6b7280"/>
                </a:solidFill>
                <a:effectLst/>
                <a:uFillTx/>
                <a:latin typeface="DejaVuSans"/>
                <a:ea typeface="DejaVuSans"/>
              </a:rPr>
              <a:t>12 / 15</a:t>
            </a:r>
            <a:endParaRPr b="0" lang="en-US" sz="620" strike="noStrike" u="none">
              <a:solidFill>
                <a:srgbClr val="000000"/>
              </a:solidFill>
              <a:effectLst/>
              <a:uFillTx/>
              <a:latin typeface="Times New Roman"/>
            </a:endParaRPr>
          </a:p>
        </p:txBody>
      </p:sp>
      <p:sp>
        <p:nvSpPr>
          <p:cNvPr id="1083" name=""/>
          <p:cNvSpPr txBox="1"/>
          <p:nvPr/>
        </p:nvSpPr>
        <p:spPr>
          <a:xfrm>
            <a:off x="157680" y="208800"/>
            <a:ext cx="1578240" cy="247320"/>
          </a:xfrm>
          <a:prstGeom prst="rect">
            <a:avLst/>
          </a:prstGeom>
          <a:noFill/>
          <a:ln w="0">
            <a:noFill/>
          </a:ln>
        </p:spPr>
        <p:txBody>
          <a:bodyPr wrap="none" lIns="0" rIns="0" tIns="0" bIns="0" anchor="t">
            <a:spAutoFit/>
          </a:bodyPr>
          <a:p>
            <a:r>
              <a:rPr b="0" lang="zh-CN" sz="1550" strike="noStrike" u="none">
                <a:solidFill>
                  <a:srgbClr val="1e40af"/>
                </a:solidFill>
                <a:effectLst/>
                <a:uFillTx/>
                <a:latin typeface="WenQuanYiZenHei"/>
                <a:ea typeface="WenQuanYiZenHei"/>
              </a:rPr>
              <a:t>各科別加算の活用</a:t>
            </a:r>
            <a:endParaRPr b="0" lang="en-US" sz="1550" strike="noStrike" u="none">
              <a:solidFill>
                <a:srgbClr val="000000"/>
              </a:solidFill>
              <a:effectLst/>
              <a:uFillTx/>
              <a:latin typeface="Times New Roman"/>
            </a:endParaRPr>
          </a:p>
        </p:txBody>
      </p:sp>
      <p:sp>
        <p:nvSpPr>
          <p:cNvPr id="1084" name=""/>
          <p:cNvSpPr/>
          <p:nvPr/>
        </p:nvSpPr>
        <p:spPr>
          <a:xfrm>
            <a:off x="157320" y="845280"/>
            <a:ext cx="2628000" cy="1800000"/>
          </a:xfrm>
          <a:custGeom>
            <a:avLst/>
            <a:gdLst/>
            <a:ahLst/>
            <a:rect l="0" t="0" r="r" b="b"/>
            <a:pathLst>
              <a:path w="7300" h="5000">
                <a:moveTo>
                  <a:pt x="0" y="4854"/>
                </a:moveTo>
                <a:lnTo>
                  <a:pt x="0" y="146"/>
                </a:lnTo>
                <a:cubicBezTo>
                  <a:pt x="0" y="136"/>
                  <a:pt x="1" y="127"/>
                  <a:pt x="3" y="117"/>
                </a:cubicBezTo>
                <a:cubicBezTo>
                  <a:pt x="5" y="108"/>
                  <a:pt x="8" y="99"/>
                  <a:pt x="12" y="90"/>
                </a:cubicBezTo>
                <a:cubicBezTo>
                  <a:pt x="15" y="81"/>
                  <a:pt x="20" y="73"/>
                  <a:pt x="25" y="65"/>
                </a:cubicBezTo>
                <a:cubicBezTo>
                  <a:pt x="30" y="57"/>
                  <a:pt x="36" y="49"/>
                  <a:pt x="43" y="42"/>
                </a:cubicBezTo>
                <a:cubicBezTo>
                  <a:pt x="50" y="36"/>
                  <a:pt x="57" y="30"/>
                  <a:pt x="65" y="24"/>
                </a:cubicBezTo>
                <a:cubicBezTo>
                  <a:pt x="73" y="19"/>
                  <a:pt x="82" y="15"/>
                  <a:pt x="91" y="11"/>
                </a:cubicBezTo>
                <a:cubicBezTo>
                  <a:pt x="99" y="7"/>
                  <a:pt x="108" y="4"/>
                  <a:pt x="118" y="3"/>
                </a:cubicBezTo>
                <a:cubicBezTo>
                  <a:pt x="127" y="1"/>
                  <a:pt x="137" y="0"/>
                  <a:pt x="146" y="0"/>
                </a:cubicBezTo>
                <a:lnTo>
                  <a:pt x="7154" y="0"/>
                </a:lnTo>
                <a:cubicBezTo>
                  <a:pt x="7163" y="0"/>
                  <a:pt x="7173" y="1"/>
                  <a:pt x="7182" y="3"/>
                </a:cubicBezTo>
                <a:cubicBezTo>
                  <a:pt x="7192" y="4"/>
                  <a:pt x="7201" y="7"/>
                  <a:pt x="7210" y="11"/>
                </a:cubicBezTo>
                <a:cubicBezTo>
                  <a:pt x="7218" y="15"/>
                  <a:pt x="7227" y="19"/>
                  <a:pt x="7235" y="24"/>
                </a:cubicBezTo>
                <a:cubicBezTo>
                  <a:pt x="7243" y="30"/>
                  <a:pt x="7250" y="36"/>
                  <a:pt x="7257" y="42"/>
                </a:cubicBezTo>
                <a:cubicBezTo>
                  <a:pt x="7264" y="49"/>
                  <a:pt x="7270" y="57"/>
                  <a:pt x="7275" y="65"/>
                </a:cubicBezTo>
                <a:cubicBezTo>
                  <a:pt x="7280" y="73"/>
                  <a:pt x="7285" y="81"/>
                  <a:pt x="7289" y="90"/>
                </a:cubicBezTo>
                <a:cubicBezTo>
                  <a:pt x="7292" y="99"/>
                  <a:pt x="7295" y="108"/>
                  <a:pt x="7297" y="117"/>
                </a:cubicBezTo>
                <a:cubicBezTo>
                  <a:pt x="7299" y="127"/>
                  <a:pt x="7300" y="136"/>
                  <a:pt x="7300" y="146"/>
                </a:cubicBezTo>
                <a:lnTo>
                  <a:pt x="7300" y="4854"/>
                </a:lnTo>
                <a:cubicBezTo>
                  <a:pt x="7300" y="4864"/>
                  <a:pt x="7299" y="4873"/>
                  <a:pt x="7297" y="4883"/>
                </a:cubicBezTo>
                <a:cubicBezTo>
                  <a:pt x="7295" y="4892"/>
                  <a:pt x="7292" y="4901"/>
                  <a:pt x="7289" y="4910"/>
                </a:cubicBezTo>
                <a:cubicBezTo>
                  <a:pt x="7285" y="4919"/>
                  <a:pt x="7280" y="4927"/>
                  <a:pt x="7275" y="4935"/>
                </a:cubicBezTo>
                <a:cubicBezTo>
                  <a:pt x="7270" y="4943"/>
                  <a:pt x="7264" y="4951"/>
                  <a:pt x="7257" y="4957"/>
                </a:cubicBezTo>
                <a:cubicBezTo>
                  <a:pt x="7250" y="4964"/>
                  <a:pt x="7243" y="4970"/>
                  <a:pt x="7235" y="4975"/>
                </a:cubicBezTo>
                <a:cubicBezTo>
                  <a:pt x="7227" y="4981"/>
                  <a:pt x="7218" y="4985"/>
                  <a:pt x="7210" y="4989"/>
                </a:cubicBezTo>
                <a:cubicBezTo>
                  <a:pt x="7201" y="4993"/>
                  <a:pt x="7192" y="4995"/>
                  <a:pt x="7182" y="4997"/>
                </a:cubicBezTo>
                <a:cubicBezTo>
                  <a:pt x="7173" y="4999"/>
                  <a:pt x="7163" y="5000"/>
                  <a:pt x="7154" y="5000"/>
                </a:cubicBezTo>
                <a:lnTo>
                  <a:pt x="146" y="5000"/>
                </a:lnTo>
                <a:cubicBezTo>
                  <a:pt x="137" y="5000"/>
                  <a:pt x="127" y="4999"/>
                  <a:pt x="118" y="4997"/>
                </a:cubicBezTo>
                <a:cubicBezTo>
                  <a:pt x="108" y="4995"/>
                  <a:pt x="99" y="4993"/>
                  <a:pt x="91" y="4989"/>
                </a:cubicBezTo>
                <a:cubicBezTo>
                  <a:pt x="82" y="4985"/>
                  <a:pt x="73" y="4981"/>
                  <a:pt x="65" y="4975"/>
                </a:cubicBezTo>
                <a:cubicBezTo>
                  <a:pt x="57" y="4970"/>
                  <a:pt x="50" y="4964"/>
                  <a:pt x="43" y="4957"/>
                </a:cubicBezTo>
                <a:cubicBezTo>
                  <a:pt x="36" y="4951"/>
                  <a:pt x="30" y="4943"/>
                  <a:pt x="25" y="4935"/>
                </a:cubicBezTo>
                <a:cubicBezTo>
                  <a:pt x="20" y="4927"/>
                  <a:pt x="15" y="4919"/>
                  <a:pt x="12" y="4910"/>
                </a:cubicBezTo>
                <a:cubicBezTo>
                  <a:pt x="8" y="4901"/>
                  <a:pt x="5" y="4892"/>
                  <a:pt x="3" y="4883"/>
                </a:cubicBezTo>
                <a:cubicBezTo>
                  <a:pt x="1" y="4873"/>
                  <a:pt x="0" y="4864"/>
                  <a:pt x="0" y="4854"/>
                </a:cubicBezTo>
                <a:close/>
              </a:path>
            </a:pathLst>
          </a:custGeom>
          <a:solidFill>
            <a:srgbClr val="ffffff">
              <a:alpha val="8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085" name=""/>
          <p:cNvSpPr/>
          <p:nvPr/>
        </p:nvSpPr>
        <p:spPr>
          <a:xfrm>
            <a:off x="157320" y="845280"/>
            <a:ext cx="2628000" cy="289440"/>
          </a:xfrm>
          <a:custGeom>
            <a:avLst/>
            <a:gdLst/>
            <a:ahLst/>
            <a:rect l="0" t="0" r="r" b="b"/>
            <a:pathLst>
              <a:path w="7300" h="804">
                <a:moveTo>
                  <a:pt x="0" y="146"/>
                </a:moveTo>
                <a:cubicBezTo>
                  <a:pt x="0" y="126"/>
                  <a:pt x="4" y="108"/>
                  <a:pt x="12" y="90"/>
                </a:cubicBezTo>
                <a:cubicBezTo>
                  <a:pt x="19" y="72"/>
                  <a:pt x="29" y="56"/>
                  <a:pt x="43" y="42"/>
                </a:cubicBezTo>
                <a:cubicBezTo>
                  <a:pt x="57" y="29"/>
                  <a:pt x="73" y="18"/>
                  <a:pt x="91" y="11"/>
                </a:cubicBezTo>
                <a:cubicBezTo>
                  <a:pt x="108" y="3"/>
                  <a:pt x="127" y="0"/>
                  <a:pt x="146" y="0"/>
                </a:cubicBezTo>
                <a:lnTo>
                  <a:pt x="7154" y="0"/>
                </a:lnTo>
                <a:cubicBezTo>
                  <a:pt x="7173" y="0"/>
                  <a:pt x="7192" y="3"/>
                  <a:pt x="7210" y="11"/>
                </a:cubicBezTo>
                <a:cubicBezTo>
                  <a:pt x="7227" y="18"/>
                  <a:pt x="7243" y="29"/>
                  <a:pt x="7257" y="42"/>
                </a:cubicBezTo>
                <a:cubicBezTo>
                  <a:pt x="7271" y="56"/>
                  <a:pt x="7281" y="72"/>
                  <a:pt x="7289" y="90"/>
                </a:cubicBezTo>
                <a:cubicBezTo>
                  <a:pt x="7296" y="108"/>
                  <a:pt x="7300" y="126"/>
                  <a:pt x="7300" y="146"/>
                </a:cubicBezTo>
                <a:lnTo>
                  <a:pt x="7300" y="804"/>
                </a:lnTo>
                <a:lnTo>
                  <a:pt x="0" y="804"/>
                </a:lnTo>
                <a:lnTo>
                  <a:pt x="0" y="146"/>
                </a:lnTo>
                <a:close/>
              </a:path>
            </a:pathLst>
          </a:custGeom>
          <a:solidFill>
            <a:srgbClr val="2563eb"/>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86" name=""/>
          <p:cNvSpPr/>
          <p:nvPr/>
        </p:nvSpPr>
        <p:spPr>
          <a:xfrm>
            <a:off x="236160" y="1370520"/>
            <a:ext cx="20160" cy="210600"/>
          </a:xfrm>
          <a:custGeom>
            <a:avLst/>
            <a:gdLst/>
            <a:ahLst/>
            <a:rect l="0" t="0" r="r" b="b"/>
            <a:pathLst>
              <a:path w="56" h="585">
                <a:moveTo>
                  <a:pt x="0" y="0"/>
                </a:moveTo>
                <a:lnTo>
                  <a:pt x="56" y="0"/>
                </a:lnTo>
                <a:lnTo>
                  <a:pt x="56" y="585"/>
                </a:lnTo>
                <a:lnTo>
                  <a:pt x="0" y="585"/>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87" name=""/>
          <p:cNvSpPr/>
          <p:nvPr/>
        </p:nvSpPr>
        <p:spPr>
          <a:xfrm>
            <a:off x="236160" y="1620360"/>
            <a:ext cx="20160" cy="210600"/>
          </a:xfrm>
          <a:custGeom>
            <a:avLst/>
            <a:gdLst/>
            <a:ahLst/>
            <a:rect l="0" t="0" r="r" b="b"/>
            <a:pathLst>
              <a:path w="56" h="585">
                <a:moveTo>
                  <a:pt x="0" y="0"/>
                </a:moveTo>
                <a:lnTo>
                  <a:pt x="56" y="0"/>
                </a:lnTo>
                <a:lnTo>
                  <a:pt x="56" y="585"/>
                </a:lnTo>
                <a:lnTo>
                  <a:pt x="0" y="585"/>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88" name=""/>
          <p:cNvSpPr/>
          <p:nvPr/>
        </p:nvSpPr>
        <p:spPr>
          <a:xfrm>
            <a:off x="236160" y="2066760"/>
            <a:ext cx="20160" cy="210600"/>
          </a:xfrm>
          <a:custGeom>
            <a:avLst/>
            <a:gdLst/>
            <a:ahLst/>
            <a:rect l="0" t="0" r="r" b="b"/>
            <a:pathLst>
              <a:path w="56" h="585">
                <a:moveTo>
                  <a:pt x="0" y="0"/>
                </a:moveTo>
                <a:lnTo>
                  <a:pt x="56" y="0"/>
                </a:lnTo>
                <a:lnTo>
                  <a:pt x="56" y="585"/>
                </a:lnTo>
                <a:lnTo>
                  <a:pt x="0" y="585"/>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089" name=""/>
          <p:cNvSpPr/>
          <p:nvPr/>
        </p:nvSpPr>
        <p:spPr>
          <a:xfrm>
            <a:off x="236160" y="2316600"/>
            <a:ext cx="20160" cy="210600"/>
          </a:xfrm>
          <a:custGeom>
            <a:avLst/>
            <a:gdLst/>
            <a:ahLst/>
            <a:rect l="0" t="0" r="r" b="b"/>
            <a:pathLst>
              <a:path w="56" h="585">
                <a:moveTo>
                  <a:pt x="0" y="0"/>
                </a:moveTo>
                <a:lnTo>
                  <a:pt x="56" y="0"/>
                </a:lnTo>
                <a:lnTo>
                  <a:pt x="56" y="585"/>
                </a:lnTo>
                <a:lnTo>
                  <a:pt x="0" y="585"/>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090" name="" descr=""/>
          <p:cNvPicPr/>
          <p:nvPr/>
        </p:nvPicPr>
        <p:blipFill>
          <a:blip r:embed="rId6"/>
          <a:stretch/>
        </p:blipFill>
        <p:spPr>
          <a:xfrm>
            <a:off x="210240" y="924120"/>
            <a:ext cx="150840" cy="131040"/>
          </a:xfrm>
          <a:prstGeom prst="rect">
            <a:avLst/>
          </a:prstGeom>
          <a:noFill/>
          <a:ln w="0">
            <a:noFill/>
          </a:ln>
        </p:spPr>
      </p:pic>
      <p:sp>
        <p:nvSpPr>
          <p:cNvPr id="1091" name=""/>
          <p:cNvSpPr txBox="1"/>
          <p:nvPr/>
        </p:nvSpPr>
        <p:spPr>
          <a:xfrm>
            <a:off x="157680" y="592920"/>
            <a:ext cx="5102280" cy="131400"/>
          </a:xfrm>
          <a:prstGeom prst="rect">
            <a:avLst/>
          </a:prstGeom>
          <a:noFill/>
          <a:ln w="0">
            <a:noFill/>
          </a:ln>
        </p:spPr>
        <p:txBody>
          <a:bodyPr wrap="none" lIns="0" rIns="0" tIns="0" bIns="0" anchor="t">
            <a:spAutoFit/>
          </a:bodyPr>
          <a:p>
            <a:r>
              <a:rPr b="0" lang="zh-CN" sz="830" strike="noStrike" u="none">
                <a:solidFill>
                  <a:srgbClr val="374151"/>
                </a:solidFill>
                <a:effectLst/>
                <a:uFillTx/>
                <a:latin typeface="WenQuanYiZenHei"/>
                <a:ea typeface="WenQuanYiZenHei"/>
              </a:rPr>
              <a:t>整形外科、内科、循環器科それぞれの専門性に応じた加算項目と、その算定ポイントについて説明します。</a:t>
            </a:r>
            <a:endParaRPr b="0" lang="en-US" sz="830" strike="noStrike" u="none">
              <a:solidFill>
                <a:srgbClr val="000000"/>
              </a:solidFill>
              <a:effectLst/>
              <a:uFillTx/>
              <a:latin typeface="Times New Roman"/>
            </a:endParaRPr>
          </a:p>
        </p:txBody>
      </p:sp>
      <p:pic>
        <p:nvPicPr>
          <p:cNvPr id="1092" name="" descr=""/>
          <p:cNvPicPr/>
          <p:nvPr/>
        </p:nvPicPr>
        <p:blipFill>
          <a:blip r:embed="rId7"/>
          <a:stretch/>
        </p:blipFill>
        <p:spPr>
          <a:xfrm>
            <a:off x="236520" y="1239480"/>
            <a:ext cx="78480" cy="78480"/>
          </a:xfrm>
          <a:prstGeom prst="rect">
            <a:avLst/>
          </a:prstGeom>
          <a:noFill/>
          <a:ln w="0">
            <a:noFill/>
          </a:ln>
        </p:spPr>
      </p:pic>
      <p:sp>
        <p:nvSpPr>
          <p:cNvPr id="1093" name=""/>
          <p:cNvSpPr txBox="1"/>
          <p:nvPr/>
        </p:nvSpPr>
        <p:spPr>
          <a:xfrm>
            <a:off x="413640" y="915480"/>
            <a:ext cx="824760" cy="148320"/>
          </a:xfrm>
          <a:prstGeom prst="rect">
            <a:avLst/>
          </a:prstGeom>
          <a:noFill/>
          <a:ln w="0">
            <a:noFill/>
          </a:ln>
        </p:spPr>
        <p:txBody>
          <a:bodyPr wrap="none" lIns="0" rIns="0" tIns="0" bIns="0" anchor="t">
            <a:spAutoFit/>
          </a:bodyPr>
          <a:p>
            <a:r>
              <a:rPr b="0" lang="zh-CN" sz="930" strike="noStrike" u="none">
                <a:solidFill>
                  <a:srgbClr val="ffffff"/>
                </a:solidFill>
                <a:effectLst/>
                <a:uFillTx/>
                <a:latin typeface="WenQuanYiZenHei"/>
                <a:ea typeface="WenQuanYiZenHei"/>
              </a:rPr>
              <a:t>整形外科の加算</a:t>
            </a:r>
            <a:endParaRPr b="0" lang="en-US" sz="930" strike="noStrike" u="none">
              <a:solidFill>
                <a:srgbClr val="000000"/>
              </a:solidFill>
              <a:effectLst/>
              <a:uFillTx/>
              <a:latin typeface="Times New Roman"/>
            </a:endParaRPr>
          </a:p>
        </p:txBody>
      </p:sp>
      <p:sp>
        <p:nvSpPr>
          <p:cNvPr id="1094" name=""/>
          <p:cNvSpPr txBox="1"/>
          <p:nvPr/>
        </p:nvSpPr>
        <p:spPr>
          <a:xfrm>
            <a:off x="341640" y="1223280"/>
            <a:ext cx="549360" cy="116280"/>
          </a:xfrm>
          <a:prstGeom prst="rect">
            <a:avLst/>
          </a:prstGeom>
          <a:noFill/>
          <a:ln w="0">
            <a:noFill/>
          </a:ln>
        </p:spPr>
        <p:txBody>
          <a:bodyPr wrap="none" lIns="0" rIns="0" tIns="0" bIns="0" anchor="t">
            <a:spAutoFit/>
          </a:bodyPr>
          <a:p>
            <a:r>
              <a:rPr b="0" lang="zh-CN" sz="730" strike="noStrike" u="none">
                <a:solidFill>
                  <a:srgbClr val="1d4ed8"/>
                </a:solidFill>
                <a:effectLst/>
                <a:uFillTx/>
                <a:latin typeface="WenQuanYiZenHei"/>
                <a:ea typeface="WenQuanYiZenHei"/>
              </a:rPr>
              <a:t>手術関連加算</a:t>
            </a:r>
            <a:endParaRPr b="0" lang="en-US" sz="730" strike="noStrike" u="none">
              <a:solidFill>
                <a:srgbClr val="000000"/>
              </a:solidFill>
              <a:effectLst/>
              <a:uFillTx/>
              <a:latin typeface="Times New Roman"/>
            </a:endParaRPr>
          </a:p>
        </p:txBody>
      </p:sp>
      <p:sp>
        <p:nvSpPr>
          <p:cNvPr id="1095" name=""/>
          <p:cNvSpPr txBox="1"/>
          <p:nvPr/>
        </p:nvSpPr>
        <p:spPr>
          <a:xfrm>
            <a:off x="308880" y="1373760"/>
            <a:ext cx="793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特定保険医療材料加算</a:t>
            </a:r>
            <a:endParaRPr b="0" lang="en-US" sz="620" strike="noStrike" u="none">
              <a:solidFill>
                <a:srgbClr val="000000"/>
              </a:solidFill>
              <a:effectLst/>
              <a:uFillTx/>
              <a:latin typeface="Times New Roman"/>
            </a:endParaRPr>
          </a:p>
        </p:txBody>
      </p:sp>
      <p:sp>
        <p:nvSpPr>
          <p:cNvPr id="1096" name=""/>
          <p:cNvSpPr txBox="1"/>
          <p:nvPr/>
        </p:nvSpPr>
        <p:spPr>
          <a:xfrm>
            <a:off x="308880" y="1478880"/>
            <a:ext cx="111384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人工関節、脊椎固定用材料など</a:t>
            </a:r>
            <a:endParaRPr b="0" lang="en-US" sz="620" strike="noStrike" u="none">
              <a:solidFill>
                <a:srgbClr val="000000"/>
              </a:solidFill>
              <a:effectLst/>
              <a:uFillTx/>
              <a:latin typeface="Times New Roman"/>
            </a:endParaRPr>
          </a:p>
        </p:txBody>
      </p:sp>
      <p:sp>
        <p:nvSpPr>
          <p:cNvPr id="1097" name=""/>
          <p:cNvSpPr txBox="1"/>
          <p:nvPr/>
        </p:nvSpPr>
        <p:spPr>
          <a:xfrm>
            <a:off x="308880" y="1623240"/>
            <a:ext cx="397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麻酔管理料</a:t>
            </a:r>
            <a:endParaRPr b="0" lang="en-US" sz="620" strike="noStrike" u="none">
              <a:solidFill>
                <a:srgbClr val="000000"/>
              </a:solidFill>
              <a:effectLst/>
              <a:uFillTx/>
              <a:latin typeface="Times New Roman"/>
            </a:endParaRPr>
          </a:p>
        </p:txBody>
      </p:sp>
      <p:sp>
        <p:nvSpPr>
          <p:cNvPr id="1098" name=""/>
          <p:cNvSpPr txBox="1"/>
          <p:nvPr/>
        </p:nvSpPr>
        <p:spPr>
          <a:xfrm>
            <a:off x="702720" y="1626120"/>
            <a:ext cx="8604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(I)</a:t>
            </a:r>
            <a:endParaRPr b="0" lang="en-US" sz="620" strike="noStrike" u="none">
              <a:solidFill>
                <a:srgbClr val="000000"/>
              </a:solidFill>
              <a:effectLst/>
              <a:uFillTx/>
              <a:latin typeface="Times New Roman"/>
            </a:endParaRPr>
          </a:p>
        </p:txBody>
      </p:sp>
      <p:sp>
        <p:nvSpPr>
          <p:cNvPr id="1099" name=""/>
          <p:cNvSpPr txBox="1"/>
          <p:nvPr/>
        </p:nvSpPr>
        <p:spPr>
          <a:xfrm>
            <a:off x="787680" y="1623240"/>
            <a:ext cx="799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a:t>
            </a:r>
            <a:endParaRPr b="0" lang="en-US" sz="620" strike="noStrike" u="none">
              <a:solidFill>
                <a:srgbClr val="000000"/>
              </a:solidFill>
              <a:effectLst/>
              <a:uFillTx/>
              <a:latin typeface="Times New Roman"/>
            </a:endParaRPr>
          </a:p>
        </p:txBody>
      </p:sp>
      <p:sp>
        <p:nvSpPr>
          <p:cNvPr id="1100" name=""/>
          <p:cNvSpPr txBox="1"/>
          <p:nvPr/>
        </p:nvSpPr>
        <p:spPr>
          <a:xfrm>
            <a:off x="866520" y="1626120"/>
            <a:ext cx="10944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(II)</a:t>
            </a:r>
            <a:endParaRPr b="0" lang="en-US" sz="620" strike="noStrike" u="none">
              <a:solidFill>
                <a:srgbClr val="000000"/>
              </a:solidFill>
              <a:effectLst/>
              <a:uFillTx/>
              <a:latin typeface="Times New Roman"/>
            </a:endParaRPr>
          </a:p>
        </p:txBody>
      </p:sp>
      <p:pic>
        <p:nvPicPr>
          <p:cNvPr id="1101" name="" descr=""/>
          <p:cNvPicPr/>
          <p:nvPr/>
        </p:nvPicPr>
        <p:blipFill>
          <a:blip r:embed="rId8"/>
          <a:stretch/>
        </p:blipFill>
        <p:spPr>
          <a:xfrm>
            <a:off x="236520" y="1935720"/>
            <a:ext cx="52200" cy="78480"/>
          </a:xfrm>
          <a:prstGeom prst="rect">
            <a:avLst/>
          </a:prstGeom>
          <a:noFill/>
          <a:ln w="0">
            <a:noFill/>
          </a:ln>
        </p:spPr>
      </p:pic>
      <p:sp>
        <p:nvSpPr>
          <p:cNvPr id="1102" name=""/>
          <p:cNvSpPr txBox="1"/>
          <p:nvPr/>
        </p:nvSpPr>
        <p:spPr>
          <a:xfrm>
            <a:off x="308880" y="1728360"/>
            <a:ext cx="95724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麻酔科医による専門的管理</a:t>
            </a:r>
            <a:endParaRPr b="0" lang="en-US" sz="620" strike="noStrike" u="none">
              <a:solidFill>
                <a:srgbClr val="000000"/>
              </a:solidFill>
              <a:effectLst/>
              <a:uFillTx/>
              <a:latin typeface="Times New Roman"/>
            </a:endParaRPr>
          </a:p>
        </p:txBody>
      </p:sp>
      <p:sp>
        <p:nvSpPr>
          <p:cNvPr id="1103" name=""/>
          <p:cNvSpPr txBox="1"/>
          <p:nvPr/>
        </p:nvSpPr>
        <p:spPr>
          <a:xfrm>
            <a:off x="315360" y="1919520"/>
            <a:ext cx="1023840" cy="116280"/>
          </a:xfrm>
          <a:prstGeom prst="rect">
            <a:avLst/>
          </a:prstGeom>
          <a:noFill/>
          <a:ln w="0">
            <a:noFill/>
          </a:ln>
        </p:spPr>
        <p:txBody>
          <a:bodyPr wrap="none" lIns="0" rIns="0" tIns="0" bIns="0" anchor="t">
            <a:spAutoFit/>
          </a:bodyPr>
          <a:p>
            <a:r>
              <a:rPr b="0" lang="zh-CN" sz="730" strike="noStrike" u="none">
                <a:solidFill>
                  <a:srgbClr val="1d4ed8"/>
                </a:solidFill>
                <a:effectLst/>
                <a:uFillTx/>
                <a:latin typeface="WenQuanYiZenHei"/>
                <a:ea typeface="WenQuanYiZenHei"/>
              </a:rPr>
              <a:t>リハビリテーション関連</a:t>
            </a:r>
            <a:endParaRPr b="0" lang="en-US" sz="730" strike="noStrike" u="none">
              <a:solidFill>
                <a:srgbClr val="000000"/>
              </a:solidFill>
              <a:effectLst/>
              <a:uFillTx/>
              <a:latin typeface="Times New Roman"/>
            </a:endParaRPr>
          </a:p>
        </p:txBody>
      </p:sp>
      <p:sp>
        <p:nvSpPr>
          <p:cNvPr id="1104" name=""/>
          <p:cNvSpPr txBox="1"/>
          <p:nvPr/>
        </p:nvSpPr>
        <p:spPr>
          <a:xfrm>
            <a:off x="308880" y="2070000"/>
            <a:ext cx="104580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早期リハビリテーション加算</a:t>
            </a:r>
            <a:endParaRPr b="0" lang="en-US" sz="620" strike="noStrike" u="none">
              <a:solidFill>
                <a:srgbClr val="000000"/>
              </a:solidFill>
              <a:effectLst/>
              <a:uFillTx/>
              <a:latin typeface="Times New Roman"/>
            </a:endParaRPr>
          </a:p>
        </p:txBody>
      </p:sp>
      <p:sp>
        <p:nvSpPr>
          <p:cNvPr id="1105" name=""/>
          <p:cNvSpPr txBox="1"/>
          <p:nvPr/>
        </p:nvSpPr>
        <p:spPr>
          <a:xfrm>
            <a:off x="308880" y="2175120"/>
            <a:ext cx="55908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発症・手術から</a:t>
            </a:r>
            <a:endParaRPr b="0" lang="en-US" sz="620" strike="noStrike" u="none">
              <a:solidFill>
                <a:srgbClr val="000000"/>
              </a:solidFill>
              <a:effectLst/>
              <a:uFillTx/>
              <a:latin typeface="Times New Roman"/>
            </a:endParaRPr>
          </a:p>
        </p:txBody>
      </p:sp>
      <p:sp>
        <p:nvSpPr>
          <p:cNvPr id="1106" name=""/>
          <p:cNvSpPr txBox="1"/>
          <p:nvPr/>
        </p:nvSpPr>
        <p:spPr>
          <a:xfrm>
            <a:off x="860400" y="2178000"/>
            <a:ext cx="10152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14</a:t>
            </a:r>
            <a:endParaRPr b="0" lang="en-US" sz="620" strike="noStrike" u="none">
              <a:solidFill>
                <a:srgbClr val="000000"/>
              </a:solidFill>
              <a:effectLst/>
              <a:uFillTx/>
              <a:latin typeface="Times New Roman"/>
            </a:endParaRPr>
          </a:p>
        </p:txBody>
      </p:sp>
      <p:sp>
        <p:nvSpPr>
          <p:cNvPr id="1107" name=""/>
          <p:cNvSpPr txBox="1"/>
          <p:nvPr/>
        </p:nvSpPr>
        <p:spPr>
          <a:xfrm>
            <a:off x="960840" y="2175120"/>
            <a:ext cx="31788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日以内：</a:t>
            </a:r>
            <a:endParaRPr b="0" lang="en-US" sz="620" strike="noStrike" u="none">
              <a:solidFill>
                <a:srgbClr val="000000"/>
              </a:solidFill>
              <a:effectLst/>
              <a:uFillTx/>
              <a:latin typeface="Times New Roman"/>
            </a:endParaRPr>
          </a:p>
        </p:txBody>
      </p:sp>
      <p:sp>
        <p:nvSpPr>
          <p:cNvPr id="1108" name=""/>
          <p:cNvSpPr txBox="1"/>
          <p:nvPr/>
        </p:nvSpPr>
        <p:spPr>
          <a:xfrm>
            <a:off x="1276200" y="2178000"/>
            <a:ext cx="10152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45</a:t>
            </a:r>
            <a:endParaRPr b="0" lang="en-US" sz="620" strike="noStrike" u="none">
              <a:solidFill>
                <a:srgbClr val="000000"/>
              </a:solidFill>
              <a:effectLst/>
              <a:uFillTx/>
              <a:latin typeface="Times New Roman"/>
            </a:endParaRPr>
          </a:p>
        </p:txBody>
      </p:sp>
      <p:sp>
        <p:nvSpPr>
          <p:cNvPr id="1109" name=""/>
          <p:cNvSpPr txBox="1"/>
          <p:nvPr/>
        </p:nvSpPr>
        <p:spPr>
          <a:xfrm>
            <a:off x="1376280" y="2175120"/>
            <a:ext cx="7992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1110" name=""/>
          <p:cNvSpPr txBox="1"/>
          <p:nvPr/>
        </p:nvSpPr>
        <p:spPr>
          <a:xfrm>
            <a:off x="1455120" y="2178000"/>
            <a:ext cx="7848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a:t>
            </a:r>
            <a:endParaRPr b="0" lang="en-US" sz="620" strike="noStrike" u="none">
              <a:solidFill>
                <a:srgbClr val="000000"/>
              </a:solidFill>
              <a:effectLst/>
              <a:uFillTx/>
              <a:latin typeface="Times New Roman"/>
            </a:endParaRPr>
          </a:p>
        </p:txBody>
      </p:sp>
      <p:sp>
        <p:nvSpPr>
          <p:cNvPr id="1111" name=""/>
          <p:cNvSpPr txBox="1"/>
          <p:nvPr/>
        </p:nvSpPr>
        <p:spPr>
          <a:xfrm>
            <a:off x="1481760" y="2175120"/>
            <a:ext cx="15912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単位</a:t>
            </a:r>
            <a:endParaRPr b="0" lang="en-US" sz="620" strike="noStrike" u="none">
              <a:solidFill>
                <a:srgbClr val="000000"/>
              </a:solidFill>
              <a:effectLst/>
              <a:uFillTx/>
              <a:latin typeface="Times New Roman"/>
            </a:endParaRPr>
          </a:p>
        </p:txBody>
      </p:sp>
      <p:sp>
        <p:nvSpPr>
          <p:cNvPr id="1112" name=""/>
          <p:cNvSpPr txBox="1"/>
          <p:nvPr/>
        </p:nvSpPr>
        <p:spPr>
          <a:xfrm>
            <a:off x="308880" y="2319480"/>
            <a:ext cx="104580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運動器リハビリテーション料</a:t>
            </a:r>
            <a:endParaRPr b="0" lang="en-US" sz="620" strike="noStrike" u="none">
              <a:solidFill>
                <a:srgbClr val="000000"/>
              </a:solidFill>
              <a:effectLst/>
              <a:uFillTx/>
              <a:latin typeface="Times New Roman"/>
            </a:endParaRPr>
          </a:p>
        </p:txBody>
      </p:sp>
      <p:sp>
        <p:nvSpPr>
          <p:cNvPr id="1113" name=""/>
          <p:cNvSpPr txBox="1"/>
          <p:nvPr/>
        </p:nvSpPr>
        <p:spPr>
          <a:xfrm>
            <a:off x="1333440" y="2322360"/>
            <a:ext cx="8604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(I)</a:t>
            </a:r>
            <a:endParaRPr b="0" lang="en-US" sz="620" strike="noStrike" u="none">
              <a:solidFill>
                <a:srgbClr val="000000"/>
              </a:solidFill>
              <a:effectLst/>
              <a:uFillTx/>
              <a:latin typeface="Times New Roman"/>
            </a:endParaRPr>
          </a:p>
        </p:txBody>
      </p:sp>
      <p:sp>
        <p:nvSpPr>
          <p:cNvPr id="1114" name=""/>
          <p:cNvSpPr txBox="1"/>
          <p:nvPr/>
        </p:nvSpPr>
        <p:spPr>
          <a:xfrm>
            <a:off x="308880" y="2427480"/>
            <a:ext cx="15192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185</a:t>
            </a:r>
            <a:endParaRPr b="0" lang="en-US" sz="620" strike="noStrike" u="none">
              <a:solidFill>
                <a:srgbClr val="000000"/>
              </a:solidFill>
              <a:effectLst/>
              <a:uFillTx/>
              <a:latin typeface="Times New Roman"/>
            </a:endParaRPr>
          </a:p>
        </p:txBody>
      </p:sp>
      <p:sp>
        <p:nvSpPr>
          <p:cNvPr id="1115" name=""/>
          <p:cNvSpPr txBox="1"/>
          <p:nvPr/>
        </p:nvSpPr>
        <p:spPr>
          <a:xfrm>
            <a:off x="459000" y="2424600"/>
            <a:ext cx="7992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1116" name=""/>
          <p:cNvSpPr txBox="1"/>
          <p:nvPr/>
        </p:nvSpPr>
        <p:spPr>
          <a:xfrm>
            <a:off x="537840" y="2427480"/>
            <a:ext cx="7848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a:t>
            </a:r>
            <a:endParaRPr b="0" lang="en-US" sz="620" strike="noStrike" u="none">
              <a:solidFill>
                <a:srgbClr val="000000"/>
              </a:solidFill>
              <a:effectLst/>
              <a:uFillTx/>
              <a:latin typeface="Times New Roman"/>
            </a:endParaRPr>
          </a:p>
        </p:txBody>
      </p:sp>
      <p:sp>
        <p:nvSpPr>
          <p:cNvPr id="1117" name=""/>
          <p:cNvSpPr/>
          <p:nvPr/>
        </p:nvSpPr>
        <p:spPr>
          <a:xfrm>
            <a:off x="2890080" y="845280"/>
            <a:ext cx="2627640" cy="1800000"/>
          </a:xfrm>
          <a:custGeom>
            <a:avLst/>
            <a:gdLst/>
            <a:ahLst/>
            <a:rect l="0" t="0" r="r" b="b"/>
            <a:pathLst>
              <a:path w="7299" h="5000">
                <a:moveTo>
                  <a:pt x="0" y="4854"/>
                </a:moveTo>
                <a:lnTo>
                  <a:pt x="0" y="146"/>
                </a:lnTo>
                <a:cubicBezTo>
                  <a:pt x="0" y="136"/>
                  <a:pt x="1" y="127"/>
                  <a:pt x="2" y="117"/>
                </a:cubicBezTo>
                <a:cubicBezTo>
                  <a:pt x="4" y="108"/>
                  <a:pt x="7" y="99"/>
                  <a:pt x="11" y="90"/>
                </a:cubicBezTo>
                <a:cubicBezTo>
                  <a:pt x="14" y="81"/>
                  <a:pt x="19" y="73"/>
                  <a:pt x="24" y="65"/>
                </a:cubicBezTo>
                <a:cubicBezTo>
                  <a:pt x="30" y="57"/>
                  <a:pt x="36" y="49"/>
                  <a:pt x="42" y="42"/>
                </a:cubicBezTo>
                <a:cubicBezTo>
                  <a:pt x="49" y="36"/>
                  <a:pt x="57" y="30"/>
                  <a:pt x="65" y="24"/>
                </a:cubicBezTo>
                <a:cubicBezTo>
                  <a:pt x="72" y="19"/>
                  <a:pt x="81" y="15"/>
                  <a:pt x="90" y="11"/>
                </a:cubicBezTo>
                <a:cubicBezTo>
                  <a:pt x="99" y="7"/>
                  <a:pt x="108" y="4"/>
                  <a:pt x="117" y="3"/>
                </a:cubicBezTo>
                <a:cubicBezTo>
                  <a:pt x="127" y="1"/>
                  <a:pt x="136" y="0"/>
                  <a:pt x="146" y="0"/>
                </a:cubicBezTo>
                <a:lnTo>
                  <a:pt x="7153" y="0"/>
                </a:lnTo>
                <a:cubicBezTo>
                  <a:pt x="7163" y="0"/>
                  <a:pt x="7172" y="1"/>
                  <a:pt x="7181" y="3"/>
                </a:cubicBezTo>
                <a:cubicBezTo>
                  <a:pt x="7191" y="4"/>
                  <a:pt x="7200" y="7"/>
                  <a:pt x="7209" y="11"/>
                </a:cubicBezTo>
                <a:cubicBezTo>
                  <a:pt x="7218" y="15"/>
                  <a:pt x="7226" y="19"/>
                  <a:pt x="7234" y="24"/>
                </a:cubicBezTo>
                <a:cubicBezTo>
                  <a:pt x="7242" y="30"/>
                  <a:pt x="7249" y="36"/>
                  <a:pt x="7256" y="42"/>
                </a:cubicBezTo>
                <a:cubicBezTo>
                  <a:pt x="7263" y="49"/>
                  <a:pt x="7269" y="57"/>
                  <a:pt x="7274" y="65"/>
                </a:cubicBezTo>
                <a:cubicBezTo>
                  <a:pt x="7280" y="73"/>
                  <a:pt x="7284" y="81"/>
                  <a:pt x="7288" y="90"/>
                </a:cubicBezTo>
                <a:cubicBezTo>
                  <a:pt x="7292" y="99"/>
                  <a:pt x="7294" y="108"/>
                  <a:pt x="7296" y="117"/>
                </a:cubicBezTo>
                <a:cubicBezTo>
                  <a:pt x="7298" y="127"/>
                  <a:pt x="7299" y="136"/>
                  <a:pt x="7299" y="146"/>
                </a:cubicBezTo>
                <a:lnTo>
                  <a:pt x="7299" y="4854"/>
                </a:lnTo>
                <a:cubicBezTo>
                  <a:pt x="7299" y="4864"/>
                  <a:pt x="7298" y="4873"/>
                  <a:pt x="7296" y="4883"/>
                </a:cubicBezTo>
                <a:cubicBezTo>
                  <a:pt x="7294" y="4892"/>
                  <a:pt x="7292" y="4901"/>
                  <a:pt x="7288" y="4910"/>
                </a:cubicBezTo>
                <a:cubicBezTo>
                  <a:pt x="7284" y="4919"/>
                  <a:pt x="7280" y="4927"/>
                  <a:pt x="7274" y="4935"/>
                </a:cubicBezTo>
                <a:cubicBezTo>
                  <a:pt x="7269" y="4943"/>
                  <a:pt x="7263" y="4951"/>
                  <a:pt x="7256" y="4957"/>
                </a:cubicBezTo>
                <a:cubicBezTo>
                  <a:pt x="7249" y="4964"/>
                  <a:pt x="7242" y="4970"/>
                  <a:pt x="7234" y="4975"/>
                </a:cubicBezTo>
                <a:cubicBezTo>
                  <a:pt x="7226" y="4981"/>
                  <a:pt x="7218" y="4985"/>
                  <a:pt x="7209" y="4989"/>
                </a:cubicBezTo>
                <a:cubicBezTo>
                  <a:pt x="7200" y="4993"/>
                  <a:pt x="7191" y="4995"/>
                  <a:pt x="7181" y="4997"/>
                </a:cubicBezTo>
                <a:cubicBezTo>
                  <a:pt x="7172" y="4999"/>
                  <a:pt x="7163" y="5000"/>
                  <a:pt x="7153" y="5000"/>
                </a:cubicBezTo>
                <a:lnTo>
                  <a:pt x="146" y="5000"/>
                </a:lnTo>
                <a:cubicBezTo>
                  <a:pt x="136" y="5000"/>
                  <a:pt x="127" y="4999"/>
                  <a:pt x="117" y="4997"/>
                </a:cubicBezTo>
                <a:cubicBezTo>
                  <a:pt x="108" y="4995"/>
                  <a:pt x="99" y="4993"/>
                  <a:pt x="90" y="4989"/>
                </a:cubicBezTo>
                <a:cubicBezTo>
                  <a:pt x="81" y="4985"/>
                  <a:pt x="72" y="4981"/>
                  <a:pt x="65" y="4975"/>
                </a:cubicBezTo>
                <a:cubicBezTo>
                  <a:pt x="57" y="4970"/>
                  <a:pt x="49" y="4964"/>
                  <a:pt x="42" y="4957"/>
                </a:cubicBezTo>
                <a:cubicBezTo>
                  <a:pt x="36" y="4951"/>
                  <a:pt x="30" y="4943"/>
                  <a:pt x="24" y="4935"/>
                </a:cubicBezTo>
                <a:cubicBezTo>
                  <a:pt x="19" y="4927"/>
                  <a:pt x="14" y="4919"/>
                  <a:pt x="11" y="4910"/>
                </a:cubicBezTo>
                <a:cubicBezTo>
                  <a:pt x="7" y="4901"/>
                  <a:pt x="4" y="4892"/>
                  <a:pt x="2" y="4883"/>
                </a:cubicBezTo>
                <a:cubicBezTo>
                  <a:pt x="1" y="4873"/>
                  <a:pt x="0" y="4864"/>
                  <a:pt x="0" y="4854"/>
                </a:cubicBezTo>
                <a:close/>
              </a:path>
            </a:pathLst>
          </a:custGeom>
          <a:solidFill>
            <a:srgbClr val="ffffff">
              <a:alpha val="8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118" name=""/>
          <p:cNvSpPr/>
          <p:nvPr/>
        </p:nvSpPr>
        <p:spPr>
          <a:xfrm>
            <a:off x="2890080" y="845280"/>
            <a:ext cx="2627640" cy="289440"/>
          </a:xfrm>
          <a:custGeom>
            <a:avLst/>
            <a:gdLst/>
            <a:ahLst/>
            <a:rect l="0" t="0" r="r" b="b"/>
            <a:pathLst>
              <a:path w="7299" h="804">
                <a:moveTo>
                  <a:pt x="0" y="146"/>
                </a:moveTo>
                <a:cubicBezTo>
                  <a:pt x="0" y="126"/>
                  <a:pt x="3" y="108"/>
                  <a:pt x="11" y="90"/>
                </a:cubicBezTo>
                <a:cubicBezTo>
                  <a:pt x="18" y="72"/>
                  <a:pt x="29" y="56"/>
                  <a:pt x="42" y="42"/>
                </a:cubicBezTo>
                <a:cubicBezTo>
                  <a:pt x="56" y="29"/>
                  <a:pt x="72" y="18"/>
                  <a:pt x="90" y="11"/>
                </a:cubicBezTo>
                <a:cubicBezTo>
                  <a:pt x="108" y="3"/>
                  <a:pt x="126" y="0"/>
                  <a:pt x="146" y="0"/>
                </a:cubicBezTo>
                <a:lnTo>
                  <a:pt x="7153" y="0"/>
                </a:lnTo>
                <a:cubicBezTo>
                  <a:pt x="7172" y="0"/>
                  <a:pt x="7191" y="3"/>
                  <a:pt x="7209" y="11"/>
                </a:cubicBezTo>
                <a:cubicBezTo>
                  <a:pt x="7227" y="18"/>
                  <a:pt x="7243" y="29"/>
                  <a:pt x="7256" y="42"/>
                </a:cubicBezTo>
                <a:cubicBezTo>
                  <a:pt x="7270" y="56"/>
                  <a:pt x="7280" y="72"/>
                  <a:pt x="7288" y="90"/>
                </a:cubicBezTo>
                <a:cubicBezTo>
                  <a:pt x="7295" y="108"/>
                  <a:pt x="7299" y="126"/>
                  <a:pt x="7299" y="146"/>
                </a:cubicBezTo>
                <a:lnTo>
                  <a:pt x="7299" y="804"/>
                </a:lnTo>
                <a:lnTo>
                  <a:pt x="0" y="804"/>
                </a:lnTo>
                <a:lnTo>
                  <a:pt x="0" y="146"/>
                </a:lnTo>
                <a:close/>
              </a:path>
            </a:pathLst>
          </a:custGeom>
          <a:solidFill>
            <a:srgbClr val="059669"/>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19" name=""/>
          <p:cNvSpPr/>
          <p:nvPr/>
        </p:nvSpPr>
        <p:spPr>
          <a:xfrm>
            <a:off x="2968920" y="1370520"/>
            <a:ext cx="19800" cy="210600"/>
          </a:xfrm>
          <a:custGeom>
            <a:avLst/>
            <a:gdLst/>
            <a:ahLst/>
            <a:rect l="0" t="0" r="r" b="b"/>
            <a:pathLst>
              <a:path w="55" h="585">
                <a:moveTo>
                  <a:pt x="0" y="0"/>
                </a:moveTo>
                <a:lnTo>
                  <a:pt x="55" y="0"/>
                </a:lnTo>
                <a:lnTo>
                  <a:pt x="55" y="585"/>
                </a:lnTo>
                <a:lnTo>
                  <a:pt x="0" y="585"/>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20" name=""/>
          <p:cNvSpPr/>
          <p:nvPr/>
        </p:nvSpPr>
        <p:spPr>
          <a:xfrm>
            <a:off x="2968920" y="1620360"/>
            <a:ext cx="19800" cy="210600"/>
          </a:xfrm>
          <a:custGeom>
            <a:avLst/>
            <a:gdLst/>
            <a:ahLst/>
            <a:rect l="0" t="0" r="r" b="b"/>
            <a:pathLst>
              <a:path w="55" h="585">
                <a:moveTo>
                  <a:pt x="0" y="0"/>
                </a:moveTo>
                <a:lnTo>
                  <a:pt x="55" y="0"/>
                </a:lnTo>
                <a:lnTo>
                  <a:pt x="55" y="585"/>
                </a:lnTo>
                <a:lnTo>
                  <a:pt x="0" y="585"/>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21" name=""/>
          <p:cNvSpPr/>
          <p:nvPr/>
        </p:nvSpPr>
        <p:spPr>
          <a:xfrm>
            <a:off x="2968920" y="2066760"/>
            <a:ext cx="19800" cy="210600"/>
          </a:xfrm>
          <a:custGeom>
            <a:avLst/>
            <a:gdLst/>
            <a:ahLst/>
            <a:rect l="0" t="0" r="r" b="b"/>
            <a:pathLst>
              <a:path w="55" h="585">
                <a:moveTo>
                  <a:pt x="0" y="0"/>
                </a:moveTo>
                <a:lnTo>
                  <a:pt x="55" y="0"/>
                </a:lnTo>
                <a:lnTo>
                  <a:pt x="55" y="585"/>
                </a:lnTo>
                <a:lnTo>
                  <a:pt x="0" y="585"/>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22" name=""/>
          <p:cNvSpPr/>
          <p:nvPr/>
        </p:nvSpPr>
        <p:spPr>
          <a:xfrm>
            <a:off x="2968920" y="2316600"/>
            <a:ext cx="19800" cy="210600"/>
          </a:xfrm>
          <a:custGeom>
            <a:avLst/>
            <a:gdLst/>
            <a:ahLst/>
            <a:rect l="0" t="0" r="r" b="b"/>
            <a:pathLst>
              <a:path w="55" h="585">
                <a:moveTo>
                  <a:pt x="0" y="0"/>
                </a:moveTo>
                <a:lnTo>
                  <a:pt x="55" y="0"/>
                </a:lnTo>
                <a:lnTo>
                  <a:pt x="55" y="585"/>
                </a:lnTo>
                <a:lnTo>
                  <a:pt x="0" y="585"/>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123" name="" descr=""/>
          <p:cNvPicPr/>
          <p:nvPr/>
        </p:nvPicPr>
        <p:blipFill>
          <a:blip r:embed="rId9"/>
          <a:stretch/>
        </p:blipFill>
        <p:spPr>
          <a:xfrm>
            <a:off x="2942640" y="924120"/>
            <a:ext cx="150840" cy="131040"/>
          </a:xfrm>
          <a:prstGeom prst="rect">
            <a:avLst/>
          </a:prstGeom>
          <a:noFill/>
          <a:ln w="0">
            <a:noFill/>
          </a:ln>
        </p:spPr>
      </p:pic>
      <p:sp>
        <p:nvSpPr>
          <p:cNvPr id="1124" name=""/>
          <p:cNvSpPr txBox="1"/>
          <p:nvPr/>
        </p:nvSpPr>
        <p:spPr>
          <a:xfrm>
            <a:off x="564480" y="2424600"/>
            <a:ext cx="79704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単位（施設基準あり）</a:t>
            </a:r>
            <a:endParaRPr b="0" lang="en-US" sz="620" strike="noStrike" u="none">
              <a:solidFill>
                <a:srgbClr val="000000"/>
              </a:solidFill>
              <a:effectLst/>
              <a:uFillTx/>
              <a:latin typeface="Times New Roman"/>
            </a:endParaRPr>
          </a:p>
        </p:txBody>
      </p:sp>
      <p:pic>
        <p:nvPicPr>
          <p:cNvPr id="1125" name="" descr=""/>
          <p:cNvPicPr/>
          <p:nvPr/>
        </p:nvPicPr>
        <p:blipFill>
          <a:blip r:embed="rId10"/>
          <a:stretch/>
        </p:blipFill>
        <p:spPr>
          <a:xfrm>
            <a:off x="2968920" y="1239480"/>
            <a:ext cx="78480" cy="78480"/>
          </a:xfrm>
          <a:prstGeom prst="rect">
            <a:avLst/>
          </a:prstGeom>
          <a:noFill/>
          <a:ln w="0">
            <a:noFill/>
          </a:ln>
        </p:spPr>
      </p:pic>
      <p:sp>
        <p:nvSpPr>
          <p:cNvPr id="1126" name=""/>
          <p:cNvSpPr txBox="1"/>
          <p:nvPr/>
        </p:nvSpPr>
        <p:spPr>
          <a:xfrm>
            <a:off x="3146400" y="915480"/>
            <a:ext cx="590040" cy="148320"/>
          </a:xfrm>
          <a:prstGeom prst="rect">
            <a:avLst/>
          </a:prstGeom>
          <a:noFill/>
          <a:ln w="0">
            <a:noFill/>
          </a:ln>
        </p:spPr>
        <p:txBody>
          <a:bodyPr wrap="none" lIns="0" rIns="0" tIns="0" bIns="0" anchor="t">
            <a:spAutoFit/>
          </a:bodyPr>
          <a:p>
            <a:r>
              <a:rPr b="0" lang="zh-CN" sz="930" strike="noStrike" u="none">
                <a:solidFill>
                  <a:srgbClr val="ffffff"/>
                </a:solidFill>
                <a:effectLst/>
                <a:uFillTx/>
                <a:latin typeface="WenQuanYiZenHei"/>
                <a:ea typeface="WenQuanYiZenHei"/>
              </a:rPr>
              <a:t>内科の加算</a:t>
            </a:r>
            <a:endParaRPr b="0" lang="en-US" sz="930" strike="noStrike" u="none">
              <a:solidFill>
                <a:srgbClr val="000000"/>
              </a:solidFill>
              <a:effectLst/>
              <a:uFillTx/>
              <a:latin typeface="Times New Roman"/>
            </a:endParaRPr>
          </a:p>
        </p:txBody>
      </p:sp>
      <p:sp>
        <p:nvSpPr>
          <p:cNvPr id="1127" name=""/>
          <p:cNvSpPr txBox="1"/>
          <p:nvPr/>
        </p:nvSpPr>
        <p:spPr>
          <a:xfrm>
            <a:off x="3074040" y="1223280"/>
            <a:ext cx="732240" cy="116280"/>
          </a:xfrm>
          <a:prstGeom prst="rect">
            <a:avLst/>
          </a:prstGeom>
          <a:noFill/>
          <a:ln w="0">
            <a:noFill/>
          </a:ln>
        </p:spPr>
        <p:txBody>
          <a:bodyPr wrap="none" lIns="0" rIns="0" tIns="0" bIns="0" anchor="t">
            <a:spAutoFit/>
          </a:bodyPr>
          <a:p>
            <a:r>
              <a:rPr b="0" lang="zh-CN" sz="730" strike="noStrike" u="none">
                <a:solidFill>
                  <a:srgbClr val="047857"/>
                </a:solidFill>
                <a:effectLst/>
                <a:uFillTx/>
                <a:latin typeface="WenQuanYiZenHei"/>
                <a:ea typeface="WenQuanYiZenHei"/>
              </a:rPr>
              <a:t>慢性疾患管理関連</a:t>
            </a:r>
            <a:endParaRPr b="0" lang="en-US" sz="730" strike="noStrike" u="none">
              <a:solidFill>
                <a:srgbClr val="000000"/>
              </a:solidFill>
              <a:effectLst/>
              <a:uFillTx/>
              <a:latin typeface="Times New Roman"/>
            </a:endParaRPr>
          </a:p>
        </p:txBody>
      </p:sp>
      <p:sp>
        <p:nvSpPr>
          <p:cNvPr id="1128" name=""/>
          <p:cNvSpPr txBox="1"/>
          <p:nvPr/>
        </p:nvSpPr>
        <p:spPr>
          <a:xfrm>
            <a:off x="3041280" y="1373760"/>
            <a:ext cx="6346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生活習慣病管理料</a:t>
            </a:r>
            <a:endParaRPr b="0" lang="en-US" sz="620" strike="noStrike" u="none">
              <a:solidFill>
                <a:srgbClr val="000000"/>
              </a:solidFill>
              <a:effectLst/>
              <a:uFillTx/>
              <a:latin typeface="Times New Roman"/>
            </a:endParaRPr>
          </a:p>
        </p:txBody>
      </p:sp>
      <p:sp>
        <p:nvSpPr>
          <p:cNvPr id="1129" name=""/>
          <p:cNvSpPr txBox="1"/>
          <p:nvPr/>
        </p:nvSpPr>
        <p:spPr>
          <a:xfrm>
            <a:off x="3671640" y="1376640"/>
            <a:ext cx="10944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(II)</a:t>
            </a:r>
            <a:endParaRPr b="0" lang="en-US" sz="620" strike="noStrike" u="none">
              <a:solidFill>
                <a:srgbClr val="000000"/>
              </a:solidFill>
              <a:effectLst/>
              <a:uFillTx/>
              <a:latin typeface="Times New Roman"/>
            </a:endParaRPr>
          </a:p>
        </p:txBody>
      </p:sp>
      <p:sp>
        <p:nvSpPr>
          <p:cNvPr id="1130" name=""/>
          <p:cNvSpPr txBox="1"/>
          <p:nvPr/>
        </p:nvSpPr>
        <p:spPr>
          <a:xfrm>
            <a:off x="3041280" y="1478880"/>
            <a:ext cx="47628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脂質異常症：</a:t>
            </a:r>
            <a:endParaRPr b="0" lang="en-US" sz="620" strike="noStrike" u="none">
              <a:solidFill>
                <a:srgbClr val="000000"/>
              </a:solidFill>
              <a:effectLst/>
              <a:uFillTx/>
              <a:latin typeface="Times New Roman"/>
            </a:endParaRPr>
          </a:p>
        </p:txBody>
      </p:sp>
      <p:sp>
        <p:nvSpPr>
          <p:cNvPr id="1131" name=""/>
          <p:cNvSpPr txBox="1"/>
          <p:nvPr/>
        </p:nvSpPr>
        <p:spPr>
          <a:xfrm>
            <a:off x="3513960" y="1481760"/>
            <a:ext cx="15192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610</a:t>
            </a:r>
            <a:endParaRPr b="0" lang="en-US" sz="620" strike="noStrike" u="none">
              <a:solidFill>
                <a:srgbClr val="000000"/>
              </a:solidFill>
              <a:effectLst/>
              <a:uFillTx/>
              <a:latin typeface="Times New Roman"/>
            </a:endParaRPr>
          </a:p>
        </p:txBody>
      </p:sp>
      <p:sp>
        <p:nvSpPr>
          <p:cNvPr id="1132" name=""/>
          <p:cNvSpPr txBox="1"/>
          <p:nvPr/>
        </p:nvSpPr>
        <p:spPr>
          <a:xfrm>
            <a:off x="3664440" y="1478880"/>
            <a:ext cx="47628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点、高血圧：</a:t>
            </a:r>
            <a:endParaRPr b="0" lang="en-US" sz="620" strike="noStrike" u="none">
              <a:solidFill>
                <a:srgbClr val="000000"/>
              </a:solidFill>
              <a:effectLst/>
              <a:uFillTx/>
              <a:latin typeface="Times New Roman"/>
            </a:endParaRPr>
          </a:p>
        </p:txBody>
      </p:sp>
      <p:sp>
        <p:nvSpPr>
          <p:cNvPr id="1133" name=""/>
          <p:cNvSpPr txBox="1"/>
          <p:nvPr/>
        </p:nvSpPr>
        <p:spPr>
          <a:xfrm>
            <a:off x="4137480" y="1481760"/>
            <a:ext cx="15192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660</a:t>
            </a:r>
            <a:endParaRPr b="0" lang="en-US" sz="620" strike="noStrike" u="none">
              <a:solidFill>
                <a:srgbClr val="000000"/>
              </a:solidFill>
              <a:effectLst/>
              <a:uFillTx/>
              <a:latin typeface="Times New Roman"/>
            </a:endParaRPr>
          </a:p>
        </p:txBody>
      </p:sp>
      <p:sp>
        <p:nvSpPr>
          <p:cNvPr id="1134" name=""/>
          <p:cNvSpPr txBox="1"/>
          <p:nvPr/>
        </p:nvSpPr>
        <p:spPr>
          <a:xfrm>
            <a:off x="4287960" y="1478880"/>
            <a:ext cx="47628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点、糖尿病：</a:t>
            </a:r>
            <a:endParaRPr b="0" lang="en-US" sz="620" strike="noStrike" u="none">
              <a:solidFill>
                <a:srgbClr val="000000"/>
              </a:solidFill>
              <a:effectLst/>
              <a:uFillTx/>
              <a:latin typeface="Times New Roman"/>
            </a:endParaRPr>
          </a:p>
        </p:txBody>
      </p:sp>
      <p:sp>
        <p:nvSpPr>
          <p:cNvPr id="1135" name=""/>
          <p:cNvSpPr txBox="1"/>
          <p:nvPr/>
        </p:nvSpPr>
        <p:spPr>
          <a:xfrm>
            <a:off x="4761000" y="1481760"/>
            <a:ext cx="15192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760</a:t>
            </a:r>
            <a:endParaRPr b="0" lang="en-US" sz="620" strike="noStrike" u="none">
              <a:solidFill>
                <a:srgbClr val="000000"/>
              </a:solidFill>
              <a:effectLst/>
              <a:uFillTx/>
              <a:latin typeface="Times New Roman"/>
            </a:endParaRPr>
          </a:p>
        </p:txBody>
      </p:sp>
      <p:sp>
        <p:nvSpPr>
          <p:cNvPr id="1136" name=""/>
          <p:cNvSpPr txBox="1"/>
          <p:nvPr/>
        </p:nvSpPr>
        <p:spPr>
          <a:xfrm>
            <a:off x="4911480" y="1478880"/>
            <a:ext cx="7992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1137" name=""/>
          <p:cNvSpPr txBox="1"/>
          <p:nvPr/>
        </p:nvSpPr>
        <p:spPr>
          <a:xfrm>
            <a:off x="3041280" y="1623240"/>
            <a:ext cx="7138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特定疾患療養管理料</a:t>
            </a:r>
            <a:endParaRPr b="0" lang="en-US" sz="620" strike="noStrike" u="none">
              <a:solidFill>
                <a:srgbClr val="000000"/>
              </a:solidFill>
              <a:effectLst/>
              <a:uFillTx/>
              <a:latin typeface="Times New Roman"/>
            </a:endParaRPr>
          </a:p>
        </p:txBody>
      </p:sp>
      <p:sp>
        <p:nvSpPr>
          <p:cNvPr id="1138" name=""/>
          <p:cNvSpPr txBox="1"/>
          <p:nvPr/>
        </p:nvSpPr>
        <p:spPr>
          <a:xfrm>
            <a:off x="3041280" y="1728360"/>
            <a:ext cx="39708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慢性疾患：</a:t>
            </a:r>
            <a:endParaRPr b="0" lang="en-US" sz="620" strike="noStrike" u="none">
              <a:solidFill>
                <a:srgbClr val="000000"/>
              </a:solidFill>
              <a:effectLst/>
              <a:uFillTx/>
              <a:latin typeface="Times New Roman"/>
            </a:endParaRPr>
          </a:p>
        </p:txBody>
      </p:sp>
      <p:sp>
        <p:nvSpPr>
          <p:cNvPr id="1139" name=""/>
          <p:cNvSpPr txBox="1"/>
          <p:nvPr/>
        </p:nvSpPr>
        <p:spPr>
          <a:xfrm>
            <a:off x="3435480" y="1731240"/>
            <a:ext cx="15192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225</a:t>
            </a:r>
            <a:endParaRPr b="0" lang="en-US" sz="620" strike="noStrike" u="none">
              <a:solidFill>
                <a:srgbClr val="000000"/>
              </a:solidFill>
              <a:effectLst/>
              <a:uFillTx/>
              <a:latin typeface="Times New Roman"/>
            </a:endParaRPr>
          </a:p>
        </p:txBody>
      </p:sp>
      <p:sp>
        <p:nvSpPr>
          <p:cNvPr id="1140" name=""/>
          <p:cNvSpPr txBox="1"/>
          <p:nvPr/>
        </p:nvSpPr>
        <p:spPr>
          <a:xfrm>
            <a:off x="3585600" y="1728360"/>
            <a:ext cx="7992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1141" name=""/>
          <p:cNvSpPr txBox="1"/>
          <p:nvPr/>
        </p:nvSpPr>
        <p:spPr>
          <a:xfrm>
            <a:off x="3664440" y="1731240"/>
            <a:ext cx="7848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a:t>
            </a:r>
            <a:endParaRPr b="0" lang="en-US" sz="620" strike="noStrike" u="none">
              <a:solidFill>
                <a:srgbClr val="000000"/>
              </a:solidFill>
              <a:effectLst/>
              <a:uFillTx/>
              <a:latin typeface="Times New Roman"/>
            </a:endParaRPr>
          </a:p>
        </p:txBody>
      </p:sp>
      <p:sp>
        <p:nvSpPr>
          <p:cNvPr id="1142" name=""/>
          <p:cNvSpPr txBox="1"/>
          <p:nvPr/>
        </p:nvSpPr>
        <p:spPr>
          <a:xfrm>
            <a:off x="3691080" y="1728360"/>
            <a:ext cx="23832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回（月</a:t>
            </a:r>
            <a:endParaRPr b="0" lang="en-US" sz="620" strike="noStrike" u="none">
              <a:solidFill>
                <a:srgbClr val="000000"/>
              </a:solidFill>
              <a:effectLst/>
              <a:uFillTx/>
              <a:latin typeface="Times New Roman"/>
            </a:endParaRPr>
          </a:p>
        </p:txBody>
      </p:sp>
      <p:sp>
        <p:nvSpPr>
          <p:cNvPr id="1143" name=""/>
          <p:cNvSpPr txBox="1"/>
          <p:nvPr/>
        </p:nvSpPr>
        <p:spPr>
          <a:xfrm>
            <a:off x="3927600" y="1731240"/>
            <a:ext cx="7848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2</a:t>
            </a:r>
            <a:endParaRPr b="0" lang="en-US" sz="620" strike="noStrike" u="none">
              <a:solidFill>
                <a:srgbClr val="000000"/>
              </a:solidFill>
              <a:effectLst/>
              <a:uFillTx/>
              <a:latin typeface="Times New Roman"/>
            </a:endParaRPr>
          </a:p>
        </p:txBody>
      </p:sp>
      <p:pic>
        <p:nvPicPr>
          <p:cNvPr id="1144" name="" descr=""/>
          <p:cNvPicPr/>
          <p:nvPr/>
        </p:nvPicPr>
        <p:blipFill>
          <a:blip r:embed="rId11"/>
          <a:stretch/>
        </p:blipFill>
        <p:spPr>
          <a:xfrm>
            <a:off x="2968920" y="1935720"/>
            <a:ext cx="91440" cy="78480"/>
          </a:xfrm>
          <a:prstGeom prst="rect">
            <a:avLst/>
          </a:prstGeom>
          <a:noFill/>
          <a:ln w="0">
            <a:noFill/>
          </a:ln>
        </p:spPr>
      </p:pic>
      <p:sp>
        <p:nvSpPr>
          <p:cNvPr id="1145" name=""/>
          <p:cNvSpPr txBox="1"/>
          <p:nvPr/>
        </p:nvSpPr>
        <p:spPr>
          <a:xfrm>
            <a:off x="3977640" y="1728360"/>
            <a:ext cx="32148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回まで）</a:t>
            </a:r>
            <a:endParaRPr b="0" lang="en-US" sz="620" strike="noStrike" u="none">
              <a:solidFill>
                <a:srgbClr val="000000"/>
              </a:solidFill>
              <a:effectLst/>
              <a:uFillTx/>
              <a:latin typeface="Times New Roman"/>
            </a:endParaRPr>
          </a:p>
        </p:txBody>
      </p:sp>
      <p:sp>
        <p:nvSpPr>
          <p:cNvPr id="1146" name=""/>
          <p:cNvSpPr txBox="1"/>
          <p:nvPr/>
        </p:nvSpPr>
        <p:spPr>
          <a:xfrm>
            <a:off x="3087360" y="1919520"/>
            <a:ext cx="549360" cy="116280"/>
          </a:xfrm>
          <a:prstGeom prst="rect">
            <a:avLst/>
          </a:prstGeom>
          <a:noFill/>
          <a:ln w="0">
            <a:noFill/>
          </a:ln>
        </p:spPr>
        <p:txBody>
          <a:bodyPr wrap="none" lIns="0" rIns="0" tIns="0" bIns="0" anchor="t">
            <a:spAutoFit/>
          </a:bodyPr>
          <a:p>
            <a:r>
              <a:rPr b="0" lang="zh-CN" sz="730" strike="noStrike" u="none">
                <a:solidFill>
                  <a:srgbClr val="047857"/>
                </a:solidFill>
                <a:effectLst/>
                <a:uFillTx/>
                <a:latin typeface="WenQuanYiZenHei"/>
                <a:ea typeface="WenQuanYiZenHei"/>
              </a:rPr>
              <a:t>在宅医療関連</a:t>
            </a:r>
            <a:endParaRPr b="0" lang="en-US" sz="730" strike="noStrike" u="none">
              <a:solidFill>
                <a:srgbClr val="000000"/>
              </a:solidFill>
              <a:effectLst/>
              <a:uFillTx/>
              <a:latin typeface="Times New Roman"/>
            </a:endParaRPr>
          </a:p>
        </p:txBody>
      </p:sp>
      <p:sp>
        <p:nvSpPr>
          <p:cNvPr id="1147" name=""/>
          <p:cNvSpPr txBox="1"/>
          <p:nvPr/>
        </p:nvSpPr>
        <p:spPr>
          <a:xfrm>
            <a:off x="3041280" y="2070000"/>
            <a:ext cx="793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在宅時医学総合管理料</a:t>
            </a:r>
            <a:endParaRPr b="0" lang="en-US" sz="620" strike="noStrike" u="none">
              <a:solidFill>
                <a:srgbClr val="000000"/>
              </a:solidFill>
              <a:effectLst/>
              <a:uFillTx/>
              <a:latin typeface="Times New Roman"/>
            </a:endParaRPr>
          </a:p>
        </p:txBody>
      </p:sp>
      <p:sp>
        <p:nvSpPr>
          <p:cNvPr id="1148" name=""/>
          <p:cNvSpPr txBox="1"/>
          <p:nvPr/>
        </p:nvSpPr>
        <p:spPr>
          <a:xfrm>
            <a:off x="3041280" y="2175120"/>
            <a:ext cx="7992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月</a:t>
            </a:r>
            <a:endParaRPr b="0" lang="en-US" sz="620" strike="noStrike" u="none">
              <a:solidFill>
                <a:srgbClr val="000000"/>
              </a:solidFill>
              <a:effectLst/>
              <a:uFillTx/>
              <a:latin typeface="Times New Roman"/>
            </a:endParaRPr>
          </a:p>
        </p:txBody>
      </p:sp>
      <p:sp>
        <p:nvSpPr>
          <p:cNvPr id="1149" name=""/>
          <p:cNvSpPr txBox="1"/>
          <p:nvPr/>
        </p:nvSpPr>
        <p:spPr>
          <a:xfrm>
            <a:off x="3120120" y="2178000"/>
            <a:ext cx="7848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1</a:t>
            </a:r>
            <a:endParaRPr b="0" lang="en-US" sz="620" strike="noStrike" u="none">
              <a:solidFill>
                <a:srgbClr val="000000"/>
              </a:solidFill>
              <a:effectLst/>
              <a:uFillTx/>
              <a:latin typeface="Times New Roman"/>
            </a:endParaRPr>
          </a:p>
        </p:txBody>
      </p:sp>
      <p:sp>
        <p:nvSpPr>
          <p:cNvPr id="1150" name=""/>
          <p:cNvSpPr txBox="1"/>
          <p:nvPr/>
        </p:nvSpPr>
        <p:spPr>
          <a:xfrm>
            <a:off x="3170160" y="2175120"/>
            <a:ext cx="23832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回：約</a:t>
            </a:r>
            <a:endParaRPr b="0" lang="en-US" sz="620" strike="noStrike" u="none">
              <a:solidFill>
                <a:srgbClr val="000000"/>
              </a:solidFill>
              <a:effectLst/>
              <a:uFillTx/>
              <a:latin typeface="Times New Roman"/>
            </a:endParaRPr>
          </a:p>
        </p:txBody>
      </p:sp>
      <p:sp>
        <p:nvSpPr>
          <p:cNvPr id="1151" name=""/>
          <p:cNvSpPr txBox="1"/>
          <p:nvPr/>
        </p:nvSpPr>
        <p:spPr>
          <a:xfrm>
            <a:off x="3406680" y="2178000"/>
            <a:ext cx="22752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4,200</a:t>
            </a:r>
            <a:endParaRPr b="0" lang="en-US" sz="620" strike="noStrike" u="none">
              <a:solidFill>
                <a:srgbClr val="000000"/>
              </a:solidFill>
              <a:effectLst/>
              <a:uFillTx/>
              <a:latin typeface="Times New Roman"/>
            </a:endParaRPr>
          </a:p>
        </p:txBody>
      </p:sp>
      <p:sp>
        <p:nvSpPr>
          <p:cNvPr id="1152" name=""/>
          <p:cNvSpPr txBox="1"/>
          <p:nvPr/>
        </p:nvSpPr>
        <p:spPr>
          <a:xfrm>
            <a:off x="3632400" y="2175120"/>
            <a:ext cx="63468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点～（訪問診療）</a:t>
            </a:r>
            <a:endParaRPr b="0" lang="en-US" sz="620" strike="noStrike" u="none">
              <a:solidFill>
                <a:srgbClr val="000000"/>
              </a:solidFill>
              <a:effectLst/>
              <a:uFillTx/>
              <a:latin typeface="Times New Roman"/>
            </a:endParaRPr>
          </a:p>
        </p:txBody>
      </p:sp>
      <p:sp>
        <p:nvSpPr>
          <p:cNvPr id="1153" name=""/>
          <p:cNvSpPr txBox="1"/>
          <p:nvPr/>
        </p:nvSpPr>
        <p:spPr>
          <a:xfrm>
            <a:off x="3041280" y="2319480"/>
            <a:ext cx="6346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検体検査管理加算</a:t>
            </a:r>
            <a:endParaRPr b="0" lang="en-US" sz="620" strike="noStrike" u="none">
              <a:solidFill>
                <a:srgbClr val="000000"/>
              </a:solidFill>
              <a:effectLst/>
              <a:uFillTx/>
              <a:latin typeface="Times New Roman"/>
            </a:endParaRPr>
          </a:p>
        </p:txBody>
      </p:sp>
      <p:sp>
        <p:nvSpPr>
          <p:cNvPr id="1154" name=""/>
          <p:cNvSpPr/>
          <p:nvPr/>
        </p:nvSpPr>
        <p:spPr>
          <a:xfrm>
            <a:off x="5622480" y="845280"/>
            <a:ext cx="2627640" cy="1800000"/>
          </a:xfrm>
          <a:custGeom>
            <a:avLst/>
            <a:gdLst/>
            <a:ahLst/>
            <a:rect l="0" t="0" r="r" b="b"/>
            <a:pathLst>
              <a:path w="7299" h="5000">
                <a:moveTo>
                  <a:pt x="0" y="4854"/>
                </a:moveTo>
                <a:lnTo>
                  <a:pt x="0" y="146"/>
                </a:lnTo>
                <a:cubicBezTo>
                  <a:pt x="0" y="136"/>
                  <a:pt x="1" y="127"/>
                  <a:pt x="3" y="117"/>
                </a:cubicBezTo>
                <a:cubicBezTo>
                  <a:pt x="5" y="108"/>
                  <a:pt x="7" y="99"/>
                  <a:pt x="11" y="90"/>
                </a:cubicBezTo>
                <a:cubicBezTo>
                  <a:pt x="15" y="81"/>
                  <a:pt x="19" y="73"/>
                  <a:pt x="24" y="65"/>
                </a:cubicBezTo>
                <a:cubicBezTo>
                  <a:pt x="30" y="57"/>
                  <a:pt x="36" y="49"/>
                  <a:pt x="43" y="42"/>
                </a:cubicBezTo>
                <a:cubicBezTo>
                  <a:pt x="49" y="36"/>
                  <a:pt x="57" y="30"/>
                  <a:pt x="65" y="24"/>
                </a:cubicBezTo>
                <a:cubicBezTo>
                  <a:pt x="73" y="19"/>
                  <a:pt x="81" y="15"/>
                  <a:pt x="90" y="11"/>
                </a:cubicBezTo>
                <a:cubicBezTo>
                  <a:pt x="99" y="7"/>
                  <a:pt x="108" y="4"/>
                  <a:pt x="117" y="3"/>
                </a:cubicBezTo>
                <a:cubicBezTo>
                  <a:pt x="127" y="1"/>
                  <a:pt x="136" y="0"/>
                  <a:pt x="146" y="0"/>
                </a:cubicBezTo>
                <a:lnTo>
                  <a:pt x="7153" y="0"/>
                </a:lnTo>
                <a:cubicBezTo>
                  <a:pt x="7163" y="0"/>
                  <a:pt x="7172" y="1"/>
                  <a:pt x="7182" y="3"/>
                </a:cubicBezTo>
                <a:cubicBezTo>
                  <a:pt x="7191" y="4"/>
                  <a:pt x="7200" y="7"/>
                  <a:pt x="7209" y="11"/>
                </a:cubicBezTo>
                <a:cubicBezTo>
                  <a:pt x="7218" y="15"/>
                  <a:pt x="7226" y="19"/>
                  <a:pt x="7234" y="24"/>
                </a:cubicBezTo>
                <a:cubicBezTo>
                  <a:pt x="7242" y="30"/>
                  <a:pt x="7250" y="36"/>
                  <a:pt x="7256" y="42"/>
                </a:cubicBezTo>
                <a:cubicBezTo>
                  <a:pt x="7263" y="49"/>
                  <a:pt x="7269" y="57"/>
                  <a:pt x="7275" y="65"/>
                </a:cubicBezTo>
                <a:cubicBezTo>
                  <a:pt x="7280" y="73"/>
                  <a:pt x="7284" y="81"/>
                  <a:pt x="7288" y="90"/>
                </a:cubicBezTo>
                <a:cubicBezTo>
                  <a:pt x="7292" y="99"/>
                  <a:pt x="7295" y="108"/>
                  <a:pt x="7296" y="117"/>
                </a:cubicBezTo>
                <a:cubicBezTo>
                  <a:pt x="7298" y="127"/>
                  <a:pt x="7299" y="136"/>
                  <a:pt x="7299" y="146"/>
                </a:cubicBezTo>
                <a:lnTo>
                  <a:pt x="7299" y="4854"/>
                </a:lnTo>
                <a:cubicBezTo>
                  <a:pt x="7299" y="4864"/>
                  <a:pt x="7298" y="4873"/>
                  <a:pt x="7296" y="4883"/>
                </a:cubicBezTo>
                <a:cubicBezTo>
                  <a:pt x="7295" y="4892"/>
                  <a:pt x="7292" y="4901"/>
                  <a:pt x="7288" y="4910"/>
                </a:cubicBezTo>
                <a:cubicBezTo>
                  <a:pt x="7284" y="4919"/>
                  <a:pt x="7280" y="4927"/>
                  <a:pt x="7275" y="4935"/>
                </a:cubicBezTo>
                <a:cubicBezTo>
                  <a:pt x="7269" y="4943"/>
                  <a:pt x="7263" y="4951"/>
                  <a:pt x="7256" y="4957"/>
                </a:cubicBezTo>
                <a:cubicBezTo>
                  <a:pt x="7250" y="4964"/>
                  <a:pt x="7242" y="4970"/>
                  <a:pt x="7234" y="4975"/>
                </a:cubicBezTo>
                <a:cubicBezTo>
                  <a:pt x="7226" y="4981"/>
                  <a:pt x="7218" y="4985"/>
                  <a:pt x="7209" y="4989"/>
                </a:cubicBezTo>
                <a:cubicBezTo>
                  <a:pt x="7200" y="4993"/>
                  <a:pt x="7191" y="4995"/>
                  <a:pt x="7182" y="4997"/>
                </a:cubicBezTo>
                <a:cubicBezTo>
                  <a:pt x="7172" y="4999"/>
                  <a:pt x="7163" y="5000"/>
                  <a:pt x="7153" y="5000"/>
                </a:cubicBezTo>
                <a:lnTo>
                  <a:pt x="146" y="5000"/>
                </a:lnTo>
                <a:cubicBezTo>
                  <a:pt x="136" y="5000"/>
                  <a:pt x="127" y="4999"/>
                  <a:pt x="117" y="4997"/>
                </a:cubicBezTo>
                <a:cubicBezTo>
                  <a:pt x="108" y="4995"/>
                  <a:pt x="99" y="4993"/>
                  <a:pt x="90" y="4989"/>
                </a:cubicBezTo>
                <a:cubicBezTo>
                  <a:pt x="81" y="4985"/>
                  <a:pt x="73" y="4981"/>
                  <a:pt x="65" y="4975"/>
                </a:cubicBezTo>
                <a:cubicBezTo>
                  <a:pt x="57" y="4970"/>
                  <a:pt x="49" y="4964"/>
                  <a:pt x="43" y="4957"/>
                </a:cubicBezTo>
                <a:cubicBezTo>
                  <a:pt x="36" y="4951"/>
                  <a:pt x="30" y="4943"/>
                  <a:pt x="24" y="4935"/>
                </a:cubicBezTo>
                <a:cubicBezTo>
                  <a:pt x="19" y="4927"/>
                  <a:pt x="15" y="4919"/>
                  <a:pt x="11" y="4910"/>
                </a:cubicBezTo>
                <a:cubicBezTo>
                  <a:pt x="7" y="4901"/>
                  <a:pt x="5" y="4892"/>
                  <a:pt x="3" y="4883"/>
                </a:cubicBezTo>
                <a:cubicBezTo>
                  <a:pt x="1" y="4873"/>
                  <a:pt x="0" y="4864"/>
                  <a:pt x="0" y="4854"/>
                </a:cubicBezTo>
                <a:close/>
              </a:path>
            </a:pathLst>
          </a:custGeom>
          <a:solidFill>
            <a:srgbClr val="ffffff">
              <a:alpha val="8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155" name=""/>
          <p:cNvSpPr/>
          <p:nvPr/>
        </p:nvSpPr>
        <p:spPr>
          <a:xfrm>
            <a:off x="5701320" y="1370520"/>
            <a:ext cx="20160" cy="210600"/>
          </a:xfrm>
          <a:custGeom>
            <a:avLst/>
            <a:gdLst/>
            <a:ahLst/>
            <a:rect l="0" t="0" r="r" b="b"/>
            <a:pathLst>
              <a:path w="56" h="585">
                <a:moveTo>
                  <a:pt x="0" y="0"/>
                </a:moveTo>
                <a:lnTo>
                  <a:pt x="56" y="0"/>
                </a:lnTo>
                <a:lnTo>
                  <a:pt x="56" y="585"/>
                </a:lnTo>
                <a:lnTo>
                  <a:pt x="0" y="585"/>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56" name=""/>
          <p:cNvSpPr/>
          <p:nvPr/>
        </p:nvSpPr>
        <p:spPr>
          <a:xfrm>
            <a:off x="5701320" y="1620360"/>
            <a:ext cx="20160" cy="210600"/>
          </a:xfrm>
          <a:custGeom>
            <a:avLst/>
            <a:gdLst/>
            <a:ahLst/>
            <a:rect l="0" t="0" r="r" b="b"/>
            <a:pathLst>
              <a:path w="56" h="585">
                <a:moveTo>
                  <a:pt x="0" y="0"/>
                </a:moveTo>
                <a:lnTo>
                  <a:pt x="56" y="0"/>
                </a:lnTo>
                <a:lnTo>
                  <a:pt x="56" y="585"/>
                </a:lnTo>
                <a:lnTo>
                  <a:pt x="0" y="585"/>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57" name=""/>
          <p:cNvSpPr/>
          <p:nvPr/>
        </p:nvSpPr>
        <p:spPr>
          <a:xfrm>
            <a:off x="5701320" y="2066760"/>
            <a:ext cx="20160" cy="210600"/>
          </a:xfrm>
          <a:custGeom>
            <a:avLst/>
            <a:gdLst/>
            <a:ahLst/>
            <a:rect l="0" t="0" r="r" b="b"/>
            <a:pathLst>
              <a:path w="56" h="585">
                <a:moveTo>
                  <a:pt x="0" y="0"/>
                </a:moveTo>
                <a:lnTo>
                  <a:pt x="56" y="0"/>
                </a:lnTo>
                <a:lnTo>
                  <a:pt x="56" y="585"/>
                </a:lnTo>
                <a:lnTo>
                  <a:pt x="0" y="585"/>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158" name=""/>
          <p:cNvSpPr/>
          <p:nvPr/>
        </p:nvSpPr>
        <p:spPr>
          <a:xfrm>
            <a:off x="5701320" y="2316600"/>
            <a:ext cx="20160" cy="210600"/>
          </a:xfrm>
          <a:custGeom>
            <a:avLst/>
            <a:gdLst/>
            <a:ahLst/>
            <a:rect l="0" t="0" r="r" b="b"/>
            <a:pathLst>
              <a:path w="56" h="585">
                <a:moveTo>
                  <a:pt x="0" y="0"/>
                </a:moveTo>
                <a:lnTo>
                  <a:pt x="56" y="0"/>
                </a:lnTo>
                <a:lnTo>
                  <a:pt x="56" y="585"/>
                </a:lnTo>
                <a:lnTo>
                  <a:pt x="0" y="585"/>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159" name="" descr=""/>
          <p:cNvPicPr/>
          <p:nvPr/>
        </p:nvPicPr>
        <p:blipFill>
          <a:blip r:embed="rId12"/>
          <a:stretch/>
        </p:blipFill>
        <p:spPr>
          <a:xfrm>
            <a:off x="5675040" y="924120"/>
            <a:ext cx="131040" cy="131040"/>
          </a:xfrm>
          <a:prstGeom prst="rect">
            <a:avLst/>
          </a:prstGeom>
          <a:noFill/>
          <a:ln w="0">
            <a:noFill/>
          </a:ln>
        </p:spPr>
      </p:pic>
      <p:sp>
        <p:nvSpPr>
          <p:cNvPr id="1160" name=""/>
          <p:cNvSpPr txBox="1"/>
          <p:nvPr/>
        </p:nvSpPr>
        <p:spPr>
          <a:xfrm>
            <a:off x="3041280" y="2424600"/>
            <a:ext cx="95544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検査の精度管理体制を評価</a:t>
            </a:r>
            <a:endParaRPr b="0" lang="en-US" sz="620" strike="noStrike" u="none">
              <a:solidFill>
                <a:srgbClr val="000000"/>
              </a:solidFill>
              <a:effectLst/>
              <a:uFillTx/>
              <a:latin typeface="Times New Roman"/>
            </a:endParaRPr>
          </a:p>
        </p:txBody>
      </p:sp>
      <p:pic>
        <p:nvPicPr>
          <p:cNvPr id="1161" name="" descr=""/>
          <p:cNvPicPr/>
          <p:nvPr/>
        </p:nvPicPr>
        <p:blipFill>
          <a:blip r:embed="rId13"/>
          <a:stretch/>
        </p:blipFill>
        <p:spPr>
          <a:xfrm>
            <a:off x="5701320" y="1239480"/>
            <a:ext cx="98280" cy="78480"/>
          </a:xfrm>
          <a:prstGeom prst="rect">
            <a:avLst/>
          </a:prstGeom>
          <a:noFill/>
          <a:ln w="0">
            <a:noFill/>
          </a:ln>
        </p:spPr>
      </p:pic>
      <p:sp>
        <p:nvSpPr>
          <p:cNvPr id="1162" name=""/>
          <p:cNvSpPr txBox="1"/>
          <p:nvPr/>
        </p:nvSpPr>
        <p:spPr>
          <a:xfrm>
            <a:off x="5859000" y="915480"/>
            <a:ext cx="824760" cy="148320"/>
          </a:xfrm>
          <a:prstGeom prst="rect">
            <a:avLst/>
          </a:prstGeom>
          <a:noFill/>
          <a:ln w="0">
            <a:noFill/>
          </a:ln>
        </p:spPr>
        <p:txBody>
          <a:bodyPr wrap="none" lIns="0" rIns="0" tIns="0" bIns="0" anchor="t">
            <a:spAutoFit/>
          </a:bodyPr>
          <a:p>
            <a:r>
              <a:rPr b="0" lang="zh-CN" sz="930" strike="noStrike" u="none">
                <a:solidFill>
                  <a:srgbClr val="ffffff"/>
                </a:solidFill>
                <a:effectLst/>
                <a:uFillTx/>
                <a:latin typeface="WenQuanYiZenHei"/>
                <a:ea typeface="WenQuanYiZenHei"/>
              </a:rPr>
              <a:t>循環器科の加算</a:t>
            </a:r>
            <a:endParaRPr b="0" lang="en-US" sz="930" strike="noStrike" u="none">
              <a:solidFill>
                <a:srgbClr val="000000"/>
              </a:solidFill>
              <a:effectLst/>
              <a:uFillTx/>
              <a:latin typeface="Times New Roman"/>
            </a:endParaRPr>
          </a:p>
        </p:txBody>
      </p:sp>
      <p:sp>
        <p:nvSpPr>
          <p:cNvPr id="1163" name=""/>
          <p:cNvSpPr txBox="1"/>
          <p:nvPr/>
        </p:nvSpPr>
        <p:spPr>
          <a:xfrm>
            <a:off x="5826240" y="1223280"/>
            <a:ext cx="110664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カテーテル検査・治療関連</a:t>
            </a:r>
            <a:endParaRPr b="0" lang="en-US" sz="730" strike="noStrike" u="none">
              <a:solidFill>
                <a:srgbClr val="000000"/>
              </a:solidFill>
              <a:effectLst/>
              <a:uFillTx/>
              <a:latin typeface="Times New Roman"/>
            </a:endParaRPr>
          </a:p>
        </p:txBody>
      </p:sp>
      <p:sp>
        <p:nvSpPr>
          <p:cNvPr id="1164" name=""/>
          <p:cNvSpPr txBox="1"/>
          <p:nvPr/>
        </p:nvSpPr>
        <p:spPr>
          <a:xfrm>
            <a:off x="5773680" y="1373760"/>
            <a:ext cx="793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特定保険医療材料加算</a:t>
            </a:r>
            <a:endParaRPr b="0" lang="en-US" sz="620" strike="noStrike" u="none">
              <a:solidFill>
                <a:srgbClr val="000000"/>
              </a:solidFill>
              <a:effectLst/>
              <a:uFillTx/>
              <a:latin typeface="Times New Roman"/>
            </a:endParaRPr>
          </a:p>
        </p:txBody>
      </p:sp>
      <p:sp>
        <p:nvSpPr>
          <p:cNvPr id="1165" name=""/>
          <p:cNvSpPr txBox="1"/>
          <p:nvPr/>
        </p:nvSpPr>
        <p:spPr>
          <a:xfrm>
            <a:off x="5773680" y="1478880"/>
            <a:ext cx="120816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冠動脈ステント、カテーテルなど</a:t>
            </a:r>
            <a:endParaRPr b="0" lang="en-US" sz="620" strike="noStrike" u="none">
              <a:solidFill>
                <a:srgbClr val="000000"/>
              </a:solidFill>
              <a:effectLst/>
              <a:uFillTx/>
              <a:latin typeface="Times New Roman"/>
            </a:endParaRPr>
          </a:p>
        </p:txBody>
      </p:sp>
      <p:sp>
        <p:nvSpPr>
          <p:cNvPr id="1166" name=""/>
          <p:cNvSpPr txBox="1"/>
          <p:nvPr/>
        </p:nvSpPr>
        <p:spPr>
          <a:xfrm>
            <a:off x="5773680" y="1623240"/>
            <a:ext cx="7930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経皮的冠動脈形成術（</a:t>
            </a:r>
            <a:endParaRPr b="0" lang="en-US" sz="620" strike="noStrike" u="none">
              <a:solidFill>
                <a:srgbClr val="000000"/>
              </a:solidFill>
              <a:effectLst/>
              <a:uFillTx/>
              <a:latin typeface="Times New Roman"/>
            </a:endParaRPr>
          </a:p>
        </p:txBody>
      </p:sp>
      <p:sp>
        <p:nvSpPr>
          <p:cNvPr id="1167" name=""/>
          <p:cNvSpPr txBox="1"/>
          <p:nvPr/>
        </p:nvSpPr>
        <p:spPr>
          <a:xfrm>
            <a:off x="6562080" y="1626120"/>
            <a:ext cx="127080" cy="91800"/>
          </a:xfrm>
          <a:prstGeom prst="rect">
            <a:avLst/>
          </a:prstGeom>
          <a:noFill/>
          <a:ln w="0">
            <a:noFill/>
          </a:ln>
        </p:spPr>
        <p:txBody>
          <a:bodyPr wrap="none" lIns="0" rIns="0" tIns="0" bIns="0" anchor="t">
            <a:spAutoFit/>
          </a:bodyPr>
          <a:p>
            <a:r>
              <a:rPr b="0" lang="en-US" sz="620" strike="noStrike" u="none">
                <a:solidFill>
                  <a:srgbClr val="000000"/>
                </a:solidFill>
                <a:effectLst/>
                <a:uFillTx/>
                <a:latin typeface="DejaVuSans"/>
                <a:ea typeface="DejaVuSans"/>
              </a:rPr>
              <a:t>PCI</a:t>
            </a:r>
            <a:endParaRPr b="0" lang="en-US" sz="620" strike="noStrike" u="none">
              <a:solidFill>
                <a:srgbClr val="000000"/>
              </a:solidFill>
              <a:effectLst/>
              <a:uFillTx/>
              <a:latin typeface="Times New Roman"/>
            </a:endParaRPr>
          </a:p>
        </p:txBody>
      </p:sp>
      <p:sp>
        <p:nvSpPr>
          <p:cNvPr id="1168" name=""/>
          <p:cNvSpPr txBox="1"/>
          <p:nvPr/>
        </p:nvSpPr>
        <p:spPr>
          <a:xfrm>
            <a:off x="6687720" y="1623240"/>
            <a:ext cx="23832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）加算</a:t>
            </a:r>
            <a:endParaRPr b="0" lang="en-US" sz="620" strike="noStrike" u="none">
              <a:solidFill>
                <a:srgbClr val="000000"/>
              </a:solidFill>
              <a:effectLst/>
              <a:uFillTx/>
              <a:latin typeface="Times New Roman"/>
            </a:endParaRPr>
          </a:p>
        </p:txBody>
      </p:sp>
      <p:pic>
        <p:nvPicPr>
          <p:cNvPr id="1169" name="" descr=""/>
          <p:cNvPicPr/>
          <p:nvPr/>
        </p:nvPicPr>
        <p:blipFill>
          <a:blip r:embed="rId14"/>
          <a:stretch/>
        </p:blipFill>
        <p:spPr>
          <a:xfrm>
            <a:off x="5701320" y="1935720"/>
            <a:ext cx="98280" cy="78480"/>
          </a:xfrm>
          <a:prstGeom prst="rect">
            <a:avLst/>
          </a:prstGeom>
          <a:noFill/>
          <a:ln w="0">
            <a:noFill/>
          </a:ln>
        </p:spPr>
      </p:pic>
      <p:sp>
        <p:nvSpPr>
          <p:cNvPr id="1170" name=""/>
          <p:cNvSpPr txBox="1"/>
          <p:nvPr/>
        </p:nvSpPr>
        <p:spPr>
          <a:xfrm>
            <a:off x="5773680" y="1728360"/>
            <a:ext cx="119304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急性心筋梗塞、複雑病変への対応</a:t>
            </a:r>
            <a:endParaRPr b="0" lang="en-US" sz="620" strike="noStrike" u="none">
              <a:solidFill>
                <a:srgbClr val="000000"/>
              </a:solidFill>
              <a:effectLst/>
              <a:uFillTx/>
              <a:latin typeface="Times New Roman"/>
            </a:endParaRPr>
          </a:p>
        </p:txBody>
      </p:sp>
      <p:sp>
        <p:nvSpPr>
          <p:cNvPr id="1171" name=""/>
          <p:cNvSpPr txBox="1"/>
          <p:nvPr/>
        </p:nvSpPr>
        <p:spPr>
          <a:xfrm>
            <a:off x="5826240" y="1919520"/>
            <a:ext cx="1198080" cy="116280"/>
          </a:xfrm>
          <a:prstGeom prst="rect">
            <a:avLst/>
          </a:prstGeom>
          <a:noFill/>
          <a:ln w="0">
            <a:noFill/>
          </a:ln>
        </p:spPr>
        <p:txBody>
          <a:bodyPr wrap="none" lIns="0" rIns="0" tIns="0" bIns="0" anchor="t">
            <a:spAutoFit/>
          </a:bodyPr>
          <a:p>
            <a:r>
              <a:rPr b="0" lang="zh-CN" sz="730" strike="noStrike" u="none">
                <a:solidFill>
                  <a:srgbClr val="000000"/>
                </a:solidFill>
                <a:effectLst/>
                <a:uFillTx/>
                <a:latin typeface="WenQuanYiZenHei"/>
                <a:ea typeface="WenQuanYiZenHei"/>
              </a:rPr>
              <a:t>ペースメーカー・心不全関連</a:t>
            </a:r>
            <a:endParaRPr b="0" lang="en-US" sz="730" strike="noStrike" u="none">
              <a:solidFill>
                <a:srgbClr val="000000"/>
              </a:solidFill>
              <a:effectLst/>
              <a:uFillTx/>
              <a:latin typeface="Times New Roman"/>
            </a:endParaRPr>
          </a:p>
        </p:txBody>
      </p:sp>
      <p:sp>
        <p:nvSpPr>
          <p:cNvPr id="1172" name=""/>
          <p:cNvSpPr txBox="1"/>
          <p:nvPr/>
        </p:nvSpPr>
        <p:spPr>
          <a:xfrm>
            <a:off x="5773680" y="2070000"/>
            <a:ext cx="95904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ペースメーカー指導管理料</a:t>
            </a:r>
            <a:endParaRPr b="0" lang="en-US" sz="620" strike="noStrike" u="none">
              <a:solidFill>
                <a:srgbClr val="000000"/>
              </a:solidFill>
              <a:effectLst/>
              <a:uFillTx/>
              <a:latin typeface="Times New Roman"/>
            </a:endParaRPr>
          </a:p>
        </p:txBody>
      </p:sp>
      <p:sp>
        <p:nvSpPr>
          <p:cNvPr id="1173" name=""/>
          <p:cNvSpPr txBox="1"/>
          <p:nvPr/>
        </p:nvSpPr>
        <p:spPr>
          <a:xfrm>
            <a:off x="5773680" y="2178000"/>
            <a:ext cx="22752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2,150</a:t>
            </a:r>
            <a:endParaRPr b="0" lang="en-US" sz="620" strike="noStrike" u="none">
              <a:solidFill>
                <a:srgbClr val="000000"/>
              </a:solidFill>
              <a:effectLst/>
              <a:uFillTx/>
              <a:latin typeface="Times New Roman"/>
            </a:endParaRPr>
          </a:p>
        </p:txBody>
      </p:sp>
      <p:sp>
        <p:nvSpPr>
          <p:cNvPr id="1174" name=""/>
          <p:cNvSpPr txBox="1"/>
          <p:nvPr/>
        </p:nvSpPr>
        <p:spPr>
          <a:xfrm>
            <a:off x="5999400" y="2175120"/>
            <a:ext cx="7992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点</a:t>
            </a:r>
            <a:endParaRPr b="0" lang="en-US" sz="620" strike="noStrike" u="none">
              <a:solidFill>
                <a:srgbClr val="000000"/>
              </a:solidFill>
              <a:effectLst/>
              <a:uFillTx/>
              <a:latin typeface="Times New Roman"/>
            </a:endParaRPr>
          </a:p>
        </p:txBody>
      </p:sp>
      <p:sp>
        <p:nvSpPr>
          <p:cNvPr id="1175" name=""/>
          <p:cNvSpPr txBox="1"/>
          <p:nvPr/>
        </p:nvSpPr>
        <p:spPr>
          <a:xfrm>
            <a:off x="6078240" y="2178000"/>
            <a:ext cx="7848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a:t>
            </a:r>
            <a:endParaRPr b="0" lang="en-US" sz="620" strike="noStrike" u="none">
              <a:solidFill>
                <a:srgbClr val="000000"/>
              </a:solidFill>
              <a:effectLst/>
              <a:uFillTx/>
              <a:latin typeface="Times New Roman"/>
            </a:endParaRPr>
          </a:p>
        </p:txBody>
      </p:sp>
      <p:sp>
        <p:nvSpPr>
          <p:cNvPr id="1176" name=""/>
          <p:cNvSpPr txBox="1"/>
          <p:nvPr/>
        </p:nvSpPr>
        <p:spPr>
          <a:xfrm>
            <a:off x="6104880" y="2175120"/>
            <a:ext cx="120420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月（遠隔モニタリング加算あり）</a:t>
            </a:r>
            <a:endParaRPr b="0" lang="en-US" sz="620" strike="noStrike" u="none">
              <a:solidFill>
                <a:srgbClr val="000000"/>
              </a:solidFill>
              <a:effectLst/>
              <a:uFillTx/>
              <a:latin typeface="Times New Roman"/>
            </a:endParaRPr>
          </a:p>
        </p:txBody>
      </p:sp>
      <p:sp>
        <p:nvSpPr>
          <p:cNvPr id="1177" name=""/>
          <p:cNvSpPr txBox="1"/>
          <p:nvPr/>
        </p:nvSpPr>
        <p:spPr>
          <a:xfrm>
            <a:off x="5773680" y="2319480"/>
            <a:ext cx="634680" cy="99720"/>
          </a:xfrm>
          <a:prstGeom prst="rect">
            <a:avLst/>
          </a:prstGeom>
          <a:noFill/>
          <a:ln w="0">
            <a:noFill/>
          </a:ln>
        </p:spPr>
        <p:txBody>
          <a:bodyPr wrap="none" lIns="0" rIns="0" tIns="0" bIns="0" anchor="t">
            <a:spAutoFit/>
          </a:bodyPr>
          <a:p>
            <a:r>
              <a:rPr b="0" lang="zh-CN" sz="620" strike="noStrike" u="none">
                <a:solidFill>
                  <a:srgbClr val="000000"/>
                </a:solidFill>
                <a:effectLst/>
                <a:uFillTx/>
                <a:latin typeface="WenQuanYiZenHei"/>
                <a:ea typeface="WenQuanYiZenHei"/>
              </a:rPr>
              <a:t>心不全指導管理料</a:t>
            </a:r>
            <a:endParaRPr b="0" lang="en-US" sz="620" strike="noStrike" u="none">
              <a:solidFill>
                <a:srgbClr val="000000"/>
              </a:solidFill>
              <a:effectLst/>
              <a:uFillTx/>
              <a:latin typeface="Times New Roman"/>
            </a:endParaRPr>
          </a:p>
        </p:txBody>
      </p:sp>
      <p:sp>
        <p:nvSpPr>
          <p:cNvPr id="1178" name=""/>
          <p:cNvSpPr txBox="1"/>
          <p:nvPr/>
        </p:nvSpPr>
        <p:spPr>
          <a:xfrm>
            <a:off x="5773680" y="2424600"/>
            <a:ext cx="111384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複数治療薬処方患者への指導（</a:t>
            </a:r>
            <a:endParaRPr b="0" lang="en-US" sz="620" strike="noStrike" u="none">
              <a:solidFill>
                <a:srgbClr val="000000"/>
              </a:solidFill>
              <a:effectLst/>
              <a:uFillTx/>
              <a:latin typeface="Times New Roman"/>
            </a:endParaRPr>
          </a:p>
        </p:txBody>
      </p:sp>
      <p:sp>
        <p:nvSpPr>
          <p:cNvPr id="1179" name=""/>
          <p:cNvSpPr txBox="1"/>
          <p:nvPr/>
        </p:nvSpPr>
        <p:spPr>
          <a:xfrm>
            <a:off x="6877080" y="2427480"/>
            <a:ext cx="20232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2024</a:t>
            </a:r>
            <a:endParaRPr b="0" lang="en-US" sz="620" strike="noStrike" u="none">
              <a:solidFill>
                <a:srgbClr val="000000"/>
              </a:solidFill>
              <a:effectLst/>
              <a:uFillTx/>
              <a:latin typeface="Times New Roman"/>
            </a:endParaRPr>
          </a:p>
        </p:txBody>
      </p:sp>
      <p:sp>
        <p:nvSpPr>
          <p:cNvPr id="1180" name=""/>
          <p:cNvSpPr/>
          <p:nvPr/>
        </p:nvSpPr>
        <p:spPr>
          <a:xfrm>
            <a:off x="170640" y="2750040"/>
            <a:ext cx="5872680" cy="499680"/>
          </a:xfrm>
          <a:custGeom>
            <a:avLst/>
            <a:gdLst/>
            <a:ahLst/>
            <a:rect l="0" t="0" r="r" b="b"/>
            <a:pathLst>
              <a:path w="16313" h="1388">
                <a:moveTo>
                  <a:pt x="0" y="1388"/>
                </a:moveTo>
                <a:lnTo>
                  <a:pt x="0" y="0"/>
                </a:lnTo>
                <a:lnTo>
                  <a:pt x="16240" y="0"/>
                </a:lnTo>
                <a:cubicBezTo>
                  <a:pt x="16249" y="0"/>
                  <a:pt x="16259" y="2"/>
                  <a:pt x="16268" y="6"/>
                </a:cubicBezTo>
                <a:cubicBezTo>
                  <a:pt x="16277" y="9"/>
                  <a:pt x="16284" y="15"/>
                  <a:pt x="16291" y="21"/>
                </a:cubicBezTo>
                <a:cubicBezTo>
                  <a:pt x="16298" y="28"/>
                  <a:pt x="16303" y="36"/>
                  <a:pt x="16307" y="45"/>
                </a:cubicBezTo>
                <a:cubicBezTo>
                  <a:pt x="16311" y="54"/>
                  <a:pt x="16313" y="63"/>
                  <a:pt x="16313" y="73"/>
                </a:cubicBezTo>
                <a:lnTo>
                  <a:pt x="16313" y="1314"/>
                </a:lnTo>
                <a:cubicBezTo>
                  <a:pt x="16313" y="1323"/>
                  <a:pt x="16311" y="1333"/>
                  <a:pt x="16307" y="1342"/>
                </a:cubicBezTo>
                <a:cubicBezTo>
                  <a:pt x="16303" y="1351"/>
                  <a:pt x="16298" y="1358"/>
                  <a:pt x="16291" y="1365"/>
                </a:cubicBezTo>
                <a:cubicBezTo>
                  <a:pt x="16284" y="1373"/>
                  <a:pt x="16277" y="1378"/>
                  <a:pt x="16268" y="1382"/>
                </a:cubicBezTo>
                <a:cubicBezTo>
                  <a:pt x="16259" y="1386"/>
                  <a:pt x="16249" y="1388"/>
                  <a:pt x="16240" y="1388"/>
                </a:cubicBezTo>
                <a:lnTo>
                  <a:pt x="0" y="1388"/>
                </a:lnTo>
                <a:close/>
              </a:path>
            </a:pathLst>
          </a:custGeom>
          <a:solidFill>
            <a:srgbClr val="eff6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181" name=""/>
          <p:cNvSpPr/>
          <p:nvPr/>
        </p:nvSpPr>
        <p:spPr>
          <a:xfrm>
            <a:off x="157320" y="2750040"/>
            <a:ext cx="26640" cy="499680"/>
          </a:xfrm>
          <a:custGeom>
            <a:avLst/>
            <a:gdLst/>
            <a:ahLst/>
            <a:rect l="0" t="0" r="r" b="b"/>
            <a:pathLst>
              <a:path w="74" h="1388">
                <a:moveTo>
                  <a:pt x="0" y="0"/>
                </a:moveTo>
                <a:lnTo>
                  <a:pt x="74" y="0"/>
                </a:lnTo>
                <a:lnTo>
                  <a:pt x="74" y="1388"/>
                </a:lnTo>
                <a:lnTo>
                  <a:pt x="0" y="1388"/>
                </a:lnTo>
                <a:lnTo>
                  <a:pt x="0" y="0"/>
                </a:lnTo>
                <a:close/>
              </a:path>
            </a:pathLst>
          </a:custGeom>
          <a:solidFill>
            <a:srgbClr val="3b82f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182" name="" descr=""/>
          <p:cNvPicPr/>
          <p:nvPr/>
        </p:nvPicPr>
        <p:blipFill>
          <a:blip r:embed="rId15"/>
          <a:stretch/>
        </p:blipFill>
        <p:spPr>
          <a:xfrm>
            <a:off x="262800" y="2848680"/>
            <a:ext cx="78480" cy="104760"/>
          </a:xfrm>
          <a:prstGeom prst="rect">
            <a:avLst/>
          </a:prstGeom>
          <a:noFill/>
          <a:ln w="0">
            <a:noFill/>
          </a:ln>
        </p:spPr>
      </p:pic>
      <p:sp>
        <p:nvSpPr>
          <p:cNvPr id="1183" name=""/>
          <p:cNvSpPr txBox="1"/>
          <p:nvPr/>
        </p:nvSpPr>
        <p:spPr>
          <a:xfrm>
            <a:off x="7077960" y="2424600"/>
            <a:ext cx="39708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年度新設）</a:t>
            </a:r>
            <a:endParaRPr b="0" lang="en-US" sz="620" strike="noStrike" u="none">
              <a:solidFill>
                <a:srgbClr val="000000"/>
              </a:solidFill>
              <a:effectLst/>
              <a:uFillTx/>
              <a:latin typeface="Times New Roman"/>
            </a:endParaRPr>
          </a:p>
        </p:txBody>
      </p:sp>
      <p:sp>
        <p:nvSpPr>
          <p:cNvPr id="1184" name=""/>
          <p:cNvSpPr txBox="1"/>
          <p:nvPr/>
        </p:nvSpPr>
        <p:spPr>
          <a:xfrm>
            <a:off x="394200" y="2838960"/>
            <a:ext cx="651600" cy="116280"/>
          </a:xfrm>
          <a:prstGeom prst="rect">
            <a:avLst/>
          </a:prstGeom>
          <a:noFill/>
          <a:ln w="0">
            <a:noFill/>
          </a:ln>
        </p:spPr>
        <p:txBody>
          <a:bodyPr wrap="none" lIns="0" rIns="0" tIns="0" bIns="0" anchor="t">
            <a:spAutoFit/>
          </a:bodyPr>
          <a:p>
            <a:r>
              <a:rPr b="0" lang="zh-CN" sz="730" strike="noStrike" u="none">
                <a:solidFill>
                  <a:srgbClr val="1e40af"/>
                </a:solidFill>
                <a:effectLst/>
                <a:uFillTx/>
                <a:latin typeface="WenQuanYiZenHei"/>
                <a:ea typeface="WenQuanYiZenHei"/>
              </a:rPr>
              <a:t>算定のポイント</a:t>
            </a:r>
            <a:endParaRPr b="0" lang="en-US" sz="730" strike="noStrike" u="none">
              <a:solidFill>
                <a:srgbClr val="000000"/>
              </a:solidFill>
              <a:effectLst/>
              <a:uFillTx/>
              <a:latin typeface="Times New Roman"/>
            </a:endParaRPr>
          </a:p>
        </p:txBody>
      </p:sp>
      <p:sp>
        <p:nvSpPr>
          <p:cNvPr id="1185" name=""/>
          <p:cNvSpPr txBox="1"/>
          <p:nvPr/>
        </p:nvSpPr>
        <p:spPr>
          <a:xfrm>
            <a:off x="394200" y="2963160"/>
            <a:ext cx="4962240" cy="99720"/>
          </a:xfrm>
          <a:prstGeom prst="rect">
            <a:avLst/>
          </a:prstGeom>
          <a:noFill/>
          <a:ln w="0">
            <a:noFill/>
          </a:ln>
        </p:spPr>
        <p:txBody>
          <a:bodyPr wrap="none" lIns="0" rIns="0" tIns="0" bIns="0" anchor="t">
            <a:spAutoFit/>
          </a:bodyPr>
          <a:p>
            <a:r>
              <a:rPr b="0" lang="zh-CN" sz="620" strike="noStrike" u="none">
                <a:solidFill>
                  <a:srgbClr val="374151"/>
                </a:solidFill>
                <a:effectLst/>
                <a:uFillTx/>
                <a:latin typeface="WenQuanYiZenHei"/>
                <a:ea typeface="WenQuanYiZenHei"/>
              </a:rPr>
              <a:t>各加算の算定要件を正確に理解し、必要な記録や体制整備を行うことで、専門性の高い医療の提供を適切に評価してもらいましょう。特に</a:t>
            </a:r>
            <a:endParaRPr b="0" lang="en-US" sz="620" strike="noStrike" u="none">
              <a:solidFill>
                <a:srgbClr val="000000"/>
              </a:solidFill>
              <a:effectLst/>
              <a:uFillTx/>
              <a:latin typeface="Times New Roman"/>
            </a:endParaRPr>
          </a:p>
        </p:txBody>
      </p:sp>
      <p:sp>
        <p:nvSpPr>
          <p:cNvPr id="1186" name=""/>
          <p:cNvSpPr txBox="1"/>
          <p:nvPr/>
        </p:nvSpPr>
        <p:spPr>
          <a:xfrm>
            <a:off x="5281200" y="2966040"/>
            <a:ext cx="202320" cy="91800"/>
          </a:xfrm>
          <a:prstGeom prst="rect">
            <a:avLst/>
          </a:prstGeom>
          <a:noFill/>
          <a:ln w="0">
            <a:noFill/>
          </a:ln>
        </p:spPr>
        <p:txBody>
          <a:bodyPr wrap="none" lIns="0" rIns="0" tIns="0" bIns="0" anchor="t">
            <a:spAutoFit/>
          </a:bodyPr>
          <a:p>
            <a:r>
              <a:rPr b="0" lang="en-US" sz="620" strike="noStrike" u="none">
                <a:solidFill>
                  <a:srgbClr val="374151"/>
                </a:solidFill>
                <a:effectLst/>
                <a:uFillTx/>
                <a:latin typeface="DejaVuSans"/>
                <a:ea typeface="DejaVuSans"/>
              </a:rPr>
              <a:t>2024</a:t>
            </a:r>
            <a:endParaRPr b="0" lang="en-US" sz="620" strike="noStrike" u="none">
              <a:solidFill>
                <a:srgbClr val="000000"/>
              </a:solidFill>
              <a:effectLst/>
              <a:uFillTx/>
              <a:latin typeface="Times New Roman"/>
            </a:endParaRPr>
          </a:p>
        </p:txBody>
      </p:sp>
      <p:sp>
        <p:nvSpPr>
          <p:cNvPr id="1187" name=""/>
          <p:cNvSpPr txBox="1"/>
          <p:nvPr/>
        </p:nvSpPr>
        <p:spPr>
          <a:xfrm>
            <a:off x="5481720" y="2963160"/>
            <a:ext cx="479880" cy="99720"/>
          </a:xfrm>
          <a:prstGeom prst="rect">
            <a:avLst/>
          </a:prstGeom>
          <a:noFill/>
          <a:ln w="0">
            <a:noFill/>
          </a:ln>
        </p:spPr>
        <p:txBody>
          <a:bodyPr wrap="none" lIns="0" rIns="0" tIns="0" bIns="0" anchor="t">
            <a:spAutoFit/>
          </a:bodyPr>
          <a:p>
            <a:r>
              <a:rPr b="0" lang="zh-CN" sz="620" strike="noStrike" u="none">
                <a:solidFill>
                  <a:srgbClr val="374151"/>
                </a:solidFill>
                <a:effectLst/>
                <a:uFillTx/>
                <a:latin typeface="WenQuanYiZenHei"/>
                <a:ea typeface="WenQuanYiZenHei"/>
              </a:rPr>
              <a:t>年度改定では</a:t>
            </a:r>
            <a:endParaRPr b="0" lang="en-US" sz="620" strike="noStrike" u="none">
              <a:solidFill>
                <a:srgbClr val="000000"/>
              </a:solidFill>
              <a:effectLst/>
              <a:uFillTx/>
              <a:latin typeface="Times New Roman"/>
            </a:endParaRPr>
          </a:p>
        </p:txBody>
      </p:sp>
      <p:sp>
        <p:nvSpPr>
          <p:cNvPr id="1188" name=""/>
          <p:cNvSpPr txBox="1"/>
          <p:nvPr/>
        </p:nvSpPr>
        <p:spPr>
          <a:xfrm>
            <a:off x="394200" y="3068280"/>
            <a:ext cx="2170080" cy="99720"/>
          </a:xfrm>
          <a:prstGeom prst="rect">
            <a:avLst/>
          </a:prstGeom>
          <a:noFill/>
          <a:ln w="0">
            <a:noFill/>
          </a:ln>
        </p:spPr>
        <p:txBody>
          <a:bodyPr wrap="none" lIns="0" rIns="0" tIns="0" bIns="0" anchor="t">
            <a:spAutoFit/>
          </a:bodyPr>
          <a:p>
            <a:r>
              <a:rPr b="0" lang="zh-CN" sz="620" strike="noStrike" u="none">
                <a:solidFill>
                  <a:srgbClr val="374151"/>
                </a:solidFill>
                <a:effectLst/>
                <a:uFillTx/>
                <a:latin typeface="WenQuanYiZenHei"/>
                <a:ea typeface="WenQuanYiZenHei"/>
              </a:rPr>
              <a:t>各科において新たな加算や評価の見直しが行われています。</a:t>
            </a:r>
            <a:endParaRPr b="0" lang="en-US" sz="6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89" name="" descr=""/>
          <p:cNvPicPr/>
          <p:nvPr/>
        </p:nvPicPr>
        <p:blipFill>
          <a:blip r:embed="rId1"/>
          <a:stretch/>
        </p:blipFill>
        <p:spPr>
          <a:xfrm>
            <a:off x="0" y="361800"/>
            <a:ext cx="8712000" cy="4900320"/>
          </a:xfrm>
          <a:prstGeom prst="rect">
            <a:avLst/>
          </a:prstGeom>
          <a:noFill/>
          <a:ln w="0">
            <a:noFill/>
          </a:ln>
        </p:spPr>
      </p:pic>
      <p:pic>
        <p:nvPicPr>
          <p:cNvPr id="1190" name="" descr=""/>
          <p:cNvPicPr/>
          <p:nvPr/>
        </p:nvPicPr>
        <p:blipFill>
          <a:blip r:embed="rId2"/>
          <a:stretch/>
        </p:blipFill>
        <p:spPr>
          <a:xfrm>
            <a:off x="6329880" y="-318600"/>
            <a:ext cx="3062520" cy="3062520"/>
          </a:xfrm>
          <a:prstGeom prst="rect">
            <a:avLst/>
          </a:prstGeom>
          <a:noFill/>
          <a:ln w="0">
            <a:noFill/>
          </a:ln>
        </p:spPr>
      </p:pic>
      <p:pic>
        <p:nvPicPr>
          <p:cNvPr id="1191" name="" descr=""/>
          <p:cNvPicPr/>
          <p:nvPr/>
        </p:nvPicPr>
        <p:blipFill>
          <a:blip r:embed="rId3"/>
          <a:stretch/>
        </p:blipFill>
        <p:spPr>
          <a:xfrm>
            <a:off x="-1020960" y="3901320"/>
            <a:ext cx="2381760" cy="2381760"/>
          </a:xfrm>
          <a:prstGeom prst="rect">
            <a:avLst/>
          </a:prstGeom>
          <a:noFill/>
          <a:ln w="0">
            <a:noFill/>
          </a:ln>
        </p:spPr>
      </p:pic>
      <p:pic>
        <p:nvPicPr>
          <p:cNvPr id="1192" name="" descr=""/>
          <p:cNvPicPr/>
          <p:nvPr/>
        </p:nvPicPr>
        <p:blipFill>
          <a:blip r:embed="rId4"/>
          <a:stretch/>
        </p:blipFill>
        <p:spPr>
          <a:xfrm>
            <a:off x="7044840" y="5058360"/>
            <a:ext cx="101880" cy="81360"/>
          </a:xfrm>
          <a:prstGeom prst="rect">
            <a:avLst/>
          </a:prstGeom>
          <a:noFill/>
          <a:ln w="0">
            <a:noFill/>
          </a:ln>
        </p:spPr>
      </p:pic>
      <p:sp>
        <p:nvSpPr>
          <p:cNvPr id="1193" name=""/>
          <p:cNvSpPr txBox="1"/>
          <p:nvPr/>
        </p:nvSpPr>
        <p:spPr>
          <a:xfrm>
            <a:off x="7200720" y="5047920"/>
            <a:ext cx="329760" cy="104040"/>
          </a:xfrm>
          <a:prstGeom prst="rect">
            <a:avLst/>
          </a:prstGeom>
          <a:noFill/>
          <a:ln w="0">
            <a:noFill/>
          </a:ln>
        </p:spPr>
        <p:txBody>
          <a:bodyPr wrap="none" lIns="0" rIns="0" tIns="0" bIns="0" anchor="t">
            <a:spAutoFit/>
          </a:bodyPr>
          <a:p>
            <a:r>
              <a:rPr b="0" lang="zh-CN" sz="650" strike="noStrike" u="none">
                <a:solidFill>
                  <a:srgbClr val="6b7280"/>
                </a:solidFill>
                <a:effectLst/>
                <a:uFillTx/>
                <a:latin typeface="WenQuanYiZenHei"/>
                <a:ea typeface="WenQuanYiZenHei"/>
              </a:rPr>
              <a:t>東和病院</a:t>
            </a:r>
            <a:endParaRPr b="0" lang="en-US" sz="650" strike="noStrike" u="none">
              <a:solidFill>
                <a:srgbClr val="000000"/>
              </a:solidFill>
              <a:effectLst/>
              <a:uFillTx/>
              <a:latin typeface="Times New Roman"/>
            </a:endParaRPr>
          </a:p>
        </p:txBody>
      </p:sp>
      <p:sp>
        <p:nvSpPr>
          <p:cNvPr id="1194" name=""/>
          <p:cNvSpPr txBox="1"/>
          <p:nvPr/>
        </p:nvSpPr>
        <p:spPr>
          <a:xfrm>
            <a:off x="7527240" y="5050800"/>
            <a:ext cx="81360" cy="96480"/>
          </a:xfrm>
          <a:prstGeom prst="rect">
            <a:avLst/>
          </a:prstGeom>
          <a:noFill/>
          <a:ln w="0">
            <a:noFill/>
          </a:ln>
        </p:spPr>
        <p:txBody>
          <a:bodyPr wrap="none" lIns="0" rIns="0" tIns="0" bIns="0" anchor="t">
            <a:spAutoFit/>
          </a:bodyPr>
          <a:p>
            <a:r>
              <a:rPr b="0" lang="en-US" sz="650" strike="noStrike" u="none">
                <a:solidFill>
                  <a:srgbClr val="6b7280"/>
                </a:solidFill>
                <a:effectLst/>
                <a:uFillTx/>
                <a:latin typeface="DejaVuSans"/>
                <a:ea typeface="DejaVuSans"/>
              </a:rPr>
              <a:t> </a:t>
            </a:r>
            <a:endParaRPr b="0" lang="en-US" sz="650" strike="noStrike" u="none">
              <a:solidFill>
                <a:srgbClr val="000000"/>
              </a:solidFill>
              <a:effectLst/>
              <a:uFillTx/>
              <a:latin typeface="Times New Roman"/>
            </a:endParaRPr>
          </a:p>
        </p:txBody>
      </p:sp>
      <p:sp>
        <p:nvSpPr>
          <p:cNvPr id="1195" name=""/>
          <p:cNvSpPr txBox="1"/>
          <p:nvPr/>
        </p:nvSpPr>
        <p:spPr>
          <a:xfrm>
            <a:off x="7553160" y="5047920"/>
            <a:ext cx="576720" cy="104040"/>
          </a:xfrm>
          <a:prstGeom prst="rect">
            <a:avLst/>
          </a:prstGeom>
          <a:noFill/>
          <a:ln w="0">
            <a:noFill/>
          </a:ln>
        </p:spPr>
        <p:txBody>
          <a:bodyPr wrap="none" lIns="0" rIns="0" tIns="0" bIns="0" anchor="t">
            <a:spAutoFit/>
          </a:bodyPr>
          <a:p>
            <a:r>
              <a:rPr b="0" lang="zh-CN" sz="650" strike="noStrike" u="none">
                <a:solidFill>
                  <a:srgbClr val="6b7280"/>
                </a:solidFill>
                <a:effectLst/>
                <a:uFillTx/>
                <a:latin typeface="WenQuanYiZenHei"/>
                <a:ea typeface="WenQuanYiZenHei"/>
              </a:rPr>
              <a:t>保険点数勉強会</a:t>
            </a:r>
            <a:endParaRPr b="0" lang="en-US" sz="650" strike="noStrike" u="none">
              <a:solidFill>
                <a:srgbClr val="000000"/>
              </a:solidFill>
              <a:effectLst/>
              <a:uFillTx/>
              <a:latin typeface="Times New Roman"/>
            </a:endParaRPr>
          </a:p>
        </p:txBody>
      </p:sp>
      <p:sp>
        <p:nvSpPr>
          <p:cNvPr id="1196" name=""/>
          <p:cNvSpPr txBox="1"/>
          <p:nvPr/>
        </p:nvSpPr>
        <p:spPr>
          <a:xfrm>
            <a:off x="8179560" y="5050800"/>
            <a:ext cx="81360" cy="96480"/>
          </a:xfrm>
          <a:prstGeom prst="rect">
            <a:avLst/>
          </a:prstGeom>
          <a:noFill/>
          <a:ln w="0">
            <a:noFill/>
          </a:ln>
        </p:spPr>
        <p:txBody>
          <a:bodyPr wrap="none" lIns="0" rIns="0" tIns="0" bIns="0" anchor="t">
            <a:spAutoFit/>
          </a:bodyPr>
          <a:p>
            <a:r>
              <a:rPr b="0" lang="en-US" sz="650" strike="noStrike" u="none">
                <a:solidFill>
                  <a:srgbClr val="6b7280"/>
                </a:solidFill>
                <a:effectLst/>
                <a:uFillTx/>
                <a:latin typeface="DejaVuSans"/>
                <a:ea typeface="DejaVuSans"/>
              </a:rPr>
              <a:t>|</a:t>
            </a:r>
            <a:endParaRPr b="0" lang="en-US" sz="650" strike="noStrike" u="none">
              <a:solidFill>
                <a:srgbClr val="000000"/>
              </a:solidFill>
              <a:effectLst/>
              <a:uFillTx/>
              <a:latin typeface="Times New Roman"/>
            </a:endParaRPr>
          </a:p>
        </p:txBody>
      </p:sp>
      <p:pic>
        <p:nvPicPr>
          <p:cNvPr id="1197" name="" descr=""/>
          <p:cNvPicPr/>
          <p:nvPr/>
        </p:nvPicPr>
        <p:blipFill>
          <a:blip r:embed="rId5"/>
          <a:stretch/>
        </p:blipFill>
        <p:spPr>
          <a:xfrm>
            <a:off x="217800" y="852120"/>
            <a:ext cx="870840" cy="27000"/>
          </a:xfrm>
          <a:prstGeom prst="rect">
            <a:avLst/>
          </a:prstGeom>
          <a:noFill/>
          <a:ln w="0">
            <a:noFill/>
          </a:ln>
        </p:spPr>
      </p:pic>
      <p:sp>
        <p:nvSpPr>
          <p:cNvPr id="1198" name=""/>
          <p:cNvSpPr txBox="1"/>
          <p:nvPr/>
        </p:nvSpPr>
        <p:spPr>
          <a:xfrm>
            <a:off x="8261640" y="5050800"/>
            <a:ext cx="290160" cy="96480"/>
          </a:xfrm>
          <a:prstGeom prst="rect">
            <a:avLst/>
          </a:prstGeom>
          <a:noFill/>
          <a:ln w="0">
            <a:noFill/>
          </a:ln>
        </p:spPr>
        <p:txBody>
          <a:bodyPr wrap="none" lIns="0" rIns="0" tIns="0" bIns="0" anchor="t">
            <a:spAutoFit/>
          </a:bodyPr>
          <a:p>
            <a:r>
              <a:rPr b="0" lang="en-US" sz="650" strike="noStrike" u="none">
                <a:solidFill>
                  <a:srgbClr val="6b7280"/>
                </a:solidFill>
                <a:effectLst/>
                <a:uFillTx/>
                <a:latin typeface="DejaVuSans"/>
                <a:ea typeface="DejaVuSans"/>
              </a:rPr>
              <a:t>13 / 15</a:t>
            </a:r>
            <a:endParaRPr b="0" lang="en-US" sz="650" strike="noStrike" u="none">
              <a:solidFill>
                <a:srgbClr val="000000"/>
              </a:solidFill>
              <a:effectLst/>
              <a:uFillTx/>
              <a:latin typeface="Times New Roman"/>
            </a:endParaRPr>
          </a:p>
        </p:txBody>
      </p:sp>
      <p:sp>
        <p:nvSpPr>
          <p:cNvPr id="1199" name=""/>
          <p:cNvSpPr txBox="1"/>
          <p:nvPr/>
        </p:nvSpPr>
        <p:spPr>
          <a:xfrm>
            <a:off x="217800" y="580680"/>
            <a:ext cx="569160" cy="237960"/>
          </a:xfrm>
          <a:prstGeom prst="rect">
            <a:avLst/>
          </a:prstGeom>
          <a:noFill/>
          <a:ln w="0">
            <a:noFill/>
          </a:ln>
        </p:spPr>
        <p:txBody>
          <a:bodyPr wrap="none" lIns="0" rIns="0" tIns="0" bIns="0" anchor="t">
            <a:spAutoFit/>
          </a:bodyPr>
          <a:p>
            <a:r>
              <a:rPr b="1" lang="en-US" sz="1610" strike="noStrike" u="none">
                <a:solidFill>
                  <a:srgbClr val="1e40af"/>
                </a:solidFill>
                <a:effectLst/>
                <a:uFillTx/>
                <a:latin typeface="DejaVuSans"/>
                <a:ea typeface="DejaVuSans"/>
              </a:rPr>
              <a:t>2024</a:t>
            </a:r>
            <a:endParaRPr b="0" lang="en-US" sz="1610" strike="noStrike" u="none">
              <a:solidFill>
                <a:srgbClr val="000000"/>
              </a:solidFill>
              <a:effectLst/>
              <a:uFillTx/>
              <a:latin typeface="Times New Roman"/>
            </a:endParaRPr>
          </a:p>
        </p:txBody>
      </p:sp>
      <p:sp>
        <p:nvSpPr>
          <p:cNvPr id="1200" name=""/>
          <p:cNvSpPr/>
          <p:nvPr/>
        </p:nvSpPr>
        <p:spPr>
          <a:xfrm>
            <a:off x="231120" y="987840"/>
            <a:ext cx="4043520" cy="558720"/>
          </a:xfrm>
          <a:custGeom>
            <a:avLst/>
            <a:gdLst/>
            <a:ahLst/>
            <a:rect l="0" t="0" r="r" b="b"/>
            <a:pathLst>
              <a:path w="11232" h="1552">
                <a:moveTo>
                  <a:pt x="0" y="1552"/>
                </a:moveTo>
                <a:lnTo>
                  <a:pt x="0" y="0"/>
                </a:lnTo>
                <a:lnTo>
                  <a:pt x="11081" y="0"/>
                </a:lnTo>
                <a:cubicBezTo>
                  <a:pt x="11091" y="0"/>
                  <a:pt x="11101" y="1"/>
                  <a:pt x="11110" y="3"/>
                </a:cubicBezTo>
                <a:cubicBezTo>
                  <a:pt x="11120" y="5"/>
                  <a:pt x="11129" y="8"/>
                  <a:pt x="11139" y="12"/>
                </a:cubicBezTo>
                <a:cubicBezTo>
                  <a:pt x="11148" y="16"/>
                  <a:pt x="11157" y="20"/>
                  <a:pt x="11165" y="26"/>
                </a:cubicBezTo>
                <a:cubicBezTo>
                  <a:pt x="11173" y="31"/>
                  <a:pt x="11181" y="38"/>
                  <a:pt x="11188" y="45"/>
                </a:cubicBezTo>
                <a:cubicBezTo>
                  <a:pt x="11195" y="52"/>
                  <a:pt x="11201" y="59"/>
                  <a:pt x="11207" y="68"/>
                </a:cubicBezTo>
                <a:cubicBezTo>
                  <a:pt x="11212" y="76"/>
                  <a:pt x="11217" y="85"/>
                  <a:pt x="11220" y="94"/>
                </a:cubicBezTo>
                <a:cubicBezTo>
                  <a:pt x="11224" y="103"/>
                  <a:pt x="11227" y="112"/>
                  <a:pt x="11229" y="122"/>
                </a:cubicBezTo>
                <a:cubicBezTo>
                  <a:pt x="11231" y="132"/>
                  <a:pt x="11232" y="142"/>
                  <a:pt x="11232" y="152"/>
                </a:cubicBezTo>
                <a:lnTo>
                  <a:pt x="11232" y="1400"/>
                </a:lnTo>
                <a:cubicBezTo>
                  <a:pt x="11232" y="1410"/>
                  <a:pt x="11231" y="1420"/>
                  <a:pt x="11229" y="1430"/>
                </a:cubicBezTo>
                <a:cubicBezTo>
                  <a:pt x="11227" y="1440"/>
                  <a:pt x="11224" y="1449"/>
                  <a:pt x="11220" y="1458"/>
                </a:cubicBezTo>
                <a:cubicBezTo>
                  <a:pt x="11217" y="1468"/>
                  <a:pt x="11212" y="1476"/>
                  <a:pt x="11207" y="1484"/>
                </a:cubicBezTo>
                <a:cubicBezTo>
                  <a:pt x="11201" y="1493"/>
                  <a:pt x="11195" y="1500"/>
                  <a:pt x="11188" y="1507"/>
                </a:cubicBezTo>
                <a:cubicBezTo>
                  <a:pt x="11181" y="1514"/>
                  <a:pt x="11173" y="1521"/>
                  <a:pt x="11165" y="1526"/>
                </a:cubicBezTo>
                <a:cubicBezTo>
                  <a:pt x="11157" y="1532"/>
                  <a:pt x="11148" y="1536"/>
                  <a:pt x="11139" y="1540"/>
                </a:cubicBezTo>
                <a:cubicBezTo>
                  <a:pt x="11129" y="1544"/>
                  <a:pt x="11120" y="1547"/>
                  <a:pt x="11110" y="1549"/>
                </a:cubicBezTo>
                <a:cubicBezTo>
                  <a:pt x="11101" y="1551"/>
                  <a:pt x="11091" y="1552"/>
                  <a:pt x="11081" y="1552"/>
                </a:cubicBezTo>
                <a:lnTo>
                  <a:pt x="0" y="1552"/>
                </a:ln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201" name=""/>
          <p:cNvSpPr/>
          <p:nvPr/>
        </p:nvSpPr>
        <p:spPr>
          <a:xfrm>
            <a:off x="217800" y="987840"/>
            <a:ext cx="27360" cy="558720"/>
          </a:xfrm>
          <a:custGeom>
            <a:avLst/>
            <a:gdLst/>
            <a:ahLst/>
            <a:rect l="0" t="0" r="r" b="b"/>
            <a:pathLst>
              <a:path w="76" h="1552">
                <a:moveTo>
                  <a:pt x="0" y="0"/>
                </a:moveTo>
                <a:lnTo>
                  <a:pt x="76" y="0"/>
                </a:lnTo>
                <a:lnTo>
                  <a:pt x="76" y="1552"/>
                </a:lnTo>
                <a:lnTo>
                  <a:pt x="0" y="1552"/>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202" name="" descr=""/>
          <p:cNvPicPr/>
          <p:nvPr/>
        </p:nvPicPr>
        <p:blipFill>
          <a:blip r:embed="rId6"/>
          <a:stretch/>
        </p:blipFill>
        <p:spPr>
          <a:xfrm>
            <a:off x="326880" y="1124280"/>
            <a:ext cx="169920" cy="135720"/>
          </a:xfrm>
          <a:prstGeom prst="rect">
            <a:avLst/>
          </a:prstGeom>
          <a:noFill/>
          <a:ln w="0">
            <a:noFill/>
          </a:ln>
        </p:spPr>
      </p:pic>
      <p:sp>
        <p:nvSpPr>
          <p:cNvPr id="1203" name=""/>
          <p:cNvSpPr txBox="1"/>
          <p:nvPr/>
        </p:nvSpPr>
        <p:spPr>
          <a:xfrm>
            <a:off x="786240" y="573840"/>
            <a:ext cx="2679480" cy="257760"/>
          </a:xfrm>
          <a:prstGeom prst="rect">
            <a:avLst/>
          </a:prstGeom>
          <a:noFill/>
          <a:ln w="0">
            <a:noFill/>
          </a:ln>
        </p:spPr>
        <p:txBody>
          <a:bodyPr wrap="none" lIns="0" rIns="0" tIns="0" bIns="0" anchor="t">
            <a:spAutoFit/>
          </a:bodyPr>
          <a:p>
            <a:r>
              <a:rPr b="0" lang="zh-CN" sz="1610" strike="noStrike" u="none">
                <a:solidFill>
                  <a:srgbClr val="1e40af"/>
                </a:solidFill>
                <a:effectLst/>
                <a:uFillTx/>
                <a:latin typeface="WenQuanYiZenHei"/>
                <a:ea typeface="WenQuanYiZenHei"/>
              </a:rPr>
              <a:t>年度診療報酬改定のポイント</a:t>
            </a:r>
            <a:endParaRPr b="0" lang="en-US" sz="1610" strike="noStrike" u="none">
              <a:solidFill>
                <a:srgbClr val="000000"/>
              </a:solidFill>
              <a:effectLst/>
              <a:uFillTx/>
              <a:latin typeface="Times New Roman"/>
            </a:endParaRPr>
          </a:p>
        </p:txBody>
      </p:sp>
      <p:sp>
        <p:nvSpPr>
          <p:cNvPr id="1204" name=""/>
          <p:cNvSpPr txBox="1"/>
          <p:nvPr/>
        </p:nvSpPr>
        <p:spPr>
          <a:xfrm>
            <a:off x="578520" y="1080720"/>
            <a:ext cx="220320" cy="137520"/>
          </a:xfrm>
          <a:prstGeom prst="rect">
            <a:avLst/>
          </a:prstGeom>
          <a:noFill/>
          <a:ln w="0">
            <a:noFill/>
          </a:ln>
        </p:spPr>
        <p:txBody>
          <a:bodyPr wrap="none" lIns="0" rIns="0" tIns="0" bIns="0" anchor="t">
            <a:spAutoFit/>
          </a:bodyPr>
          <a:p>
            <a:r>
              <a:rPr b="0" lang="zh-CN" sz="860" strike="noStrike" u="none">
                <a:solidFill>
                  <a:srgbClr val="1d4ed8"/>
                </a:solidFill>
                <a:effectLst/>
                <a:uFillTx/>
                <a:latin typeface="WenQuanYiZenHei"/>
                <a:ea typeface="WenQuanYiZenHei"/>
              </a:rPr>
              <a:t>医療</a:t>
            </a:r>
            <a:endParaRPr b="0" lang="en-US" sz="860" strike="noStrike" u="none">
              <a:solidFill>
                <a:srgbClr val="000000"/>
              </a:solidFill>
              <a:effectLst/>
              <a:uFillTx/>
              <a:latin typeface="Times New Roman"/>
            </a:endParaRPr>
          </a:p>
        </p:txBody>
      </p:sp>
      <p:sp>
        <p:nvSpPr>
          <p:cNvPr id="1205" name=""/>
          <p:cNvSpPr txBox="1"/>
          <p:nvPr/>
        </p:nvSpPr>
        <p:spPr>
          <a:xfrm>
            <a:off x="796320" y="1084320"/>
            <a:ext cx="176400" cy="128520"/>
          </a:xfrm>
          <a:prstGeom prst="rect">
            <a:avLst/>
          </a:prstGeom>
          <a:noFill/>
          <a:ln w="0">
            <a:noFill/>
          </a:ln>
        </p:spPr>
        <p:txBody>
          <a:bodyPr wrap="none" lIns="0" rIns="0" tIns="0" bIns="0" anchor="t">
            <a:spAutoFit/>
          </a:bodyPr>
          <a:p>
            <a:r>
              <a:rPr b="1" lang="en-US" sz="860" strike="noStrike" u="none">
                <a:solidFill>
                  <a:srgbClr val="1d4ed8"/>
                </a:solidFill>
                <a:effectLst/>
                <a:uFillTx/>
                <a:latin typeface="DejaVuSans"/>
                <a:ea typeface="DejaVuSans"/>
              </a:rPr>
              <a:t>DX</a:t>
            </a:r>
            <a:endParaRPr b="0" lang="en-US" sz="860" strike="noStrike" u="none">
              <a:solidFill>
                <a:srgbClr val="000000"/>
              </a:solidFill>
              <a:effectLst/>
              <a:uFillTx/>
              <a:latin typeface="Times New Roman"/>
            </a:endParaRPr>
          </a:p>
        </p:txBody>
      </p:sp>
      <p:sp>
        <p:nvSpPr>
          <p:cNvPr id="1206" name=""/>
          <p:cNvSpPr txBox="1"/>
          <p:nvPr/>
        </p:nvSpPr>
        <p:spPr>
          <a:xfrm>
            <a:off x="970560" y="1080720"/>
            <a:ext cx="1317600" cy="137520"/>
          </a:xfrm>
          <a:prstGeom prst="rect">
            <a:avLst/>
          </a:prstGeom>
          <a:noFill/>
          <a:ln w="0">
            <a:noFill/>
          </a:ln>
        </p:spPr>
        <p:txBody>
          <a:bodyPr wrap="none" lIns="0" rIns="0" tIns="0" bIns="0" anchor="t">
            <a:spAutoFit/>
          </a:bodyPr>
          <a:p>
            <a:r>
              <a:rPr b="0" lang="zh-CN" sz="860" strike="noStrike" u="none">
                <a:solidFill>
                  <a:srgbClr val="1d4ed8"/>
                </a:solidFill>
                <a:effectLst/>
                <a:uFillTx/>
                <a:latin typeface="WenQuanYiZenHei"/>
                <a:ea typeface="WenQuanYiZenHei"/>
              </a:rPr>
              <a:t>推進体制整備加算（新設）</a:t>
            </a:r>
            <a:endParaRPr b="0" lang="en-US" sz="860" strike="noStrike" u="none">
              <a:solidFill>
                <a:srgbClr val="000000"/>
              </a:solidFill>
              <a:effectLst/>
              <a:uFillTx/>
              <a:latin typeface="Times New Roman"/>
            </a:endParaRPr>
          </a:p>
        </p:txBody>
      </p:sp>
      <p:sp>
        <p:nvSpPr>
          <p:cNvPr id="1207" name=""/>
          <p:cNvSpPr txBox="1"/>
          <p:nvPr/>
        </p:nvSpPr>
        <p:spPr>
          <a:xfrm>
            <a:off x="578520" y="1249920"/>
            <a:ext cx="281808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電子カルテ情報共有サービスや電子処方箋の導入・活用を評価。初診時に月</a:t>
            </a:r>
            <a:endParaRPr b="0" lang="en-US" sz="650" strike="noStrike" u="none">
              <a:solidFill>
                <a:srgbClr val="000000"/>
              </a:solidFill>
              <a:effectLst/>
              <a:uFillTx/>
              <a:latin typeface="Times New Roman"/>
            </a:endParaRPr>
          </a:p>
        </p:txBody>
      </p:sp>
      <p:sp>
        <p:nvSpPr>
          <p:cNvPr id="1208" name=""/>
          <p:cNvSpPr txBox="1"/>
          <p:nvPr/>
        </p:nvSpPr>
        <p:spPr>
          <a:xfrm>
            <a:off x="3355560" y="1252800"/>
            <a:ext cx="81360" cy="96480"/>
          </a:xfrm>
          <a:prstGeom prst="rect">
            <a:avLst/>
          </a:prstGeom>
          <a:noFill/>
          <a:ln w="0">
            <a:noFill/>
          </a:ln>
        </p:spPr>
        <p:txBody>
          <a:bodyPr wrap="none" lIns="0" rIns="0" tIns="0" bIns="0" anchor="t">
            <a:spAutoFit/>
          </a:bodyPr>
          <a:p>
            <a:r>
              <a:rPr b="0" lang="en-US" sz="650" strike="noStrike" u="none">
                <a:solidFill>
                  <a:srgbClr val="4b5563"/>
                </a:solidFill>
                <a:effectLst/>
                <a:uFillTx/>
                <a:latin typeface="DejaVuSans"/>
                <a:ea typeface="DejaVuSans"/>
              </a:rPr>
              <a:t>1</a:t>
            </a:r>
            <a:endParaRPr b="0" lang="en-US" sz="650" strike="noStrike" u="none">
              <a:solidFill>
                <a:srgbClr val="000000"/>
              </a:solidFill>
              <a:effectLst/>
              <a:uFillTx/>
              <a:latin typeface="Times New Roman"/>
            </a:endParaRPr>
          </a:p>
        </p:txBody>
      </p:sp>
      <p:sp>
        <p:nvSpPr>
          <p:cNvPr id="1209" name=""/>
          <p:cNvSpPr txBox="1"/>
          <p:nvPr/>
        </p:nvSpPr>
        <p:spPr>
          <a:xfrm>
            <a:off x="3407400" y="1249920"/>
            <a:ext cx="8316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回</a:t>
            </a:r>
            <a:endParaRPr b="0" lang="en-US" sz="650" strike="noStrike" u="none">
              <a:solidFill>
                <a:srgbClr val="000000"/>
              </a:solidFill>
              <a:effectLst/>
              <a:uFillTx/>
              <a:latin typeface="Times New Roman"/>
            </a:endParaRPr>
          </a:p>
        </p:txBody>
      </p:sp>
      <p:sp>
        <p:nvSpPr>
          <p:cNvPr id="1210" name=""/>
          <p:cNvSpPr txBox="1"/>
          <p:nvPr/>
        </p:nvSpPr>
        <p:spPr>
          <a:xfrm>
            <a:off x="3489120" y="1252800"/>
            <a:ext cx="81360" cy="96480"/>
          </a:xfrm>
          <a:prstGeom prst="rect">
            <a:avLst/>
          </a:prstGeom>
          <a:noFill/>
          <a:ln w="0">
            <a:noFill/>
          </a:ln>
        </p:spPr>
        <p:txBody>
          <a:bodyPr wrap="none" lIns="0" rIns="0" tIns="0" bIns="0" anchor="t">
            <a:spAutoFit/>
          </a:bodyPr>
          <a:p>
            <a:r>
              <a:rPr b="0" lang="en-US" sz="650" strike="noStrike" u="none">
                <a:solidFill>
                  <a:srgbClr val="4b5563"/>
                </a:solidFill>
                <a:effectLst/>
                <a:uFillTx/>
                <a:latin typeface="DejaVuSans"/>
                <a:ea typeface="DejaVuSans"/>
              </a:rPr>
              <a:t>8</a:t>
            </a:r>
            <a:endParaRPr b="0" lang="en-US" sz="650" strike="noStrike" u="none">
              <a:solidFill>
                <a:srgbClr val="000000"/>
              </a:solidFill>
              <a:effectLst/>
              <a:uFillTx/>
              <a:latin typeface="Times New Roman"/>
            </a:endParaRPr>
          </a:p>
        </p:txBody>
      </p:sp>
      <p:sp>
        <p:nvSpPr>
          <p:cNvPr id="1211" name=""/>
          <p:cNvSpPr/>
          <p:nvPr/>
        </p:nvSpPr>
        <p:spPr>
          <a:xfrm>
            <a:off x="4451400" y="987840"/>
            <a:ext cx="4043160" cy="558720"/>
          </a:xfrm>
          <a:custGeom>
            <a:avLst/>
            <a:gdLst/>
            <a:ahLst/>
            <a:rect l="0" t="0" r="r" b="b"/>
            <a:pathLst>
              <a:path w="11231" h="1552">
                <a:moveTo>
                  <a:pt x="0" y="1552"/>
                </a:moveTo>
                <a:lnTo>
                  <a:pt x="0" y="0"/>
                </a:lnTo>
                <a:lnTo>
                  <a:pt x="11080" y="0"/>
                </a:lnTo>
                <a:cubicBezTo>
                  <a:pt x="11090" y="0"/>
                  <a:pt x="11100" y="1"/>
                  <a:pt x="11110" y="3"/>
                </a:cubicBezTo>
                <a:cubicBezTo>
                  <a:pt x="11119" y="5"/>
                  <a:pt x="11129" y="8"/>
                  <a:pt x="11138" y="12"/>
                </a:cubicBezTo>
                <a:cubicBezTo>
                  <a:pt x="11147" y="16"/>
                  <a:pt x="11156" y="20"/>
                  <a:pt x="11164" y="26"/>
                </a:cubicBezTo>
                <a:cubicBezTo>
                  <a:pt x="11172" y="31"/>
                  <a:pt x="11180" y="38"/>
                  <a:pt x="11187" y="45"/>
                </a:cubicBezTo>
                <a:cubicBezTo>
                  <a:pt x="11194" y="52"/>
                  <a:pt x="11200" y="59"/>
                  <a:pt x="11206" y="68"/>
                </a:cubicBezTo>
                <a:cubicBezTo>
                  <a:pt x="11211" y="76"/>
                  <a:pt x="11216" y="85"/>
                  <a:pt x="11220" y="94"/>
                </a:cubicBezTo>
                <a:cubicBezTo>
                  <a:pt x="11224" y="103"/>
                  <a:pt x="11226" y="112"/>
                  <a:pt x="11228" y="122"/>
                </a:cubicBezTo>
                <a:cubicBezTo>
                  <a:pt x="11230" y="132"/>
                  <a:pt x="11231" y="142"/>
                  <a:pt x="11231" y="152"/>
                </a:cubicBezTo>
                <a:lnTo>
                  <a:pt x="11231" y="1400"/>
                </a:lnTo>
                <a:cubicBezTo>
                  <a:pt x="11231" y="1410"/>
                  <a:pt x="11230" y="1420"/>
                  <a:pt x="11228" y="1430"/>
                </a:cubicBezTo>
                <a:cubicBezTo>
                  <a:pt x="11226" y="1440"/>
                  <a:pt x="11224" y="1449"/>
                  <a:pt x="11220" y="1458"/>
                </a:cubicBezTo>
                <a:cubicBezTo>
                  <a:pt x="11216" y="1468"/>
                  <a:pt x="11211" y="1476"/>
                  <a:pt x="11206" y="1484"/>
                </a:cubicBezTo>
                <a:cubicBezTo>
                  <a:pt x="11200" y="1493"/>
                  <a:pt x="11194" y="1500"/>
                  <a:pt x="11187" y="1507"/>
                </a:cubicBezTo>
                <a:cubicBezTo>
                  <a:pt x="11180" y="1514"/>
                  <a:pt x="11172" y="1521"/>
                  <a:pt x="11164" y="1526"/>
                </a:cubicBezTo>
                <a:cubicBezTo>
                  <a:pt x="11156" y="1532"/>
                  <a:pt x="11147" y="1536"/>
                  <a:pt x="11138" y="1540"/>
                </a:cubicBezTo>
                <a:cubicBezTo>
                  <a:pt x="11129" y="1544"/>
                  <a:pt x="11119" y="1547"/>
                  <a:pt x="11110" y="1549"/>
                </a:cubicBezTo>
                <a:cubicBezTo>
                  <a:pt x="11100" y="1551"/>
                  <a:pt x="11090" y="1552"/>
                  <a:pt x="11080" y="1552"/>
                </a:cubicBezTo>
                <a:lnTo>
                  <a:pt x="0" y="1552"/>
                </a:ln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212" name=""/>
          <p:cNvSpPr/>
          <p:nvPr/>
        </p:nvSpPr>
        <p:spPr>
          <a:xfrm>
            <a:off x="4437720" y="987840"/>
            <a:ext cx="27360" cy="558720"/>
          </a:xfrm>
          <a:custGeom>
            <a:avLst/>
            <a:gdLst/>
            <a:ahLst/>
            <a:rect l="0" t="0" r="r" b="b"/>
            <a:pathLst>
              <a:path w="76" h="1552">
                <a:moveTo>
                  <a:pt x="0" y="0"/>
                </a:moveTo>
                <a:lnTo>
                  <a:pt x="76" y="0"/>
                </a:lnTo>
                <a:lnTo>
                  <a:pt x="76" y="1552"/>
                </a:lnTo>
                <a:lnTo>
                  <a:pt x="0" y="1552"/>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213" name="" descr=""/>
          <p:cNvPicPr/>
          <p:nvPr/>
        </p:nvPicPr>
        <p:blipFill>
          <a:blip r:embed="rId7"/>
          <a:stretch/>
        </p:blipFill>
        <p:spPr>
          <a:xfrm>
            <a:off x="4546800" y="1124280"/>
            <a:ext cx="135720" cy="135720"/>
          </a:xfrm>
          <a:prstGeom prst="rect">
            <a:avLst/>
          </a:prstGeom>
          <a:noFill/>
          <a:ln w="0">
            <a:noFill/>
          </a:ln>
        </p:spPr>
      </p:pic>
      <p:sp>
        <p:nvSpPr>
          <p:cNvPr id="1214" name=""/>
          <p:cNvSpPr txBox="1"/>
          <p:nvPr/>
        </p:nvSpPr>
        <p:spPr>
          <a:xfrm>
            <a:off x="3541320" y="1249920"/>
            <a:ext cx="57888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点を算定可能。</a:t>
            </a:r>
            <a:endParaRPr b="0" lang="en-US" sz="650" strike="noStrike" u="none">
              <a:solidFill>
                <a:srgbClr val="000000"/>
              </a:solidFill>
              <a:effectLst/>
              <a:uFillTx/>
              <a:latin typeface="Times New Roman"/>
            </a:endParaRPr>
          </a:p>
        </p:txBody>
      </p:sp>
      <p:sp>
        <p:nvSpPr>
          <p:cNvPr id="1215" name=""/>
          <p:cNvSpPr txBox="1"/>
          <p:nvPr/>
        </p:nvSpPr>
        <p:spPr>
          <a:xfrm>
            <a:off x="4764600" y="1080720"/>
            <a:ext cx="1440000" cy="137520"/>
          </a:xfrm>
          <a:prstGeom prst="rect">
            <a:avLst/>
          </a:prstGeom>
          <a:noFill/>
          <a:ln w="0">
            <a:noFill/>
          </a:ln>
        </p:spPr>
        <p:txBody>
          <a:bodyPr wrap="none" lIns="0" rIns="0" tIns="0" bIns="0" anchor="t">
            <a:spAutoFit/>
          </a:bodyPr>
          <a:p>
            <a:r>
              <a:rPr b="0" lang="zh-CN" sz="860" strike="noStrike" u="none">
                <a:solidFill>
                  <a:srgbClr val="047857"/>
                </a:solidFill>
                <a:effectLst/>
                <a:uFillTx/>
                <a:latin typeface="WenQuanYiZenHei"/>
                <a:ea typeface="WenQuanYiZenHei"/>
              </a:rPr>
              <a:t>ベースアップ評価料（新設）</a:t>
            </a:r>
            <a:endParaRPr b="0" lang="en-US" sz="860" strike="noStrike" u="none">
              <a:solidFill>
                <a:srgbClr val="000000"/>
              </a:solidFill>
              <a:effectLst/>
              <a:uFillTx/>
              <a:latin typeface="Times New Roman"/>
            </a:endParaRPr>
          </a:p>
        </p:txBody>
      </p:sp>
      <p:sp>
        <p:nvSpPr>
          <p:cNvPr id="1216" name=""/>
          <p:cNvSpPr txBox="1"/>
          <p:nvPr/>
        </p:nvSpPr>
        <p:spPr>
          <a:xfrm>
            <a:off x="4764600" y="1249920"/>
            <a:ext cx="265536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医療従事者の賃上げを目的として新設。外来・在宅ベースアップ評価料</a:t>
            </a:r>
            <a:endParaRPr b="0" lang="en-US" sz="650" strike="noStrike" u="none">
              <a:solidFill>
                <a:srgbClr val="000000"/>
              </a:solidFill>
              <a:effectLst/>
              <a:uFillTx/>
              <a:latin typeface="Times New Roman"/>
            </a:endParaRPr>
          </a:p>
        </p:txBody>
      </p:sp>
      <p:sp>
        <p:nvSpPr>
          <p:cNvPr id="1217" name=""/>
          <p:cNvSpPr txBox="1"/>
          <p:nvPr/>
        </p:nvSpPr>
        <p:spPr>
          <a:xfrm>
            <a:off x="7378200" y="1252800"/>
            <a:ext cx="89280" cy="96480"/>
          </a:xfrm>
          <a:prstGeom prst="rect">
            <a:avLst/>
          </a:prstGeom>
          <a:noFill/>
          <a:ln w="0">
            <a:noFill/>
          </a:ln>
        </p:spPr>
        <p:txBody>
          <a:bodyPr wrap="none" lIns="0" rIns="0" tIns="0" bIns="0" anchor="t">
            <a:spAutoFit/>
          </a:bodyPr>
          <a:p>
            <a:r>
              <a:rPr b="0" lang="en-US" sz="650" strike="noStrike" u="none">
                <a:solidFill>
                  <a:srgbClr val="4b5563"/>
                </a:solidFill>
                <a:effectLst/>
                <a:uFillTx/>
                <a:latin typeface="DejaVuSans"/>
                <a:ea typeface="DejaVuSans"/>
              </a:rPr>
              <a:t>(I)</a:t>
            </a:r>
            <a:endParaRPr b="0" lang="en-US" sz="650" strike="noStrike" u="none">
              <a:solidFill>
                <a:srgbClr val="000000"/>
              </a:solidFill>
              <a:effectLst/>
              <a:uFillTx/>
              <a:latin typeface="Times New Roman"/>
            </a:endParaRPr>
          </a:p>
        </p:txBody>
      </p:sp>
      <p:sp>
        <p:nvSpPr>
          <p:cNvPr id="1218" name=""/>
          <p:cNvSpPr txBox="1"/>
          <p:nvPr/>
        </p:nvSpPr>
        <p:spPr>
          <a:xfrm>
            <a:off x="7466040" y="1249920"/>
            <a:ext cx="32976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：初診時</a:t>
            </a:r>
            <a:endParaRPr b="0" lang="en-US" sz="650" strike="noStrike" u="none">
              <a:solidFill>
                <a:srgbClr val="000000"/>
              </a:solidFill>
              <a:effectLst/>
              <a:uFillTx/>
              <a:latin typeface="Times New Roman"/>
            </a:endParaRPr>
          </a:p>
        </p:txBody>
      </p:sp>
      <p:sp>
        <p:nvSpPr>
          <p:cNvPr id="1219" name=""/>
          <p:cNvSpPr txBox="1"/>
          <p:nvPr/>
        </p:nvSpPr>
        <p:spPr>
          <a:xfrm>
            <a:off x="7792920" y="1252800"/>
            <a:ext cx="81360" cy="96480"/>
          </a:xfrm>
          <a:prstGeom prst="rect">
            <a:avLst/>
          </a:prstGeom>
          <a:noFill/>
          <a:ln w="0">
            <a:noFill/>
          </a:ln>
        </p:spPr>
        <p:txBody>
          <a:bodyPr wrap="none" lIns="0" rIns="0" tIns="0" bIns="0" anchor="t">
            <a:spAutoFit/>
          </a:bodyPr>
          <a:p>
            <a:r>
              <a:rPr b="0" lang="en-US" sz="650" strike="noStrike" u="none">
                <a:solidFill>
                  <a:srgbClr val="4b5563"/>
                </a:solidFill>
                <a:effectLst/>
                <a:uFillTx/>
                <a:latin typeface="DejaVuSans"/>
                <a:ea typeface="DejaVuSans"/>
              </a:rPr>
              <a:t>8</a:t>
            </a:r>
            <a:endParaRPr b="0" lang="en-US" sz="650" strike="noStrike" u="none">
              <a:solidFill>
                <a:srgbClr val="000000"/>
              </a:solidFill>
              <a:effectLst/>
              <a:uFillTx/>
              <a:latin typeface="Times New Roman"/>
            </a:endParaRPr>
          </a:p>
        </p:txBody>
      </p:sp>
      <p:sp>
        <p:nvSpPr>
          <p:cNvPr id="1220" name=""/>
          <p:cNvSpPr txBox="1"/>
          <p:nvPr/>
        </p:nvSpPr>
        <p:spPr>
          <a:xfrm>
            <a:off x="7844760" y="1249920"/>
            <a:ext cx="41220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点、再診時</a:t>
            </a:r>
            <a:endParaRPr b="0" lang="en-US" sz="650" strike="noStrike" u="none">
              <a:solidFill>
                <a:srgbClr val="000000"/>
              </a:solidFill>
              <a:effectLst/>
              <a:uFillTx/>
              <a:latin typeface="Times New Roman"/>
            </a:endParaRPr>
          </a:p>
        </p:txBody>
      </p:sp>
      <p:sp>
        <p:nvSpPr>
          <p:cNvPr id="1221" name=""/>
          <p:cNvSpPr txBox="1"/>
          <p:nvPr/>
        </p:nvSpPr>
        <p:spPr>
          <a:xfrm>
            <a:off x="8253000" y="1252800"/>
            <a:ext cx="81360" cy="96480"/>
          </a:xfrm>
          <a:prstGeom prst="rect">
            <a:avLst/>
          </a:prstGeom>
          <a:noFill/>
          <a:ln w="0">
            <a:noFill/>
          </a:ln>
        </p:spPr>
        <p:txBody>
          <a:bodyPr wrap="none" lIns="0" rIns="0" tIns="0" bIns="0" anchor="t">
            <a:spAutoFit/>
          </a:bodyPr>
          <a:p>
            <a:r>
              <a:rPr b="0" lang="en-US" sz="650" strike="noStrike" u="none">
                <a:solidFill>
                  <a:srgbClr val="4b5563"/>
                </a:solidFill>
                <a:effectLst/>
                <a:uFillTx/>
                <a:latin typeface="DejaVuSans"/>
                <a:ea typeface="DejaVuSans"/>
              </a:rPr>
              <a:t>2</a:t>
            </a:r>
            <a:endParaRPr b="0" lang="en-US" sz="650" strike="noStrike" u="none">
              <a:solidFill>
                <a:srgbClr val="000000"/>
              </a:solidFill>
              <a:effectLst/>
              <a:uFillTx/>
              <a:latin typeface="Times New Roman"/>
            </a:endParaRPr>
          </a:p>
        </p:txBody>
      </p:sp>
      <p:sp>
        <p:nvSpPr>
          <p:cNvPr id="1222" name=""/>
          <p:cNvSpPr txBox="1"/>
          <p:nvPr/>
        </p:nvSpPr>
        <p:spPr>
          <a:xfrm>
            <a:off x="8305200" y="1249920"/>
            <a:ext cx="8316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点</a:t>
            </a:r>
            <a:endParaRPr b="0" lang="en-US" sz="650" strike="noStrike" u="none">
              <a:solidFill>
                <a:srgbClr val="000000"/>
              </a:solidFill>
              <a:effectLst/>
              <a:uFillTx/>
              <a:latin typeface="Times New Roman"/>
            </a:endParaRPr>
          </a:p>
        </p:txBody>
      </p:sp>
      <p:sp>
        <p:nvSpPr>
          <p:cNvPr id="1223" name=""/>
          <p:cNvSpPr/>
          <p:nvPr/>
        </p:nvSpPr>
        <p:spPr>
          <a:xfrm>
            <a:off x="231120" y="1627920"/>
            <a:ext cx="4043520" cy="558360"/>
          </a:xfrm>
          <a:custGeom>
            <a:avLst/>
            <a:gdLst/>
            <a:ahLst/>
            <a:rect l="0" t="0" r="r" b="b"/>
            <a:pathLst>
              <a:path w="11232" h="1551">
                <a:moveTo>
                  <a:pt x="0" y="1551"/>
                </a:moveTo>
                <a:lnTo>
                  <a:pt x="0" y="0"/>
                </a:lnTo>
                <a:lnTo>
                  <a:pt x="11081" y="0"/>
                </a:lnTo>
                <a:cubicBezTo>
                  <a:pt x="11091" y="0"/>
                  <a:pt x="11101" y="1"/>
                  <a:pt x="11110" y="2"/>
                </a:cubicBezTo>
                <a:cubicBezTo>
                  <a:pt x="11120" y="4"/>
                  <a:pt x="11129" y="7"/>
                  <a:pt x="11139" y="11"/>
                </a:cubicBezTo>
                <a:cubicBezTo>
                  <a:pt x="11148" y="15"/>
                  <a:pt x="11157" y="20"/>
                  <a:pt x="11165" y="25"/>
                </a:cubicBezTo>
                <a:cubicBezTo>
                  <a:pt x="11173" y="31"/>
                  <a:pt x="11181" y="37"/>
                  <a:pt x="11188" y="44"/>
                </a:cubicBezTo>
                <a:cubicBezTo>
                  <a:pt x="11195" y="51"/>
                  <a:pt x="11201" y="59"/>
                  <a:pt x="11207" y="67"/>
                </a:cubicBezTo>
                <a:cubicBezTo>
                  <a:pt x="11212" y="75"/>
                  <a:pt x="11217" y="84"/>
                  <a:pt x="11220" y="93"/>
                </a:cubicBezTo>
                <a:cubicBezTo>
                  <a:pt x="11224" y="102"/>
                  <a:pt x="11227" y="112"/>
                  <a:pt x="11229" y="121"/>
                </a:cubicBezTo>
                <a:cubicBezTo>
                  <a:pt x="11231" y="131"/>
                  <a:pt x="11232" y="141"/>
                  <a:pt x="11232" y="151"/>
                </a:cubicBezTo>
                <a:lnTo>
                  <a:pt x="11232" y="1400"/>
                </a:lnTo>
                <a:cubicBezTo>
                  <a:pt x="11232" y="1410"/>
                  <a:pt x="11231" y="1419"/>
                  <a:pt x="11229" y="1429"/>
                </a:cubicBezTo>
                <a:cubicBezTo>
                  <a:pt x="11227" y="1439"/>
                  <a:pt x="11224" y="1448"/>
                  <a:pt x="11220" y="1458"/>
                </a:cubicBezTo>
                <a:cubicBezTo>
                  <a:pt x="11217" y="1467"/>
                  <a:pt x="11212" y="1475"/>
                  <a:pt x="11207" y="1484"/>
                </a:cubicBezTo>
                <a:cubicBezTo>
                  <a:pt x="11201" y="1492"/>
                  <a:pt x="11195" y="1500"/>
                  <a:pt x="11188" y="1507"/>
                </a:cubicBezTo>
                <a:cubicBezTo>
                  <a:pt x="11181" y="1514"/>
                  <a:pt x="11173" y="1520"/>
                  <a:pt x="11165" y="1525"/>
                </a:cubicBezTo>
                <a:cubicBezTo>
                  <a:pt x="11157" y="1531"/>
                  <a:pt x="11148" y="1536"/>
                  <a:pt x="11139" y="1539"/>
                </a:cubicBezTo>
                <a:cubicBezTo>
                  <a:pt x="11129" y="1543"/>
                  <a:pt x="11120" y="1546"/>
                  <a:pt x="11110" y="1548"/>
                </a:cubicBezTo>
                <a:cubicBezTo>
                  <a:pt x="11101" y="1550"/>
                  <a:pt x="11091" y="1551"/>
                  <a:pt x="11081" y="1551"/>
                </a:cubicBezTo>
                <a:lnTo>
                  <a:pt x="0" y="1551"/>
                </a:ln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224" name=""/>
          <p:cNvSpPr/>
          <p:nvPr/>
        </p:nvSpPr>
        <p:spPr>
          <a:xfrm>
            <a:off x="217800" y="1627920"/>
            <a:ext cx="27360" cy="558360"/>
          </a:xfrm>
          <a:custGeom>
            <a:avLst/>
            <a:gdLst/>
            <a:ahLst/>
            <a:rect l="0" t="0" r="r" b="b"/>
            <a:pathLst>
              <a:path w="76" h="1551">
                <a:moveTo>
                  <a:pt x="0" y="0"/>
                </a:moveTo>
                <a:lnTo>
                  <a:pt x="76" y="0"/>
                </a:lnTo>
                <a:lnTo>
                  <a:pt x="76" y="1551"/>
                </a:lnTo>
                <a:lnTo>
                  <a:pt x="0" y="1551"/>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225" name="" descr=""/>
          <p:cNvPicPr/>
          <p:nvPr/>
        </p:nvPicPr>
        <p:blipFill>
          <a:blip r:embed="rId8"/>
          <a:stretch/>
        </p:blipFill>
        <p:spPr>
          <a:xfrm>
            <a:off x="326880" y="1764000"/>
            <a:ext cx="156240" cy="135720"/>
          </a:xfrm>
          <a:prstGeom prst="rect">
            <a:avLst/>
          </a:prstGeom>
          <a:noFill/>
          <a:ln w="0">
            <a:noFill/>
          </a:ln>
        </p:spPr>
      </p:pic>
      <p:sp>
        <p:nvSpPr>
          <p:cNvPr id="1226" name=""/>
          <p:cNvSpPr txBox="1"/>
          <p:nvPr/>
        </p:nvSpPr>
        <p:spPr>
          <a:xfrm>
            <a:off x="4764600" y="1358640"/>
            <a:ext cx="25164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など。</a:t>
            </a:r>
            <a:endParaRPr b="0" lang="en-US" sz="650" strike="noStrike" u="none">
              <a:solidFill>
                <a:srgbClr val="000000"/>
              </a:solidFill>
              <a:effectLst/>
              <a:uFillTx/>
              <a:latin typeface="Times New Roman"/>
            </a:endParaRPr>
          </a:p>
        </p:txBody>
      </p:sp>
      <p:sp>
        <p:nvSpPr>
          <p:cNvPr id="1227" name=""/>
          <p:cNvSpPr txBox="1"/>
          <p:nvPr/>
        </p:nvSpPr>
        <p:spPr>
          <a:xfrm>
            <a:off x="564840" y="1720440"/>
            <a:ext cx="2534760" cy="137520"/>
          </a:xfrm>
          <a:prstGeom prst="rect">
            <a:avLst/>
          </a:prstGeom>
          <a:noFill/>
          <a:ln w="0">
            <a:noFill/>
          </a:ln>
        </p:spPr>
        <p:txBody>
          <a:bodyPr wrap="none" lIns="0" rIns="0" tIns="0" bIns="0" anchor="t">
            <a:spAutoFit/>
          </a:bodyPr>
          <a:p>
            <a:r>
              <a:rPr b="0" lang="zh-CN" sz="860" strike="noStrike" u="none">
                <a:solidFill>
                  <a:srgbClr val="6d28d9"/>
                </a:solidFill>
                <a:effectLst/>
                <a:uFillTx/>
                <a:latin typeface="WenQuanYiZenHei"/>
                <a:ea typeface="WenQuanYiZenHei"/>
              </a:rPr>
              <a:t>医療情報・システム基盤整備体制充実加算（改定）</a:t>
            </a:r>
            <a:endParaRPr b="0" lang="en-US" sz="860" strike="noStrike" u="none">
              <a:solidFill>
                <a:srgbClr val="000000"/>
              </a:solidFill>
              <a:effectLst/>
              <a:uFillTx/>
              <a:latin typeface="Times New Roman"/>
            </a:endParaRPr>
          </a:p>
        </p:txBody>
      </p:sp>
      <p:sp>
        <p:nvSpPr>
          <p:cNvPr id="1228" name=""/>
          <p:cNvSpPr txBox="1"/>
          <p:nvPr/>
        </p:nvSpPr>
        <p:spPr>
          <a:xfrm>
            <a:off x="564840" y="1889640"/>
            <a:ext cx="140544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名称・点数見直し、再診時にも評価（</a:t>
            </a:r>
            <a:endParaRPr b="0" lang="en-US" sz="650" strike="noStrike" u="none">
              <a:solidFill>
                <a:srgbClr val="000000"/>
              </a:solidFill>
              <a:effectLst/>
              <a:uFillTx/>
              <a:latin typeface="Times New Roman"/>
            </a:endParaRPr>
          </a:p>
        </p:txBody>
      </p:sp>
      <p:sp>
        <p:nvSpPr>
          <p:cNvPr id="1229" name=""/>
          <p:cNvSpPr txBox="1"/>
          <p:nvPr/>
        </p:nvSpPr>
        <p:spPr>
          <a:xfrm>
            <a:off x="1953360" y="1892520"/>
            <a:ext cx="81360" cy="96480"/>
          </a:xfrm>
          <a:prstGeom prst="rect">
            <a:avLst/>
          </a:prstGeom>
          <a:noFill/>
          <a:ln w="0">
            <a:noFill/>
          </a:ln>
        </p:spPr>
        <p:txBody>
          <a:bodyPr wrap="none" lIns="0" rIns="0" tIns="0" bIns="0" anchor="t">
            <a:spAutoFit/>
          </a:bodyPr>
          <a:p>
            <a:r>
              <a:rPr b="0" lang="en-US" sz="650" strike="noStrike" u="none">
                <a:solidFill>
                  <a:srgbClr val="4b5563"/>
                </a:solidFill>
                <a:effectLst/>
                <a:uFillTx/>
                <a:latin typeface="DejaVuSans"/>
                <a:ea typeface="DejaVuSans"/>
              </a:rPr>
              <a:t>3</a:t>
            </a:r>
            <a:endParaRPr b="0" lang="en-US" sz="650" strike="noStrike" u="none">
              <a:solidFill>
                <a:srgbClr val="000000"/>
              </a:solidFill>
              <a:effectLst/>
              <a:uFillTx/>
              <a:latin typeface="Times New Roman"/>
            </a:endParaRPr>
          </a:p>
        </p:txBody>
      </p:sp>
      <p:sp>
        <p:nvSpPr>
          <p:cNvPr id="1230" name=""/>
          <p:cNvSpPr txBox="1"/>
          <p:nvPr/>
        </p:nvSpPr>
        <p:spPr>
          <a:xfrm>
            <a:off x="2005560" y="1889640"/>
            <a:ext cx="16740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月に</a:t>
            </a:r>
            <a:endParaRPr b="0" lang="en-US" sz="650" strike="noStrike" u="none">
              <a:solidFill>
                <a:srgbClr val="000000"/>
              </a:solidFill>
              <a:effectLst/>
              <a:uFillTx/>
              <a:latin typeface="Times New Roman"/>
            </a:endParaRPr>
          </a:p>
        </p:txBody>
      </p:sp>
      <p:sp>
        <p:nvSpPr>
          <p:cNvPr id="1231" name=""/>
          <p:cNvSpPr txBox="1"/>
          <p:nvPr/>
        </p:nvSpPr>
        <p:spPr>
          <a:xfrm>
            <a:off x="2168640" y="1892520"/>
            <a:ext cx="81360" cy="96480"/>
          </a:xfrm>
          <a:prstGeom prst="rect">
            <a:avLst/>
          </a:prstGeom>
          <a:noFill/>
          <a:ln w="0">
            <a:noFill/>
          </a:ln>
        </p:spPr>
        <p:txBody>
          <a:bodyPr wrap="none" lIns="0" rIns="0" tIns="0" bIns="0" anchor="t">
            <a:spAutoFit/>
          </a:bodyPr>
          <a:p>
            <a:r>
              <a:rPr b="0" lang="en-US" sz="650" strike="noStrike" u="none">
                <a:solidFill>
                  <a:srgbClr val="4b5563"/>
                </a:solidFill>
                <a:effectLst/>
                <a:uFillTx/>
                <a:latin typeface="DejaVuSans"/>
                <a:ea typeface="DejaVuSans"/>
              </a:rPr>
              <a:t>1</a:t>
            </a:r>
            <a:endParaRPr b="0" lang="en-US" sz="650" strike="noStrike" u="none">
              <a:solidFill>
                <a:srgbClr val="000000"/>
              </a:solidFill>
              <a:effectLst/>
              <a:uFillTx/>
              <a:latin typeface="Times New Roman"/>
            </a:endParaRPr>
          </a:p>
        </p:txBody>
      </p:sp>
      <p:sp>
        <p:nvSpPr>
          <p:cNvPr id="1232" name=""/>
          <p:cNvSpPr txBox="1"/>
          <p:nvPr/>
        </p:nvSpPr>
        <p:spPr>
          <a:xfrm>
            <a:off x="2220840" y="1889640"/>
            <a:ext cx="41220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回）。加算</a:t>
            </a:r>
            <a:endParaRPr b="0" lang="en-US" sz="650" strike="noStrike" u="none">
              <a:solidFill>
                <a:srgbClr val="000000"/>
              </a:solidFill>
              <a:effectLst/>
              <a:uFillTx/>
              <a:latin typeface="Times New Roman"/>
            </a:endParaRPr>
          </a:p>
        </p:txBody>
      </p:sp>
      <p:sp>
        <p:nvSpPr>
          <p:cNvPr id="1233" name=""/>
          <p:cNvSpPr txBox="1"/>
          <p:nvPr/>
        </p:nvSpPr>
        <p:spPr>
          <a:xfrm>
            <a:off x="2629080" y="1892520"/>
            <a:ext cx="81360" cy="96480"/>
          </a:xfrm>
          <a:prstGeom prst="rect">
            <a:avLst/>
          </a:prstGeom>
          <a:noFill/>
          <a:ln w="0">
            <a:noFill/>
          </a:ln>
        </p:spPr>
        <p:txBody>
          <a:bodyPr wrap="none" lIns="0" rIns="0" tIns="0" bIns="0" anchor="t">
            <a:spAutoFit/>
          </a:bodyPr>
          <a:p>
            <a:r>
              <a:rPr b="0" lang="en-US" sz="650" strike="noStrike" u="none">
                <a:solidFill>
                  <a:srgbClr val="4b5563"/>
                </a:solidFill>
                <a:effectLst/>
                <a:uFillTx/>
                <a:latin typeface="DejaVuSans"/>
                <a:ea typeface="DejaVuSans"/>
              </a:rPr>
              <a:t>1</a:t>
            </a:r>
            <a:endParaRPr b="0" lang="en-US" sz="650" strike="noStrike" u="none">
              <a:solidFill>
                <a:srgbClr val="000000"/>
              </a:solidFill>
              <a:effectLst/>
              <a:uFillTx/>
              <a:latin typeface="Times New Roman"/>
            </a:endParaRPr>
          </a:p>
        </p:txBody>
      </p:sp>
      <p:sp>
        <p:nvSpPr>
          <p:cNvPr id="1234" name=""/>
          <p:cNvSpPr txBox="1"/>
          <p:nvPr/>
        </p:nvSpPr>
        <p:spPr>
          <a:xfrm>
            <a:off x="2680920" y="1889640"/>
            <a:ext cx="8316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a:t>
            </a:r>
            <a:endParaRPr b="0" lang="en-US" sz="650" strike="noStrike" u="none">
              <a:solidFill>
                <a:srgbClr val="000000"/>
              </a:solidFill>
              <a:effectLst/>
              <a:uFillTx/>
              <a:latin typeface="Times New Roman"/>
            </a:endParaRPr>
          </a:p>
        </p:txBody>
      </p:sp>
      <p:sp>
        <p:nvSpPr>
          <p:cNvPr id="1235" name=""/>
          <p:cNvSpPr txBox="1"/>
          <p:nvPr/>
        </p:nvSpPr>
        <p:spPr>
          <a:xfrm>
            <a:off x="2762640" y="1892520"/>
            <a:ext cx="81360" cy="96480"/>
          </a:xfrm>
          <a:prstGeom prst="rect">
            <a:avLst/>
          </a:prstGeom>
          <a:noFill/>
          <a:ln w="0">
            <a:noFill/>
          </a:ln>
        </p:spPr>
        <p:txBody>
          <a:bodyPr wrap="none" lIns="0" rIns="0" tIns="0" bIns="0" anchor="t">
            <a:spAutoFit/>
          </a:bodyPr>
          <a:p>
            <a:r>
              <a:rPr b="0" lang="en-US" sz="650" strike="noStrike" u="none">
                <a:solidFill>
                  <a:srgbClr val="4b5563"/>
                </a:solidFill>
                <a:effectLst/>
                <a:uFillTx/>
                <a:latin typeface="DejaVuSans"/>
                <a:ea typeface="DejaVuSans"/>
              </a:rPr>
              <a:t>3</a:t>
            </a:r>
            <a:endParaRPr b="0" lang="en-US" sz="650" strike="noStrike" u="none">
              <a:solidFill>
                <a:srgbClr val="000000"/>
              </a:solidFill>
              <a:effectLst/>
              <a:uFillTx/>
              <a:latin typeface="Times New Roman"/>
            </a:endParaRPr>
          </a:p>
        </p:txBody>
      </p:sp>
      <p:sp>
        <p:nvSpPr>
          <p:cNvPr id="1236" name=""/>
          <p:cNvSpPr txBox="1"/>
          <p:nvPr/>
        </p:nvSpPr>
        <p:spPr>
          <a:xfrm>
            <a:off x="2814840" y="1889640"/>
            <a:ext cx="32976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点、加算</a:t>
            </a:r>
            <a:endParaRPr b="0" lang="en-US" sz="650" strike="noStrike" u="none">
              <a:solidFill>
                <a:srgbClr val="000000"/>
              </a:solidFill>
              <a:effectLst/>
              <a:uFillTx/>
              <a:latin typeface="Times New Roman"/>
            </a:endParaRPr>
          </a:p>
        </p:txBody>
      </p:sp>
      <p:sp>
        <p:nvSpPr>
          <p:cNvPr id="1237" name=""/>
          <p:cNvSpPr txBox="1"/>
          <p:nvPr/>
        </p:nvSpPr>
        <p:spPr>
          <a:xfrm>
            <a:off x="3141360" y="1892520"/>
            <a:ext cx="81360" cy="96480"/>
          </a:xfrm>
          <a:prstGeom prst="rect">
            <a:avLst/>
          </a:prstGeom>
          <a:noFill/>
          <a:ln w="0">
            <a:noFill/>
          </a:ln>
        </p:spPr>
        <p:txBody>
          <a:bodyPr wrap="none" lIns="0" rIns="0" tIns="0" bIns="0" anchor="t">
            <a:spAutoFit/>
          </a:bodyPr>
          <a:p>
            <a:r>
              <a:rPr b="0" lang="en-US" sz="650" strike="noStrike" u="none">
                <a:solidFill>
                  <a:srgbClr val="4b5563"/>
                </a:solidFill>
                <a:effectLst/>
                <a:uFillTx/>
                <a:latin typeface="DejaVuSans"/>
                <a:ea typeface="DejaVuSans"/>
              </a:rPr>
              <a:t>2</a:t>
            </a:r>
            <a:endParaRPr b="0" lang="en-US" sz="650" strike="noStrike" u="none">
              <a:solidFill>
                <a:srgbClr val="000000"/>
              </a:solidFill>
              <a:effectLst/>
              <a:uFillTx/>
              <a:latin typeface="Times New Roman"/>
            </a:endParaRPr>
          </a:p>
        </p:txBody>
      </p:sp>
      <p:sp>
        <p:nvSpPr>
          <p:cNvPr id="1238" name=""/>
          <p:cNvSpPr txBox="1"/>
          <p:nvPr/>
        </p:nvSpPr>
        <p:spPr>
          <a:xfrm>
            <a:off x="3193560" y="1889640"/>
            <a:ext cx="91188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（マイナ保険証利用）：</a:t>
            </a:r>
            <a:endParaRPr b="0" lang="en-US" sz="650" strike="noStrike" u="none">
              <a:solidFill>
                <a:srgbClr val="000000"/>
              </a:solidFill>
              <a:effectLst/>
              <a:uFillTx/>
              <a:latin typeface="Times New Roman"/>
            </a:endParaRPr>
          </a:p>
        </p:txBody>
      </p:sp>
      <p:sp>
        <p:nvSpPr>
          <p:cNvPr id="1239" name=""/>
          <p:cNvSpPr txBox="1"/>
          <p:nvPr/>
        </p:nvSpPr>
        <p:spPr>
          <a:xfrm>
            <a:off x="4091760" y="1892520"/>
            <a:ext cx="81360" cy="96480"/>
          </a:xfrm>
          <a:prstGeom prst="rect">
            <a:avLst/>
          </a:prstGeom>
          <a:noFill/>
          <a:ln w="0">
            <a:noFill/>
          </a:ln>
        </p:spPr>
        <p:txBody>
          <a:bodyPr wrap="none" lIns="0" rIns="0" tIns="0" bIns="0" anchor="t">
            <a:spAutoFit/>
          </a:bodyPr>
          <a:p>
            <a:r>
              <a:rPr b="0" lang="en-US" sz="650" strike="noStrike" u="none">
                <a:solidFill>
                  <a:srgbClr val="4b5563"/>
                </a:solidFill>
                <a:effectLst/>
                <a:uFillTx/>
                <a:latin typeface="DejaVuSans"/>
                <a:ea typeface="DejaVuSans"/>
              </a:rPr>
              <a:t>1</a:t>
            </a:r>
            <a:endParaRPr b="0" lang="en-US" sz="650" strike="noStrike" u="none">
              <a:solidFill>
                <a:srgbClr val="000000"/>
              </a:solidFill>
              <a:effectLst/>
              <a:uFillTx/>
              <a:latin typeface="Times New Roman"/>
            </a:endParaRPr>
          </a:p>
        </p:txBody>
      </p:sp>
      <p:sp>
        <p:nvSpPr>
          <p:cNvPr id="1240" name=""/>
          <p:cNvSpPr/>
          <p:nvPr/>
        </p:nvSpPr>
        <p:spPr>
          <a:xfrm>
            <a:off x="4451400" y="1627920"/>
            <a:ext cx="4043160" cy="558360"/>
          </a:xfrm>
          <a:custGeom>
            <a:avLst/>
            <a:gdLst/>
            <a:ahLst/>
            <a:rect l="0" t="0" r="r" b="b"/>
            <a:pathLst>
              <a:path w="11231" h="1551">
                <a:moveTo>
                  <a:pt x="0" y="1551"/>
                </a:moveTo>
                <a:lnTo>
                  <a:pt x="0" y="0"/>
                </a:lnTo>
                <a:lnTo>
                  <a:pt x="11080" y="0"/>
                </a:lnTo>
                <a:cubicBezTo>
                  <a:pt x="11090" y="0"/>
                  <a:pt x="11100" y="1"/>
                  <a:pt x="11110" y="2"/>
                </a:cubicBezTo>
                <a:cubicBezTo>
                  <a:pt x="11119" y="4"/>
                  <a:pt x="11129" y="7"/>
                  <a:pt x="11138" y="11"/>
                </a:cubicBezTo>
                <a:cubicBezTo>
                  <a:pt x="11147" y="15"/>
                  <a:pt x="11156" y="20"/>
                  <a:pt x="11164" y="25"/>
                </a:cubicBezTo>
                <a:cubicBezTo>
                  <a:pt x="11172" y="31"/>
                  <a:pt x="11180" y="37"/>
                  <a:pt x="11187" y="44"/>
                </a:cubicBezTo>
                <a:cubicBezTo>
                  <a:pt x="11194" y="51"/>
                  <a:pt x="11200" y="59"/>
                  <a:pt x="11206" y="67"/>
                </a:cubicBezTo>
                <a:cubicBezTo>
                  <a:pt x="11211" y="75"/>
                  <a:pt x="11216" y="84"/>
                  <a:pt x="11220" y="93"/>
                </a:cubicBezTo>
                <a:cubicBezTo>
                  <a:pt x="11224" y="102"/>
                  <a:pt x="11226" y="112"/>
                  <a:pt x="11228" y="121"/>
                </a:cubicBezTo>
                <a:cubicBezTo>
                  <a:pt x="11230" y="131"/>
                  <a:pt x="11231" y="141"/>
                  <a:pt x="11231" y="151"/>
                </a:cubicBezTo>
                <a:lnTo>
                  <a:pt x="11231" y="1400"/>
                </a:lnTo>
                <a:cubicBezTo>
                  <a:pt x="11231" y="1410"/>
                  <a:pt x="11230" y="1419"/>
                  <a:pt x="11228" y="1429"/>
                </a:cubicBezTo>
                <a:cubicBezTo>
                  <a:pt x="11226" y="1439"/>
                  <a:pt x="11224" y="1448"/>
                  <a:pt x="11220" y="1458"/>
                </a:cubicBezTo>
                <a:cubicBezTo>
                  <a:pt x="11216" y="1467"/>
                  <a:pt x="11211" y="1475"/>
                  <a:pt x="11206" y="1484"/>
                </a:cubicBezTo>
                <a:cubicBezTo>
                  <a:pt x="11200" y="1492"/>
                  <a:pt x="11194" y="1500"/>
                  <a:pt x="11187" y="1507"/>
                </a:cubicBezTo>
                <a:cubicBezTo>
                  <a:pt x="11180" y="1514"/>
                  <a:pt x="11172" y="1520"/>
                  <a:pt x="11164" y="1525"/>
                </a:cubicBezTo>
                <a:cubicBezTo>
                  <a:pt x="11156" y="1531"/>
                  <a:pt x="11147" y="1536"/>
                  <a:pt x="11138" y="1539"/>
                </a:cubicBezTo>
                <a:cubicBezTo>
                  <a:pt x="11129" y="1543"/>
                  <a:pt x="11119" y="1546"/>
                  <a:pt x="11110" y="1548"/>
                </a:cubicBezTo>
                <a:cubicBezTo>
                  <a:pt x="11100" y="1550"/>
                  <a:pt x="11090" y="1551"/>
                  <a:pt x="11080" y="1551"/>
                </a:cubicBezTo>
                <a:lnTo>
                  <a:pt x="0" y="1551"/>
                </a:ln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241" name=""/>
          <p:cNvSpPr/>
          <p:nvPr/>
        </p:nvSpPr>
        <p:spPr>
          <a:xfrm>
            <a:off x="4437720" y="1627920"/>
            <a:ext cx="27360" cy="558360"/>
          </a:xfrm>
          <a:custGeom>
            <a:avLst/>
            <a:gdLst/>
            <a:ahLst/>
            <a:rect l="0" t="0" r="r" b="b"/>
            <a:pathLst>
              <a:path w="76" h="1551">
                <a:moveTo>
                  <a:pt x="0" y="0"/>
                </a:moveTo>
                <a:lnTo>
                  <a:pt x="76" y="0"/>
                </a:lnTo>
                <a:lnTo>
                  <a:pt x="76" y="1551"/>
                </a:lnTo>
                <a:lnTo>
                  <a:pt x="0" y="1551"/>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242" name="" descr=""/>
          <p:cNvPicPr/>
          <p:nvPr/>
        </p:nvPicPr>
        <p:blipFill>
          <a:blip r:embed="rId9"/>
          <a:stretch/>
        </p:blipFill>
        <p:spPr>
          <a:xfrm>
            <a:off x="4546800" y="1764000"/>
            <a:ext cx="135720" cy="135720"/>
          </a:xfrm>
          <a:prstGeom prst="rect">
            <a:avLst/>
          </a:prstGeom>
          <a:noFill/>
          <a:ln w="0">
            <a:noFill/>
          </a:ln>
        </p:spPr>
      </p:pic>
      <p:sp>
        <p:nvSpPr>
          <p:cNvPr id="1243" name=""/>
          <p:cNvSpPr txBox="1"/>
          <p:nvPr/>
        </p:nvSpPr>
        <p:spPr>
          <a:xfrm>
            <a:off x="564840" y="1998360"/>
            <a:ext cx="16524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点。</a:t>
            </a:r>
            <a:endParaRPr b="0" lang="en-US" sz="650" strike="noStrike" u="none">
              <a:solidFill>
                <a:srgbClr val="000000"/>
              </a:solidFill>
              <a:effectLst/>
              <a:uFillTx/>
              <a:latin typeface="Times New Roman"/>
            </a:endParaRPr>
          </a:p>
        </p:txBody>
      </p:sp>
      <p:sp>
        <p:nvSpPr>
          <p:cNvPr id="1244" name=""/>
          <p:cNvSpPr txBox="1"/>
          <p:nvPr/>
        </p:nvSpPr>
        <p:spPr>
          <a:xfrm>
            <a:off x="4764600" y="1720440"/>
            <a:ext cx="1317600" cy="137520"/>
          </a:xfrm>
          <a:prstGeom prst="rect">
            <a:avLst/>
          </a:prstGeom>
          <a:noFill/>
          <a:ln w="0">
            <a:noFill/>
          </a:ln>
        </p:spPr>
        <p:txBody>
          <a:bodyPr wrap="none" lIns="0" rIns="0" tIns="0" bIns="0" anchor="t">
            <a:spAutoFit/>
          </a:bodyPr>
          <a:p>
            <a:r>
              <a:rPr b="0" lang="zh-CN" sz="860" strike="noStrike" u="none">
                <a:solidFill>
                  <a:srgbClr val="b91c1c"/>
                </a:solidFill>
                <a:effectLst/>
                <a:uFillTx/>
                <a:latin typeface="WenQuanYiZenHei"/>
                <a:ea typeface="WenQuanYiZenHei"/>
              </a:rPr>
              <a:t>心不全指導管理料（新設）</a:t>
            </a:r>
            <a:endParaRPr b="0" lang="en-US" sz="860" strike="noStrike" u="none">
              <a:solidFill>
                <a:srgbClr val="000000"/>
              </a:solidFill>
              <a:effectLst/>
              <a:uFillTx/>
              <a:latin typeface="Times New Roman"/>
            </a:endParaRPr>
          </a:p>
        </p:txBody>
      </p:sp>
      <p:sp>
        <p:nvSpPr>
          <p:cNvPr id="1245" name=""/>
          <p:cNvSpPr txBox="1"/>
          <p:nvPr/>
        </p:nvSpPr>
        <p:spPr>
          <a:xfrm>
            <a:off x="4764600" y="1889640"/>
            <a:ext cx="364860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作用機序が異なる複数の治療薬の処方を受けている慢性心不全患者に対し、専門的な指導管理を評</a:t>
            </a:r>
            <a:endParaRPr b="0" lang="en-US" sz="650" strike="noStrike" u="none">
              <a:solidFill>
                <a:srgbClr val="000000"/>
              </a:solidFill>
              <a:effectLst/>
              <a:uFillTx/>
              <a:latin typeface="Times New Roman"/>
            </a:endParaRPr>
          </a:p>
        </p:txBody>
      </p:sp>
      <p:sp>
        <p:nvSpPr>
          <p:cNvPr id="1246" name=""/>
          <p:cNvSpPr/>
          <p:nvPr/>
        </p:nvSpPr>
        <p:spPr>
          <a:xfrm>
            <a:off x="231120" y="2267640"/>
            <a:ext cx="4043520" cy="558360"/>
          </a:xfrm>
          <a:custGeom>
            <a:avLst/>
            <a:gdLst/>
            <a:ahLst/>
            <a:rect l="0" t="0" r="r" b="b"/>
            <a:pathLst>
              <a:path w="11232" h="1551">
                <a:moveTo>
                  <a:pt x="0" y="1551"/>
                </a:moveTo>
                <a:lnTo>
                  <a:pt x="0" y="0"/>
                </a:lnTo>
                <a:lnTo>
                  <a:pt x="11081" y="0"/>
                </a:lnTo>
                <a:cubicBezTo>
                  <a:pt x="11091" y="0"/>
                  <a:pt x="11101" y="1"/>
                  <a:pt x="11110" y="3"/>
                </a:cubicBezTo>
                <a:cubicBezTo>
                  <a:pt x="11120" y="5"/>
                  <a:pt x="11129" y="8"/>
                  <a:pt x="11139" y="11"/>
                </a:cubicBezTo>
                <a:cubicBezTo>
                  <a:pt x="11148" y="15"/>
                  <a:pt x="11157" y="20"/>
                  <a:pt x="11165" y="25"/>
                </a:cubicBezTo>
                <a:cubicBezTo>
                  <a:pt x="11173" y="31"/>
                  <a:pt x="11181" y="37"/>
                  <a:pt x="11188" y="44"/>
                </a:cubicBezTo>
                <a:cubicBezTo>
                  <a:pt x="11195" y="51"/>
                  <a:pt x="11201" y="59"/>
                  <a:pt x="11207" y="67"/>
                </a:cubicBezTo>
                <a:cubicBezTo>
                  <a:pt x="11212" y="75"/>
                  <a:pt x="11217" y="84"/>
                  <a:pt x="11220" y="93"/>
                </a:cubicBezTo>
                <a:cubicBezTo>
                  <a:pt x="11224" y="102"/>
                  <a:pt x="11227" y="112"/>
                  <a:pt x="11229" y="122"/>
                </a:cubicBezTo>
                <a:cubicBezTo>
                  <a:pt x="11231" y="131"/>
                  <a:pt x="11232" y="141"/>
                  <a:pt x="11232" y="151"/>
                </a:cubicBezTo>
                <a:lnTo>
                  <a:pt x="11232" y="1400"/>
                </a:lnTo>
                <a:cubicBezTo>
                  <a:pt x="11232" y="1410"/>
                  <a:pt x="11231" y="1420"/>
                  <a:pt x="11229" y="1429"/>
                </a:cubicBezTo>
                <a:cubicBezTo>
                  <a:pt x="11227" y="1439"/>
                  <a:pt x="11224" y="1449"/>
                  <a:pt x="11220" y="1458"/>
                </a:cubicBezTo>
                <a:cubicBezTo>
                  <a:pt x="11217" y="1467"/>
                  <a:pt x="11212" y="1476"/>
                  <a:pt x="11207" y="1484"/>
                </a:cubicBezTo>
                <a:cubicBezTo>
                  <a:pt x="11201" y="1492"/>
                  <a:pt x="11195" y="1500"/>
                  <a:pt x="11188" y="1507"/>
                </a:cubicBezTo>
                <a:cubicBezTo>
                  <a:pt x="11181" y="1514"/>
                  <a:pt x="11173" y="1520"/>
                  <a:pt x="11165" y="1526"/>
                </a:cubicBezTo>
                <a:cubicBezTo>
                  <a:pt x="11157" y="1531"/>
                  <a:pt x="11148" y="1536"/>
                  <a:pt x="11139" y="1540"/>
                </a:cubicBezTo>
                <a:cubicBezTo>
                  <a:pt x="11129" y="1543"/>
                  <a:pt x="11120" y="1546"/>
                  <a:pt x="11110" y="1548"/>
                </a:cubicBezTo>
                <a:cubicBezTo>
                  <a:pt x="11101" y="1550"/>
                  <a:pt x="11091" y="1551"/>
                  <a:pt x="11081" y="1551"/>
                </a:cubicBezTo>
                <a:lnTo>
                  <a:pt x="0" y="1551"/>
                </a:ln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247" name=""/>
          <p:cNvSpPr/>
          <p:nvPr/>
        </p:nvSpPr>
        <p:spPr>
          <a:xfrm>
            <a:off x="217800" y="2267640"/>
            <a:ext cx="27360" cy="558360"/>
          </a:xfrm>
          <a:custGeom>
            <a:avLst/>
            <a:gdLst/>
            <a:ahLst/>
            <a:rect l="0" t="0" r="r" b="b"/>
            <a:pathLst>
              <a:path w="76" h="1551">
                <a:moveTo>
                  <a:pt x="0" y="0"/>
                </a:moveTo>
                <a:lnTo>
                  <a:pt x="76" y="0"/>
                </a:lnTo>
                <a:lnTo>
                  <a:pt x="76" y="1551"/>
                </a:lnTo>
                <a:lnTo>
                  <a:pt x="0" y="1551"/>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248" name="" descr=""/>
          <p:cNvPicPr/>
          <p:nvPr/>
        </p:nvPicPr>
        <p:blipFill>
          <a:blip r:embed="rId10"/>
          <a:stretch/>
        </p:blipFill>
        <p:spPr>
          <a:xfrm>
            <a:off x="326880" y="2403720"/>
            <a:ext cx="135720" cy="135720"/>
          </a:xfrm>
          <a:prstGeom prst="rect">
            <a:avLst/>
          </a:prstGeom>
          <a:noFill/>
          <a:ln w="0">
            <a:noFill/>
          </a:ln>
        </p:spPr>
      </p:pic>
      <p:sp>
        <p:nvSpPr>
          <p:cNvPr id="1249" name=""/>
          <p:cNvSpPr txBox="1"/>
          <p:nvPr/>
        </p:nvSpPr>
        <p:spPr>
          <a:xfrm>
            <a:off x="4764600" y="1998360"/>
            <a:ext cx="16524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価。</a:t>
            </a:r>
            <a:endParaRPr b="0" lang="en-US" sz="650" strike="noStrike" u="none">
              <a:solidFill>
                <a:srgbClr val="000000"/>
              </a:solidFill>
              <a:effectLst/>
              <a:uFillTx/>
              <a:latin typeface="Times New Roman"/>
            </a:endParaRPr>
          </a:p>
        </p:txBody>
      </p:sp>
      <p:sp>
        <p:nvSpPr>
          <p:cNvPr id="1250" name=""/>
          <p:cNvSpPr txBox="1"/>
          <p:nvPr/>
        </p:nvSpPr>
        <p:spPr>
          <a:xfrm>
            <a:off x="544680" y="2360160"/>
            <a:ext cx="878400" cy="137520"/>
          </a:xfrm>
          <a:prstGeom prst="rect">
            <a:avLst/>
          </a:prstGeom>
          <a:noFill/>
          <a:ln w="0">
            <a:noFill/>
          </a:ln>
        </p:spPr>
        <p:txBody>
          <a:bodyPr wrap="none" lIns="0" rIns="0" tIns="0" bIns="0" anchor="t">
            <a:spAutoFit/>
          </a:bodyPr>
          <a:p>
            <a:r>
              <a:rPr b="0" lang="zh-CN" sz="860" strike="noStrike" u="none">
                <a:solidFill>
                  <a:srgbClr val="000000"/>
                </a:solidFill>
                <a:effectLst/>
                <a:uFillTx/>
                <a:latin typeface="WenQuanYiZenHei"/>
                <a:ea typeface="WenQuanYiZenHei"/>
              </a:rPr>
              <a:t>生活習慣病管理料</a:t>
            </a:r>
            <a:endParaRPr b="0" lang="en-US" sz="860" strike="noStrike" u="none">
              <a:solidFill>
                <a:srgbClr val="000000"/>
              </a:solidFill>
              <a:effectLst/>
              <a:uFillTx/>
              <a:latin typeface="Times New Roman"/>
            </a:endParaRPr>
          </a:p>
        </p:txBody>
      </p:sp>
      <p:sp>
        <p:nvSpPr>
          <p:cNvPr id="1251" name=""/>
          <p:cNvSpPr txBox="1"/>
          <p:nvPr/>
        </p:nvSpPr>
        <p:spPr>
          <a:xfrm>
            <a:off x="1415880" y="2364120"/>
            <a:ext cx="182520" cy="128520"/>
          </a:xfrm>
          <a:prstGeom prst="rect">
            <a:avLst/>
          </a:prstGeom>
          <a:noFill/>
          <a:ln w="0">
            <a:noFill/>
          </a:ln>
        </p:spPr>
        <p:txBody>
          <a:bodyPr wrap="none" lIns="0" rIns="0" tIns="0" bIns="0" anchor="t">
            <a:spAutoFit/>
          </a:bodyPr>
          <a:p>
            <a:r>
              <a:rPr b="1" lang="en-US" sz="860" strike="noStrike" u="none">
                <a:solidFill>
                  <a:srgbClr val="000000"/>
                </a:solidFill>
                <a:effectLst/>
                <a:uFillTx/>
                <a:latin typeface="DejaVuSans"/>
                <a:ea typeface="DejaVuSans"/>
              </a:rPr>
              <a:t>(II)</a:t>
            </a:r>
            <a:endParaRPr b="0" lang="en-US" sz="860" strike="noStrike" u="none">
              <a:solidFill>
                <a:srgbClr val="000000"/>
              </a:solidFill>
              <a:effectLst/>
              <a:uFillTx/>
              <a:latin typeface="Times New Roman"/>
            </a:endParaRPr>
          </a:p>
        </p:txBody>
      </p:sp>
      <p:sp>
        <p:nvSpPr>
          <p:cNvPr id="1252" name=""/>
          <p:cNvSpPr txBox="1"/>
          <p:nvPr/>
        </p:nvSpPr>
        <p:spPr>
          <a:xfrm>
            <a:off x="1596240" y="2360160"/>
            <a:ext cx="439560" cy="137520"/>
          </a:xfrm>
          <a:prstGeom prst="rect">
            <a:avLst/>
          </a:prstGeom>
          <a:noFill/>
          <a:ln w="0">
            <a:noFill/>
          </a:ln>
        </p:spPr>
        <p:txBody>
          <a:bodyPr wrap="none" lIns="0" rIns="0" tIns="0" bIns="0" anchor="t">
            <a:spAutoFit/>
          </a:bodyPr>
          <a:p>
            <a:r>
              <a:rPr b="0" lang="zh-CN" sz="860" strike="noStrike" u="none">
                <a:solidFill>
                  <a:srgbClr val="000000"/>
                </a:solidFill>
                <a:effectLst/>
                <a:uFillTx/>
                <a:latin typeface="WenQuanYiZenHei"/>
                <a:ea typeface="WenQuanYiZenHei"/>
              </a:rPr>
              <a:t>（改定）</a:t>
            </a:r>
            <a:endParaRPr b="0" lang="en-US" sz="860" strike="noStrike" u="none">
              <a:solidFill>
                <a:srgbClr val="000000"/>
              </a:solidFill>
              <a:effectLst/>
              <a:uFillTx/>
              <a:latin typeface="Times New Roman"/>
            </a:endParaRPr>
          </a:p>
        </p:txBody>
      </p:sp>
      <p:sp>
        <p:nvSpPr>
          <p:cNvPr id="1253" name=""/>
          <p:cNvSpPr txBox="1"/>
          <p:nvPr/>
        </p:nvSpPr>
        <p:spPr>
          <a:xfrm>
            <a:off x="544680" y="2529360"/>
            <a:ext cx="190116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従来の生活習慣病管理料から見直し。脂質異常症：</a:t>
            </a:r>
            <a:endParaRPr b="0" lang="en-US" sz="650" strike="noStrike" u="none">
              <a:solidFill>
                <a:srgbClr val="000000"/>
              </a:solidFill>
              <a:effectLst/>
              <a:uFillTx/>
              <a:latin typeface="Times New Roman"/>
            </a:endParaRPr>
          </a:p>
        </p:txBody>
      </p:sp>
      <p:sp>
        <p:nvSpPr>
          <p:cNvPr id="1254" name=""/>
          <p:cNvSpPr txBox="1"/>
          <p:nvPr/>
        </p:nvSpPr>
        <p:spPr>
          <a:xfrm>
            <a:off x="2423160" y="2532240"/>
            <a:ext cx="157680" cy="96480"/>
          </a:xfrm>
          <a:prstGeom prst="rect">
            <a:avLst/>
          </a:prstGeom>
          <a:noFill/>
          <a:ln w="0">
            <a:noFill/>
          </a:ln>
        </p:spPr>
        <p:txBody>
          <a:bodyPr wrap="none" lIns="0" rIns="0" tIns="0" bIns="0" anchor="t">
            <a:spAutoFit/>
          </a:bodyPr>
          <a:p>
            <a:r>
              <a:rPr b="0" lang="en-US" sz="650" strike="noStrike" u="none">
                <a:solidFill>
                  <a:srgbClr val="4b5563"/>
                </a:solidFill>
                <a:effectLst/>
                <a:uFillTx/>
                <a:latin typeface="DejaVuSans"/>
                <a:ea typeface="DejaVuSans"/>
              </a:rPr>
              <a:t>610</a:t>
            </a:r>
            <a:endParaRPr b="0" lang="en-US" sz="650" strike="noStrike" u="none">
              <a:solidFill>
                <a:srgbClr val="000000"/>
              </a:solidFill>
              <a:effectLst/>
              <a:uFillTx/>
              <a:latin typeface="Times New Roman"/>
            </a:endParaRPr>
          </a:p>
        </p:txBody>
      </p:sp>
      <p:sp>
        <p:nvSpPr>
          <p:cNvPr id="1255" name=""/>
          <p:cNvSpPr txBox="1"/>
          <p:nvPr/>
        </p:nvSpPr>
        <p:spPr>
          <a:xfrm>
            <a:off x="2579040" y="2529360"/>
            <a:ext cx="57672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点、高血圧症：</a:t>
            </a:r>
            <a:endParaRPr b="0" lang="en-US" sz="650" strike="noStrike" u="none">
              <a:solidFill>
                <a:srgbClr val="000000"/>
              </a:solidFill>
              <a:effectLst/>
              <a:uFillTx/>
              <a:latin typeface="Times New Roman"/>
            </a:endParaRPr>
          </a:p>
        </p:txBody>
      </p:sp>
      <p:sp>
        <p:nvSpPr>
          <p:cNvPr id="1256" name=""/>
          <p:cNvSpPr txBox="1"/>
          <p:nvPr/>
        </p:nvSpPr>
        <p:spPr>
          <a:xfrm>
            <a:off x="3150720" y="2532240"/>
            <a:ext cx="157680" cy="96480"/>
          </a:xfrm>
          <a:prstGeom prst="rect">
            <a:avLst/>
          </a:prstGeom>
          <a:noFill/>
          <a:ln w="0">
            <a:noFill/>
          </a:ln>
        </p:spPr>
        <p:txBody>
          <a:bodyPr wrap="none" lIns="0" rIns="0" tIns="0" bIns="0" anchor="t">
            <a:spAutoFit/>
          </a:bodyPr>
          <a:p>
            <a:r>
              <a:rPr b="0" lang="en-US" sz="650" strike="noStrike" u="none">
                <a:solidFill>
                  <a:srgbClr val="4b5563"/>
                </a:solidFill>
                <a:effectLst/>
                <a:uFillTx/>
                <a:latin typeface="DejaVuSans"/>
                <a:ea typeface="DejaVuSans"/>
              </a:rPr>
              <a:t>660</a:t>
            </a:r>
            <a:endParaRPr b="0" lang="en-US" sz="650" strike="noStrike" u="none">
              <a:solidFill>
                <a:srgbClr val="000000"/>
              </a:solidFill>
              <a:effectLst/>
              <a:uFillTx/>
              <a:latin typeface="Times New Roman"/>
            </a:endParaRPr>
          </a:p>
        </p:txBody>
      </p:sp>
      <p:sp>
        <p:nvSpPr>
          <p:cNvPr id="1257" name=""/>
          <p:cNvSpPr txBox="1"/>
          <p:nvPr/>
        </p:nvSpPr>
        <p:spPr>
          <a:xfrm>
            <a:off x="3306600" y="2529360"/>
            <a:ext cx="49464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点、糖尿病：</a:t>
            </a:r>
            <a:endParaRPr b="0" lang="en-US" sz="650" strike="noStrike" u="none">
              <a:solidFill>
                <a:srgbClr val="000000"/>
              </a:solidFill>
              <a:effectLst/>
              <a:uFillTx/>
              <a:latin typeface="Times New Roman"/>
            </a:endParaRPr>
          </a:p>
        </p:txBody>
      </p:sp>
      <p:sp>
        <p:nvSpPr>
          <p:cNvPr id="1258" name=""/>
          <p:cNvSpPr txBox="1"/>
          <p:nvPr/>
        </p:nvSpPr>
        <p:spPr>
          <a:xfrm>
            <a:off x="3796560" y="2532240"/>
            <a:ext cx="157680" cy="96480"/>
          </a:xfrm>
          <a:prstGeom prst="rect">
            <a:avLst/>
          </a:prstGeom>
          <a:noFill/>
          <a:ln w="0">
            <a:noFill/>
          </a:ln>
        </p:spPr>
        <p:txBody>
          <a:bodyPr wrap="none" lIns="0" rIns="0" tIns="0" bIns="0" anchor="t">
            <a:spAutoFit/>
          </a:bodyPr>
          <a:p>
            <a:r>
              <a:rPr b="0" lang="en-US" sz="650" strike="noStrike" u="none">
                <a:solidFill>
                  <a:srgbClr val="4b5563"/>
                </a:solidFill>
                <a:effectLst/>
                <a:uFillTx/>
                <a:latin typeface="DejaVuSans"/>
                <a:ea typeface="DejaVuSans"/>
              </a:rPr>
              <a:t>760</a:t>
            </a:r>
            <a:endParaRPr b="0" lang="en-US" sz="650" strike="noStrike" u="none">
              <a:solidFill>
                <a:srgbClr val="000000"/>
              </a:solidFill>
              <a:effectLst/>
              <a:uFillTx/>
              <a:latin typeface="Times New Roman"/>
            </a:endParaRPr>
          </a:p>
        </p:txBody>
      </p:sp>
      <p:sp>
        <p:nvSpPr>
          <p:cNvPr id="1259" name=""/>
          <p:cNvSpPr txBox="1"/>
          <p:nvPr/>
        </p:nvSpPr>
        <p:spPr>
          <a:xfrm>
            <a:off x="3952440" y="2529360"/>
            <a:ext cx="16524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点。</a:t>
            </a:r>
            <a:endParaRPr b="0" lang="en-US" sz="650" strike="noStrike" u="none">
              <a:solidFill>
                <a:srgbClr val="000000"/>
              </a:solidFill>
              <a:effectLst/>
              <a:uFillTx/>
              <a:latin typeface="Times New Roman"/>
            </a:endParaRPr>
          </a:p>
        </p:txBody>
      </p:sp>
      <p:sp>
        <p:nvSpPr>
          <p:cNvPr id="1260" name=""/>
          <p:cNvSpPr txBox="1"/>
          <p:nvPr/>
        </p:nvSpPr>
        <p:spPr>
          <a:xfrm>
            <a:off x="544680" y="2638440"/>
            <a:ext cx="132336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特定疾患療養管理料の対象から上記</a:t>
            </a:r>
            <a:endParaRPr b="0" lang="en-US" sz="650" strike="noStrike" u="none">
              <a:solidFill>
                <a:srgbClr val="000000"/>
              </a:solidFill>
              <a:effectLst/>
              <a:uFillTx/>
              <a:latin typeface="Times New Roman"/>
            </a:endParaRPr>
          </a:p>
        </p:txBody>
      </p:sp>
      <p:sp>
        <p:nvSpPr>
          <p:cNvPr id="1261" name=""/>
          <p:cNvSpPr txBox="1"/>
          <p:nvPr/>
        </p:nvSpPr>
        <p:spPr>
          <a:xfrm>
            <a:off x="1851480" y="2641320"/>
            <a:ext cx="81360" cy="96480"/>
          </a:xfrm>
          <a:prstGeom prst="rect">
            <a:avLst/>
          </a:prstGeom>
          <a:noFill/>
          <a:ln w="0">
            <a:noFill/>
          </a:ln>
        </p:spPr>
        <p:txBody>
          <a:bodyPr wrap="none" lIns="0" rIns="0" tIns="0" bIns="0" anchor="t">
            <a:spAutoFit/>
          </a:bodyPr>
          <a:p>
            <a:r>
              <a:rPr b="0" lang="en-US" sz="650" strike="noStrike" u="none">
                <a:solidFill>
                  <a:srgbClr val="4b5563"/>
                </a:solidFill>
                <a:effectLst/>
                <a:uFillTx/>
                <a:latin typeface="DejaVuSans"/>
                <a:ea typeface="DejaVuSans"/>
              </a:rPr>
              <a:t>3</a:t>
            </a:r>
            <a:endParaRPr b="0" lang="en-US" sz="650" strike="noStrike" u="none">
              <a:solidFill>
                <a:srgbClr val="000000"/>
              </a:solidFill>
              <a:effectLst/>
              <a:uFillTx/>
              <a:latin typeface="Times New Roman"/>
            </a:endParaRPr>
          </a:p>
        </p:txBody>
      </p:sp>
      <p:sp>
        <p:nvSpPr>
          <p:cNvPr id="1262" name=""/>
          <p:cNvSpPr/>
          <p:nvPr/>
        </p:nvSpPr>
        <p:spPr>
          <a:xfrm>
            <a:off x="4451400" y="2267640"/>
            <a:ext cx="4043160" cy="558360"/>
          </a:xfrm>
          <a:custGeom>
            <a:avLst/>
            <a:gdLst/>
            <a:ahLst/>
            <a:rect l="0" t="0" r="r" b="b"/>
            <a:pathLst>
              <a:path w="11231" h="1551">
                <a:moveTo>
                  <a:pt x="0" y="1551"/>
                </a:moveTo>
                <a:lnTo>
                  <a:pt x="0" y="0"/>
                </a:lnTo>
                <a:lnTo>
                  <a:pt x="11080" y="0"/>
                </a:lnTo>
                <a:cubicBezTo>
                  <a:pt x="11090" y="0"/>
                  <a:pt x="11100" y="1"/>
                  <a:pt x="11110" y="3"/>
                </a:cubicBezTo>
                <a:cubicBezTo>
                  <a:pt x="11119" y="5"/>
                  <a:pt x="11129" y="8"/>
                  <a:pt x="11138" y="11"/>
                </a:cubicBezTo>
                <a:cubicBezTo>
                  <a:pt x="11147" y="15"/>
                  <a:pt x="11156" y="20"/>
                  <a:pt x="11164" y="25"/>
                </a:cubicBezTo>
                <a:cubicBezTo>
                  <a:pt x="11172" y="31"/>
                  <a:pt x="11180" y="37"/>
                  <a:pt x="11187" y="44"/>
                </a:cubicBezTo>
                <a:cubicBezTo>
                  <a:pt x="11194" y="51"/>
                  <a:pt x="11200" y="59"/>
                  <a:pt x="11206" y="67"/>
                </a:cubicBezTo>
                <a:cubicBezTo>
                  <a:pt x="11211" y="75"/>
                  <a:pt x="11216" y="84"/>
                  <a:pt x="11220" y="93"/>
                </a:cubicBezTo>
                <a:cubicBezTo>
                  <a:pt x="11224" y="102"/>
                  <a:pt x="11226" y="112"/>
                  <a:pt x="11228" y="122"/>
                </a:cubicBezTo>
                <a:cubicBezTo>
                  <a:pt x="11230" y="131"/>
                  <a:pt x="11231" y="141"/>
                  <a:pt x="11231" y="151"/>
                </a:cubicBezTo>
                <a:lnTo>
                  <a:pt x="11231" y="1400"/>
                </a:lnTo>
                <a:cubicBezTo>
                  <a:pt x="11231" y="1410"/>
                  <a:pt x="11230" y="1420"/>
                  <a:pt x="11228" y="1429"/>
                </a:cubicBezTo>
                <a:cubicBezTo>
                  <a:pt x="11226" y="1439"/>
                  <a:pt x="11224" y="1449"/>
                  <a:pt x="11220" y="1458"/>
                </a:cubicBezTo>
                <a:cubicBezTo>
                  <a:pt x="11216" y="1467"/>
                  <a:pt x="11211" y="1476"/>
                  <a:pt x="11206" y="1484"/>
                </a:cubicBezTo>
                <a:cubicBezTo>
                  <a:pt x="11200" y="1492"/>
                  <a:pt x="11194" y="1500"/>
                  <a:pt x="11187" y="1507"/>
                </a:cubicBezTo>
                <a:cubicBezTo>
                  <a:pt x="11180" y="1514"/>
                  <a:pt x="11172" y="1520"/>
                  <a:pt x="11164" y="1526"/>
                </a:cubicBezTo>
                <a:cubicBezTo>
                  <a:pt x="11156" y="1531"/>
                  <a:pt x="11147" y="1536"/>
                  <a:pt x="11138" y="1540"/>
                </a:cubicBezTo>
                <a:cubicBezTo>
                  <a:pt x="11129" y="1543"/>
                  <a:pt x="11119" y="1546"/>
                  <a:pt x="11110" y="1548"/>
                </a:cubicBezTo>
                <a:cubicBezTo>
                  <a:pt x="11100" y="1550"/>
                  <a:pt x="11090" y="1551"/>
                  <a:pt x="11080" y="1551"/>
                </a:cubicBezTo>
                <a:lnTo>
                  <a:pt x="0" y="1551"/>
                </a:ln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263" name=""/>
          <p:cNvSpPr/>
          <p:nvPr/>
        </p:nvSpPr>
        <p:spPr>
          <a:xfrm>
            <a:off x="4437720" y="2267640"/>
            <a:ext cx="27360" cy="558360"/>
          </a:xfrm>
          <a:custGeom>
            <a:avLst/>
            <a:gdLst/>
            <a:ahLst/>
            <a:rect l="0" t="0" r="r" b="b"/>
            <a:pathLst>
              <a:path w="76" h="1551">
                <a:moveTo>
                  <a:pt x="0" y="0"/>
                </a:moveTo>
                <a:lnTo>
                  <a:pt x="76" y="0"/>
                </a:lnTo>
                <a:lnTo>
                  <a:pt x="76" y="1551"/>
                </a:lnTo>
                <a:lnTo>
                  <a:pt x="0" y="1551"/>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264" name="" descr=""/>
          <p:cNvPicPr/>
          <p:nvPr/>
        </p:nvPicPr>
        <p:blipFill>
          <a:blip r:embed="rId11"/>
          <a:stretch/>
        </p:blipFill>
        <p:spPr>
          <a:xfrm>
            <a:off x="4546800" y="2403720"/>
            <a:ext cx="88200" cy="135720"/>
          </a:xfrm>
          <a:prstGeom prst="rect">
            <a:avLst/>
          </a:prstGeom>
          <a:noFill/>
          <a:ln w="0">
            <a:noFill/>
          </a:ln>
        </p:spPr>
      </p:pic>
      <p:sp>
        <p:nvSpPr>
          <p:cNvPr id="1265" name=""/>
          <p:cNvSpPr txBox="1"/>
          <p:nvPr/>
        </p:nvSpPr>
        <p:spPr>
          <a:xfrm>
            <a:off x="1903320" y="2638440"/>
            <a:ext cx="49644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疾患が除外。</a:t>
            </a:r>
            <a:endParaRPr b="0" lang="en-US" sz="650" strike="noStrike" u="none">
              <a:solidFill>
                <a:srgbClr val="000000"/>
              </a:solidFill>
              <a:effectLst/>
              <a:uFillTx/>
              <a:latin typeface="Times New Roman"/>
            </a:endParaRPr>
          </a:p>
        </p:txBody>
      </p:sp>
      <p:sp>
        <p:nvSpPr>
          <p:cNvPr id="1266" name=""/>
          <p:cNvSpPr txBox="1"/>
          <p:nvPr/>
        </p:nvSpPr>
        <p:spPr>
          <a:xfrm>
            <a:off x="4716720" y="2360160"/>
            <a:ext cx="1559880" cy="137520"/>
          </a:xfrm>
          <a:prstGeom prst="rect">
            <a:avLst/>
          </a:prstGeom>
          <a:noFill/>
          <a:ln w="0">
            <a:noFill/>
          </a:ln>
        </p:spPr>
        <p:txBody>
          <a:bodyPr wrap="none" lIns="0" rIns="0" tIns="0" bIns="0" anchor="t">
            <a:spAutoFit/>
          </a:bodyPr>
          <a:p>
            <a:r>
              <a:rPr b="0" lang="zh-CN" sz="860" strike="noStrike" u="none">
                <a:solidFill>
                  <a:srgbClr val="000000"/>
                </a:solidFill>
                <a:effectLst/>
                <a:uFillTx/>
                <a:latin typeface="WenQuanYiZenHei"/>
                <a:ea typeface="WenQuanYiZenHei"/>
              </a:rPr>
              <a:t>リハビリテーション関連の変更</a:t>
            </a:r>
            <a:endParaRPr b="0" lang="en-US" sz="860" strike="noStrike" u="none">
              <a:solidFill>
                <a:srgbClr val="000000"/>
              </a:solidFill>
              <a:effectLst/>
              <a:uFillTx/>
              <a:latin typeface="Times New Roman"/>
            </a:endParaRPr>
          </a:p>
        </p:txBody>
      </p:sp>
      <p:sp>
        <p:nvSpPr>
          <p:cNvPr id="1267" name=""/>
          <p:cNvSpPr/>
          <p:nvPr/>
        </p:nvSpPr>
        <p:spPr>
          <a:xfrm>
            <a:off x="231120" y="2907360"/>
            <a:ext cx="8263440" cy="449640"/>
          </a:xfrm>
          <a:custGeom>
            <a:avLst/>
            <a:gdLst/>
            <a:ahLst/>
            <a:rect l="0" t="0" r="r" b="b"/>
            <a:pathLst>
              <a:path w="22954" h="1249">
                <a:moveTo>
                  <a:pt x="0" y="1249"/>
                </a:moveTo>
                <a:lnTo>
                  <a:pt x="0" y="0"/>
                </a:lnTo>
                <a:lnTo>
                  <a:pt x="22803" y="0"/>
                </a:lnTo>
                <a:cubicBezTo>
                  <a:pt x="22813" y="0"/>
                  <a:pt x="22823" y="1"/>
                  <a:pt x="22833" y="3"/>
                </a:cubicBezTo>
                <a:cubicBezTo>
                  <a:pt x="22842" y="5"/>
                  <a:pt x="22852" y="8"/>
                  <a:pt x="22861" y="12"/>
                </a:cubicBezTo>
                <a:cubicBezTo>
                  <a:pt x="22870" y="15"/>
                  <a:pt x="22879" y="20"/>
                  <a:pt x="22887" y="26"/>
                </a:cubicBezTo>
                <a:cubicBezTo>
                  <a:pt x="22895" y="32"/>
                  <a:pt x="22903" y="38"/>
                  <a:pt x="22910" y="45"/>
                </a:cubicBezTo>
                <a:cubicBezTo>
                  <a:pt x="22917" y="52"/>
                  <a:pt x="22923" y="60"/>
                  <a:pt x="22929" y="68"/>
                </a:cubicBezTo>
                <a:cubicBezTo>
                  <a:pt x="22934" y="77"/>
                  <a:pt x="22939" y="85"/>
                  <a:pt x="22943" y="94"/>
                </a:cubicBezTo>
                <a:cubicBezTo>
                  <a:pt x="22947" y="104"/>
                  <a:pt x="22949" y="113"/>
                  <a:pt x="22951" y="123"/>
                </a:cubicBezTo>
                <a:cubicBezTo>
                  <a:pt x="22953" y="133"/>
                  <a:pt x="22954" y="142"/>
                  <a:pt x="22954" y="152"/>
                </a:cubicBezTo>
                <a:lnTo>
                  <a:pt x="22954" y="1098"/>
                </a:lnTo>
                <a:cubicBezTo>
                  <a:pt x="22954" y="1108"/>
                  <a:pt x="22953" y="1117"/>
                  <a:pt x="22951" y="1127"/>
                </a:cubicBezTo>
                <a:cubicBezTo>
                  <a:pt x="22949" y="1137"/>
                  <a:pt x="22947" y="1146"/>
                  <a:pt x="22943" y="1156"/>
                </a:cubicBezTo>
                <a:cubicBezTo>
                  <a:pt x="22939" y="1165"/>
                  <a:pt x="22934" y="1173"/>
                  <a:pt x="22929" y="1182"/>
                </a:cubicBezTo>
                <a:cubicBezTo>
                  <a:pt x="22923" y="1190"/>
                  <a:pt x="22917" y="1198"/>
                  <a:pt x="22910" y="1205"/>
                </a:cubicBezTo>
                <a:cubicBezTo>
                  <a:pt x="22903" y="1212"/>
                  <a:pt x="22895" y="1218"/>
                  <a:pt x="22887" y="1223"/>
                </a:cubicBezTo>
                <a:cubicBezTo>
                  <a:pt x="22879" y="1229"/>
                  <a:pt x="22870" y="1234"/>
                  <a:pt x="22861" y="1237"/>
                </a:cubicBezTo>
                <a:cubicBezTo>
                  <a:pt x="22852" y="1241"/>
                  <a:pt x="22842" y="1244"/>
                  <a:pt x="22833" y="1246"/>
                </a:cubicBezTo>
                <a:cubicBezTo>
                  <a:pt x="22823" y="1248"/>
                  <a:pt x="22813" y="1249"/>
                  <a:pt x="22803" y="1249"/>
                </a:cubicBezTo>
                <a:lnTo>
                  <a:pt x="0" y="1249"/>
                </a:lnTo>
                <a:close/>
              </a:path>
            </a:pathLst>
          </a:custGeom>
          <a:solidFill>
            <a:srgbClr val="ffffff">
              <a:alpha val="9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268" name=""/>
          <p:cNvSpPr/>
          <p:nvPr/>
        </p:nvSpPr>
        <p:spPr>
          <a:xfrm>
            <a:off x="217800" y="2907360"/>
            <a:ext cx="27360" cy="449640"/>
          </a:xfrm>
          <a:custGeom>
            <a:avLst/>
            <a:gdLst/>
            <a:ahLst/>
            <a:rect l="0" t="0" r="r" b="b"/>
            <a:pathLst>
              <a:path w="76" h="1249">
                <a:moveTo>
                  <a:pt x="0" y="0"/>
                </a:moveTo>
                <a:lnTo>
                  <a:pt x="76" y="0"/>
                </a:lnTo>
                <a:lnTo>
                  <a:pt x="76" y="1249"/>
                </a:lnTo>
                <a:lnTo>
                  <a:pt x="0" y="1249"/>
                </a:lnTo>
                <a:lnTo>
                  <a:pt x="0" y="0"/>
                </a:lnTo>
                <a:close/>
              </a:path>
            </a:pathLst>
          </a:custGeom>
          <a:solidFill>
            <a:srgbClr val="000000"/>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269" name="" descr=""/>
          <p:cNvPicPr/>
          <p:nvPr/>
        </p:nvPicPr>
        <p:blipFill>
          <a:blip r:embed="rId12"/>
          <a:stretch/>
        </p:blipFill>
        <p:spPr>
          <a:xfrm>
            <a:off x="326880" y="3043800"/>
            <a:ext cx="135720" cy="135720"/>
          </a:xfrm>
          <a:prstGeom prst="rect">
            <a:avLst/>
          </a:prstGeom>
          <a:noFill/>
          <a:ln w="0">
            <a:noFill/>
          </a:ln>
        </p:spPr>
      </p:pic>
      <p:sp>
        <p:nvSpPr>
          <p:cNvPr id="1270" name=""/>
          <p:cNvSpPr txBox="1"/>
          <p:nvPr/>
        </p:nvSpPr>
        <p:spPr>
          <a:xfrm>
            <a:off x="4716720" y="2529360"/>
            <a:ext cx="308412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リハビリテーション計画提供料が廃止され、疾患別リハビリテーション料に包括。</a:t>
            </a:r>
            <a:endParaRPr b="0" lang="en-US" sz="650" strike="noStrike" u="none">
              <a:solidFill>
                <a:srgbClr val="000000"/>
              </a:solidFill>
              <a:effectLst/>
              <a:uFillTx/>
              <a:latin typeface="Times New Roman"/>
            </a:endParaRPr>
          </a:p>
        </p:txBody>
      </p:sp>
      <p:sp>
        <p:nvSpPr>
          <p:cNvPr id="1271" name=""/>
          <p:cNvSpPr txBox="1"/>
          <p:nvPr/>
        </p:nvSpPr>
        <p:spPr>
          <a:xfrm>
            <a:off x="544680" y="3000240"/>
            <a:ext cx="1427040" cy="137520"/>
          </a:xfrm>
          <a:prstGeom prst="rect">
            <a:avLst/>
          </a:prstGeom>
          <a:noFill/>
          <a:ln w="0">
            <a:noFill/>
          </a:ln>
        </p:spPr>
        <p:txBody>
          <a:bodyPr wrap="none" lIns="0" rIns="0" tIns="0" bIns="0" anchor="t">
            <a:spAutoFit/>
          </a:bodyPr>
          <a:p>
            <a:r>
              <a:rPr b="0" lang="zh-CN" sz="860" strike="noStrike" u="none">
                <a:solidFill>
                  <a:srgbClr val="1d4ed8"/>
                </a:solidFill>
                <a:effectLst/>
                <a:uFillTx/>
                <a:latin typeface="WenQuanYiZenHei"/>
                <a:ea typeface="WenQuanYiZenHei"/>
              </a:rPr>
              <a:t>画像等手術支援加算（新設）</a:t>
            </a:r>
            <a:endParaRPr b="0" lang="en-US" sz="860" strike="noStrike" u="none">
              <a:solidFill>
                <a:srgbClr val="000000"/>
              </a:solidFill>
              <a:effectLst/>
              <a:uFillTx/>
              <a:latin typeface="Times New Roman"/>
            </a:endParaRPr>
          </a:p>
        </p:txBody>
      </p:sp>
      <p:sp>
        <p:nvSpPr>
          <p:cNvPr id="1272" name=""/>
          <p:cNvSpPr/>
          <p:nvPr/>
        </p:nvSpPr>
        <p:spPr>
          <a:xfrm>
            <a:off x="217800" y="3465360"/>
            <a:ext cx="8276760" cy="272880"/>
          </a:xfrm>
          <a:custGeom>
            <a:avLst/>
            <a:gdLst/>
            <a:ahLst/>
            <a:rect l="0" t="0" r="r" b="b"/>
            <a:pathLst>
              <a:path w="22991" h="758">
                <a:moveTo>
                  <a:pt x="0" y="0"/>
                </a:moveTo>
                <a:lnTo>
                  <a:pt x="22991" y="0"/>
                </a:lnTo>
                <a:lnTo>
                  <a:pt x="22991" y="758"/>
                </a:lnTo>
                <a:lnTo>
                  <a:pt x="0" y="758"/>
                </a:lnTo>
                <a:lnTo>
                  <a:pt x="0" y="0"/>
                </a:lnTo>
                <a:close/>
              </a:path>
            </a:pathLst>
          </a:custGeom>
          <a:solidFill>
            <a:srgbClr val="fffbeb"/>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273" name=""/>
          <p:cNvSpPr/>
          <p:nvPr/>
        </p:nvSpPr>
        <p:spPr>
          <a:xfrm>
            <a:off x="217800" y="3465360"/>
            <a:ext cx="27360" cy="272880"/>
          </a:xfrm>
          <a:custGeom>
            <a:avLst/>
            <a:gdLst/>
            <a:ahLst/>
            <a:rect l="0" t="0" r="r" b="b"/>
            <a:pathLst>
              <a:path w="76" h="758">
                <a:moveTo>
                  <a:pt x="0" y="0"/>
                </a:moveTo>
                <a:lnTo>
                  <a:pt x="76" y="0"/>
                </a:lnTo>
                <a:lnTo>
                  <a:pt x="76" y="758"/>
                </a:lnTo>
                <a:lnTo>
                  <a:pt x="0" y="758"/>
                </a:lnTo>
                <a:lnTo>
                  <a:pt x="0" y="0"/>
                </a:lnTo>
                <a:close/>
              </a:path>
            </a:pathLst>
          </a:custGeom>
          <a:solidFill>
            <a:srgbClr val="fbbf24"/>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274" name="" descr=""/>
          <p:cNvPicPr/>
          <p:nvPr/>
        </p:nvPicPr>
        <p:blipFill>
          <a:blip r:embed="rId13"/>
          <a:stretch/>
        </p:blipFill>
        <p:spPr>
          <a:xfrm>
            <a:off x="299520" y="3540600"/>
            <a:ext cx="81360" cy="108720"/>
          </a:xfrm>
          <a:prstGeom prst="rect">
            <a:avLst/>
          </a:prstGeom>
          <a:noFill/>
          <a:ln w="0">
            <a:noFill/>
          </a:ln>
        </p:spPr>
      </p:pic>
      <p:sp>
        <p:nvSpPr>
          <p:cNvPr id="1275" name=""/>
          <p:cNvSpPr txBox="1"/>
          <p:nvPr/>
        </p:nvSpPr>
        <p:spPr>
          <a:xfrm>
            <a:off x="544680" y="3169080"/>
            <a:ext cx="3819240" cy="104040"/>
          </a:xfrm>
          <a:prstGeom prst="rect">
            <a:avLst/>
          </a:prstGeom>
          <a:noFill/>
          <a:ln w="0">
            <a:noFill/>
          </a:ln>
        </p:spPr>
        <p:txBody>
          <a:bodyPr wrap="none" lIns="0" rIns="0" tIns="0" bIns="0" anchor="t">
            <a:spAutoFit/>
          </a:bodyPr>
          <a:p>
            <a:r>
              <a:rPr b="0" lang="zh-CN" sz="650" strike="noStrike" u="none">
                <a:solidFill>
                  <a:srgbClr val="4b5563"/>
                </a:solidFill>
                <a:effectLst/>
                <a:uFillTx/>
                <a:latin typeface="WenQuanYiZenHei"/>
                <a:ea typeface="WenQuanYiZenHei"/>
              </a:rPr>
              <a:t>手術支援装置（ナビゲーションシステム等）を用いて人工股関節置換術等を実施した場合に算定可能。</a:t>
            </a:r>
            <a:endParaRPr b="0" lang="en-US" sz="650" strike="noStrike" u="none">
              <a:solidFill>
                <a:srgbClr val="000000"/>
              </a:solidFill>
              <a:effectLst/>
              <a:uFillTx/>
              <a:latin typeface="Times New Roman"/>
            </a:endParaRPr>
          </a:p>
        </p:txBody>
      </p:sp>
      <p:sp>
        <p:nvSpPr>
          <p:cNvPr id="1276" name=""/>
          <p:cNvSpPr txBox="1"/>
          <p:nvPr/>
        </p:nvSpPr>
        <p:spPr>
          <a:xfrm>
            <a:off x="435600" y="3526200"/>
            <a:ext cx="210240" cy="96480"/>
          </a:xfrm>
          <a:prstGeom prst="rect">
            <a:avLst/>
          </a:prstGeom>
          <a:noFill/>
          <a:ln w="0">
            <a:noFill/>
          </a:ln>
        </p:spPr>
        <p:txBody>
          <a:bodyPr wrap="none" lIns="0" rIns="0" tIns="0" bIns="0" anchor="t">
            <a:spAutoFit/>
          </a:bodyPr>
          <a:p>
            <a:r>
              <a:rPr b="0" lang="en-US" sz="650" strike="noStrike" u="none">
                <a:solidFill>
                  <a:srgbClr val="374151"/>
                </a:solidFill>
                <a:effectLst/>
                <a:uFillTx/>
                <a:latin typeface="DejaVuSans"/>
                <a:ea typeface="DejaVuSans"/>
              </a:rPr>
              <a:t>2024</a:t>
            </a:r>
            <a:endParaRPr b="0" lang="en-US" sz="650" strike="noStrike" u="none">
              <a:solidFill>
                <a:srgbClr val="000000"/>
              </a:solidFill>
              <a:effectLst/>
              <a:uFillTx/>
              <a:latin typeface="Times New Roman"/>
            </a:endParaRPr>
          </a:p>
        </p:txBody>
      </p:sp>
      <p:sp>
        <p:nvSpPr>
          <p:cNvPr id="1277" name=""/>
          <p:cNvSpPr txBox="1"/>
          <p:nvPr/>
        </p:nvSpPr>
        <p:spPr>
          <a:xfrm>
            <a:off x="643320" y="3523320"/>
            <a:ext cx="745200" cy="104040"/>
          </a:xfrm>
          <a:prstGeom prst="rect">
            <a:avLst/>
          </a:prstGeom>
          <a:noFill/>
          <a:ln w="0">
            <a:noFill/>
          </a:ln>
        </p:spPr>
        <p:txBody>
          <a:bodyPr wrap="none" lIns="0" rIns="0" tIns="0" bIns="0" anchor="t">
            <a:spAutoFit/>
          </a:bodyPr>
          <a:p>
            <a:r>
              <a:rPr b="0" lang="zh-CN" sz="650" strike="noStrike" u="none">
                <a:solidFill>
                  <a:srgbClr val="374151"/>
                </a:solidFill>
                <a:effectLst/>
                <a:uFillTx/>
                <a:latin typeface="WenQuanYiZenHei"/>
                <a:ea typeface="WenQuanYiZenHei"/>
              </a:rPr>
              <a:t>年度改定では、医療</a:t>
            </a:r>
            <a:endParaRPr b="0" lang="en-US" sz="650" strike="noStrike" u="none">
              <a:solidFill>
                <a:srgbClr val="000000"/>
              </a:solidFill>
              <a:effectLst/>
              <a:uFillTx/>
              <a:latin typeface="Times New Roman"/>
            </a:endParaRPr>
          </a:p>
        </p:txBody>
      </p:sp>
      <p:sp>
        <p:nvSpPr>
          <p:cNvPr id="1278" name=""/>
          <p:cNvSpPr txBox="1"/>
          <p:nvPr/>
        </p:nvSpPr>
        <p:spPr>
          <a:xfrm>
            <a:off x="1378440" y="3526200"/>
            <a:ext cx="120600" cy="96480"/>
          </a:xfrm>
          <a:prstGeom prst="rect">
            <a:avLst/>
          </a:prstGeom>
          <a:noFill/>
          <a:ln w="0">
            <a:noFill/>
          </a:ln>
        </p:spPr>
        <p:txBody>
          <a:bodyPr wrap="none" lIns="0" rIns="0" tIns="0" bIns="0" anchor="t">
            <a:spAutoFit/>
          </a:bodyPr>
          <a:p>
            <a:r>
              <a:rPr b="0" lang="en-US" sz="650" strike="noStrike" u="none">
                <a:solidFill>
                  <a:srgbClr val="374151"/>
                </a:solidFill>
                <a:effectLst/>
                <a:uFillTx/>
                <a:latin typeface="DejaVuSans"/>
                <a:ea typeface="DejaVuSans"/>
              </a:rPr>
              <a:t>DX</a:t>
            </a:r>
            <a:endParaRPr b="0" lang="en-US" sz="650" strike="noStrike" u="none">
              <a:solidFill>
                <a:srgbClr val="000000"/>
              </a:solidFill>
              <a:effectLst/>
              <a:uFillTx/>
              <a:latin typeface="Times New Roman"/>
            </a:endParaRPr>
          </a:p>
        </p:txBody>
      </p:sp>
      <p:sp>
        <p:nvSpPr>
          <p:cNvPr id="1279" name=""/>
          <p:cNvSpPr txBox="1"/>
          <p:nvPr/>
        </p:nvSpPr>
        <p:spPr>
          <a:xfrm>
            <a:off x="1497600" y="3523320"/>
            <a:ext cx="5063040" cy="104040"/>
          </a:xfrm>
          <a:prstGeom prst="rect">
            <a:avLst/>
          </a:prstGeom>
          <a:noFill/>
          <a:ln w="0">
            <a:noFill/>
          </a:ln>
        </p:spPr>
        <p:txBody>
          <a:bodyPr wrap="none" lIns="0" rIns="0" tIns="0" bIns="0" anchor="t">
            <a:spAutoFit/>
          </a:bodyPr>
          <a:p>
            <a:r>
              <a:rPr b="0" lang="zh-CN" sz="650" strike="noStrike" u="none">
                <a:solidFill>
                  <a:srgbClr val="374151"/>
                </a:solidFill>
                <a:effectLst/>
                <a:uFillTx/>
                <a:latin typeface="WenQuanYiZenHei"/>
                <a:ea typeface="WenQuanYiZenHei"/>
              </a:rPr>
              <a:t>の推進、医療従事者の処遇改善、地域医療の確保などが重点項目となっています。各項目の算定要件を確認し、適切に対応しましょう。</a:t>
            </a:r>
            <a:endParaRPr b="0" lang="en-US" sz="65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80" name="" descr=""/>
          <p:cNvPicPr/>
          <p:nvPr/>
        </p:nvPicPr>
        <p:blipFill>
          <a:blip r:embed="rId1"/>
          <a:stretch/>
        </p:blipFill>
        <p:spPr>
          <a:xfrm>
            <a:off x="0" y="0"/>
            <a:ext cx="9921240" cy="8944560"/>
          </a:xfrm>
          <a:prstGeom prst="rect">
            <a:avLst/>
          </a:prstGeom>
          <a:noFill/>
          <a:ln w="0">
            <a:noFill/>
          </a:ln>
        </p:spPr>
      </p:pic>
      <p:pic>
        <p:nvPicPr>
          <p:cNvPr id="1281" name="" descr=""/>
          <p:cNvPicPr/>
          <p:nvPr/>
        </p:nvPicPr>
        <p:blipFill>
          <a:blip r:embed="rId2"/>
          <a:stretch/>
        </p:blipFill>
        <p:spPr>
          <a:xfrm>
            <a:off x="6820920" y="-1550160"/>
            <a:ext cx="3875040" cy="3875040"/>
          </a:xfrm>
          <a:prstGeom prst="rect">
            <a:avLst/>
          </a:prstGeom>
          <a:noFill/>
          <a:ln w="0">
            <a:noFill/>
          </a:ln>
        </p:spPr>
      </p:pic>
      <p:pic>
        <p:nvPicPr>
          <p:cNvPr id="1282" name="" descr=""/>
          <p:cNvPicPr/>
          <p:nvPr/>
        </p:nvPicPr>
        <p:blipFill>
          <a:blip r:embed="rId3"/>
          <a:stretch/>
        </p:blipFill>
        <p:spPr>
          <a:xfrm>
            <a:off x="-1162800" y="7007040"/>
            <a:ext cx="3099960" cy="3099960"/>
          </a:xfrm>
          <a:prstGeom prst="rect">
            <a:avLst/>
          </a:prstGeom>
          <a:noFill/>
          <a:ln w="0">
            <a:noFill/>
          </a:ln>
        </p:spPr>
      </p:pic>
      <p:pic>
        <p:nvPicPr>
          <p:cNvPr id="1283" name="" descr=""/>
          <p:cNvPicPr/>
          <p:nvPr/>
        </p:nvPicPr>
        <p:blipFill>
          <a:blip r:embed="rId4"/>
          <a:stretch/>
        </p:blipFill>
        <p:spPr>
          <a:xfrm>
            <a:off x="7704720" y="8627040"/>
            <a:ext cx="139320" cy="108000"/>
          </a:xfrm>
          <a:prstGeom prst="rect">
            <a:avLst/>
          </a:prstGeom>
          <a:noFill/>
          <a:ln w="0">
            <a:noFill/>
          </a:ln>
        </p:spPr>
      </p:pic>
      <p:sp>
        <p:nvSpPr>
          <p:cNvPr id="1284" name=""/>
          <p:cNvSpPr txBox="1"/>
          <p:nvPr/>
        </p:nvSpPr>
        <p:spPr>
          <a:xfrm>
            <a:off x="7902720" y="8615520"/>
            <a:ext cx="433440" cy="136080"/>
          </a:xfrm>
          <a:prstGeom prst="rect">
            <a:avLst/>
          </a:prstGeom>
          <a:noFill/>
          <a:ln w="0">
            <a:noFill/>
          </a:ln>
        </p:spPr>
        <p:txBody>
          <a:bodyPr wrap="none" lIns="0" rIns="0" tIns="0" bIns="0" anchor="t">
            <a:spAutoFit/>
          </a:bodyPr>
          <a:p>
            <a:r>
              <a:rPr b="0" lang="zh-CN" sz="860" strike="noStrike" u="none">
                <a:solidFill>
                  <a:srgbClr val="6b7280"/>
                </a:solidFill>
                <a:effectLst/>
                <a:uFillTx/>
                <a:latin typeface="WenQuanYiZenHei"/>
                <a:ea typeface="WenQuanYiZenHei"/>
              </a:rPr>
              <a:t>東和病院</a:t>
            </a:r>
            <a:endParaRPr b="0" lang="en-US" sz="860" strike="noStrike" u="none">
              <a:solidFill>
                <a:srgbClr val="000000"/>
              </a:solidFill>
              <a:effectLst/>
              <a:uFillTx/>
              <a:latin typeface="Times New Roman"/>
            </a:endParaRPr>
          </a:p>
        </p:txBody>
      </p:sp>
      <p:sp>
        <p:nvSpPr>
          <p:cNvPr id="1285" name=""/>
          <p:cNvSpPr txBox="1"/>
          <p:nvPr/>
        </p:nvSpPr>
        <p:spPr>
          <a:xfrm>
            <a:off x="8336880" y="8619480"/>
            <a:ext cx="108000" cy="126720"/>
          </a:xfrm>
          <a:prstGeom prst="rect">
            <a:avLst/>
          </a:prstGeom>
          <a:noFill/>
          <a:ln w="0">
            <a:noFill/>
          </a:ln>
        </p:spPr>
        <p:txBody>
          <a:bodyPr wrap="none" lIns="0" rIns="0" tIns="0" bIns="0" anchor="t">
            <a:spAutoFit/>
          </a:bodyPr>
          <a:p>
            <a:r>
              <a:rPr b="0" lang="en-US" sz="860" strike="noStrike" u="none">
                <a:solidFill>
                  <a:srgbClr val="6b7280"/>
                </a:solidFill>
                <a:effectLst/>
                <a:uFillTx/>
                <a:latin typeface="DejaVuSans"/>
                <a:ea typeface="DejaVuSans"/>
              </a:rPr>
              <a:t> </a:t>
            </a:r>
            <a:endParaRPr b="0" lang="en-US" sz="860" strike="noStrike" u="none">
              <a:solidFill>
                <a:srgbClr val="000000"/>
              </a:solidFill>
              <a:effectLst/>
              <a:uFillTx/>
              <a:latin typeface="Times New Roman"/>
            </a:endParaRPr>
          </a:p>
        </p:txBody>
      </p:sp>
      <p:sp>
        <p:nvSpPr>
          <p:cNvPr id="1286" name=""/>
          <p:cNvSpPr txBox="1"/>
          <p:nvPr/>
        </p:nvSpPr>
        <p:spPr>
          <a:xfrm>
            <a:off x="8371440" y="8615520"/>
            <a:ext cx="758160" cy="136080"/>
          </a:xfrm>
          <a:prstGeom prst="rect">
            <a:avLst/>
          </a:prstGeom>
          <a:noFill/>
          <a:ln w="0">
            <a:noFill/>
          </a:ln>
        </p:spPr>
        <p:txBody>
          <a:bodyPr wrap="none" lIns="0" rIns="0" tIns="0" bIns="0" anchor="t">
            <a:spAutoFit/>
          </a:bodyPr>
          <a:p>
            <a:r>
              <a:rPr b="0" lang="zh-CN" sz="860" strike="noStrike" u="none">
                <a:solidFill>
                  <a:srgbClr val="6b7280"/>
                </a:solidFill>
                <a:effectLst/>
                <a:uFillTx/>
                <a:latin typeface="WenQuanYiZenHei"/>
                <a:ea typeface="WenQuanYiZenHei"/>
              </a:rPr>
              <a:t>保険点数勉強会</a:t>
            </a:r>
            <a:endParaRPr b="0" lang="en-US" sz="860" strike="noStrike" u="none">
              <a:solidFill>
                <a:srgbClr val="000000"/>
              </a:solidFill>
              <a:effectLst/>
              <a:uFillTx/>
              <a:latin typeface="Times New Roman"/>
            </a:endParaRPr>
          </a:p>
        </p:txBody>
      </p:sp>
      <p:sp>
        <p:nvSpPr>
          <p:cNvPr id="1287" name=""/>
          <p:cNvSpPr txBox="1"/>
          <p:nvPr/>
        </p:nvSpPr>
        <p:spPr>
          <a:xfrm>
            <a:off x="9192960" y="8619480"/>
            <a:ext cx="108000" cy="126720"/>
          </a:xfrm>
          <a:prstGeom prst="rect">
            <a:avLst/>
          </a:prstGeom>
          <a:noFill/>
          <a:ln w="0">
            <a:noFill/>
          </a:ln>
        </p:spPr>
        <p:txBody>
          <a:bodyPr wrap="none" lIns="0" rIns="0" tIns="0" bIns="0" anchor="t">
            <a:spAutoFit/>
          </a:bodyPr>
          <a:p>
            <a:r>
              <a:rPr b="0" lang="en-US" sz="860" strike="noStrike" u="none">
                <a:solidFill>
                  <a:srgbClr val="6b7280"/>
                </a:solidFill>
                <a:effectLst/>
                <a:uFillTx/>
                <a:latin typeface="DejaVuSans"/>
                <a:ea typeface="DejaVuSans"/>
              </a:rPr>
              <a:t>|</a:t>
            </a:r>
            <a:endParaRPr b="0" lang="en-US" sz="860" strike="noStrike" u="none">
              <a:solidFill>
                <a:srgbClr val="000000"/>
              </a:solidFill>
              <a:effectLst/>
              <a:uFillTx/>
              <a:latin typeface="Times New Roman"/>
            </a:endParaRPr>
          </a:p>
        </p:txBody>
      </p:sp>
      <p:pic>
        <p:nvPicPr>
          <p:cNvPr id="1288" name="" descr=""/>
          <p:cNvPicPr/>
          <p:nvPr/>
        </p:nvPicPr>
        <p:blipFill>
          <a:blip r:embed="rId5"/>
          <a:stretch/>
        </p:blipFill>
        <p:spPr>
          <a:xfrm>
            <a:off x="371880" y="744120"/>
            <a:ext cx="991800" cy="30600"/>
          </a:xfrm>
          <a:prstGeom prst="rect">
            <a:avLst/>
          </a:prstGeom>
          <a:noFill/>
          <a:ln w="0">
            <a:noFill/>
          </a:ln>
        </p:spPr>
      </p:pic>
      <p:sp>
        <p:nvSpPr>
          <p:cNvPr id="1289" name=""/>
          <p:cNvSpPr txBox="1"/>
          <p:nvPr/>
        </p:nvSpPr>
        <p:spPr>
          <a:xfrm>
            <a:off x="9291600" y="8619480"/>
            <a:ext cx="381240" cy="126720"/>
          </a:xfrm>
          <a:prstGeom prst="rect">
            <a:avLst/>
          </a:prstGeom>
          <a:noFill/>
          <a:ln w="0">
            <a:noFill/>
          </a:ln>
        </p:spPr>
        <p:txBody>
          <a:bodyPr wrap="none" lIns="0" rIns="0" tIns="0" bIns="0" anchor="t">
            <a:spAutoFit/>
          </a:bodyPr>
          <a:p>
            <a:r>
              <a:rPr b="0" lang="en-US" sz="860" strike="noStrike" u="none">
                <a:solidFill>
                  <a:srgbClr val="6b7280"/>
                </a:solidFill>
                <a:effectLst/>
                <a:uFillTx/>
                <a:latin typeface="DejaVuSans"/>
                <a:ea typeface="DejaVuSans"/>
              </a:rPr>
              <a:t>14 / 15</a:t>
            </a:r>
            <a:endParaRPr b="0" lang="en-US" sz="860" strike="noStrike" u="none">
              <a:solidFill>
                <a:srgbClr val="000000"/>
              </a:solidFill>
              <a:effectLst/>
              <a:uFillTx/>
              <a:latin typeface="Times New Roman"/>
            </a:endParaRPr>
          </a:p>
        </p:txBody>
      </p:sp>
      <p:sp>
        <p:nvSpPr>
          <p:cNvPr id="1290" name=""/>
          <p:cNvSpPr txBox="1"/>
          <p:nvPr/>
        </p:nvSpPr>
        <p:spPr>
          <a:xfrm>
            <a:off x="371880" y="351360"/>
            <a:ext cx="4813920" cy="351000"/>
          </a:xfrm>
          <a:prstGeom prst="rect">
            <a:avLst/>
          </a:prstGeom>
          <a:noFill/>
          <a:ln w="0">
            <a:noFill/>
          </a:ln>
        </p:spPr>
        <p:txBody>
          <a:bodyPr wrap="none" lIns="0" rIns="0" tIns="0" bIns="0" anchor="t">
            <a:spAutoFit/>
          </a:bodyPr>
          <a:p>
            <a:r>
              <a:rPr b="0" lang="zh-CN" sz="2190" strike="noStrike" u="none">
                <a:solidFill>
                  <a:srgbClr val="1e40af"/>
                </a:solidFill>
                <a:effectLst/>
                <a:uFillTx/>
                <a:latin typeface="WenQuanYiZenHei"/>
                <a:ea typeface="WenQuanYiZenHei"/>
              </a:rPr>
              <a:t>保険点数アップのための実践ポイント</a:t>
            </a:r>
            <a:endParaRPr b="0" lang="en-US" sz="2190" strike="noStrike" u="none">
              <a:solidFill>
                <a:srgbClr val="000000"/>
              </a:solidFill>
              <a:effectLst/>
              <a:uFillTx/>
              <a:latin typeface="Times New Roman"/>
            </a:endParaRPr>
          </a:p>
        </p:txBody>
      </p:sp>
      <p:sp>
        <p:nvSpPr>
          <p:cNvPr id="1291" name=""/>
          <p:cNvSpPr txBox="1"/>
          <p:nvPr/>
        </p:nvSpPr>
        <p:spPr>
          <a:xfrm>
            <a:off x="371880" y="974520"/>
            <a:ext cx="6913440" cy="195480"/>
          </a:xfrm>
          <a:prstGeom prst="rect">
            <a:avLst/>
          </a:prstGeom>
          <a:noFill/>
          <a:ln w="0">
            <a:noFill/>
          </a:ln>
        </p:spPr>
        <p:txBody>
          <a:bodyPr wrap="none" lIns="0" rIns="0" tIns="0" bIns="0" anchor="t">
            <a:spAutoFit/>
          </a:bodyPr>
          <a:p>
            <a:r>
              <a:rPr b="0" lang="zh-CN" sz="1220" strike="noStrike" u="none">
                <a:solidFill>
                  <a:srgbClr val="374151"/>
                </a:solidFill>
                <a:effectLst/>
                <a:uFillTx/>
                <a:latin typeface="WenQuanYiZenHei"/>
                <a:ea typeface="WenQuanYiZenHei"/>
              </a:rPr>
              <a:t>日常業務で実践できる保険点数アップのポイントを紹介します。正確な記録と適切な算定が、病院</a:t>
            </a:r>
            <a:endParaRPr b="0" lang="en-US" sz="1220" strike="noStrike" u="none">
              <a:solidFill>
                <a:srgbClr val="000000"/>
              </a:solidFill>
              <a:effectLst/>
              <a:uFillTx/>
              <a:latin typeface="Times New Roman"/>
            </a:endParaRPr>
          </a:p>
        </p:txBody>
      </p:sp>
      <p:sp>
        <p:nvSpPr>
          <p:cNvPr id="1292" name=""/>
          <p:cNvSpPr/>
          <p:nvPr/>
        </p:nvSpPr>
        <p:spPr>
          <a:xfrm>
            <a:off x="3495600" y="1643040"/>
            <a:ext cx="2930400" cy="2635920"/>
          </a:xfrm>
          <a:custGeom>
            <a:avLst/>
            <a:gdLst/>
            <a:ahLst/>
            <a:rect l="0" t="0" r="r" b="b"/>
            <a:pathLst>
              <a:path w="8140" h="7322">
                <a:moveTo>
                  <a:pt x="0" y="7149"/>
                </a:moveTo>
                <a:lnTo>
                  <a:pt x="0" y="172"/>
                </a:lnTo>
                <a:cubicBezTo>
                  <a:pt x="0" y="161"/>
                  <a:pt x="1" y="150"/>
                  <a:pt x="3" y="139"/>
                </a:cubicBezTo>
                <a:cubicBezTo>
                  <a:pt x="5" y="128"/>
                  <a:pt x="9" y="117"/>
                  <a:pt x="13" y="106"/>
                </a:cubicBezTo>
                <a:cubicBezTo>
                  <a:pt x="17" y="96"/>
                  <a:pt x="23" y="86"/>
                  <a:pt x="29" y="77"/>
                </a:cubicBezTo>
                <a:cubicBezTo>
                  <a:pt x="35" y="67"/>
                  <a:pt x="42" y="59"/>
                  <a:pt x="50" y="51"/>
                </a:cubicBezTo>
                <a:cubicBezTo>
                  <a:pt x="58" y="43"/>
                  <a:pt x="67" y="35"/>
                  <a:pt x="77" y="29"/>
                </a:cubicBezTo>
                <a:cubicBezTo>
                  <a:pt x="86" y="23"/>
                  <a:pt x="96" y="18"/>
                  <a:pt x="106" y="13"/>
                </a:cubicBezTo>
                <a:cubicBezTo>
                  <a:pt x="117" y="9"/>
                  <a:pt x="128" y="6"/>
                  <a:pt x="139" y="3"/>
                </a:cubicBezTo>
                <a:cubicBezTo>
                  <a:pt x="150" y="1"/>
                  <a:pt x="161" y="0"/>
                  <a:pt x="172" y="0"/>
                </a:cubicBezTo>
                <a:lnTo>
                  <a:pt x="7967" y="0"/>
                </a:lnTo>
                <a:cubicBezTo>
                  <a:pt x="7979" y="0"/>
                  <a:pt x="7990" y="1"/>
                  <a:pt x="8001" y="3"/>
                </a:cubicBezTo>
                <a:cubicBezTo>
                  <a:pt x="8012" y="6"/>
                  <a:pt x="8023" y="9"/>
                  <a:pt x="8033" y="13"/>
                </a:cubicBezTo>
                <a:cubicBezTo>
                  <a:pt x="8044" y="18"/>
                  <a:pt x="8054" y="23"/>
                  <a:pt x="8063" y="29"/>
                </a:cubicBezTo>
                <a:cubicBezTo>
                  <a:pt x="8073" y="35"/>
                  <a:pt x="8081" y="43"/>
                  <a:pt x="8089" y="51"/>
                </a:cubicBezTo>
                <a:cubicBezTo>
                  <a:pt x="8097" y="59"/>
                  <a:pt x="8104" y="67"/>
                  <a:pt x="8111" y="77"/>
                </a:cubicBezTo>
                <a:cubicBezTo>
                  <a:pt x="8117" y="86"/>
                  <a:pt x="8122" y="96"/>
                  <a:pt x="8127" y="106"/>
                </a:cubicBezTo>
                <a:cubicBezTo>
                  <a:pt x="8131" y="117"/>
                  <a:pt x="8134" y="128"/>
                  <a:pt x="8136" y="139"/>
                </a:cubicBezTo>
                <a:cubicBezTo>
                  <a:pt x="8139" y="150"/>
                  <a:pt x="8140" y="161"/>
                  <a:pt x="8140" y="172"/>
                </a:cubicBezTo>
                <a:lnTo>
                  <a:pt x="8140" y="7149"/>
                </a:lnTo>
                <a:cubicBezTo>
                  <a:pt x="8140" y="7161"/>
                  <a:pt x="8139" y="7172"/>
                  <a:pt x="8136" y="7183"/>
                </a:cubicBezTo>
                <a:cubicBezTo>
                  <a:pt x="8134" y="7194"/>
                  <a:pt x="8131" y="7205"/>
                  <a:pt x="8127" y="7215"/>
                </a:cubicBezTo>
                <a:cubicBezTo>
                  <a:pt x="8122" y="7226"/>
                  <a:pt x="8117" y="7236"/>
                  <a:pt x="8111" y="7245"/>
                </a:cubicBezTo>
                <a:cubicBezTo>
                  <a:pt x="8104" y="7254"/>
                  <a:pt x="8097" y="7263"/>
                  <a:pt x="8089" y="7271"/>
                </a:cubicBezTo>
                <a:cubicBezTo>
                  <a:pt x="8081" y="7279"/>
                  <a:pt x="8073" y="7286"/>
                  <a:pt x="8063" y="7293"/>
                </a:cubicBezTo>
                <a:cubicBezTo>
                  <a:pt x="8054" y="7299"/>
                  <a:pt x="8044" y="7304"/>
                  <a:pt x="8033" y="7308"/>
                </a:cubicBezTo>
                <a:cubicBezTo>
                  <a:pt x="8023" y="7313"/>
                  <a:pt x="8012" y="7316"/>
                  <a:pt x="8001" y="7318"/>
                </a:cubicBezTo>
                <a:cubicBezTo>
                  <a:pt x="7990" y="7320"/>
                  <a:pt x="7979" y="7322"/>
                  <a:pt x="7967" y="7322"/>
                </a:cubicBezTo>
                <a:lnTo>
                  <a:pt x="172" y="7322"/>
                </a:lnTo>
                <a:cubicBezTo>
                  <a:pt x="161" y="7322"/>
                  <a:pt x="150" y="7320"/>
                  <a:pt x="139" y="7318"/>
                </a:cubicBezTo>
                <a:cubicBezTo>
                  <a:pt x="128" y="7316"/>
                  <a:pt x="117" y="7313"/>
                  <a:pt x="106" y="7308"/>
                </a:cubicBezTo>
                <a:cubicBezTo>
                  <a:pt x="96" y="7304"/>
                  <a:pt x="86" y="7299"/>
                  <a:pt x="77" y="7293"/>
                </a:cubicBezTo>
                <a:cubicBezTo>
                  <a:pt x="67" y="7286"/>
                  <a:pt x="58" y="7279"/>
                  <a:pt x="50" y="7271"/>
                </a:cubicBezTo>
                <a:cubicBezTo>
                  <a:pt x="42" y="7263"/>
                  <a:pt x="35" y="7254"/>
                  <a:pt x="29" y="7245"/>
                </a:cubicBezTo>
                <a:cubicBezTo>
                  <a:pt x="23" y="7236"/>
                  <a:pt x="17" y="7226"/>
                  <a:pt x="13" y="7215"/>
                </a:cubicBezTo>
                <a:cubicBezTo>
                  <a:pt x="9" y="7205"/>
                  <a:pt x="5" y="7194"/>
                  <a:pt x="3" y="7183"/>
                </a:cubicBezTo>
                <a:cubicBezTo>
                  <a:pt x="1" y="7172"/>
                  <a:pt x="0" y="7161"/>
                  <a:pt x="0" y="7149"/>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293" name=""/>
          <p:cNvSpPr/>
          <p:nvPr/>
        </p:nvSpPr>
        <p:spPr>
          <a:xfrm>
            <a:off x="3681720" y="1829160"/>
            <a:ext cx="465480" cy="465480"/>
          </a:xfrm>
          <a:custGeom>
            <a:avLst/>
            <a:gdLst/>
            <a:ahLst/>
            <a:rect l="0" t="0" r="r" b="b"/>
            <a:pathLst>
              <a:path w="1293" h="1293">
                <a:moveTo>
                  <a:pt x="1293" y="646"/>
                </a:moveTo>
                <a:cubicBezTo>
                  <a:pt x="1293" y="667"/>
                  <a:pt x="1292" y="688"/>
                  <a:pt x="1289" y="709"/>
                </a:cubicBezTo>
                <a:cubicBezTo>
                  <a:pt x="1287" y="731"/>
                  <a:pt x="1284" y="752"/>
                  <a:pt x="1280" y="773"/>
                </a:cubicBezTo>
                <a:cubicBezTo>
                  <a:pt x="1276" y="793"/>
                  <a:pt x="1271" y="814"/>
                  <a:pt x="1265" y="834"/>
                </a:cubicBezTo>
                <a:cubicBezTo>
                  <a:pt x="1259" y="854"/>
                  <a:pt x="1251" y="874"/>
                  <a:pt x="1243" y="894"/>
                </a:cubicBezTo>
                <a:cubicBezTo>
                  <a:pt x="1235" y="913"/>
                  <a:pt x="1226" y="933"/>
                  <a:pt x="1216" y="951"/>
                </a:cubicBezTo>
                <a:cubicBezTo>
                  <a:pt x="1206" y="970"/>
                  <a:pt x="1195" y="988"/>
                  <a:pt x="1184" y="1006"/>
                </a:cubicBezTo>
                <a:cubicBezTo>
                  <a:pt x="1172" y="1023"/>
                  <a:pt x="1159" y="1040"/>
                  <a:pt x="1146" y="1057"/>
                </a:cubicBezTo>
                <a:cubicBezTo>
                  <a:pt x="1133" y="1073"/>
                  <a:pt x="1118" y="1089"/>
                  <a:pt x="1103" y="1103"/>
                </a:cubicBezTo>
                <a:cubicBezTo>
                  <a:pt x="1088" y="1118"/>
                  <a:pt x="1073" y="1133"/>
                  <a:pt x="1056" y="1146"/>
                </a:cubicBezTo>
                <a:cubicBezTo>
                  <a:pt x="1040" y="1159"/>
                  <a:pt x="1023" y="1172"/>
                  <a:pt x="1005" y="1184"/>
                </a:cubicBezTo>
                <a:cubicBezTo>
                  <a:pt x="988" y="1196"/>
                  <a:pt x="970" y="1206"/>
                  <a:pt x="951" y="1216"/>
                </a:cubicBezTo>
                <a:cubicBezTo>
                  <a:pt x="932" y="1226"/>
                  <a:pt x="913" y="1235"/>
                  <a:pt x="894" y="1243"/>
                </a:cubicBezTo>
                <a:cubicBezTo>
                  <a:pt x="874" y="1252"/>
                  <a:pt x="854" y="1259"/>
                  <a:pt x="834" y="1265"/>
                </a:cubicBezTo>
                <a:cubicBezTo>
                  <a:pt x="814" y="1271"/>
                  <a:pt x="793" y="1276"/>
                  <a:pt x="773" y="1280"/>
                </a:cubicBezTo>
                <a:cubicBezTo>
                  <a:pt x="752" y="1284"/>
                  <a:pt x="730" y="1287"/>
                  <a:pt x="709" y="1290"/>
                </a:cubicBezTo>
                <a:cubicBezTo>
                  <a:pt x="688" y="1292"/>
                  <a:pt x="667" y="1293"/>
                  <a:pt x="646" y="1293"/>
                </a:cubicBezTo>
                <a:cubicBezTo>
                  <a:pt x="624" y="1293"/>
                  <a:pt x="603" y="1292"/>
                  <a:pt x="582" y="1290"/>
                </a:cubicBezTo>
                <a:cubicBezTo>
                  <a:pt x="561" y="1287"/>
                  <a:pt x="540" y="1284"/>
                  <a:pt x="520" y="1280"/>
                </a:cubicBezTo>
                <a:cubicBezTo>
                  <a:pt x="499" y="1276"/>
                  <a:pt x="478" y="1271"/>
                  <a:pt x="458" y="1265"/>
                </a:cubicBezTo>
                <a:cubicBezTo>
                  <a:pt x="438" y="1259"/>
                  <a:pt x="418" y="1252"/>
                  <a:pt x="398" y="1243"/>
                </a:cubicBezTo>
                <a:cubicBezTo>
                  <a:pt x="379" y="1235"/>
                  <a:pt x="360" y="1226"/>
                  <a:pt x="341" y="1216"/>
                </a:cubicBezTo>
                <a:cubicBezTo>
                  <a:pt x="322" y="1206"/>
                  <a:pt x="304" y="1196"/>
                  <a:pt x="287" y="1184"/>
                </a:cubicBezTo>
                <a:cubicBezTo>
                  <a:pt x="269" y="1172"/>
                  <a:pt x="252" y="1159"/>
                  <a:pt x="236" y="1146"/>
                </a:cubicBezTo>
                <a:cubicBezTo>
                  <a:pt x="220" y="1133"/>
                  <a:pt x="204" y="1118"/>
                  <a:pt x="189" y="1103"/>
                </a:cubicBezTo>
                <a:cubicBezTo>
                  <a:pt x="174" y="1089"/>
                  <a:pt x="160" y="1073"/>
                  <a:pt x="146" y="1057"/>
                </a:cubicBezTo>
                <a:cubicBezTo>
                  <a:pt x="133" y="1040"/>
                  <a:pt x="120" y="1023"/>
                  <a:pt x="109" y="1006"/>
                </a:cubicBezTo>
                <a:cubicBezTo>
                  <a:pt x="97" y="988"/>
                  <a:pt x="86" y="970"/>
                  <a:pt x="76" y="951"/>
                </a:cubicBezTo>
                <a:cubicBezTo>
                  <a:pt x="66" y="933"/>
                  <a:pt x="57" y="913"/>
                  <a:pt x="49" y="894"/>
                </a:cubicBezTo>
                <a:cubicBezTo>
                  <a:pt x="41" y="874"/>
                  <a:pt x="34" y="854"/>
                  <a:pt x="28" y="834"/>
                </a:cubicBezTo>
                <a:cubicBezTo>
                  <a:pt x="21" y="814"/>
                  <a:pt x="16" y="793"/>
                  <a:pt x="12" y="773"/>
                </a:cubicBezTo>
                <a:cubicBezTo>
                  <a:pt x="8" y="752"/>
                  <a:pt x="5" y="731"/>
                  <a:pt x="3" y="709"/>
                </a:cubicBezTo>
                <a:cubicBezTo>
                  <a:pt x="1" y="688"/>
                  <a:pt x="0" y="667"/>
                  <a:pt x="0" y="646"/>
                </a:cubicBezTo>
                <a:cubicBezTo>
                  <a:pt x="0" y="625"/>
                  <a:pt x="1" y="603"/>
                  <a:pt x="3" y="582"/>
                </a:cubicBezTo>
                <a:cubicBezTo>
                  <a:pt x="5" y="561"/>
                  <a:pt x="8" y="540"/>
                  <a:pt x="12" y="520"/>
                </a:cubicBezTo>
                <a:cubicBezTo>
                  <a:pt x="16" y="499"/>
                  <a:pt x="21" y="478"/>
                  <a:pt x="28" y="458"/>
                </a:cubicBezTo>
                <a:cubicBezTo>
                  <a:pt x="34" y="438"/>
                  <a:pt x="41" y="418"/>
                  <a:pt x="49" y="399"/>
                </a:cubicBezTo>
                <a:cubicBezTo>
                  <a:pt x="57" y="379"/>
                  <a:pt x="66" y="360"/>
                  <a:pt x="76" y="341"/>
                </a:cubicBezTo>
                <a:cubicBezTo>
                  <a:pt x="86" y="323"/>
                  <a:pt x="97" y="304"/>
                  <a:pt x="109" y="287"/>
                </a:cubicBezTo>
                <a:cubicBezTo>
                  <a:pt x="120" y="269"/>
                  <a:pt x="133" y="252"/>
                  <a:pt x="146" y="236"/>
                </a:cubicBezTo>
                <a:cubicBezTo>
                  <a:pt x="160" y="220"/>
                  <a:pt x="174" y="204"/>
                  <a:pt x="189" y="189"/>
                </a:cubicBezTo>
                <a:cubicBezTo>
                  <a:pt x="204" y="174"/>
                  <a:pt x="220" y="160"/>
                  <a:pt x="236" y="146"/>
                </a:cubicBezTo>
                <a:cubicBezTo>
                  <a:pt x="252" y="133"/>
                  <a:pt x="269" y="120"/>
                  <a:pt x="287" y="109"/>
                </a:cubicBezTo>
                <a:cubicBezTo>
                  <a:pt x="304" y="97"/>
                  <a:pt x="322" y="86"/>
                  <a:pt x="341" y="76"/>
                </a:cubicBezTo>
                <a:cubicBezTo>
                  <a:pt x="360" y="66"/>
                  <a:pt x="379" y="57"/>
                  <a:pt x="398" y="49"/>
                </a:cubicBezTo>
                <a:cubicBezTo>
                  <a:pt x="418" y="41"/>
                  <a:pt x="438" y="34"/>
                  <a:pt x="458" y="28"/>
                </a:cubicBezTo>
                <a:cubicBezTo>
                  <a:pt x="478" y="21"/>
                  <a:pt x="499" y="16"/>
                  <a:pt x="520" y="12"/>
                </a:cubicBezTo>
                <a:cubicBezTo>
                  <a:pt x="540" y="8"/>
                  <a:pt x="561" y="5"/>
                  <a:pt x="582" y="3"/>
                </a:cubicBezTo>
                <a:cubicBezTo>
                  <a:pt x="603" y="1"/>
                  <a:pt x="624" y="0"/>
                  <a:pt x="646" y="0"/>
                </a:cubicBezTo>
                <a:cubicBezTo>
                  <a:pt x="667" y="0"/>
                  <a:pt x="688" y="1"/>
                  <a:pt x="709" y="3"/>
                </a:cubicBezTo>
                <a:cubicBezTo>
                  <a:pt x="730" y="5"/>
                  <a:pt x="752" y="8"/>
                  <a:pt x="773" y="12"/>
                </a:cubicBezTo>
                <a:cubicBezTo>
                  <a:pt x="793" y="16"/>
                  <a:pt x="814" y="21"/>
                  <a:pt x="834" y="28"/>
                </a:cubicBezTo>
                <a:cubicBezTo>
                  <a:pt x="854" y="34"/>
                  <a:pt x="874" y="41"/>
                  <a:pt x="894" y="49"/>
                </a:cubicBezTo>
                <a:cubicBezTo>
                  <a:pt x="913" y="57"/>
                  <a:pt x="932" y="66"/>
                  <a:pt x="951" y="76"/>
                </a:cubicBezTo>
                <a:cubicBezTo>
                  <a:pt x="970" y="86"/>
                  <a:pt x="988" y="97"/>
                  <a:pt x="1005" y="109"/>
                </a:cubicBezTo>
                <a:cubicBezTo>
                  <a:pt x="1023" y="120"/>
                  <a:pt x="1040" y="133"/>
                  <a:pt x="1056" y="146"/>
                </a:cubicBezTo>
                <a:cubicBezTo>
                  <a:pt x="1073" y="160"/>
                  <a:pt x="1088" y="174"/>
                  <a:pt x="1103" y="189"/>
                </a:cubicBezTo>
                <a:cubicBezTo>
                  <a:pt x="1118" y="204"/>
                  <a:pt x="1133" y="220"/>
                  <a:pt x="1146" y="236"/>
                </a:cubicBezTo>
                <a:cubicBezTo>
                  <a:pt x="1159" y="252"/>
                  <a:pt x="1172" y="269"/>
                  <a:pt x="1184" y="287"/>
                </a:cubicBezTo>
                <a:cubicBezTo>
                  <a:pt x="1195" y="304"/>
                  <a:pt x="1206" y="323"/>
                  <a:pt x="1216" y="341"/>
                </a:cubicBezTo>
                <a:cubicBezTo>
                  <a:pt x="1226" y="360"/>
                  <a:pt x="1235" y="379"/>
                  <a:pt x="1243" y="399"/>
                </a:cubicBezTo>
                <a:cubicBezTo>
                  <a:pt x="1251" y="418"/>
                  <a:pt x="1259" y="438"/>
                  <a:pt x="1265" y="458"/>
                </a:cubicBezTo>
                <a:cubicBezTo>
                  <a:pt x="1271" y="478"/>
                  <a:pt x="1276" y="499"/>
                  <a:pt x="1280" y="520"/>
                </a:cubicBezTo>
                <a:cubicBezTo>
                  <a:pt x="1284" y="540"/>
                  <a:pt x="1287" y="561"/>
                  <a:pt x="1289" y="582"/>
                </a:cubicBezTo>
                <a:cubicBezTo>
                  <a:pt x="1292" y="603"/>
                  <a:pt x="1293" y="625"/>
                  <a:pt x="1293" y="646"/>
                </a:cubicBezTo>
                <a:close/>
              </a:path>
            </a:pathLst>
          </a:custGeom>
          <a:solidFill>
            <a:srgbClr val="d1fae5"/>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294" name="" descr=""/>
          <p:cNvPicPr/>
          <p:nvPr/>
        </p:nvPicPr>
        <p:blipFill>
          <a:blip r:embed="rId6"/>
          <a:stretch/>
        </p:blipFill>
        <p:spPr>
          <a:xfrm>
            <a:off x="3821400" y="1968840"/>
            <a:ext cx="185760" cy="185760"/>
          </a:xfrm>
          <a:prstGeom prst="rect">
            <a:avLst/>
          </a:prstGeom>
          <a:noFill/>
          <a:ln w="0">
            <a:noFill/>
          </a:ln>
        </p:spPr>
      </p:pic>
      <p:sp>
        <p:nvSpPr>
          <p:cNvPr id="1295" name=""/>
          <p:cNvSpPr txBox="1"/>
          <p:nvPr/>
        </p:nvSpPr>
        <p:spPr>
          <a:xfrm>
            <a:off x="371880" y="1191600"/>
            <a:ext cx="2513520" cy="195480"/>
          </a:xfrm>
          <a:prstGeom prst="rect">
            <a:avLst/>
          </a:prstGeom>
          <a:noFill/>
          <a:ln w="0">
            <a:noFill/>
          </a:ln>
        </p:spPr>
        <p:txBody>
          <a:bodyPr wrap="none" lIns="0" rIns="0" tIns="0" bIns="0" anchor="t">
            <a:spAutoFit/>
          </a:bodyPr>
          <a:p>
            <a:r>
              <a:rPr b="0" lang="zh-CN" sz="1220" strike="noStrike" u="none">
                <a:solidFill>
                  <a:srgbClr val="374151"/>
                </a:solidFill>
                <a:effectLst/>
                <a:uFillTx/>
                <a:latin typeface="WenQuanYiZenHei"/>
                <a:ea typeface="WenQuanYiZenHei"/>
              </a:rPr>
              <a:t>収益と医療の質向上に繋がります。</a:t>
            </a:r>
            <a:endParaRPr b="0" lang="en-US" sz="1220" strike="noStrike" u="none">
              <a:solidFill>
                <a:srgbClr val="000000"/>
              </a:solidFill>
              <a:effectLst/>
              <a:uFillTx/>
              <a:latin typeface="Times New Roman"/>
            </a:endParaRPr>
          </a:p>
        </p:txBody>
      </p:sp>
      <p:sp>
        <p:nvSpPr>
          <p:cNvPr id="1296" name=""/>
          <p:cNvSpPr/>
          <p:nvPr/>
        </p:nvSpPr>
        <p:spPr>
          <a:xfrm>
            <a:off x="3704760" y="2487960"/>
            <a:ext cx="39240" cy="39240"/>
          </a:xfrm>
          <a:custGeom>
            <a:avLst/>
            <a:gdLst/>
            <a:ahLst/>
            <a:rect l="0" t="0" r="r" b="b"/>
            <a:pathLst>
              <a:path w="109" h="109">
                <a:moveTo>
                  <a:pt x="109" y="54"/>
                </a:moveTo>
                <a:cubicBezTo>
                  <a:pt x="109" y="61"/>
                  <a:pt x="108" y="68"/>
                  <a:pt x="105" y="74"/>
                </a:cubicBezTo>
                <a:cubicBezTo>
                  <a:pt x="102" y="81"/>
                  <a:pt x="98" y="87"/>
                  <a:pt x="93" y="92"/>
                </a:cubicBezTo>
                <a:cubicBezTo>
                  <a:pt x="88" y="97"/>
                  <a:pt x="82" y="102"/>
                  <a:pt x="76" y="104"/>
                </a:cubicBezTo>
                <a:cubicBezTo>
                  <a:pt x="69" y="107"/>
                  <a:pt x="62" y="109"/>
                  <a:pt x="55" y="109"/>
                </a:cubicBezTo>
                <a:cubicBezTo>
                  <a:pt x="48" y="109"/>
                  <a:pt x="41" y="107"/>
                  <a:pt x="34" y="104"/>
                </a:cubicBezTo>
                <a:cubicBezTo>
                  <a:pt x="27" y="102"/>
                  <a:pt x="21" y="97"/>
                  <a:pt x="16" y="92"/>
                </a:cubicBezTo>
                <a:cubicBezTo>
                  <a:pt x="11" y="87"/>
                  <a:pt x="7" y="81"/>
                  <a:pt x="4" y="74"/>
                </a:cubicBezTo>
                <a:cubicBezTo>
                  <a:pt x="2" y="68"/>
                  <a:pt x="0" y="61"/>
                  <a:pt x="0" y="54"/>
                </a:cubicBezTo>
                <a:cubicBezTo>
                  <a:pt x="0" y="47"/>
                  <a:pt x="2" y="40"/>
                  <a:pt x="4" y="33"/>
                </a:cubicBezTo>
                <a:cubicBezTo>
                  <a:pt x="7" y="27"/>
                  <a:pt x="11" y="21"/>
                  <a:pt x="16" y="16"/>
                </a:cubicBezTo>
                <a:cubicBezTo>
                  <a:pt x="21" y="11"/>
                  <a:pt x="27" y="7"/>
                  <a:pt x="34" y="4"/>
                </a:cubicBezTo>
                <a:cubicBezTo>
                  <a:pt x="41" y="1"/>
                  <a:pt x="48" y="0"/>
                  <a:pt x="55" y="0"/>
                </a:cubicBezTo>
                <a:cubicBezTo>
                  <a:pt x="62" y="0"/>
                  <a:pt x="69" y="1"/>
                  <a:pt x="76" y="4"/>
                </a:cubicBezTo>
                <a:cubicBezTo>
                  <a:pt x="82" y="7"/>
                  <a:pt x="88" y="11"/>
                  <a:pt x="93" y="16"/>
                </a:cubicBezTo>
                <a:cubicBezTo>
                  <a:pt x="98" y="21"/>
                  <a:pt x="102" y="27"/>
                  <a:pt x="105" y="33"/>
                </a:cubicBezTo>
                <a:cubicBezTo>
                  <a:pt x="108" y="40"/>
                  <a:pt x="109" y="47"/>
                  <a:pt x="109" y="54"/>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297" name=""/>
          <p:cNvSpPr txBox="1"/>
          <p:nvPr/>
        </p:nvSpPr>
        <p:spPr>
          <a:xfrm>
            <a:off x="4268160" y="1966680"/>
            <a:ext cx="1092600" cy="195480"/>
          </a:xfrm>
          <a:prstGeom prst="rect">
            <a:avLst/>
          </a:prstGeom>
          <a:noFill/>
          <a:ln w="0">
            <a:noFill/>
          </a:ln>
        </p:spPr>
        <p:txBody>
          <a:bodyPr wrap="none" lIns="0" rIns="0" tIns="0" bIns="0" anchor="t">
            <a:spAutoFit/>
          </a:bodyPr>
          <a:p>
            <a:r>
              <a:rPr b="0" lang="zh-CN" sz="1220" strike="noStrike" u="none">
                <a:solidFill>
                  <a:srgbClr val="047857"/>
                </a:solidFill>
                <a:effectLst/>
                <a:uFillTx/>
                <a:latin typeface="WenQuanYiZenHei"/>
                <a:ea typeface="WenQuanYiZenHei"/>
              </a:rPr>
              <a:t>適切な病名選択</a:t>
            </a:r>
            <a:endParaRPr b="0" lang="en-US" sz="1220" strike="noStrike" u="none">
              <a:solidFill>
                <a:srgbClr val="000000"/>
              </a:solidFill>
              <a:effectLst/>
              <a:uFillTx/>
              <a:latin typeface="Times New Roman"/>
            </a:endParaRPr>
          </a:p>
        </p:txBody>
      </p:sp>
      <p:sp>
        <p:nvSpPr>
          <p:cNvPr id="1298" name=""/>
          <p:cNvSpPr/>
          <p:nvPr/>
        </p:nvSpPr>
        <p:spPr>
          <a:xfrm>
            <a:off x="3704760" y="2736000"/>
            <a:ext cx="39240" cy="39240"/>
          </a:xfrm>
          <a:custGeom>
            <a:avLst/>
            <a:gdLst/>
            <a:ahLst/>
            <a:rect l="0" t="0" r="r" b="b"/>
            <a:pathLst>
              <a:path w="109" h="109">
                <a:moveTo>
                  <a:pt x="109" y="55"/>
                </a:moveTo>
                <a:cubicBezTo>
                  <a:pt x="109" y="62"/>
                  <a:pt x="108" y="69"/>
                  <a:pt x="105" y="75"/>
                </a:cubicBezTo>
                <a:cubicBezTo>
                  <a:pt x="102" y="82"/>
                  <a:pt x="98" y="88"/>
                  <a:pt x="93" y="93"/>
                </a:cubicBezTo>
                <a:cubicBezTo>
                  <a:pt x="88" y="98"/>
                  <a:pt x="82" y="102"/>
                  <a:pt x="76" y="104"/>
                </a:cubicBezTo>
                <a:cubicBezTo>
                  <a:pt x="69" y="107"/>
                  <a:pt x="62" y="109"/>
                  <a:pt x="55" y="109"/>
                </a:cubicBezTo>
                <a:cubicBezTo>
                  <a:pt x="48" y="109"/>
                  <a:pt x="41" y="107"/>
                  <a:pt x="34" y="104"/>
                </a:cubicBezTo>
                <a:cubicBezTo>
                  <a:pt x="27" y="102"/>
                  <a:pt x="21" y="98"/>
                  <a:pt x="16" y="93"/>
                </a:cubicBezTo>
                <a:cubicBezTo>
                  <a:pt x="11" y="88"/>
                  <a:pt x="7" y="82"/>
                  <a:pt x="4" y="75"/>
                </a:cubicBezTo>
                <a:cubicBezTo>
                  <a:pt x="2" y="69"/>
                  <a:pt x="0" y="62"/>
                  <a:pt x="0" y="55"/>
                </a:cubicBezTo>
                <a:cubicBezTo>
                  <a:pt x="0" y="47"/>
                  <a:pt x="2" y="40"/>
                  <a:pt x="4" y="33"/>
                </a:cubicBezTo>
                <a:cubicBezTo>
                  <a:pt x="7" y="27"/>
                  <a:pt x="11" y="21"/>
                  <a:pt x="16" y="16"/>
                </a:cubicBezTo>
                <a:cubicBezTo>
                  <a:pt x="21" y="11"/>
                  <a:pt x="27" y="7"/>
                  <a:pt x="34" y="4"/>
                </a:cubicBezTo>
                <a:cubicBezTo>
                  <a:pt x="41" y="1"/>
                  <a:pt x="48" y="0"/>
                  <a:pt x="55" y="0"/>
                </a:cubicBezTo>
                <a:cubicBezTo>
                  <a:pt x="62" y="0"/>
                  <a:pt x="69" y="1"/>
                  <a:pt x="76" y="4"/>
                </a:cubicBezTo>
                <a:cubicBezTo>
                  <a:pt x="82" y="7"/>
                  <a:pt x="88" y="11"/>
                  <a:pt x="93" y="16"/>
                </a:cubicBezTo>
                <a:cubicBezTo>
                  <a:pt x="98" y="21"/>
                  <a:pt x="102" y="27"/>
                  <a:pt x="105" y="33"/>
                </a:cubicBezTo>
                <a:cubicBezTo>
                  <a:pt x="108" y="40"/>
                  <a:pt x="109" y="47"/>
                  <a:pt x="109" y="55"/>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299" name=""/>
          <p:cNvSpPr txBox="1"/>
          <p:nvPr/>
        </p:nvSpPr>
        <p:spPr>
          <a:xfrm>
            <a:off x="3834000" y="2430720"/>
            <a:ext cx="211068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主病名と副傷病名の適切な選択と登録</a:t>
            </a:r>
            <a:endParaRPr b="0" lang="en-US" sz="980" strike="noStrike" u="none">
              <a:solidFill>
                <a:srgbClr val="000000"/>
              </a:solidFill>
              <a:effectLst/>
              <a:uFillTx/>
              <a:latin typeface="Times New Roman"/>
            </a:endParaRPr>
          </a:p>
        </p:txBody>
      </p:sp>
      <p:sp>
        <p:nvSpPr>
          <p:cNvPr id="1300" name=""/>
          <p:cNvSpPr/>
          <p:nvPr/>
        </p:nvSpPr>
        <p:spPr>
          <a:xfrm>
            <a:off x="3704760" y="2984040"/>
            <a:ext cx="39240" cy="39240"/>
          </a:xfrm>
          <a:custGeom>
            <a:avLst/>
            <a:gdLst/>
            <a:ahLst/>
            <a:rect l="0" t="0" r="r" b="b"/>
            <a:pathLst>
              <a:path w="109" h="109">
                <a:moveTo>
                  <a:pt x="109" y="55"/>
                </a:moveTo>
                <a:cubicBezTo>
                  <a:pt x="109" y="62"/>
                  <a:pt x="108" y="69"/>
                  <a:pt x="105" y="75"/>
                </a:cubicBezTo>
                <a:cubicBezTo>
                  <a:pt x="102" y="82"/>
                  <a:pt x="98" y="88"/>
                  <a:pt x="93" y="93"/>
                </a:cubicBezTo>
                <a:cubicBezTo>
                  <a:pt x="88" y="98"/>
                  <a:pt x="82" y="102"/>
                  <a:pt x="76" y="104"/>
                </a:cubicBezTo>
                <a:cubicBezTo>
                  <a:pt x="69" y="107"/>
                  <a:pt x="62" y="109"/>
                  <a:pt x="55" y="109"/>
                </a:cubicBezTo>
                <a:cubicBezTo>
                  <a:pt x="48" y="109"/>
                  <a:pt x="41" y="107"/>
                  <a:pt x="34" y="104"/>
                </a:cubicBezTo>
                <a:cubicBezTo>
                  <a:pt x="27" y="102"/>
                  <a:pt x="21" y="98"/>
                  <a:pt x="16" y="93"/>
                </a:cubicBezTo>
                <a:cubicBezTo>
                  <a:pt x="11" y="88"/>
                  <a:pt x="7" y="82"/>
                  <a:pt x="4" y="75"/>
                </a:cubicBezTo>
                <a:cubicBezTo>
                  <a:pt x="2" y="69"/>
                  <a:pt x="0" y="62"/>
                  <a:pt x="0" y="55"/>
                </a:cubicBezTo>
                <a:cubicBezTo>
                  <a:pt x="0" y="48"/>
                  <a:pt x="2" y="41"/>
                  <a:pt x="4" y="34"/>
                </a:cubicBezTo>
                <a:cubicBezTo>
                  <a:pt x="7" y="28"/>
                  <a:pt x="11" y="22"/>
                  <a:pt x="16" y="17"/>
                </a:cubicBezTo>
                <a:cubicBezTo>
                  <a:pt x="21" y="12"/>
                  <a:pt x="27" y="8"/>
                  <a:pt x="34" y="5"/>
                </a:cubicBezTo>
                <a:cubicBezTo>
                  <a:pt x="41" y="1"/>
                  <a:pt x="48" y="0"/>
                  <a:pt x="55" y="0"/>
                </a:cubicBezTo>
                <a:cubicBezTo>
                  <a:pt x="62" y="0"/>
                  <a:pt x="69" y="1"/>
                  <a:pt x="76" y="5"/>
                </a:cubicBezTo>
                <a:cubicBezTo>
                  <a:pt x="82" y="8"/>
                  <a:pt x="88" y="12"/>
                  <a:pt x="93" y="17"/>
                </a:cubicBezTo>
                <a:cubicBezTo>
                  <a:pt x="98" y="22"/>
                  <a:pt x="102" y="28"/>
                  <a:pt x="105" y="34"/>
                </a:cubicBezTo>
                <a:cubicBezTo>
                  <a:pt x="108" y="41"/>
                  <a:pt x="109" y="48"/>
                  <a:pt x="109" y="55"/>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01" name=""/>
          <p:cNvSpPr txBox="1"/>
          <p:nvPr/>
        </p:nvSpPr>
        <p:spPr>
          <a:xfrm>
            <a:off x="3834000" y="2678760"/>
            <a:ext cx="211356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検査結果に基づく正確な診断名の記載</a:t>
            </a:r>
            <a:endParaRPr b="0" lang="en-US" sz="980" strike="noStrike" u="none">
              <a:solidFill>
                <a:srgbClr val="000000"/>
              </a:solidFill>
              <a:effectLst/>
              <a:uFillTx/>
              <a:latin typeface="Times New Roman"/>
            </a:endParaRPr>
          </a:p>
        </p:txBody>
      </p:sp>
      <p:sp>
        <p:nvSpPr>
          <p:cNvPr id="1302" name=""/>
          <p:cNvSpPr/>
          <p:nvPr/>
        </p:nvSpPr>
        <p:spPr>
          <a:xfrm>
            <a:off x="3704760" y="3232080"/>
            <a:ext cx="39240" cy="39240"/>
          </a:xfrm>
          <a:custGeom>
            <a:avLst/>
            <a:gdLst/>
            <a:ahLst/>
            <a:rect l="0" t="0" r="r" b="b"/>
            <a:pathLst>
              <a:path w="109" h="109">
                <a:moveTo>
                  <a:pt x="109" y="54"/>
                </a:moveTo>
                <a:cubicBezTo>
                  <a:pt x="109" y="61"/>
                  <a:pt x="108" y="69"/>
                  <a:pt x="105" y="75"/>
                </a:cubicBezTo>
                <a:cubicBezTo>
                  <a:pt x="102" y="82"/>
                  <a:pt x="98" y="88"/>
                  <a:pt x="93" y="93"/>
                </a:cubicBezTo>
                <a:cubicBezTo>
                  <a:pt x="88" y="98"/>
                  <a:pt x="82" y="102"/>
                  <a:pt x="76" y="104"/>
                </a:cubicBezTo>
                <a:cubicBezTo>
                  <a:pt x="69" y="107"/>
                  <a:pt x="62" y="109"/>
                  <a:pt x="55" y="109"/>
                </a:cubicBezTo>
                <a:cubicBezTo>
                  <a:pt x="48" y="109"/>
                  <a:pt x="41" y="107"/>
                  <a:pt x="34" y="104"/>
                </a:cubicBezTo>
                <a:cubicBezTo>
                  <a:pt x="27" y="102"/>
                  <a:pt x="21" y="98"/>
                  <a:pt x="16" y="93"/>
                </a:cubicBezTo>
                <a:cubicBezTo>
                  <a:pt x="11" y="88"/>
                  <a:pt x="7" y="82"/>
                  <a:pt x="4" y="75"/>
                </a:cubicBezTo>
                <a:cubicBezTo>
                  <a:pt x="2" y="69"/>
                  <a:pt x="0" y="61"/>
                  <a:pt x="0" y="54"/>
                </a:cubicBezTo>
                <a:cubicBezTo>
                  <a:pt x="0" y="47"/>
                  <a:pt x="2" y="40"/>
                  <a:pt x="4" y="33"/>
                </a:cubicBezTo>
                <a:cubicBezTo>
                  <a:pt x="7" y="27"/>
                  <a:pt x="11" y="21"/>
                  <a:pt x="16" y="16"/>
                </a:cubicBezTo>
                <a:cubicBezTo>
                  <a:pt x="21" y="11"/>
                  <a:pt x="27" y="7"/>
                  <a:pt x="34" y="4"/>
                </a:cubicBezTo>
                <a:cubicBezTo>
                  <a:pt x="41" y="1"/>
                  <a:pt x="48" y="0"/>
                  <a:pt x="55" y="0"/>
                </a:cubicBezTo>
                <a:cubicBezTo>
                  <a:pt x="62" y="0"/>
                  <a:pt x="69" y="1"/>
                  <a:pt x="76" y="4"/>
                </a:cubicBezTo>
                <a:cubicBezTo>
                  <a:pt x="82" y="7"/>
                  <a:pt x="88" y="11"/>
                  <a:pt x="93" y="16"/>
                </a:cubicBezTo>
                <a:cubicBezTo>
                  <a:pt x="98" y="21"/>
                  <a:pt x="102" y="27"/>
                  <a:pt x="105" y="33"/>
                </a:cubicBezTo>
                <a:cubicBezTo>
                  <a:pt x="108" y="40"/>
                  <a:pt x="109" y="47"/>
                  <a:pt x="109" y="54"/>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03" name=""/>
          <p:cNvSpPr txBox="1"/>
          <p:nvPr/>
        </p:nvSpPr>
        <p:spPr>
          <a:xfrm>
            <a:off x="3834000" y="2926800"/>
            <a:ext cx="223416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慢性疾患の継続管理に必要な病名の維持</a:t>
            </a:r>
            <a:endParaRPr b="0" lang="en-US" sz="980" strike="noStrike" u="none">
              <a:solidFill>
                <a:srgbClr val="000000"/>
              </a:solidFill>
              <a:effectLst/>
              <a:uFillTx/>
              <a:latin typeface="Times New Roman"/>
            </a:endParaRPr>
          </a:p>
        </p:txBody>
      </p:sp>
      <p:sp>
        <p:nvSpPr>
          <p:cNvPr id="1304" name=""/>
          <p:cNvSpPr/>
          <p:nvPr/>
        </p:nvSpPr>
        <p:spPr>
          <a:xfrm>
            <a:off x="6611400" y="1643040"/>
            <a:ext cx="2938320" cy="2635920"/>
          </a:xfrm>
          <a:custGeom>
            <a:avLst/>
            <a:gdLst/>
            <a:ahLst/>
            <a:rect l="0" t="0" r="r" b="b"/>
            <a:pathLst>
              <a:path w="8162" h="7322">
                <a:moveTo>
                  <a:pt x="0" y="7149"/>
                </a:moveTo>
                <a:lnTo>
                  <a:pt x="0" y="172"/>
                </a:lnTo>
                <a:cubicBezTo>
                  <a:pt x="0" y="161"/>
                  <a:pt x="2" y="150"/>
                  <a:pt x="4" y="139"/>
                </a:cubicBezTo>
                <a:cubicBezTo>
                  <a:pt x="6" y="128"/>
                  <a:pt x="9" y="117"/>
                  <a:pt x="14" y="106"/>
                </a:cubicBezTo>
                <a:cubicBezTo>
                  <a:pt x="18" y="96"/>
                  <a:pt x="23" y="86"/>
                  <a:pt x="29" y="77"/>
                </a:cubicBezTo>
                <a:cubicBezTo>
                  <a:pt x="36" y="67"/>
                  <a:pt x="43" y="59"/>
                  <a:pt x="51" y="51"/>
                </a:cubicBezTo>
                <a:cubicBezTo>
                  <a:pt x="59" y="43"/>
                  <a:pt x="68" y="35"/>
                  <a:pt x="77" y="29"/>
                </a:cubicBezTo>
                <a:cubicBezTo>
                  <a:pt x="86" y="23"/>
                  <a:pt x="96" y="18"/>
                  <a:pt x="107" y="13"/>
                </a:cubicBezTo>
                <a:cubicBezTo>
                  <a:pt x="117" y="9"/>
                  <a:pt x="128" y="6"/>
                  <a:pt x="139" y="3"/>
                </a:cubicBezTo>
                <a:cubicBezTo>
                  <a:pt x="150" y="1"/>
                  <a:pt x="161" y="0"/>
                  <a:pt x="173" y="0"/>
                </a:cubicBezTo>
                <a:lnTo>
                  <a:pt x="7989" y="0"/>
                </a:lnTo>
                <a:cubicBezTo>
                  <a:pt x="8001" y="0"/>
                  <a:pt x="8012" y="1"/>
                  <a:pt x="8023" y="3"/>
                </a:cubicBezTo>
                <a:cubicBezTo>
                  <a:pt x="8034" y="6"/>
                  <a:pt x="8045" y="9"/>
                  <a:pt x="8055" y="13"/>
                </a:cubicBezTo>
                <a:cubicBezTo>
                  <a:pt x="8066" y="18"/>
                  <a:pt x="8076" y="23"/>
                  <a:pt x="8085" y="29"/>
                </a:cubicBezTo>
                <a:cubicBezTo>
                  <a:pt x="8094" y="35"/>
                  <a:pt x="8103" y="43"/>
                  <a:pt x="8111" y="51"/>
                </a:cubicBezTo>
                <a:cubicBezTo>
                  <a:pt x="8119" y="59"/>
                  <a:pt x="8126" y="67"/>
                  <a:pt x="8133" y="77"/>
                </a:cubicBezTo>
                <a:cubicBezTo>
                  <a:pt x="8139" y="86"/>
                  <a:pt x="8144" y="96"/>
                  <a:pt x="8149" y="106"/>
                </a:cubicBezTo>
                <a:cubicBezTo>
                  <a:pt x="8153" y="117"/>
                  <a:pt x="8156" y="128"/>
                  <a:pt x="8158" y="139"/>
                </a:cubicBezTo>
                <a:cubicBezTo>
                  <a:pt x="8161" y="150"/>
                  <a:pt x="8162" y="161"/>
                  <a:pt x="8162" y="172"/>
                </a:cubicBezTo>
                <a:lnTo>
                  <a:pt x="8162" y="7149"/>
                </a:lnTo>
                <a:cubicBezTo>
                  <a:pt x="8162" y="7161"/>
                  <a:pt x="8161" y="7172"/>
                  <a:pt x="8158" y="7183"/>
                </a:cubicBezTo>
                <a:cubicBezTo>
                  <a:pt x="8156" y="7194"/>
                  <a:pt x="8153" y="7205"/>
                  <a:pt x="8149" y="7215"/>
                </a:cubicBezTo>
                <a:cubicBezTo>
                  <a:pt x="8144" y="7226"/>
                  <a:pt x="8139" y="7236"/>
                  <a:pt x="8133" y="7245"/>
                </a:cubicBezTo>
                <a:cubicBezTo>
                  <a:pt x="8126" y="7254"/>
                  <a:pt x="8119" y="7263"/>
                  <a:pt x="8111" y="7271"/>
                </a:cubicBezTo>
                <a:cubicBezTo>
                  <a:pt x="8103" y="7279"/>
                  <a:pt x="8094" y="7286"/>
                  <a:pt x="8085" y="7293"/>
                </a:cubicBezTo>
                <a:cubicBezTo>
                  <a:pt x="8076" y="7299"/>
                  <a:pt x="8066" y="7304"/>
                  <a:pt x="8055" y="7308"/>
                </a:cubicBezTo>
                <a:cubicBezTo>
                  <a:pt x="8045" y="7313"/>
                  <a:pt x="8034" y="7316"/>
                  <a:pt x="8023" y="7318"/>
                </a:cubicBezTo>
                <a:cubicBezTo>
                  <a:pt x="8012" y="7320"/>
                  <a:pt x="8001" y="7322"/>
                  <a:pt x="7989" y="7322"/>
                </a:cubicBezTo>
                <a:lnTo>
                  <a:pt x="173" y="7322"/>
                </a:lnTo>
                <a:cubicBezTo>
                  <a:pt x="161" y="7322"/>
                  <a:pt x="150" y="7320"/>
                  <a:pt x="139" y="7318"/>
                </a:cubicBezTo>
                <a:cubicBezTo>
                  <a:pt x="128" y="7316"/>
                  <a:pt x="117" y="7313"/>
                  <a:pt x="107" y="7308"/>
                </a:cubicBezTo>
                <a:cubicBezTo>
                  <a:pt x="96" y="7304"/>
                  <a:pt x="86" y="7299"/>
                  <a:pt x="77" y="7293"/>
                </a:cubicBezTo>
                <a:cubicBezTo>
                  <a:pt x="68" y="7286"/>
                  <a:pt x="59" y="7279"/>
                  <a:pt x="51" y="7271"/>
                </a:cubicBezTo>
                <a:cubicBezTo>
                  <a:pt x="43" y="7263"/>
                  <a:pt x="36" y="7254"/>
                  <a:pt x="29" y="7245"/>
                </a:cubicBezTo>
                <a:cubicBezTo>
                  <a:pt x="23" y="7236"/>
                  <a:pt x="18" y="7226"/>
                  <a:pt x="14" y="7215"/>
                </a:cubicBezTo>
                <a:cubicBezTo>
                  <a:pt x="9" y="7205"/>
                  <a:pt x="6" y="7194"/>
                  <a:pt x="4" y="7183"/>
                </a:cubicBezTo>
                <a:cubicBezTo>
                  <a:pt x="2" y="7172"/>
                  <a:pt x="0" y="7161"/>
                  <a:pt x="0" y="7149"/>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305" name=""/>
          <p:cNvSpPr/>
          <p:nvPr/>
        </p:nvSpPr>
        <p:spPr>
          <a:xfrm>
            <a:off x="6797520" y="1829160"/>
            <a:ext cx="465480" cy="465480"/>
          </a:xfrm>
          <a:custGeom>
            <a:avLst/>
            <a:gdLst/>
            <a:ahLst/>
            <a:rect l="0" t="0" r="r" b="b"/>
            <a:pathLst>
              <a:path w="1293" h="1293">
                <a:moveTo>
                  <a:pt x="1293" y="646"/>
                </a:moveTo>
                <a:cubicBezTo>
                  <a:pt x="1293" y="667"/>
                  <a:pt x="1292" y="688"/>
                  <a:pt x="1290" y="709"/>
                </a:cubicBezTo>
                <a:cubicBezTo>
                  <a:pt x="1288" y="731"/>
                  <a:pt x="1285" y="752"/>
                  <a:pt x="1281" y="773"/>
                </a:cubicBezTo>
                <a:cubicBezTo>
                  <a:pt x="1276" y="793"/>
                  <a:pt x="1271" y="814"/>
                  <a:pt x="1265" y="834"/>
                </a:cubicBezTo>
                <a:cubicBezTo>
                  <a:pt x="1259" y="854"/>
                  <a:pt x="1252" y="874"/>
                  <a:pt x="1244" y="894"/>
                </a:cubicBezTo>
                <a:cubicBezTo>
                  <a:pt x="1236" y="913"/>
                  <a:pt x="1227" y="933"/>
                  <a:pt x="1217" y="951"/>
                </a:cubicBezTo>
                <a:cubicBezTo>
                  <a:pt x="1207" y="970"/>
                  <a:pt x="1196" y="988"/>
                  <a:pt x="1184" y="1006"/>
                </a:cubicBezTo>
                <a:cubicBezTo>
                  <a:pt x="1172" y="1023"/>
                  <a:pt x="1160" y="1040"/>
                  <a:pt x="1146" y="1057"/>
                </a:cubicBezTo>
                <a:cubicBezTo>
                  <a:pt x="1133" y="1073"/>
                  <a:pt x="1118" y="1089"/>
                  <a:pt x="1103" y="1103"/>
                </a:cubicBezTo>
                <a:cubicBezTo>
                  <a:pt x="1088" y="1118"/>
                  <a:pt x="1072" y="1133"/>
                  <a:pt x="1056" y="1146"/>
                </a:cubicBezTo>
                <a:cubicBezTo>
                  <a:pt x="1039" y="1159"/>
                  <a:pt x="1023" y="1172"/>
                  <a:pt x="1005" y="1184"/>
                </a:cubicBezTo>
                <a:cubicBezTo>
                  <a:pt x="987" y="1196"/>
                  <a:pt x="969" y="1206"/>
                  <a:pt x="951" y="1216"/>
                </a:cubicBezTo>
                <a:cubicBezTo>
                  <a:pt x="932" y="1226"/>
                  <a:pt x="913" y="1235"/>
                  <a:pt x="893" y="1243"/>
                </a:cubicBezTo>
                <a:cubicBezTo>
                  <a:pt x="874" y="1252"/>
                  <a:pt x="854" y="1259"/>
                  <a:pt x="834" y="1265"/>
                </a:cubicBezTo>
                <a:cubicBezTo>
                  <a:pt x="813" y="1271"/>
                  <a:pt x="793" y="1276"/>
                  <a:pt x="772" y="1280"/>
                </a:cubicBezTo>
                <a:cubicBezTo>
                  <a:pt x="751" y="1284"/>
                  <a:pt x="730" y="1287"/>
                  <a:pt x="709" y="1290"/>
                </a:cubicBezTo>
                <a:cubicBezTo>
                  <a:pt x="688" y="1292"/>
                  <a:pt x="667" y="1293"/>
                  <a:pt x="646" y="1293"/>
                </a:cubicBezTo>
                <a:cubicBezTo>
                  <a:pt x="625" y="1293"/>
                  <a:pt x="604" y="1292"/>
                  <a:pt x="583" y="1290"/>
                </a:cubicBezTo>
                <a:cubicBezTo>
                  <a:pt x="562" y="1287"/>
                  <a:pt x="541" y="1284"/>
                  <a:pt x="520" y="1280"/>
                </a:cubicBezTo>
                <a:cubicBezTo>
                  <a:pt x="499" y="1276"/>
                  <a:pt x="479" y="1271"/>
                  <a:pt x="459" y="1265"/>
                </a:cubicBezTo>
                <a:cubicBezTo>
                  <a:pt x="438" y="1259"/>
                  <a:pt x="418" y="1252"/>
                  <a:pt x="399" y="1243"/>
                </a:cubicBezTo>
                <a:cubicBezTo>
                  <a:pt x="379" y="1235"/>
                  <a:pt x="360" y="1226"/>
                  <a:pt x="342" y="1216"/>
                </a:cubicBezTo>
                <a:cubicBezTo>
                  <a:pt x="323" y="1206"/>
                  <a:pt x="305" y="1196"/>
                  <a:pt x="287" y="1184"/>
                </a:cubicBezTo>
                <a:cubicBezTo>
                  <a:pt x="270" y="1172"/>
                  <a:pt x="253" y="1159"/>
                  <a:pt x="236" y="1146"/>
                </a:cubicBezTo>
                <a:cubicBezTo>
                  <a:pt x="220" y="1133"/>
                  <a:pt x="204" y="1118"/>
                  <a:pt x="189" y="1103"/>
                </a:cubicBezTo>
                <a:cubicBezTo>
                  <a:pt x="174" y="1089"/>
                  <a:pt x="160" y="1073"/>
                  <a:pt x="147" y="1057"/>
                </a:cubicBezTo>
                <a:cubicBezTo>
                  <a:pt x="133" y="1040"/>
                  <a:pt x="121" y="1023"/>
                  <a:pt x="109" y="1006"/>
                </a:cubicBezTo>
                <a:cubicBezTo>
                  <a:pt x="97" y="988"/>
                  <a:pt x="86" y="970"/>
                  <a:pt x="76" y="951"/>
                </a:cubicBezTo>
                <a:cubicBezTo>
                  <a:pt x="66" y="933"/>
                  <a:pt x="57" y="913"/>
                  <a:pt x="49" y="894"/>
                </a:cubicBezTo>
                <a:cubicBezTo>
                  <a:pt x="41" y="874"/>
                  <a:pt x="34" y="854"/>
                  <a:pt x="28" y="834"/>
                </a:cubicBezTo>
                <a:cubicBezTo>
                  <a:pt x="22" y="814"/>
                  <a:pt x="17" y="793"/>
                  <a:pt x="13" y="773"/>
                </a:cubicBezTo>
                <a:cubicBezTo>
                  <a:pt x="8" y="752"/>
                  <a:pt x="5" y="731"/>
                  <a:pt x="3" y="709"/>
                </a:cubicBezTo>
                <a:cubicBezTo>
                  <a:pt x="1" y="688"/>
                  <a:pt x="0" y="667"/>
                  <a:pt x="0" y="646"/>
                </a:cubicBezTo>
                <a:cubicBezTo>
                  <a:pt x="0" y="625"/>
                  <a:pt x="1" y="603"/>
                  <a:pt x="3" y="582"/>
                </a:cubicBezTo>
                <a:cubicBezTo>
                  <a:pt x="5" y="561"/>
                  <a:pt x="8" y="540"/>
                  <a:pt x="13" y="520"/>
                </a:cubicBezTo>
                <a:cubicBezTo>
                  <a:pt x="17" y="499"/>
                  <a:pt x="22" y="478"/>
                  <a:pt x="28" y="458"/>
                </a:cubicBezTo>
                <a:cubicBezTo>
                  <a:pt x="34" y="438"/>
                  <a:pt x="41" y="418"/>
                  <a:pt x="49" y="399"/>
                </a:cubicBezTo>
                <a:cubicBezTo>
                  <a:pt x="57" y="379"/>
                  <a:pt x="66" y="360"/>
                  <a:pt x="76" y="341"/>
                </a:cubicBezTo>
                <a:cubicBezTo>
                  <a:pt x="86" y="323"/>
                  <a:pt x="97" y="304"/>
                  <a:pt x="109" y="287"/>
                </a:cubicBezTo>
                <a:cubicBezTo>
                  <a:pt x="121" y="269"/>
                  <a:pt x="133" y="252"/>
                  <a:pt x="147" y="236"/>
                </a:cubicBezTo>
                <a:cubicBezTo>
                  <a:pt x="160" y="220"/>
                  <a:pt x="174" y="204"/>
                  <a:pt x="189" y="189"/>
                </a:cubicBezTo>
                <a:cubicBezTo>
                  <a:pt x="204" y="174"/>
                  <a:pt x="220" y="160"/>
                  <a:pt x="236" y="146"/>
                </a:cubicBezTo>
                <a:cubicBezTo>
                  <a:pt x="253" y="133"/>
                  <a:pt x="270" y="120"/>
                  <a:pt x="287" y="109"/>
                </a:cubicBezTo>
                <a:cubicBezTo>
                  <a:pt x="305" y="97"/>
                  <a:pt x="323" y="86"/>
                  <a:pt x="342" y="76"/>
                </a:cubicBezTo>
                <a:cubicBezTo>
                  <a:pt x="360" y="66"/>
                  <a:pt x="379" y="57"/>
                  <a:pt x="399" y="49"/>
                </a:cubicBezTo>
                <a:cubicBezTo>
                  <a:pt x="418" y="41"/>
                  <a:pt x="438" y="34"/>
                  <a:pt x="459" y="28"/>
                </a:cubicBezTo>
                <a:cubicBezTo>
                  <a:pt x="479" y="21"/>
                  <a:pt x="499" y="16"/>
                  <a:pt x="520" y="12"/>
                </a:cubicBezTo>
                <a:cubicBezTo>
                  <a:pt x="541" y="8"/>
                  <a:pt x="562" y="5"/>
                  <a:pt x="583" y="3"/>
                </a:cubicBezTo>
                <a:cubicBezTo>
                  <a:pt x="604" y="1"/>
                  <a:pt x="625" y="0"/>
                  <a:pt x="646" y="0"/>
                </a:cubicBezTo>
                <a:cubicBezTo>
                  <a:pt x="667" y="0"/>
                  <a:pt x="688" y="1"/>
                  <a:pt x="709" y="3"/>
                </a:cubicBezTo>
                <a:cubicBezTo>
                  <a:pt x="730" y="5"/>
                  <a:pt x="751" y="8"/>
                  <a:pt x="772" y="12"/>
                </a:cubicBezTo>
                <a:cubicBezTo>
                  <a:pt x="793" y="16"/>
                  <a:pt x="813" y="21"/>
                  <a:pt x="834" y="28"/>
                </a:cubicBezTo>
                <a:cubicBezTo>
                  <a:pt x="854" y="34"/>
                  <a:pt x="874" y="41"/>
                  <a:pt x="893" y="49"/>
                </a:cubicBezTo>
                <a:cubicBezTo>
                  <a:pt x="913" y="57"/>
                  <a:pt x="932" y="66"/>
                  <a:pt x="951" y="76"/>
                </a:cubicBezTo>
                <a:cubicBezTo>
                  <a:pt x="969" y="86"/>
                  <a:pt x="987" y="97"/>
                  <a:pt x="1005" y="109"/>
                </a:cubicBezTo>
                <a:cubicBezTo>
                  <a:pt x="1023" y="120"/>
                  <a:pt x="1039" y="133"/>
                  <a:pt x="1056" y="146"/>
                </a:cubicBezTo>
                <a:cubicBezTo>
                  <a:pt x="1072" y="160"/>
                  <a:pt x="1088" y="174"/>
                  <a:pt x="1103" y="189"/>
                </a:cubicBezTo>
                <a:cubicBezTo>
                  <a:pt x="1118" y="204"/>
                  <a:pt x="1133" y="220"/>
                  <a:pt x="1146" y="236"/>
                </a:cubicBezTo>
                <a:cubicBezTo>
                  <a:pt x="1160" y="252"/>
                  <a:pt x="1172" y="269"/>
                  <a:pt x="1184" y="287"/>
                </a:cubicBezTo>
                <a:cubicBezTo>
                  <a:pt x="1196" y="304"/>
                  <a:pt x="1207" y="323"/>
                  <a:pt x="1217" y="341"/>
                </a:cubicBezTo>
                <a:cubicBezTo>
                  <a:pt x="1227" y="360"/>
                  <a:pt x="1236" y="379"/>
                  <a:pt x="1244" y="399"/>
                </a:cubicBezTo>
                <a:cubicBezTo>
                  <a:pt x="1252" y="418"/>
                  <a:pt x="1259" y="438"/>
                  <a:pt x="1265" y="458"/>
                </a:cubicBezTo>
                <a:cubicBezTo>
                  <a:pt x="1271" y="478"/>
                  <a:pt x="1276" y="499"/>
                  <a:pt x="1281" y="520"/>
                </a:cubicBezTo>
                <a:cubicBezTo>
                  <a:pt x="1285" y="540"/>
                  <a:pt x="1288" y="561"/>
                  <a:pt x="1290" y="582"/>
                </a:cubicBezTo>
                <a:cubicBezTo>
                  <a:pt x="1292" y="603"/>
                  <a:pt x="1293" y="625"/>
                  <a:pt x="1293" y="646"/>
                </a:cubicBezTo>
                <a:close/>
              </a:path>
            </a:pathLst>
          </a:custGeom>
          <a:solidFill>
            <a:srgbClr val="ffedd4"/>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306" name="" descr=""/>
          <p:cNvPicPr/>
          <p:nvPr/>
        </p:nvPicPr>
        <p:blipFill>
          <a:blip r:embed="rId7"/>
          <a:stretch/>
        </p:blipFill>
        <p:spPr>
          <a:xfrm>
            <a:off x="6937200" y="1968840"/>
            <a:ext cx="185760" cy="185760"/>
          </a:xfrm>
          <a:prstGeom prst="rect">
            <a:avLst/>
          </a:prstGeom>
          <a:noFill/>
          <a:ln w="0">
            <a:noFill/>
          </a:ln>
        </p:spPr>
      </p:pic>
      <p:sp>
        <p:nvSpPr>
          <p:cNvPr id="1307" name=""/>
          <p:cNvSpPr txBox="1"/>
          <p:nvPr/>
        </p:nvSpPr>
        <p:spPr>
          <a:xfrm>
            <a:off x="3834000" y="3174840"/>
            <a:ext cx="211068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病名と実施した診療行為の整合性確保</a:t>
            </a:r>
            <a:endParaRPr b="0" lang="en-US" sz="980" strike="noStrike" u="none">
              <a:solidFill>
                <a:srgbClr val="000000"/>
              </a:solidFill>
              <a:effectLst/>
              <a:uFillTx/>
              <a:latin typeface="Times New Roman"/>
            </a:endParaRPr>
          </a:p>
        </p:txBody>
      </p:sp>
      <p:sp>
        <p:nvSpPr>
          <p:cNvPr id="1308" name=""/>
          <p:cNvSpPr/>
          <p:nvPr/>
        </p:nvSpPr>
        <p:spPr>
          <a:xfrm>
            <a:off x="6820920" y="2487960"/>
            <a:ext cx="38880" cy="39240"/>
          </a:xfrm>
          <a:custGeom>
            <a:avLst/>
            <a:gdLst/>
            <a:ahLst/>
            <a:rect l="0" t="0" r="r" b="b"/>
            <a:pathLst>
              <a:path w="108" h="109">
                <a:moveTo>
                  <a:pt x="108" y="54"/>
                </a:moveTo>
                <a:cubicBezTo>
                  <a:pt x="108" y="61"/>
                  <a:pt x="107" y="68"/>
                  <a:pt x="104" y="74"/>
                </a:cubicBezTo>
                <a:cubicBezTo>
                  <a:pt x="102" y="81"/>
                  <a:pt x="98" y="87"/>
                  <a:pt x="93" y="92"/>
                </a:cubicBezTo>
                <a:cubicBezTo>
                  <a:pt x="88" y="97"/>
                  <a:pt x="82" y="102"/>
                  <a:pt x="75" y="104"/>
                </a:cubicBezTo>
                <a:cubicBezTo>
                  <a:pt x="69" y="107"/>
                  <a:pt x="62" y="109"/>
                  <a:pt x="55" y="109"/>
                </a:cubicBezTo>
                <a:cubicBezTo>
                  <a:pt x="47" y="109"/>
                  <a:pt x="40" y="107"/>
                  <a:pt x="33" y="104"/>
                </a:cubicBezTo>
                <a:cubicBezTo>
                  <a:pt x="26" y="102"/>
                  <a:pt x="21" y="97"/>
                  <a:pt x="15" y="92"/>
                </a:cubicBezTo>
                <a:cubicBezTo>
                  <a:pt x="10" y="87"/>
                  <a:pt x="7" y="81"/>
                  <a:pt x="4" y="74"/>
                </a:cubicBezTo>
                <a:cubicBezTo>
                  <a:pt x="1" y="68"/>
                  <a:pt x="0" y="61"/>
                  <a:pt x="0" y="54"/>
                </a:cubicBezTo>
                <a:cubicBezTo>
                  <a:pt x="0" y="47"/>
                  <a:pt x="1" y="40"/>
                  <a:pt x="4" y="33"/>
                </a:cubicBezTo>
                <a:cubicBezTo>
                  <a:pt x="7" y="27"/>
                  <a:pt x="10" y="21"/>
                  <a:pt x="15" y="16"/>
                </a:cubicBezTo>
                <a:cubicBezTo>
                  <a:pt x="21" y="11"/>
                  <a:pt x="26" y="7"/>
                  <a:pt x="33" y="4"/>
                </a:cubicBezTo>
                <a:cubicBezTo>
                  <a:pt x="40" y="1"/>
                  <a:pt x="47" y="0"/>
                  <a:pt x="55" y="0"/>
                </a:cubicBezTo>
                <a:cubicBezTo>
                  <a:pt x="62" y="0"/>
                  <a:pt x="69" y="1"/>
                  <a:pt x="75" y="4"/>
                </a:cubicBezTo>
                <a:cubicBezTo>
                  <a:pt x="82" y="7"/>
                  <a:pt x="88" y="11"/>
                  <a:pt x="93" y="16"/>
                </a:cubicBezTo>
                <a:cubicBezTo>
                  <a:pt x="98" y="21"/>
                  <a:pt x="102" y="27"/>
                  <a:pt x="104" y="33"/>
                </a:cubicBezTo>
                <a:cubicBezTo>
                  <a:pt x="107" y="40"/>
                  <a:pt x="108" y="47"/>
                  <a:pt x="108" y="54"/>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09" name=""/>
          <p:cNvSpPr txBox="1"/>
          <p:nvPr/>
        </p:nvSpPr>
        <p:spPr>
          <a:xfrm>
            <a:off x="7389360" y="1966680"/>
            <a:ext cx="1248120" cy="195480"/>
          </a:xfrm>
          <a:prstGeom prst="rect">
            <a:avLst/>
          </a:prstGeom>
          <a:noFill/>
          <a:ln w="0">
            <a:noFill/>
          </a:ln>
        </p:spPr>
        <p:txBody>
          <a:bodyPr wrap="none" lIns="0" rIns="0" tIns="0" bIns="0" anchor="t">
            <a:spAutoFit/>
          </a:bodyPr>
          <a:p>
            <a:r>
              <a:rPr b="0" lang="zh-CN" sz="1220" strike="noStrike" u="none">
                <a:solidFill>
                  <a:srgbClr val="f54a00"/>
                </a:solidFill>
                <a:effectLst/>
                <a:uFillTx/>
                <a:latin typeface="WenQuanYiZenHei"/>
                <a:ea typeface="WenQuanYiZenHei"/>
              </a:rPr>
              <a:t>加算の積極的算定</a:t>
            </a:r>
            <a:endParaRPr b="0" lang="en-US" sz="1220" strike="noStrike" u="none">
              <a:solidFill>
                <a:srgbClr val="000000"/>
              </a:solidFill>
              <a:effectLst/>
              <a:uFillTx/>
              <a:latin typeface="Times New Roman"/>
            </a:endParaRPr>
          </a:p>
        </p:txBody>
      </p:sp>
      <p:sp>
        <p:nvSpPr>
          <p:cNvPr id="1310" name=""/>
          <p:cNvSpPr txBox="1"/>
          <p:nvPr/>
        </p:nvSpPr>
        <p:spPr>
          <a:xfrm>
            <a:off x="6955200" y="2430720"/>
            <a:ext cx="235188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初診料・再診料の時間外加算、休日加算な</a:t>
            </a:r>
            <a:endParaRPr b="0" lang="en-US" sz="980" strike="noStrike" u="none">
              <a:solidFill>
                <a:srgbClr val="000000"/>
              </a:solidFill>
              <a:effectLst/>
              <a:uFillTx/>
              <a:latin typeface="Times New Roman"/>
            </a:endParaRPr>
          </a:p>
        </p:txBody>
      </p:sp>
      <p:sp>
        <p:nvSpPr>
          <p:cNvPr id="1311" name=""/>
          <p:cNvSpPr/>
          <p:nvPr/>
        </p:nvSpPr>
        <p:spPr>
          <a:xfrm>
            <a:off x="6820920" y="2922120"/>
            <a:ext cx="38880" cy="38880"/>
          </a:xfrm>
          <a:custGeom>
            <a:avLst/>
            <a:gdLst/>
            <a:ahLst/>
            <a:rect l="0" t="0" r="r" b="b"/>
            <a:pathLst>
              <a:path w="108" h="108">
                <a:moveTo>
                  <a:pt x="108" y="53"/>
                </a:moveTo>
                <a:cubicBezTo>
                  <a:pt x="108" y="61"/>
                  <a:pt x="107" y="67"/>
                  <a:pt x="104" y="75"/>
                </a:cubicBezTo>
                <a:cubicBezTo>
                  <a:pt x="102" y="82"/>
                  <a:pt x="98" y="88"/>
                  <a:pt x="93" y="93"/>
                </a:cubicBezTo>
                <a:cubicBezTo>
                  <a:pt x="88" y="98"/>
                  <a:pt x="82" y="101"/>
                  <a:pt x="75" y="104"/>
                </a:cubicBezTo>
                <a:cubicBezTo>
                  <a:pt x="69" y="107"/>
                  <a:pt x="62" y="108"/>
                  <a:pt x="55" y="108"/>
                </a:cubicBezTo>
                <a:cubicBezTo>
                  <a:pt x="47" y="108"/>
                  <a:pt x="40" y="107"/>
                  <a:pt x="33" y="104"/>
                </a:cubicBezTo>
                <a:cubicBezTo>
                  <a:pt x="26" y="101"/>
                  <a:pt x="21" y="98"/>
                  <a:pt x="15" y="93"/>
                </a:cubicBezTo>
                <a:cubicBezTo>
                  <a:pt x="10" y="88"/>
                  <a:pt x="7" y="82"/>
                  <a:pt x="4" y="75"/>
                </a:cubicBezTo>
                <a:cubicBezTo>
                  <a:pt x="1" y="67"/>
                  <a:pt x="0" y="61"/>
                  <a:pt x="0" y="53"/>
                </a:cubicBezTo>
                <a:cubicBezTo>
                  <a:pt x="0" y="46"/>
                  <a:pt x="1" y="39"/>
                  <a:pt x="4" y="33"/>
                </a:cubicBezTo>
                <a:cubicBezTo>
                  <a:pt x="7" y="26"/>
                  <a:pt x="10" y="20"/>
                  <a:pt x="15" y="15"/>
                </a:cubicBezTo>
                <a:cubicBezTo>
                  <a:pt x="21" y="10"/>
                  <a:pt x="26" y="6"/>
                  <a:pt x="33" y="4"/>
                </a:cubicBezTo>
                <a:cubicBezTo>
                  <a:pt x="40" y="1"/>
                  <a:pt x="47" y="0"/>
                  <a:pt x="55" y="0"/>
                </a:cubicBezTo>
                <a:cubicBezTo>
                  <a:pt x="62" y="0"/>
                  <a:pt x="69" y="1"/>
                  <a:pt x="75" y="4"/>
                </a:cubicBezTo>
                <a:cubicBezTo>
                  <a:pt x="82" y="6"/>
                  <a:pt x="88" y="10"/>
                  <a:pt x="93" y="15"/>
                </a:cubicBezTo>
                <a:cubicBezTo>
                  <a:pt x="98" y="20"/>
                  <a:pt x="102" y="26"/>
                  <a:pt x="104" y="33"/>
                </a:cubicBezTo>
                <a:cubicBezTo>
                  <a:pt x="107" y="39"/>
                  <a:pt x="108" y="46"/>
                  <a:pt x="108" y="53"/>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12" name=""/>
          <p:cNvSpPr txBox="1"/>
          <p:nvPr/>
        </p:nvSpPr>
        <p:spPr>
          <a:xfrm>
            <a:off x="6955200" y="2616840"/>
            <a:ext cx="87336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どの確実な算定</a:t>
            </a:r>
            <a:endParaRPr b="0" lang="en-US" sz="980" strike="noStrike" u="none">
              <a:solidFill>
                <a:srgbClr val="000000"/>
              </a:solidFill>
              <a:effectLst/>
              <a:uFillTx/>
              <a:latin typeface="Times New Roman"/>
            </a:endParaRPr>
          </a:p>
        </p:txBody>
      </p:sp>
      <p:sp>
        <p:nvSpPr>
          <p:cNvPr id="1313" name=""/>
          <p:cNvSpPr txBox="1"/>
          <p:nvPr/>
        </p:nvSpPr>
        <p:spPr>
          <a:xfrm>
            <a:off x="6955200" y="2864880"/>
            <a:ext cx="234900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特定疾患療養管理料、生活習慣病管理料の</a:t>
            </a:r>
            <a:endParaRPr b="0" lang="en-US" sz="980" strike="noStrike" u="none">
              <a:solidFill>
                <a:srgbClr val="000000"/>
              </a:solidFill>
              <a:effectLst/>
              <a:uFillTx/>
              <a:latin typeface="Times New Roman"/>
            </a:endParaRPr>
          </a:p>
        </p:txBody>
      </p:sp>
      <p:sp>
        <p:nvSpPr>
          <p:cNvPr id="1314" name=""/>
          <p:cNvSpPr/>
          <p:nvPr/>
        </p:nvSpPr>
        <p:spPr>
          <a:xfrm>
            <a:off x="6820920" y="3355920"/>
            <a:ext cx="38880" cy="39240"/>
          </a:xfrm>
          <a:custGeom>
            <a:avLst/>
            <a:gdLst/>
            <a:ahLst/>
            <a:rect l="0" t="0" r="r" b="b"/>
            <a:pathLst>
              <a:path w="108" h="109">
                <a:moveTo>
                  <a:pt x="108" y="55"/>
                </a:moveTo>
                <a:cubicBezTo>
                  <a:pt x="108" y="62"/>
                  <a:pt x="107" y="69"/>
                  <a:pt x="104" y="76"/>
                </a:cubicBezTo>
                <a:cubicBezTo>
                  <a:pt x="102" y="82"/>
                  <a:pt x="98" y="88"/>
                  <a:pt x="93" y="93"/>
                </a:cubicBezTo>
                <a:cubicBezTo>
                  <a:pt x="88" y="98"/>
                  <a:pt x="82" y="102"/>
                  <a:pt x="75" y="105"/>
                </a:cubicBezTo>
                <a:cubicBezTo>
                  <a:pt x="69" y="108"/>
                  <a:pt x="62" y="109"/>
                  <a:pt x="55" y="109"/>
                </a:cubicBezTo>
                <a:cubicBezTo>
                  <a:pt x="47" y="109"/>
                  <a:pt x="40" y="108"/>
                  <a:pt x="33" y="105"/>
                </a:cubicBezTo>
                <a:cubicBezTo>
                  <a:pt x="26" y="102"/>
                  <a:pt x="21" y="98"/>
                  <a:pt x="15" y="93"/>
                </a:cubicBezTo>
                <a:cubicBezTo>
                  <a:pt x="10" y="88"/>
                  <a:pt x="7" y="82"/>
                  <a:pt x="4" y="76"/>
                </a:cubicBezTo>
                <a:cubicBezTo>
                  <a:pt x="1" y="69"/>
                  <a:pt x="0" y="62"/>
                  <a:pt x="0" y="55"/>
                </a:cubicBezTo>
                <a:cubicBezTo>
                  <a:pt x="0" y="48"/>
                  <a:pt x="1" y="40"/>
                  <a:pt x="4" y="34"/>
                </a:cubicBezTo>
                <a:cubicBezTo>
                  <a:pt x="7" y="27"/>
                  <a:pt x="10" y="21"/>
                  <a:pt x="15" y="16"/>
                </a:cubicBezTo>
                <a:cubicBezTo>
                  <a:pt x="21" y="11"/>
                  <a:pt x="26" y="7"/>
                  <a:pt x="33" y="4"/>
                </a:cubicBezTo>
                <a:cubicBezTo>
                  <a:pt x="40" y="2"/>
                  <a:pt x="47" y="0"/>
                  <a:pt x="55" y="0"/>
                </a:cubicBezTo>
                <a:cubicBezTo>
                  <a:pt x="62" y="0"/>
                  <a:pt x="69" y="2"/>
                  <a:pt x="75" y="4"/>
                </a:cubicBezTo>
                <a:cubicBezTo>
                  <a:pt x="82" y="7"/>
                  <a:pt x="88" y="11"/>
                  <a:pt x="93" y="16"/>
                </a:cubicBezTo>
                <a:cubicBezTo>
                  <a:pt x="98" y="21"/>
                  <a:pt x="102" y="27"/>
                  <a:pt x="104" y="34"/>
                </a:cubicBezTo>
                <a:cubicBezTo>
                  <a:pt x="107" y="40"/>
                  <a:pt x="108" y="48"/>
                  <a:pt x="108" y="55"/>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15" name=""/>
          <p:cNvSpPr txBox="1"/>
          <p:nvPr/>
        </p:nvSpPr>
        <p:spPr>
          <a:xfrm>
            <a:off x="6955200" y="3050640"/>
            <a:ext cx="74412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積極的な活用</a:t>
            </a:r>
            <a:endParaRPr b="0" lang="en-US" sz="980" strike="noStrike" u="none">
              <a:solidFill>
                <a:srgbClr val="000000"/>
              </a:solidFill>
              <a:effectLst/>
              <a:uFillTx/>
              <a:latin typeface="Times New Roman"/>
            </a:endParaRPr>
          </a:p>
        </p:txBody>
      </p:sp>
      <p:sp>
        <p:nvSpPr>
          <p:cNvPr id="1316" name=""/>
          <p:cNvSpPr txBox="1"/>
          <p:nvPr/>
        </p:nvSpPr>
        <p:spPr>
          <a:xfrm>
            <a:off x="6955200" y="3298680"/>
            <a:ext cx="236052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専門的な処置・検査・手術の加算を漏れな</a:t>
            </a:r>
            <a:endParaRPr b="0" lang="en-US" sz="980" strike="noStrike" u="none">
              <a:solidFill>
                <a:srgbClr val="000000"/>
              </a:solidFill>
              <a:effectLst/>
              <a:uFillTx/>
              <a:latin typeface="Times New Roman"/>
            </a:endParaRPr>
          </a:p>
        </p:txBody>
      </p:sp>
      <p:sp>
        <p:nvSpPr>
          <p:cNvPr id="1317" name=""/>
          <p:cNvSpPr/>
          <p:nvPr/>
        </p:nvSpPr>
        <p:spPr>
          <a:xfrm>
            <a:off x="6820920" y="3790080"/>
            <a:ext cx="38880" cy="39240"/>
          </a:xfrm>
          <a:custGeom>
            <a:avLst/>
            <a:gdLst/>
            <a:ahLst/>
            <a:rect l="0" t="0" r="r" b="b"/>
            <a:pathLst>
              <a:path w="108" h="109">
                <a:moveTo>
                  <a:pt x="108" y="55"/>
                </a:moveTo>
                <a:cubicBezTo>
                  <a:pt x="108" y="62"/>
                  <a:pt x="107" y="69"/>
                  <a:pt x="104" y="76"/>
                </a:cubicBezTo>
                <a:cubicBezTo>
                  <a:pt x="102" y="82"/>
                  <a:pt x="98" y="88"/>
                  <a:pt x="93" y="93"/>
                </a:cubicBezTo>
                <a:cubicBezTo>
                  <a:pt x="88" y="98"/>
                  <a:pt x="82" y="102"/>
                  <a:pt x="75" y="105"/>
                </a:cubicBezTo>
                <a:cubicBezTo>
                  <a:pt x="69" y="107"/>
                  <a:pt x="62" y="109"/>
                  <a:pt x="55" y="109"/>
                </a:cubicBezTo>
                <a:cubicBezTo>
                  <a:pt x="47" y="109"/>
                  <a:pt x="40" y="107"/>
                  <a:pt x="33" y="105"/>
                </a:cubicBezTo>
                <a:cubicBezTo>
                  <a:pt x="26" y="102"/>
                  <a:pt x="21" y="98"/>
                  <a:pt x="15" y="93"/>
                </a:cubicBezTo>
                <a:cubicBezTo>
                  <a:pt x="10" y="88"/>
                  <a:pt x="7" y="82"/>
                  <a:pt x="4" y="76"/>
                </a:cubicBezTo>
                <a:cubicBezTo>
                  <a:pt x="1" y="69"/>
                  <a:pt x="0" y="62"/>
                  <a:pt x="0" y="55"/>
                </a:cubicBezTo>
                <a:cubicBezTo>
                  <a:pt x="0" y="48"/>
                  <a:pt x="1" y="41"/>
                  <a:pt x="4" y="34"/>
                </a:cubicBezTo>
                <a:cubicBezTo>
                  <a:pt x="7" y="28"/>
                  <a:pt x="10" y="22"/>
                  <a:pt x="15" y="17"/>
                </a:cubicBezTo>
                <a:cubicBezTo>
                  <a:pt x="21" y="11"/>
                  <a:pt x="26" y="7"/>
                  <a:pt x="33" y="4"/>
                </a:cubicBezTo>
                <a:cubicBezTo>
                  <a:pt x="40" y="1"/>
                  <a:pt x="47" y="0"/>
                  <a:pt x="55" y="0"/>
                </a:cubicBezTo>
                <a:cubicBezTo>
                  <a:pt x="62" y="0"/>
                  <a:pt x="69" y="1"/>
                  <a:pt x="75" y="4"/>
                </a:cubicBezTo>
                <a:cubicBezTo>
                  <a:pt x="82" y="7"/>
                  <a:pt x="88" y="11"/>
                  <a:pt x="93" y="17"/>
                </a:cubicBezTo>
                <a:cubicBezTo>
                  <a:pt x="98" y="22"/>
                  <a:pt x="102" y="28"/>
                  <a:pt x="104" y="34"/>
                </a:cubicBezTo>
                <a:cubicBezTo>
                  <a:pt x="107" y="41"/>
                  <a:pt x="108" y="48"/>
                  <a:pt x="108" y="55"/>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18" name=""/>
          <p:cNvSpPr txBox="1"/>
          <p:nvPr/>
        </p:nvSpPr>
        <p:spPr>
          <a:xfrm>
            <a:off x="6955200" y="3484800"/>
            <a:ext cx="37404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く算定</a:t>
            </a:r>
            <a:endParaRPr b="0" lang="en-US" sz="980" strike="noStrike" u="none">
              <a:solidFill>
                <a:srgbClr val="000000"/>
              </a:solidFill>
              <a:effectLst/>
              <a:uFillTx/>
              <a:latin typeface="Times New Roman"/>
            </a:endParaRPr>
          </a:p>
        </p:txBody>
      </p:sp>
      <p:sp>
        <p:nvSpPr>
          <p:cNvPr id="1319" name=""/>
          <p:cNvSpPr txBox="1"/>
          <p:nvPr/>
        </p:nvSpPr>
        <p:spPr>
          <a:xfrm>
            <a:off x="6955200" y="3732840"/>
            <a:ext cx="224568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リハビリテーション関連加算（早期加算</a:t>
            </a:r>
            <a:endParaRPr b="0" lang="en-US" sz="980" strike="noStrike" u="none">
              <a:solidFill>
                <a:srgbClr val="000000"/>
              </a:solidFill>
              <a:effectLst/>
              <a:uFillTx/>
              <a:latin typeface="Times New Roman"/>
            </a:endParaRPr>
          </a:p>
        </p:txBody>
      </p:sp>
      <p:sp>
        <p:nvSpPr>
          <p:cNvPr id="1320" name=""/>
          <p:cNvSpPr/>
          <p:nvPr/>
        </p:nvSpPr>
        <p:spPr>
          <a:xfrm>
            <a:off x="371880" y="4464360"/>
            <a:ext cx="2937960" cy="2263680"/>
          </a:xfrm>
          <a:custGeom>
            <a:avLst/>
            <a:gdLst/>
            <a:ahLst/>
            <a:rect l="0" t="0" r="r" b="b"/>
            <a:pathLst>
              <a:path w="8161" h="6288">
                <a:moveTo>
                  <a:pt x="0" y="6116"/>
                </a:moveTo>
                <a:lnTo>
                  <a:pt x="0" y="173"/>
                </a:lnTo>
                <a:cubicBezTo>
                  <a:pt x="0" y="161"/>
                  <a:pt x="1" y="150"/>
                  <a:pt x="3" y="139"/>
                </a:cubicBezTo>
                <a:cubicBezTo>
                  <a:pt x="6" y="128"/>
                  <a:pt x="9" y="117"/>
                  <a:pt x="13" y="107"/>
                </a:cubicBezTo>
                <a:cubicBezTo>
                  <a:pt x="17" y="96"/>
                  <a:pt x="23" y="86"/>
                  <a:pt x="29" y="77"/>
                </a:cubicBezTo>
                <a:cubicBezTo>
                  <a:pt x="35" y="67"/>
                  <a:pt x="42" y="59"/>
                  <a:pt x="50" y="51"/>
                </a:cubicBezTo>
                <a:cubicBezTo>
                  <a:pt x="58" y="43"/>
                  <a:pt x="67" y="36"/>
                  <a:pt x="77" y="29"/>
                </a:cubicBezTo>
                <a:cubicBezTo>
                  <a:pt x="86" y="23"/>
                  <a:pt x="96" y="18"/>
                  <a:pt x="106" y="13"/>
                </a:cubicBezTo>
                <a:cubicBezTo>
                  <a:pt x="117" y="9"/>
                  <a:pt x="128" y="6"/>
                  <a:pt x="139" y="4"/>
                </a:cubicBezTo>
                <a:cubicBezTo>
                  <a:pt x="150" y="1"/>
                  <a:pt x="161" y="0"/>
                  <a:pt x="172" y="0"/>
                </a:cubicBezTo>
                <a:lnTo>
                  <a:pt x="7989" y="0"/>
                </a:lnTo>
                <a:cubicBezTo>
                  <a:pt x="8000" y="0"/>
                  <a:pt x="8011" y="1"/>
                  <a:pt x="8023" y="4"/>
                </a:cubicBezTo>
                <a:cubicBezTo>
                  <a:pt x="8034" y="6"/>
                  <a:pt x="8044" y="9"/>
                  <a:pt x="8055" y="13"/>
                </a:cubicBezTo>
                <a:cubicBezTo>
                  <a:pt x="8065" y="18"/>
                  <a:pt x="8075" y="23"/>
                  <a:pt x="8085" y="29"/>
                </a:cubicBezTo>
                <a:cubicBezTo>
                  <a:pt x="8094" y="36"/>
                  <a:pt x="8103" y="43"/>
                  <a:pt x="8111" y="51"/>
                </a:cubicBezTo>
                <a:cubicBezTo>
                  <a:pt x="8119" y="59"/>
                  <a:pt x="8126" y="67"/>
                  <a:pt x="8132" y="77"/>
                </a:cubicBezTo>
                <a:cubicBezTo>
                  <a:pt x="8138" y="86"/>
                  <a:pt x="8144" y="96"/>
                  <a:pt x="8148" y="107"/>
                </a:cubicBezTo>
                <a:cubicBezTo>
                  <a:pt x="8152" y="117"/>
                  <a:pt x="8156" y="128"/>
                  <a:pt x="8158" y="139"/>
                </a:cubicBezTo>
                <a:cubicBezTo>
                  <a:pt x="8160" y="150"/>
                  <a:pt x="8161" y="161"/>
                  <a:pt x="8161" y="173"/>
                </a:cubicBezTo>
                <a:lnTo>
                  <a:pt x="8161" y="6116"/>
                </a:lnTo>
                <a:cubicBezTo>
                  <a:pt x="8161" y="6127"/>
                  <a:pt x="8160" y="6139"/>
                  <a:pt x="8158" y="6150"/>
                </a:cubicBezTo>
                <a:cubicBezTo>
                  <a:pt x="8156" y="6161"/>
                  <a:pt x="8152" y="6172"/>
                  <a:pt x="8148" y="6182"/>
                </a:cubicBezTo>
                <a:cubicBezTo>
                  <a:pt x="8144" y="6192"/>
                  <a:pt x="8138" y="6202"/>
                  <a:pt x="8132" y="6212"/>
                </a:cubicBezTo>
                <a:cubicBezTo>
                  <a:pt x="8126" y="6221"/>
                  <a:pt x="8119" y="6230"/>
                  <a:pt x="8111" y="6238"/>
                </a:cubicBezTo>
                <a:cubicBezTo>
                  <a:pt x="8103" y="6246"/>
                  <a:pt x="8094" y="6253"/>
                  <a:pt x="8085" y="6259"/>
                </a:cubicBezTo>
                <a:cubicBezTo>
                  <a:pt x="8075" y="6266"/>
                  <a:pt x="8065" y="6271"/>
                  <a:pt x="8055" y="6275"/>
                </a:cubicBezTo>
                <a:cubicBezTo>
                  <a:pt x="8044" y="6280"/>
                  <a:pt x="8034" y="6283"/>
                  <a:pt x="8023" y="6285"/>
                </a:cubicBezTo>
                <a:cubicBezTo>
                  <a:pt x="8011" y="6287"/>
                  <a:pt x="8000" y="6288"/>
                  <a:pt x="7989" y="6288"/>
                </a:cubicBezTo>
                <a:lnTo>
                  <a:pt x="172" y="6288"/>
                </a:lnTo>
                <a:cubicBezTo>
                  <a:pt x="161" y="6288"/>
                  <a:pt x="150" y="6287"/>
                  <a:pt x="139" y="6285"/>
                </a:cubicBezTo>
                <a:cubicBezTo>
                  <a:pt x="128" y="6283"/>
                  <a:pt x="117" y="6280"/>
                  <a:pt x="106" y="6275"/>
                </a:cubicBezTo>
                <a:cubicBezTo>
                  <a:pt x="96" y="6271"/>
                  <a:pt x="86" y="6266"/>
                  <a:pt x="77" y="6259"/>
                </a:cubicBezTo>
                <a:cubicBezTo>
                  <a:pt x="67" y="6253"/>
                  <a:pt x="58" y="6246"/>
                  <a:pt x="50" y="6238"/>
                </a:cubicBezTo>
                <a:cubicBezTo>
                  <a:pt x="42" y="6230"/>
                  <a:pt x="35" y="6221"/>
                  <a:pt x="29" y="6212"/>
                </a:cubicBezTo>
                <a:cubicBezTo>
                  <a:pt x="23" y="6202"/>
                  <a:pt x="17" y="6192"/>
                  <a:pt x="13" y="6182"/>
                </a:cubicBezTo>
                <a:cubicBezTo>
                  <a:pt x="9" y="6172"/>
                  <a:pt x="6" y="6161"/>
                  <a:pt x="3" y="6150"/>
                </a:cubicBezTo>
                <a:cubicBezTo>
                  <a:pt x="1" y="6139"/>
                  <a:pt x="0" y="6127"/>
                  <a:pt x="0" y="6116"/>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321" name=""/>
          <p:cNvSpPr/>
          <p:nvPr/>
        </p:nvSpPr>
        <p:spPr>
          <a:xfrm>
            <a:off x="558000" y="4650480"/>
            <a:ext cx="465480" cy="465480"/>
          </a:xfrm>
          <a:custGeom>
            <a:avLst/>
            <a:gdLst/>
            <a:ahLst/>
            <a:rect l="0" t="0" r="r" b="b"/>
            <a:pathLst>
              <a:path w="1293" h="1293">
                <a:moveTo>
                  <a:pt x="1293" y="647"/>
                </a:moveTo>
                <a:cubicBezTo>
                  <a:pt x="1293" y="668"/>
                  <a:pt x="1292" y="689"/>
                  <a:pt x="1289" y="710"/>
                </a:cubicBezTo>
                <a:cubicBezTo>
                  <a:pt x="1287" y="731"/>
                  <a:pt x="1284" y="752"/>
                  <a:pt x="1280" y="773"/>
                </a:cubicBezTo>
                <a:cubicBezTo>
                  <a:pt x="1276" y="794"/>
                  <a:pt x="1271" y="814"/>
                  <a:pt x="1265" y="835"/>
                </a:cubicBezTo>
                <a:cubicBezTo>
                  <a:pt x="1259" y="855"/>
                  <a:pt x="1252" y="875"/>
                  <a:pt x="1243" y="894"/>
                </a:cubicBezTo>
                <a:cubicBezTo>
                  <a:pt x="1235" y="914"/>
                  <a:pt x="1226" y="933"/>
                  <a:pt x="1216" y="951"/>
                </a:cubicBezTo>
                <a:cubicBezTo>
                  <a:pt x="1206" y="970"/>
                  <a:pt x="1195" y="988"/>
                  <a:pt x="1184" y="1006"/>
                </a:cubicBezTo>
                <a:cubicBezTo>
                  <a:pt x="1172" y="1023"/>
                  <a:pt x="1159" y="1040"/>
                  <a:pt x="1146" y="1057"/>
                </a:cubicBezTo>
                <a:cubicBezTo>
                  <a:pt x="1133" y="1073"/>
                  <a:pt x="1118" y="1089"/>
                  <a:pt x="1103" y="1104"/>
                </a:cubicBezTo>
                <a:cubicBezTo>
                  <a:pt x="1088" y="1119"/>
                  <a:pt x="1073" y="1133"/>
                  <a:pt x="1056" y="1146"/>
                </a:cubicBezTo>
                <a:cubicBezTo>
                  <a:pt x="1040" y="1160"/>
                  <a:pt x="1023" y="1172"/>
                  <a:pt x="1006" y="1184"/>
                </a:cubicBezTo>
                <a:cubicBezTo>
                  <a:pt x="988" y="1196"/>
                  <a:pt x="970" y="1207"/>
                  <a:pt x="951" y="1217"/>
                </a:cubicBezTo>
                <a:cubicBezTo>
                  <a:pt x="932" y="1227"/>
                  <a:pt x="913" y="1236"/>
                  <a:pt x="894" y="1244"/>
                </a:cubicBezTo>
                <a:cubicBezTo>
                  <a:pt x="874" y="1252"/>
                  <a:pt x="854" y="1259"/>
                  <a:pt x="834" y="1265"/>
                </a:cubicBezTo>
                <a:cubicBezTo>
                  <a:pt x="814" y="1271"/>
                  <a:pt x="793" y="1276"/>
                  <a:pt x="773" y="1281"/>
                </a:cubicBezTo>
                <a:cubicBezTo>
                  <a:pt x="752" y="1285"/>
                  <a:pt x="731" y="1288"/>
                  <a:pt x="710" y="1290"/>
                </a:cubicBezTo>
                <a:cubicBezTo>
                  <a:pt x="689" y="1292"/>
                  <a:pt x="668" y="1293"/>
                  <a:pt x="647" y="1293"/>
                </a:cubicBezTo>
                <a:cubicBezTo>
                  <a:pt x="626" y="1293"/>
                  <a:pt x="604" y="1292"/>
                  <a:pt x="583" y="1290"/>
                </a:cubicBezTo>
                <a:cubicBezTo>
                  <a:pt x="562" y="1288"/>
                  <a:pt x="541" y="1285"/>
                  <a:pt x="521" y="1281"/>
                </a:cubicBezTo>
                <a:cubicBezTo>
                  <a:pt x="500" y="1276"/>
                  <a:pt x="479" y="1271"/>
                  <a:pt x="459" y="1265"/>
                </a:cubicBezTo>
                <a:cubicBezTo>
                  <a:pt x="439" y="1259"/>
                  <a:pt x="419" y="1252"/>
                  <a:pt x="399" y="1244"/>
                </a:cubicBezTo>
                <a:cubicBezTo>
                  <a:pt x="379" y="1236"/>
                  <a:pt x="360" y="1227"/>
                  <a:pt x="341" y="1217"/>
                </a:cubicBezTo>
                <a:cubicBezTo>
                  <a:pt x="323" y="1207"/>
                  <a:pt x="304" y="1196"/>
                  <a:pt x="287" y="1184"/>
                </a:cubicBezTo>
                <a:cubicBezTo>
                  <a:pt x="269" y="1172"/>
                  <a:pt x="252" y="1160"/>
                  <a:pt x="236" y="1146"/>
                </a:cubicBezTo>
                <a:cubicBezTo>
                  <a:pt x="220" y="1133"/>
                  <a:pt x="204" y="1119"/>
                  <a:pt x="189" y="1104"/>
                </a:cubicBezTo>
                <a:cubicBezTo>
                  <a:pt x="174" y="1089"/>
                  <a:pt x="160" y="1073"/>
                  <a:pt x="146" y="1057"/>
                </a:cubicBezTo>
                <a:cubicBezTo>
                  <a:pt x="133" y="1040"/>
                  <a:pt x="120" y="1023"/>
                  <a:pt x="109" y="1006"/>
                </a:cubicBezTo>
                <a:cubicBezTo>
                  <a:pt x="97" y="988"/>
                  <a:pt x="86" y="970"/>
                  <a:pt x="76" y="951"/>
                </a:cubicBezTo>
                <a:cubicBezTo>
                  <a:pt x="66" y="933"/>
                  <a:pt x="57" y="914"/>
                  <a:pt x="49" y="894"/>
                </a:cubicBezTo>
                <a:cubicBezTo>
                  <a:pt x="41" y="875"/>
                  <a:pt x="34" y="855"/>
                  <a:pt x="28" y="834"/>
                </a:cubicBezTo>
                <a:cubicBezTo>
                  <a:pt x="21" y="814"/>
                  <a:pt x="16" y="794"/>
                  <a:pt x="12" y="773"/>
                </a:cubicBezTo>
                <a:cubicBezTo>
                  <a:pt x="8" y="752"/>
                  <a:pt x="5" y="731"/>
                  <a:pt x="3" y="710"/>
                </a:cubicBezTo>
                <a:cubicBezTo>
                  <a:pt x="1" y="689"/>
                  <a:pt x="0" y="668"/>
                  <a:pt x="0" y="647"/>
                </a:cubicBezTo>
                <a:cubicBezTo>
                  <a:pt x="0" y="625"/>
                  <a:pt x="1" y="604"/>
                  <a:pt x="3" y="583"/>
                </a:cubicBezTo>
                <a:cubicBezTo>
                  <a:pt x="5" y="562"/>
                  <a:pt x="8" y="541"/>
                  <a:pt x="12" y="520"/>
                </a:cubicBezTo>
                <a:cubicBezTo>
                  <a:pt x="16" y="499"/>
                  <a:pt x="21" y="479"/>
                  <a:pt x="28" y="458"/>
                </a:cubicBezTo>
                <a:cubicBezTo>
                  <a:pt x="34" y="438"/>
                  <a:pt x="41" y="418"/>
                  <a:pt x="49" y="399"/>
                </a:cubicBezTo>
                <a:cubicBezTo>
                  <a:pt x="57" y="379"/>
                  <a:pt x="66" y="360"/>
                  <a:pt x="76" y="342"/>
                </a:cubicBezTo>
                <a:cubicBezTo>
                  <a:pt x="86" y="323"/>
                  <a:pt x="97" y="305"/>
                  <a:pt x="109" y="287"/>
                </a:cubicBezTo>
                <a:cubicBezTo>
                  <a:pt x="120" y="270"/>
                  <a:pt x="133" y="253"/>
                  <a:pt x="146" y="236"/>
                </a:cubicBezTo>
                <a:cubicBezTo>
                  <a:pt x="160" y="220"/>
                  <a:pt x="174" y="204"/>
                  <a:pt x="189" y="189"/>
                </a:cubicBezTo>
                <a:cubicBezTo>
                  <a:pt x="204" y="174"/>
                  <a:pt x="220" y="160"/>
                  <a:pt x="236" y="147"/>
                </a:cubicBezTo>
                <a:cubicBezTo>
                  <a:pt x="252" y="133"/>
                  <a:pt x="269" y="121"/>
                  <a:pt x="287" y="109"/>
                </a:cubicBezTo>
                <a:cubicBezTo>
                  <a:pt x="304" y="97"/>
                  <a:pt x="323" y="86"/>
                  <a:pt x="341" y="76"/>
                </a:cubicBezTo>
                <a:cubicBezTo>
                  <a:pt x="360" y="66"/>
                  <a:pt x="379" y="57"/>
                  <a:pt x="399" y="49"/>
                </a:cubicBezTo>
                <a:cubicBezTo>
                  <a:pt x="419" y="41"/>
                  <a:pt x="439" y="34"/>
                  <a:pt x="459" y="28"/>
                </a:cubicBezTo>
                <a:cubicBezTo>
                  <a:pt x="479" y="22"/>
                  <a:pt x="500" y="17"/>
                  <a:pt x="521" y="12"/>
                </a:cubicBezTo>
                <a:cubicBezTo>
                  <a:pt x="541" y="8"/>
                  <a:pt x="562" y="5"/>
                  <a:pt x="583" y="3"/>
                </a:cubicBezTo>
                <a:cubicBezTo>
                  <a:pt x="604" y="1"/>
                  <a:pt x="626" y="0"/>
                  <a:pt x="647" y="0"/>
                </a:cubicBezTo>
                <a:cubicBezTo>
                  <a:pt x="668" y="0"/>
                  <a:pt x="689" y="1"/>
                  <a:pt x="710" y="3"/>
                </a:cubicBezTo>
                <a:cubicBezTo>
                  <a:pt x="731" y="5"/>
                  <a:pt x="752" y="8"/>
                  <a:pt x="773" y="12"/>
                </a:cubicBezTo>
                <a:cubicBezTo>
                  <a:pt x="793" y="17"/>
                  <a:pt x="814" y="22"/>
                  <a:pt x="834" y="28"/>
                </a:cubicBezTo>
                <a:cubicBezTo>
                  <a:pt x="854" y="34"/>
                  <a:pt x="874" y="41"/>
                  <a:pt x="894" y="49"/>
                </a:cubicBezTo>
                <a:cubicBezTo>
                  <a:pt x="913" y="57"/>
                  <a:pt x="932" y="66"/>
                  <a:pt x="951" y="76"/>
                </a:cubicBezTo>
                <a:cubicBezTo>
                  <a:pt x="970" y="86"/>
                  <a:pt x="988" y="97"/>
                  <a:pt x="1006" y="109"/>
                </a:cubicBezTo>
                <a:cubicBezTo>
                  <a:pt x="1023" y="121"/>
                  <a:pt x="1040" y="133"/>
                  <a:pt x="1056" y="147"/>
                </a:cubicBezTo>
                <a:cubicBezTo>
                  <a:pt x="1073" y="160"/>
                  <a:pt x="1088" y="174"/>
                  <a:pt x="1103" y="189"/>
                </a:cubicBezTo>
                <a:cubicBezTo>
                  <a:pt x="1118" y="204"/>
                  <a:pt x="1133" y="220"/>
                  <a:pt x="1146" y="236"/>
                </a:cubicBezTo>
                <a:cubicBezTo>
                  <a:pt x="1159" y="253"/>
                  <a:pt x="1172" y="270"/>
                  <a:pt x="1184" y="287"/>
                </a:cubicBezTo>
                <a:cubicBezTo>
                  <a:pt x="1195" y="305"/>
                  <a:pt x="1206" y="323"/>
                  <a:pt x="1216" y="342"/>
                </a:cubicBezTo>
                <a:cubicBezTo>
                  <a:pt x="1226" y="360"/>
                  <a:pt x="1235" y="379"/>
                  <a:pt x="1243" y="399"/>
                </a:cubicBezTo>
                <a:cubicBezTo>
                  <a:pt x="1252" y="418"/>
                  <a:pt x="1259" y="438"/>
                  <a:pt x="1265" y="458"/>
                </a:cubicBezTo>
                <a:cubicBezTo>
                  <a:pt x="1271" y="479"/>
                  <a:pt x="1276" y="499"/>
                  <a:pt x="1280" y="520"/>
                </a:cubicBezTo>
                <a:cubicBezTo>
                  <a:pt x="1284" y="541"/>
                  <a:pt x="1287" y="562"/>
                  <a:pt x="1289" y="583"/>
                </a:cubicBezTo>
                <a:cubicBezTo>
                  <a:pt x="1292" y="604"/>
                  <a:pt x="1293" y="625"/>
                  <a:pt x="1293" y="647"/>
                </a:cubicBezTo>
                <a:close/>
              </a:path>
            </a:pathLst>
          </a:custGeom>
          <a:solidFill>
            <a:srgbClr val="ede9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322" name="" descr=""/>
          <p:cNvPicPr/>
          <p:nvPr/>
        </p:nvPicPr>
        <p:blipFill>
          <a:blip r:embed="rId8"/>
          <a:stretch/>
        </p:blipFill>
        <p:spPr>
          <a:xfrm>
            <a:off x="720720" y="4790160"/>
            <a:ext cx="139320" cy="185760"/>
          </a:xfrm>
          <a:prstGeom prst="rect">
            <a:avLst/>
          </a:prstGeom>
          <a:noFill/>
          <a:ln w="0">
            <a:noFill/>
          </a:ln>
        </p:spPr>
      </p:pic>
      <p:sp>
        <p:nvSpPr>
          <p:cNvPr id="1323" name=""/>
          <p:cNvSpPr txBox="1"/>
          <p:nvPr/>
        </p:nvSpPr>
        <p:spPr>
          <a:xfrm>
            <a:off x="6955200" y="3918960"/>
            <a:ext cx="62100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等）の活用</a:t>
            </a:r>
            <a:endParaRPr b="0" lang="en-US" sz="980" strike="noStrike" u="none">
              <a:solidFill>
                <a:srgbClr val="000000"/>
              </a:solidFill>
              <a:effectLst/>
              <a:uFillTx/>
              <a:latin typeface="Times New Roman"/>
            </a:endParaRPr>
          </a:p>
        </p:txBody>
      </p:sp>
      <p:sp>
        <p:nvSpPr>
          <p:cNvPr id="1324" name=""/>
          <p:cNvSpPr/>
          <p:nvPr/>
        </p:nvSpPr>
        <p:spPr>
          <a:xfrm>
            <a:off x="581040" y="5309280"/>
            <a:ext cx="39240" cy="39240"/>
          </a:xfrm>
          <a:custGeom>
            <a:avLst/>
            <a:gdLst/>
            <a:ahLst/>
            <a:rect l="0" t="0" r="r" b="b"/>
            <a:pathLst>
              <a:path w="109" h="109">
                <a:moveTo>
                  <a:pt x="109" y="54"/>
                </a:moveTo>
                <a:cubicBezTo>
                  <a:pt x="109" y="61"/>
                  <a:pt x="108" y="68"/>
                  <a:pt x="105" y="76"/>
                </a:cubicBezTo>
                <a:cubicBezTo>
                  <a:pt x="102" y="82"/>
                  <a:pt x="98" y="88"/>
                  <a:pt x="93" y="93"/>
                </a:cubicBezTo>
                <a:cubicBezTo>
                  <a:pt x="88" y="98"/>
                  <a:pt x="82" y="102"/>
                  <a:pt x="76" y="105"/>
                </a:cubicBezTo>
                <a:cubicBezTo>
                  <a:pt x="69" y="107"/>
                  <a:pt x="62" y="109"/>
                  <a:pt x="55" y="109"/>
                </a:cubicBezTo>
                <a:cubicBezTo>
                  <a:pt x="48" y="109"/>
                  <a:pt x="40" y="107"/>
                  <a:pt x="34" y="105"/>
                </a:cubicBezTo>
                <a:cubicBezTo>
                  <a:pt x="27" y="102"/>
                  <a:pt x="21" y="98"/>
                  <a:pt x="16" y="93"/>
                </a:cubicBezTo>
                <a:cubicBezTo>
                  <a:pt x="11" y="88"/>
                  <a:pt x="7" y="82"/>
                  <a:pt x="4" y="76"/>
                </a:cubicBezTo>
                <a:cubicBezTo>
                  <a:pt x="2" y="68"/>
                  <a:pt x="0" y="61"/>
                  <a:pt x="0" y="54"/>
                </a:cubicBezTo>
                <a:cubicBezTo>
                  <a:pt x="0" y="47"/>
                  <a:pt x="2" y="40"/>
                  <a:pt x="4" y="33"/>
                </a:cubicBezTo>
                <a:cubicBezTo>
                  <a:pt x="7" y="27"/>
                  <a:pt x="11" y="21"/>
                  <a:pt x="16" y="16"/>
                </a:cubicBezTo>
                <a:cubicBezTo>
                  <a:pt x="21" y="11"/>
                  <a:pt x="27" y="7"/>
                  <a:pt x="34" y="4"/>
                </a:cubicBezTo>
                <a:cubicBezTo>
                  <a:pt x="40" y="2"/>
                  <a:pt x="48" y="0"/>
                  <a:pt x="55" y="0"/>
                </a:cubicBezTo>
                <a:cubicBezTo>
                  <a:pt x="62" y="0"/>
                  <a:pt x="69" y="2"/>
                  <a:pt x="76" y="4"/>
                </a:cubicBezTo>
                <a:cubicBezTo>
                  <a:pt x="82" y="7"/>
                  <a:pt x="88" y="11"/>
                  <a:pt x="93" y="16"/>
                </a:cubicBezTo>
                <a:cubicBezTo>
                  <a:pt x="98" y="21"/>
                  <a:pt x="102" y="27"/>
                  <a:pt x="105" y="33"/>
                </a:cubicBezTo>
                <a:cubicBezTo>
                  <a:pt x="108" y="40"/>
                  <a:pt x="109" y="47"/>
                  <a:pt x="109" y="54"/>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25" name=""/>
          <p:cNvSpPr txBox="1"/>
          <p:nvPr/>
        </p:nvSpPr>
        <p:spPr>
          <a:xfrm>
            <a:off x="1147320" y="4788360"/>
            <a:ext cx="1562400" cy="195480"/>
          </a:xfrm>
          <a:prstGeom prst="rect">
            <a:avLst/>
          </a:prstGeom>
          <a:noFill/>
          <a:ln w="0">
            <a:noFill/>
          </a:ln>
        </p:spPr>
        <p:txBody>
          <a:bodyPr wrap="none" lIns="0" rIns="0" tIns="0" bIns="0" anchor="t">
            <a:spAutoFit/>
          </a:bodyPr>
          <a:p>
            <a:r>
              <a:rPr b="0" lang="zh-CN" sz="1220" strike="noStrike" u="none">
                <a:solidFill>
                  <a:srgbClr val="6d28d9"/>
                </a:solidFill>
                <a:effectLst/>
                <a:uFillTx/>
                <a:latin typeface="WenQuanYiZenHei"/>
                <a:ea typeface="WenQuanYiZenHei"/>
              </a:rPr>
              <a:t>施設基準の充足と届出</a:t>
            </a:r>
            <a:endParaRPr b="0" lang="en-US" sz="1220" strike="noStrike" u="none">
              <a:solidFill>
                <a:srgbClr val="000000"/>
              </a:solidFill>
              <a:effectLst/>
              <a:uFillTx/>
              <a:latin typeface="Times New Roman"/>
            </a:endParaRPr>
          </a:p>
        </p:txBody>
      </p:sp>
      <p:sp>
        <p:nvSpPr>
          <p:cNvPr id="1326" name=""/>
          <p:cNvSpPr/>
          <p:nvPr/>
        </p:nvSpPr>
        <p:spPr>
          <a:xfrm>
            <a:off x="581040" y="5557320"/>
            <a:ext cx="39240" cy="39240"/>
          </a:xfrm>
          <a:custGeom>
            <a:avLst/>
            <a:gdLst/>
            <a:ahLst/>
            <a:rect l="0" t="0" r="r" b="b"/>
            <a:pathLst>
              <a:path w="109" h="109">
                <a:moveTo>
                  <a:pt x="109" y="55"/>
                </a:moveTo>
                <a:cubicBezTo>
                  <a:pt x="109" y="62"/>
                  <a:pt x="108" y="69"/>
                  <a:pt x="105" y="76"/>
                </a:cubicBezTo>
                <a:cubicBezTo>
                  <a:pt x="102" y="82"/>
                  <a:pt x="98" y="88"/>
                  <a:pt x="93" y="93"/>
                </a:cubicBezTo>
                <a:cubicBezTo>
                  <a:pt x="88" y="98"/>
                  <a:pt x="82" y="102"/>
                  <a:pt x="76" y="105"/>
                </a:cubicBezTo>
                <a:cubicBezTo>
                  <a:pt x="69" y="107"/>
                  <a:pt x="62" y="109"/>
                  <a:pt x="55" y="109"/>
                </a:cubicBezTo>
                <a:cubicBezTo>
                  <a:pt x="48" y="109"/>
                  <a:pt x="40" y="107"/>
                  <a:pt x="34" y="105"/>
                </a:cubicBezTo>
                <a:cubicBezTo>
                  <a:pt x="27" y="102"/>
                  <a:pt x="21" y="98"/>
                  <a:pt x="16" y="93"/>
                </a:cubicBezTo>
                <a:cubicBezTo>
                  <a:pt x="11" y="88"/>
                  <a:pt x="7" y="82"/>
                  <a:pt x="4" y="76"/>
                </a:cubicBezTo>
                <a:cubicBezTo>
                  <a:pt x="2" y="69"/>
                  <a:pt x="0" y="62"/>
                  <a:pt x="0" y="55"/>
                </a:cubicBezTo>
                <a:cubicBezTo>
                  <a:pt x="0" y="48"/>
                  <a:pt x="2" y="41"/>
                  <a:pt x="4" y="34"/>
                </a:cubicBezTo>
                <a:cubicBezTo>
                  <a:pt x="7" y="28"/>
                  <a:pt x="11" y="21"/>
                  <a:pt x="16" y="16"/>
                </a:cubicBezTo>
                <a:cubicBezTo>
                  <a:pt x="21" y="11"/>
                  <a:pt x="27" y="7"/>
                  <a:pt x="34" y="4"/>
                </a:cubicBezTo>
                <a:cubicBezTo>
                  <a:pt x="40" y="2"/>
                  <a:pt x="48" y="0"/>
                  <a:pt x="55" y="0"/>
                </a:cubicBezTo>
                <a:cubicBezTo>
                  <a:pt x="62" y="0"/>
                  <a:pt x="69" y="2"/>
                  <a:pt x="76" y="4"/>
                </a:cubicBezTo>
                <a:cubicBezTo>
                  <a:pt x="82" y="7"/>
                  <a:pt x="88" y="11"/>
                  <a:pt x="93" y="16"/>
                </a:cubicBezTo>
                <a:cubicBezTo>
                  <a:pt x="98" y="21"/>
                  <a:pt x="102" y="28"/>
                  <a:pt x="105" y="34"/>
                </a:cubicBezTo>
                <a:cubicBezTo>
                  <a:pt x="108" y="41"/>
                  <a:pt x="109" y="48"/>
                  <a:pt x="109" y="55"/>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27" name=""/>
          <p:cNvSpPr txBox="1"/>
          <p:nvPr/>
        </p:nvSpPr>
        <p:spPr>
          <a:xfrm>
            <a:off x="713160" y="5252040"/>
            <a:ext cx="236628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自院が取得している施設基準の把握と活用</a:t>
            </a:r>
            <a:endParaRPr b="0" lang="en-US" sz="980" strike="noStrike" u="none">
              <a:solidFill>
                <a:srgbClr val="000000"/>
              </a:solidFill>
              <a:effectLst/>
              <a:uFillTx/>
              <a:latin typeface="Times New Roman"/>
            </a:endParaRPr>
          </a:p>
        </p:txBody>
      </p:sp>
      <p:sp>
        <p:nvSpPr>
          <p:cNvPr id="1328" name=""/>
          <p:cNvSpPr/>
          <p:nvPr/>
        </p:nvSpPr>
        <p:spPr>
          <a:xfrm>
            <a:off x="581040" y="5805360"/>
            <a:ext cx="39240" cy="39240"/>
          </a:xfrm>
          <a:custGeom>
            <a:avLst/>
            <a:gdLst/>
            <a:ahLst/>
            <a:rect l="0" t="0" r="r" b="b"/>
            <a:pathLst>
              <a:path w="109" h="109">
                <a:moveTo>
                  <a:pt x="109" y="54"/>
                </a:moveTo>
                <a:cubicBezTo>
                  <a:pt x="109" y="61"/>
                  <a:pt x="108" y="68"/>
                  <a:pt x="105" y="75"/>
                </a:cubicBezTo>
                <a:cubicBezTo>
                  <a:pt x="102" y="81"/>
                  <a:pt x="98" y="88"/>
                  <a:pt x="93" y="93"/>
                </a:cubicBezTo>
                <a:cubicBezTo>
                  <a:pt x="88" y="98"/>
                  <a:pt x="82" y="102"/>
                  <a:pt x="76" y="105"/>
                </a:cubicBezTo>
                <a:cubicBezTo>
                  <a:pt x="69" y="107"/>
                  <a:pt x="62" y="109"/>
                  <a:pt x="55" y="109"/>
                </a:cubicBezTo>
                <a:cubicBezTo>
                  <a:pt x="48" y="109"/>
                  <a:pt x="40" y="107"/>
                  <a:pt x="34" y="105"/>
                </a:cubicBezTo>
                <a:cubicBezTo>
                  <a:pt x="27" y="102"/>
                  <a:pt x="21" y="98"/>
                  <a:pt x="16" y="93"/>
                </a:cubicBezTo>
                <a:cubicBezTo>
                  <a:pt x="11" y="88"/>
                  <a:pt x="7" y="81"/>
                  <a:pt x="4" y="75"/>
                </a:cubicBezTo>
                <a:cubicBezTo>
                  <a:pt x="2" y="68"/>
                  <a:pt x="0" y="61"/>
                  <a:pt x="0" y="54"/>
                </a:cubicBezTo>
                <a:cubicBezTo>
                  <a:pt x="0" y="47"/>
                  <a:pt x="2" y="40"/>
                  <a:pt x="4" y="33"/>
                </a:cubicBezTo>
                <a:cubicBezTo>
                  <a:pt x="7" y="27"/>
                  <a:pt x="11" y="21"/>
                  <a:pt x="16" y="16"/>
                </a:cubicBezTo>
                <a:cubicBezTo>
                  <a:pt x="21" y="11"/>
                  <a:pt x="27" y="7"/>
                  <a:pt x="34" y="4"/>
                </a:cubicBezTo>
                <a:cubicBezTo>
                  <a:pt x="40" y="2"/>
                  <a:pt x="48" y="0"/>
                  <a:pt x="55" y="0"/>
                </a:cubicBezTo>
                <a:cubicBezTo>
                  <a:pt x="62" y="0"/>
                  <a:pt x="69" y="2"/>
                  <a:pt x="76" y="4"/>
                </a:cubicBezTo>
                <a:cubicBezTo>
                  <a:pt x="82" y="7"/>
                  <a:pt x="88" y="11"/>
                  <a:pt x="93" y="16"/>
                </a:cubicBezTo>
                <a:cubicBezTo>
                  <a:pt x="98" y="21"/>
                  <a:pt x="102" y="27"/>
                  <a:pt x="105" y="33"/>
                </a:cubicBezTo>
                <a:cubicBezTo>
                  <a:pt x="108" y="40"/>
                  <a:pt x="109" y="47"/>
                  <a:pt x="109" y="54"/>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29" name=""/>
          <p:cNvSpPr txBox="1"/>
          <p:nvPr/>
        </p:nvSpPr>
        <p:spPr>
          <a:xfrm>
            <a:off x="713160" y="5500080"/>
            <a:ext cx="186408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新たな施設基準取得の検討と準備</a:t>
            </a:r>
            <a:endParaRPr b="0" lang="en-US" sz="980" strike="noStrike" u="none">
              <a:solidFill>
                <a:srgbClr val="000000"/>
              </a:solidFill>
              <a:effectLst/>
              <a:uFillTx/>
              <a:latin typeface="Times New Roman"/>
            </a:endParaRPr>
          </a:p>
        </p:txBody>
      </p:sp>
      <p:sp>
        <p:nvSpPr>
          <p:cNvPr id="1330" name=""/>
          <p:cNvSpPr/>
          <p:nvPr/>
        </p:nvSpPr>
        <p:spPr>
          <a:xfrm>
            <a:off x="581040" y="6053400"/>
            <a:ext cx="39240" cy="39240"/>
          </a:xfrm>
          <a:custGeom>
            <a:avLst/>
            <a:gdLst/>
            <a:ahLst/>
            <a:rect l="0" t="0" r="r" b="b"/>
            <a:pathLst>
              <a:path w="109" h="109">
                <a:moveTo>
                  <a:pt x="109" y="55"/>
                </a:moveTo>
                <a:cubicBezTo>
                  <a:pt x="109" y="62"/>
                  <a:pt x="108" y="69"/>
                  <a:pt x="105" y="76"/>
                </a:cubicBezTo>
                <a:cubicBezTo>
                  <a:pt x="102" y="82"/>
                  <a:pt x="98" y="88"/>
                  <a:pt x="93" y="93"/>
                </a:cubicBezTo>
                <a:cubicBezTo>
                  <a:pt x="88" y="98"/>
                  <a:pt x="82" y="102"/>
                  <a:pt x="76" y="105"/>
                </a:cubicBezTo>
                <a:cubicBezTo>
                  <a:pt x="69" y="107"/>
                  <a:pt x="62" y="109"/>
                  <a:pt x="55" y="109"/>
                </a:cubicBezTo>
                <a:cubicBezTo>
                  <a:pt x="48" y="109"/>
                  <a:pt x="40" y="107"/>
                  <a:pt x="34" y="105"/>
                </a:cubicBezTo>
                <a:cubicBezTo>
                  <a:pt x="27" y="102"/>
                  <a:pt x="21" y="98"/>
                  <a:pt x="16" y="93"/>
                </a:cubicBezTo>
                <a:cubicBezTo>
                  <a:pt x="11" y="88"/>
                  <a:pt x="7" y="82"/>
                  <a:pt x="4" y="76"/>
                </a:cubicBezTo>
                <a:cubicBezTo>
                  <a:pt x="2" y="69"/>
                  <a:pt x="0" y="62"/>
                  <a:pt x="0" y="55"/>
                </a:cubicBezTo>
                <a:cubicBezTo>
                  <a:pt x="0" y="48"/>
                  <a:pt x="2" y="41"/>
                  <a:pt x="4" y="33"/>
                </a:cubicBezTo>
                <a:cubicBezTo>
                  <a:pt x="7" y="27"/>
                  <a:pt x="11" y="21"/>
                  <a:pt x="16" y="16"/>
                </a:cubicBezTo>
                <a:cubicBezTo>
                  <a:pt x="21" y="11"/>
                  <a:pt x="27" y="7"/>
                  <a:pt x="34" y="4"/>
                </a:cubicBezTo>
                <a:cubicBezTo>
                  <a:pt x="40" y="2"/>
                  <a:pt x="48" y="0"/>
                  <a:pt x="55" y="0"/>
                </a:cubicBezTo>
                <a:cubicBezTo>
                  <a:pt x="62" y="0"/>
                  <a:pt x="69" y="2"/>
                  <a:pt x="76" y="4"/>
                </a:cubicBezTo>
                <a:cubicBezTo>
                  <a:pt x="82" y="7"/>
                  <a:pt x="88" y="11"/>
                  <a:pt x="93" y="16"/>
                </a:cubicBezTo>
                <a:cubicBezTo>
                  <a:pt x="98" y="21"/>
                  <a:pt x="102" y="27"/>
                  <a:pt x="105" y="33"/>
                </a:cubicBezTo>
                <a:cubicBezTo>
                  <a:pt x="108" y="41"/>
                  <a:pt x="109" y="48"/>
                  <a:pt x="109" y="55"/>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31" name=""/>
          <p:cNvSpPr txBox="1"/>
          <p:nvPr/>
        </p:nvSpPr>
        <p:spPr>
          <a:xfrm>
            <a:off x="713160" y="5748120"/>
            <a:ext cx="223128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施設基準に必要な人員配置・設備の維持</a:t>
            </a:r>
            <a:endParaRPr b="0" lang="en-US" sz="980" strike="noStrike" u="none">
              <a:solidFill>
                <a:srgbClr val="000000"/>
              </a:solidFill>
              <a:effectLst/>
              <a:uFillTx/>
              <a:latin typeface="Times New Roman"/>
            </a:endParaRPr>
          </a:p>
        </p:txBody>
      </p:sp>
      <p:sp>
        <p:nvSpPr>
          <p:cNvPr id="1332" name=""/>
          <p:cNvSpPr/>
          <p:nvPr/>
        </p:nvSpPr>
        <p:spPr>
          <a:xfrm>
            <a:off x="3495600" y="4464360"/>
            <a:ext cx="2930400" cy="2263680"/>
          </a:xfrm>
          <a:custGeom>
            <a:avLst/>
            <a:gdLst/>
            <a:ahLst/>
            <a:rect l="0" t="0" r="r" b="b"/>
            <a:pathLst>
              <a:path w="8140" h="6288">
                <a:moveTo>
                  <a:pt x="0" y="6116"/>
                </a:moveTo>
                <a:lnTo>
                  <a:pt x="0" y="173"/>
                </a:lnTo>
                <a:cubicBezTo>
                  <a:pt x="0" y="161"/>
                  <a:pt x="1" y="150"/>
                  <a:pt x="3" y="139"/>
                </a:cubicBezTo>
                <a:cubicBezTo>
                  <a:pt x="5" y="128"/>
                  <a:pt x="9" y="117"/>
                  <a:pt x="13" y="107"/>
                </a:cubicBezTo>
                <a:cubicBezTo>
                  <a:pt x="17" y="96"/>
                  <a:pt x="23" y="86"/>
                  <a:pt x="29" y="77"/>
                </a:cubicBezTo>
                <a:cubicBezTo>
                  <a:pt x="35" y="67"/>
                  <a:pt x="42" y="59"/>
                  <a:pt x="50" y="51"/>
                </a:cubicBezTo>
                <a:cubicBezTo>
                  <a:pt x="58" y="43"/>
                  <a:pt x="67" y="36"/>
                  <a:pt x="77" y="29"/>
                </a:cubicBezTo>
                <a:cubicBezTo>
                  <a:pt x="86" y="23"/>
                  <a:pt x="96" y="18"/>
                  <a:pt x="106" y="13"/>
                </a:cubicBezTo>
                <a:cubicBezTo>
                  <a:pt x="117" y="9"/>
                  <a:pt x="128" y="6"/>
                  <a:pt x="139" y="4"/>
                </a:cubicBezTo>
                <a:cubicBezTo>
                  <a:pt x="150" y="1"/>
                  <a:pt x="161" y="0"/>
                  <a:pt x="172" y="0"/>
                </a:cubicBezTo>
                <a:lnTo>
                  <a:pt x="7967" y="0"/>
                </a:lnTo>
                <a:cubicBezTo>
                  <a:pt x="7979" y="0"/>
                  <a:pt x="7990" y="1"/>
                  <a:pt x="8001" y="4"/>
                </a:cubicBezTo>
                <a:cubicBezTo>
                  <a:pt x="8012" y="6"/>
                  <a:pt x="8023" y="9"/>
                  <a:pt x="8033" y="13"/>
                </a:cubicBezTo>
                <a:cubicBezTo>
                  <a:pt x="8044" y="18"/>
                  <a:pt x="8054" y="23"/>
                  <a:pt x="8063" y="29"/>
                </a:cubicBezTo>
                <a:cubicBezTo>
                  <a:pt x="8073" y="36"/>
                  <a:pt x="8081" y="43"/>
                  <a:pt x="8089" y="51"/>
                </a:cubicBezTo>
                <a:cubicBezTo>
                  <a:pt x="8097" y="59"/>
                  <a:pt x="8104" y="67"/>
                  <a:pt x="8111" y="77"/>
                </a:cubicBezTo>
                <a:cubicBezTo>
                  <a:pt x="8117" y="86"/>
                  <a:pt x="8122" y="96"/>
                  <a:pt x="8127" y="107"/>
                </a:cubicBezTo>
                <a:cubicBezTo>
                  <a:pt x="8131" y="117"/>
                  <a:pt x="8134" y="128"/>
                  <a:pt x="8136" y="139"/>
                </a:cubicBezTo>
                <a:cubicBezTo>
                  <a:pt x="8139" y="150"/>
                  <a:pt x="8140" y="161"/>
                  <a:pt x="8140" y="173"/>
                </a:cubicBezTo>
                <a:lnTo>
                  <a:pt x="8140" y="6116"/>
                </a:lnTo>
                <a:cubicBezTo>
                  <a:pt x="8140" y="6127"/>
                  <a:pt x="8139" y="6139"/>
                  <a:pt x="8136" y="6150"/>
                </a:cubicBezTo>
                <a:cubicBezTo>
                  <a:pt x="8134" y="6161"/>
                  <a:pt x="8131" y="6172"/>
                  <a:pt x="8127" y="6182"/>
                </a:cubicBezTo>
                <a:cubicBezTo>
                  <a:pt x="8122" y="6192"/>
                  <a:pt x="8117" y="6202"/>
                  <a:pt x="8111" y="6212"/>
                </a:cubicBezTo>
                <a:cubicBezTo>
                  <a:pt x="8104" y="6221"/>
                  <a:pt x="8097" y="6230"/>
                  <a:pt x="8089" y="6238"/>
                </a:cubicBezTo>
                <a:cubicBezTo>
                  <a:pt x="8081" y="6246"/>
                  <a:pt x="8073" y="6253"/>
                  <a:pt x="8063" y="6259"/>
                </a:cubicBezTo>
                <a:cubicBezTo>
                  <a:pt x="8054" y="6266"/>
                  <a:pt x="8044" y="6271"/>
                  <a:pt x="8033" y="6275"/>
                </a:cubicBezTo>
                <a:cubicBezTo>
                  <a:pt x="8023" y="6280"/>
                  <a:pt x="8012" y="6283"/>
                  <a:pt x="8001" y="6285"/>
                </a:cubicBezTo>
                <a:cubicBezTo>
                  <a:pt x="7990" y="6287"/>
                  <a:pt x="7979" y="6288"/>
                  <a:pt x="7967" y="6288"/>
                </a:cubicBezTo>
                <a:lnTo>
                  <a:pt x="172" y="6288"/>
                </a:lnTo>
                <a:cubicBezTo>
                  <a:pt x="161" y="6288"/>
                  <a:pt x="150" y="6287"/>
                  <a:pt x="139" y="6285"/>
                </a:cubicBezTo>
                <a:cubicBezTo>
                  <a:pt x="128" y="6283"/>
                  <a:pt x="117" y="6280"/>
                  <a:pt x="106" y="6275"/>
                </a:cubicBezTo>
                <a:cubicBezTo>
                  <a:pt x="96" y="6271"/>
                  <a:pt x="86" y="6266"/>
                  <a:pt x="77" y="6259"/>
                </a:cubicBezTo>
                <a:cubicBezTo>
                  <a:pt x="67" y="6253"/>
                  <a:pt x="58" y="6246"/>
                  <a:pt x="50" y="6238"/>
                </a:cubicBezTo>
                <a:cubicBezTo>
                  <a:pt x="42" y="6230"/>
                  <a:pt x="35" y="6221"/>
                  <a:pt x="29" y="6212"/>
                </a:cubicBezTo>
                <a:cubicBezTo>
                  <a:pt x="23" y="6202"/>
                  <a:pt x="17" y="6192"/>
                  <a:pt x="13" y="6182"/>
                </a:cubicBezTo>
                <a:cubicBezTo>
                  <a:pt x="9" y="6172"/>
                  <a:pt x="5" y="6161"/>
                  <a:pt x="3" y="6150"/>
                </a:cubicBezTo>
                <a:cubicBezTo>
                  <a:pt x="1" y="6139"/>
                  <a:pt x="0" y="6127"/>
                  <a:pt x="0" y="6116"/>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333" name=""/>
          <p:cNvSpPr/>
          <p:nvPr/>
        </p:nvSpPr>
        <p:spPr>
          <a:xfrm>
            <a:off x="3681720" y="4650480"/>
            <a:ext cx="465480" cy="465480"/>
          </a:xfrm>
          <a:custGeom>
            <a:avLst/>
            <a:gdLst/>
            <a:ahLst/>
            <a:rect l="0" t="0" r="r" b="b"/>
            <a:pathLst>
              <a:path w="1293" h="1293">
                <a:moveTo>
                  <a:pt x="1293" y="647"/>
                </a:moveTo>
                <a:cubicBezTo>
                  <a:pt x="1293" y="668"/>
                  <a:pt x="1292" y="689"/>
                  <a:pt x="1289" y="710"/>
                </a:cubicBezTo>
                <a:cubicBezTo>
                  <a:pt x="1287" y="731"/>
                  <a:pt x="1284" y="752"/>
                  <a:pt x="1280" y="773"/>
                </a:cubicBezTo>
                <a:cubicBezTo>
                  <a:pt x="1276" y="794"/>
                  <a:pt x="1271" y="814"/>
                  <a:pt x="1265" y="835"/>
                </a:cubicBezTo>
                <a:cubicBezTo>
                  <a:pt x="1259" y="855"/>
                  <a:pt x="1251" y="875"/>
                  <a:pt x="1243" y="894"/>
                </a:cubicBezTo>
                <a:cubicBezTo>
                  <a:pt x="1235" y="914"/>
                  <a:pt x="1226" y="933"/>
                  <a:pt x="1216" y="951"/>
                </a:cubicBezTo>
                <a:cubicBezTo>
                  <a:pt x="1206" y="970"/>
                  <a:pt x="1195" y="988"/>
                  <a:pt x="1184" y="1006"/>
                </a:cubicBezTo>
                <a:cubicBezTo>
                  <a:pt x="1172" y="1023"/>
                  <a:pt x="1159" y="1040"/>
                  <a:pt x="1146" y="1057"/>
                </a:cubicBezTo>
                <a:cubicBezTo>
                  <a:pt x="1133" y="1073"/>
                  <a:pt x="1118" y="1089"/>
                  <a:pt x="1103" y="1104"/>
                </a:cubicBezTo>
                <a:cubicBezTo>
                  <a:pt x="1088" y="1119"/>
                  <a:pt x="1073" y="1133"/>
                  <a:pt x="1056" y="1146"/>
                </a:cubicBezTo>
                <a:cubicBezTo>
                  <a:pt x="1040" y="1160"/>
                  <a:pt x="1023" y="1172"/>
                  <a:pt x="1005" y="1184"/>
                </a:cubicBezTo>
                <a:cubicBezTo>
                  <a:pt x="988" y="1196"/>
                  <a:pt x="970" y="1207"/>
                  <a:pt x="951" y="1217"/>
                </a:cubicBezTo>
                <a:cubicBezTo>
                  <a:pt x="932" y="1227"/>
                  <a:pt x="913" y="1236"/>
                  <a:pt x="894" y="1244"/>
                </a:cubicBezTo>
                <a:cubicBezTo>
                  <a:pt x="874" y="1252"/>
                  <a:pt x="854" y="1259"/>
                  <a:pt x="834" y="1265"/>
                </a:cubicBezTo>
                <a:cubicBezTo>
                  <a:pt x="814" y="1271"/>
                  <a:pt x="793" y="1276"/>
                  <a:pt x="773" y="1281"/>
                </a:cubicBezTo>
                <a:cubicBezTo>
                  <a:pt x="752" y="1285"/>
                  <a:pt x="730" y="1288"/>
                  <a:pt x="709" y="1290"/>
                </a:cubicBezTo>
                <a:cubicBezTo>
                  <a:pt x="688" y="1292"/>
                  <a:pt x="667" y="1293"/>
                  <a:pt x="646" y="1293"/>
                </a:cubicBezTo>
                <a:cubicBezTo>
                  <a:pt x="624" y="1293"/>
                  <a:pt x="603" y="1292"/>
                  <a:pt x="582" y="1290"/>
                </a:cubicBezTo>
                <a:cubicBezTo>
                  <a:pt x="561" y="1288"/>
                  <a:pt x="540" y="1285"/>
                  <a:pt x="520" y="1281"/>
                </a:cubicBezTo>
                <a:cubicBezTo>
                  <a:pt x="499" y="1276"/>
                  <a:pt x="478" y="1271"/>
                  <a:pt x="458" y="1265"/>
                </a:cubicBezTo>
                <a:cubicBezTo>
                  <a:pt x="438" y="1259"/>
                  <a:pt x="418" y="1252"/>
                  <a:pt x="398" y="1244"/>
                </a:cubicBezTo>
                <a:cubicBezTo>
                  <a:pt x="379" y="1236"/>
                  <a:pt x="360" y="1227"/>
                  <a:pt x="341" y="1217"/>
                </a:cubicBezTo>
                <a:cubicBezTo>
                  <a:pt x="322" y="1207"/>
                  <a:pt x="304" y="1196"/>
                  <a:pt x="287" y="1184"/>
                </a:cubicBezTo>
                <a:cubicBezTo>
                  <a:pt x="269" y="1172"/>
                  <a:pt x="252" y="1160"/>
                  <a:pt x="236" y="1146"/>
                </a:cubicBezTo>
                <a:cubicBezTo>
                  <a:pt x="220" y="1133"/>
                  <a:pt x="204" y="1119"/>
                  <a:pt x="189" y="1104"/>
                </a:cubicBezTo>
                <a:cubicBezTo>
                  <a:pt x="174" y="1089"/>
                  <a:pt x="160" y="1073"/>
                  <a:pt x="146" y="1057"/>
                </a:cubicBezTo>
                <a:cubicBezTo>
                  <a:pt x="133" y="1040"/>
                  <a:pt x="120" y="1023"/>
                  <a:pt x="109" y="1006"/>
                </a:cubicBezTo>
                <a:cubicBezTo>
                  <a:pt x="97" y="988"/>
                  <a:pt x="86" y="970"/>
                  <a:pt x="76" y="951"/>
                </a:cubicBezTo>
                <a:cubicBezTo>
                  <a:pt x="66" y="933"/>
                  <a:pt x="57" y="914"/>
                  <a:pt x="49" y="894"/>
                </a:cubicBezTo>
                <a:cubicBezTo>
                  <a:pt x="41" y="875"/>
                  <a:pt x="34" y="855"/>
                  <a:pt x="28" y="834"/>
                </a:cubicBezTo>
                <a:cubicBezTo>
                  <a:pt x="21" y="814"/>
                  <a:pt x="16" y="794"/>
                  <a:pt x="12" y="773"/>
                </a:cubicBezTo>
                <a:cubicBezTo>
                  <a:pt x="8" y="752"/>
                  <a:pt x="5" y="731"/>
                  <a:pt x="3" y="710"/>
                </a:cubicBezTo>
                <a:cubicBezTo>
                  <a:pt x="1" y="689"/>
                  <a:pt x="0" y="668"/>
                  <a:pt x="0" y="647"/>
                </a:cubicBezTo>
                <a:cubicBezTo>
                  <a:pt x="0" y="625"/>
                  <a:pt x="1" y="604"/>
                  <a:pt x="3" y="583"/>
                </a:cubicBezTo>
                <a:cubicBezTo>
                  <a:pt x="5" y="562"/>
                  <a:pt x="8" y="541"/>
                  <a:pt x="12" y="520"/>
                </a:cubicBezTo>
                <a:cubicBezTo>
                  <a:pt x="16" y="499"/>
                  <a:pt x="21" y="479"/>
                  <a:pt x="28" y="458"/>
                </a:cubicBezTo>
                <a:cubicBezTo>
                  <a:pt x="34" y="438"/>
                  <a:pt x="41" y="418"/>
                  <a:pt x="49" y="399"/>
                </a:cubicBezTo>
                <a:cubicBezTo>
                  <a:pt x="57" y="379"/>
                  <a:pt x="66" y="360"/>
                  <a:pt x="76" y="342"/>
                </a:cubicBezTo>
                <a:cubicBezTo>
                  <a:pt x="86" y="323"/>
                  <a:pt x="97" y="305"/>
                  <a:pt x="109" y="287"/>
                </a:cubicBezTo>
                <a:cubicBezTo>
                  <a:pt x="120" y="270"/>
                  <a:pt x="133" y="253"/>
                  <a:pt x="146" y="236"/>
                </a:cubicBezTo>
                <a:cubicBezTo>
                  <a:pt x="160" y="220"/>
                  <a:pt x="174" y="204"/>
                  <a:pt x="189" y="189"/>
                </a:cubicBezTo>
                <a:cubicBezTo>
                  <a:pt x="204" y="174"/>
                  <a:pt x="220" y="160"/>
                  <a:pt x="236" y="147"/>
                </a:cubicBezTo>
                <a:cubicBezTo>
                  <a:pt x="252" y="133"/>
                  <a:pt x="269" y="121"/>
                  <a:pt x="287" y="109"/>
                </a:cubicBezTo>
                <a:cubicBezTo>
                  <a:pt x="304" y="97"/>
                  <a:pt x="322" y="86"/>
                  <a:pt x="341" y="76"/>
                </a:cubicBezTo>
                <a:cubicBezTo>
                  <a:pt x="360" y="66"/>
                  <a:pt x="379" y="57"/>
                  <a:pt x="398" y="49"/>
                </a:cubicBezTo>
                <a:cubicBezTo>
                  <a:pt x="418" y="41"/>
                  <a:pt x="438" y="34"/>
                  <a:pt x="458" y="28"/>
                </a:cubicBezTo>
                <a:cubicBezTo>
                  <a:pt x="478" y="22"/>
                  <a:pt x="499" y="17"/>
                  <a:pt x="520" y="12"/>
                </a:cubicBezTo>
                <a:cubicBezTo>
                  <a:pt x="540" y="8"/>
                  <a:pt x="561" y="5"/>
                  <a:pt x="582" y="3"/>
                </a:cubicBezTo>
                <a:cubicBezTo>
                  <a:pt x="603" y="1"/>
                  <a:pt x="624" y="0"/>
                  <a:pt x="646" y="0"/>
                </a:cubicBezTo>
                <a:cubicBezTo>
                  <a:pt x="667" y="0"/>
                  <a:pt x="688" y="1"/>
                  <a:pt x="709" y="3"/>
                </a:cubicBezTo>
                <a:cubicBezTo>
                  <a:pt x="730" y="5"/>
                  <a:pt x="752" y="8"/>
                  <a:pt x="773" y="12"/>
                </a:cubicBezTo>
                <a:cubicBezTo>
                  <a:pt x="793" y="17"/>
                  <a:pt x="814" y="22"/>
                  <a:pt x="834" y="28"/>
                </a:cubicBezTo>
                <a:cubicBezTo>
                  <a:pt x="854" y="34"/>
                  <a:pt x="874" y="41"/>
                  <a:pt x="894" y="49"/>
                </a:cubicBezTo>
                <a:cubicBezTo>
                  <a:pt x="913" y="57"/>
                  <a:pt x="932" y="66"/>
                  <a:pt x="951" y="76"/>
                </a:cubicBezTo>
                <a:cubicBezTo>
                  <a:pt x="970" y="86"/>
                  <a:pt x="988" y="97"/>
                  <a:pt x="1005" y="109"/>
                </a:cubicBezTo>
                <a:cubicBezTo>
                  <a:pt x="1023" y="121"/>
                  <a:pt x="1040" y="133"/>
                  <a:pt x="1056" y="147"/>
                </a:cubicBezTo>
                <a:cubicBezTo>
                  <a:pt x="1073" y="160"/>
                  <a:pt x="1088" y="174"/>
                  <a:pt x="1103" y="189"/>
                </a:cubicBezTo>
                <a:cubicBezTo>
                  <a:pt x="1118" y="204"/>
                  <a:pt x="1133" y="220"/>
                  <a:pt x="1146" y="236"/>
                </a:cubicBezTo>
                <a:cubicBezTo>
                  <a:pt x="1159" y="253"/>
                  <a:pt x="1172" y="270"/>
                  <a:pt x="1184" y="287"/>
                </a:cubicBezTo>
                <a:cubicBezTo>
                  <a:pt x="1195" y="305"/>
                  <a:pt x="1206" y="323"/>
                  <a:pt x="1216" y="342"/>
                </a:cubicBezTo>
                <a:cubicBezTo>
                  <a:pt x="1226" y="360"/>
                  <a:pt x="1235" y="379"/>
                  <a:pt x="1243" y="399"/>
                </a:cubicBezTo>
                <a:cubicBezTo>
                  <a:pt x="1251" y="418"/>
                  <a:pt x="1259" y="438"/>
                  <a:pt x="1265" y="458"/>
                </a:cubicBezTo>
                <a:cubicBezTo>
                  <a:pt x="1271" y="479"/>
                  <a:pt x="1276" y="499"/>
                  <a:pt x="1280" y="520"/>
                </a:cubicBezTo>
                <a:cubicBezTo>
                  <a:pt x="1284" y="541"/>
                  <a:pt x="1287" y="562"/>
                  <a:pt x="1289" y="583"/>
                </a:cubicBezTo>
                <a:cubicBezTo>
                  <a:pt x="1292" y="604"/>
                  <a:pt x="1293" y="625"/>
                  <a:pt x="1293" y="647"/>
                </a:cubicBezTo>
                <a:close/>
              </a:path>
            </a:pathLst>
          </a:custGeom>
          <a:solidFill>
            <a:srgbClr val="fee2e2"/>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334" name="" descr=""/>
          <p:cNvPicPr/>
          <p:nvPr/>
        </p:nvPicPr>
        <p:blipFill>
          <a:blip r:embed="rId9"/>
          <a:stretch/>
        </p:blipFill>
        <p:spPr>
          <a:xfrm>
            <a:off x="3821400" y="4790160"/>
            <a:ext cx="185760" cy="185760"/>
          </a:xfrm>
          <a:prstGeom prst="rect">
            <a:avLst/>
          </a:prstGeom>
          <a:noFill/>
          <a:ln w="0">
            <a:noFill/>
          </a:ln>
        </p:spPr>
      </p:pic>
      <p:sp>
        <p:nvSpPr>
          <p:cNvPr id="1335" name=""/>
          <p:cNvSpPr txBox="1"/>
          <p:nvPr/>
        </p:nvSpPr>
        <p:spPr>
          <a:xfrm>
            <a:off x="713160" y="5996160"/>
            <a:ext cx="186408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定期的な施設基準の見直しと更新</a:t>
            </a:r>
            <a:endParaRPr b="0" lang="en-US" sz="980" strike="noStrike" u="none">
              <a:solidFill>
                <a:srgbClr val="000000"/>
              </a:solidFill>
              <a:effectLst/>
              <a:uFillTx/>
              <a:latin typeface="Times New Roman"/>
            </a:endParaRPr>
          </a:p>
        </p:txBody>
      </p:sp>
      <p:sp>
        <p:nvSpPr>
          <p:cNvPr id="1336" name=""/>
          <p:cNvSpPr/>
          <p:nvPr/>
        </p:nvSpPr>
        <p:spPr>
          <a:xfrm>
            <a:off x="3704760" y="5309280"/>
            <a:ext cx="39240" cy="39240"/>
          </a:xfrm>
          <a:custGeom>
            <a:avLst/>
            <a:gdLst/>
            <a:ahLst/>
            <a:rect l="0" t="0" r="r" b="b"/>
            <a:pathLst>
              <a:path w="109" h="109">
                <a:moveTo>
                  <a:pt x="109" y="54"/>
                </a:moveTo>
                <a:cubicBezTo>
                  <a:pt x="109" y="61"/>
                  <a:pt x="108" y="68"/>
                  <a:pt x="105" y="76"/>
                </a:cubicBezTo>
                <a:cubicBezTo>
                  <a:pt x="102" y="82"/>
                  <a:pt x="98" y="88"/>
                  <a:pt x="93" y="93"/>
                </a:cubicBezTo>
                <a:cubicBezTo>
                  <a:pt x="88" y="98"/>
                  <a:pt x="82" y="102"/>
                  <a:pt x="76" y="105"/>
                </a:cubicBezTo>
                <a:cubicBezTo>
                  <a:pt x="69" y="107"/>
                  <a:pt x="62" y="109"/>
                  <a:pt x="55" y="109"/>
                </a:cubicBezTo>
                <a:cubicBezTo>
                  <a:pt x="48" y="109"/>
                  <a:pt x="41" y="107"/>
                  <a:pt x="34" y="105"/>
                </a:cubicBezTo>
                <a:cubicBezTo>
                  <a:pt x="27" y="102"/>
                  <a:pt x="21" y="98"/>
                  <a:pt x="16" y="93"/>
                </a:cubicBezTo>
                <a:cubicBezTo>
                  <a:pt x="11" y="88"/>
                  <a:pt x="7" y="82"/>
                  <a:pt x="4" y="76"/>
                </a:cubicBezTo>
                <a:cubicBezTo>
                  <a:pt x="2" y="68"/>
                  <a:pt x="0" y="61"/>
                  <a:pt x="0" y="54"/>
                </a:cubicBezTo>
                <a:cubicBezTo>
                  <a:pt x="0" y="47"/>
                  <a:pt x="2" y="40"/>
                  <a:pt x="4" y="33"/>
                </a:cubicBezTo>
                <a:cubicBezTo>
                  <a:pt x="7" y="27"/>
                  <a:pt x="11" y="21"/>
                  <a:pt x="16" y="16"/>
                </a:cubicBezTo>
                <a:cubicBezTo>
                  <a:pt x="21" y="11"/>
                  <a:pt x="27" y="7"/>
                  <a:pt x="34" y="4"/>
                </a:cubicBezTo>
                <a:cubicBezTo>
                  <a:pt x="41" y="2"/>
                  <a:pt x="48" y="0"/>
                  <a:pt x="55" y="0"/>
                </a:cubicBezTo>
                <a:cubicBezTo>
                  <a:pt x="62" y="0"/>
                  <a:pt x="69" y="2"/>
                  <a:pt x="76" y="4"/>
                </a:cubicBezTo>
                <a:cubicBezTo>
                  <a:pt x="82" y="7"/>
                  <a:pt x="88" y="11"/>
                  <a:pt x="93" y="16"/>
                </a:cubicBezTo>
                <a:cubicBezTo>
                  <a:pt x="98" y="21"/>
                  <a:pt x="102" y="27"/>
                  <a:pt x="105" y="33"/>
                </a:cubicBezTo>
                <a:cubicBezTo>
                  <a:pt x="108" y="40"/>
                  <a:pt x="109" y="47"/>
                  <a:pt x="109" y="54"/>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37" name=""/>
          <p:cNvSpPr txBox="1"/>
          <p:nvPr/>
        </p:nvSpPr>
        <p:spPr>
          <a:xfrm>
            <a:off x="4268160" y="4788360"/>
            <a:ext cx="1562400" cy="195480"/>
          </a:xfrm>
          <a:prstGeom prst="rect">
            <a:avLst/>
          </a:prstGeom>
          <a:noFill/>
          <a:ln w="0">
            <a:noFill/>
          </a:ln>
        </p:spPr>
        <p:txBody>
          <a:bodyPr wrap="none" lIns="0" rIns="0" tIns="0" bIns="0" anchor="t">
            <a:spAutoFit/>
          </a:bodyPr>
          <a:p>
            <a:r>
              <a:rPr b="0" lang="zh-CN" sz="1220" strike="noStrike" u="none">
                <a:solidFill>
                  <a:srgbClr val="dc2626"/>
                </a:solidFill>
                <a:effectLst/>
                <a:uFillTx/>
                <a:latin typeface="WenQuanYiZenHei"/>
                <a:ea typeface="WenQuanYiZenHei"/>
              </a:rPr>
              <a:t>診療報酬改定への対応</a:t>
            </a:r>
            <a:endParaRPr b="0" lang="en-US" sz="1220" strike="noStrike" u="none">
              <a:solidFill>
                <a:srgbClr val="000000"/>
              </a:solidFill>
              <a:effectLst/>
              <a:uFillTx/>
              <a:latin typeface="Times New Roman"/>
            </a:endParaRPr>
          </a:p>
        </p:txBody>
      </p:sp>
      <p:sp>
        <p:nvSpPr>
          <p:cNvPr id="1338" name=""/>
          <p:cNvSpPr txBox="1"/>
          <p:nvPr/>
        </p:nvSpPr>
        <p:spPr>
          <a:xfrm>
            <a:off x="3834000" y="5256360"/>
            <a:ext cx="315000" cy="143640"/>
          </a:xfrm>
          <a:prstGeom prst="rect">
            <a:avLst/>
          </a:prstGeom>
          <a:noFill/>
          <a:ln w="0">
            <a:noFill/>
          </a:ln>
        </p:spPr>
        <p:txBody>
          <a:bodyPr wrap="none" lIns="0" rIns="0" tIns="0" bIns="0" anchor="t">
            <a:spAutoFit/>
          </a:bodyPr>
          <a:p>
            <a:r>
              <a:rPr b="0" lang="en-US" sz="980" strike="noStrike" u="none">
                <a:solidFill>
                  <a:srgbClr val="4b5563"/>
                </a:solidFill>
                <a:effectLst/>
                <a:uFillTx/>
                <a:latin typeface="DejaVuSans"/>
                <a:ea typeface="DejaVuSans"/>
              </a:rPr>
              <a:t>2024</a:t>
            </a:r>
            <a:endParaRPr b="0" lang="en-US" sz="980" strike="noStrike" u="none">
              <a:solidFill>
                <a:srgbClr val="000000"/>
              </a:solidFill>
              <a:effectLst/>
              <a:uFillTx/>
              <a:latin typeface="Times New Roman"/>
            </a:endParaRPr>
          </a:p>
        </p:txBody>
      </p:sp>
      <p:sp>
        <p:nvSpPr>
          <p:cNvPr id="1339" name=""/>
          <p:cNvSpPr/>
          <p:nvPr/>
        </p:nvSpPr>
        <p:spPr>
          <a:xfrm>
            <a:off x="3704760" y="5557320"/>
            <a:ext cx="39240" cy="39240"/>
          </a:xfrm>
          <a:custGeom>
            <a:avLst/>
            <a:gdLst/>
            <a:ahLst/>
            <a:rect l="0" t="0" r="r" b="b"/>
            <a:pathLst>
              <a:path w="109" h="109">
                <a:moveTo>
                  <a:pt x="109" y="55"/>
                </a:moveTo>
                <a:cubicBezTo>
                  <a:pt x="109" y="62"/>
                  <a:pt x="108" y="69"/>
                  <a:pt x="105" y="76"/>
                </a:cubicBezTo>
                <a:cubicBezTo>
                  <a:pt x="102" y="82"/>
                  <a:pt x="98" y="88"/>
                  <a:pt x="93" y="93"/>
                </a:cubicBezTo>
                <a:cubicBezTo>
                  <a:pt x="88" y="98"/>
                  <a:pt x="82" y="102"/>
                  <a:pt x="76" y="105"/>
                </a:cubicBezTo>
                <a:cubicBezTo>
                  <a:pt x="69" y="107"/>
                  <a:pt x="62" y="109"/>
                  <a:pt x="55" y="109"/>
                </a:cubicBezTo>
                <a:cubicBezTo>
                  <a:pt x="48" y="109"/>
                  <a:pt x="41" y="107"/>
                  <a:pt x="34" y="105"/>
                </a:cubicBezTo>
                <a:cubicBezTo>
                  <a:pt x="27" y="102"/>
                  <a:pt x="21" y="98"/>
                  <a:pt x="16" y="93"/>
                </a:cubicBezTo>
                <a:cubicBezTo>
                  <a:pt x="11" y="88"/>
                  <a:pt x="7" y="82"/>
                  <a:pt x="4" y="76"/>
                </a:cubicBezTo>
                <a:cubicBezTo>
                  <a:pt x="2" y="69"/>
                  <a:pt x="0" y="62"/>
                  <a:pt x="0" y="55"/>
                </a:cubicBezTo>
                <a:cubicBezTo>
                  <a:pt x="0" y="48"/>
                  <a:pt x="2" y="41"/>
                  <a:pt x="4" y="34"/>
                </a:cubicBezTo>
                <a:cubicBezTo>
                  <a:pt x="7" y="28"/>
                  <a:pt x="11" y="21"/>
                  <a:pt x="16" y="16"/>
                </a:cubicBezTo>
                <a:cubicBezTo>
                  <a:pt x="21" y="11"/>
                  <a:pt x="27" y="7"/>
                  <a:pt x="34" y="4"/>
                </a:cubicBezTo>
                <a:cubicBezTo>
                  <a:pt x="41" y="2"/>
                  <a:pt x="48" y="0"/>
                  <a:pt x="55" y="0"/>
                </a:cubicBezTo>
                <a:cubicBezTo>
                  <a:pt x="62" y="0"/>
                  <a:pt x="69" y="2"/>
                  <a:pt x="76" y="4"/>
                </a:cubicBezTo>
                <a:cubicBezTo>
                  <a:pt x="82" y="7"/>
                  <a:pt x="88" y="11"/>
                  <a:pt x="93" y="16"/>
                </a:cubicBezTo>
                <a:cubicBezTo>
                  <a:pt x="98" y="21"/>
                  <a:pt x="102" y="28"/>
                  <a:pt x="105" y="34"/>
                </a:cubicBezTo>
                <a:cubicBezTo>
                  <a:pt x="108" y="41"/>
                  <a:pt x="109" y="48"/>
                  <a:pt x="109" y="55"/>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40" name=""/>
          <p:cNvSpPr txBox="1"/>
          <p:nvPr/>
        </p:nvSpPr>
        <p:spPr>
          <a:xfrm>
            <a:off x="4149720" y="5252040"/>
            <a:ext cx="198756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年度改定など最新の改定内容の把握</a:t>
            </a:r>
            <a:endParaRPr b="0" lang="en-US" sz="980" strike="noStrike" u="none">
              <a:solidFill>
                <a:srgbClr val="000000"/>
              </a:solidFill>
              <a:effectLst/>
              <a:uFillTx/>
              <a:latin typeface="Times New Roman"/>
            </a:endParaRPr>
          </a:p>
        </p:txBody>
      </p:sp>
      <p:sp>
        <p:nvSpPr>
          <p:cNvPr id="1341" name=""/>
          <p:cNvSpPr/>
          <p:nvPr/>
        </p:nvSpPr>
        <p:spPr>
          <a:xfrm>
            <a:off x="3704760" y="5805360"/>
            <a:ext cx="39240" cy="39240"/>
          </a:xfrm>
          <a:custGeom>
            <a:avLst/>
            <a:gdLst/>
            <a:ahLst/>
            <a:rect l="0" t="0" r="r" b="b"/>
            <a:pathLst>
              <a:path w="109" h="109">
                <a:moveTo>
                  <a:pt x="109" y="54"/>
                </a:moveTo>
                <a:cubicBezTo>
                  <a:pt x="109" y="61"/>
                  <a:pt x="108" y="68"/>
                  <a:pt x="105" y="75"/>
                </a:cubicBezTo>
                <a:cubicBezTo>
                  <a:pt x="102" y="81"/>
                  <a:pt x="98" y="88"/>
                  <a:pt x="93" y="93"/>
                </a:cubicBezTo>
                <a:cubicBezTo>
                  <a:pt x="88" y="98"/>
                  <a:pt x="82" y="102"/>
                  <a:pt x="76" y="105"/>
                </a:cubicBezTo>
                <a:cubicBezTo>
                  <a:pt x="69" y="107"/>
                  <a:pt x="62" y="109"/>
                  <a:pt x="55" y="109"/>
                </a:cubicBezTo>
                <a:cubicBezTo>
                  <a:pt x="48" y="109"/>
                  <a:pt x="41" y="107"/>
                  <a:pt x="34" y="105"/>
                </a:cubicBezTo>
                <a:cubicBezTo>
                  <a:pt x="27" y="102"/>
                  <a:pt x="21" y="98"/>
                  <a:pt x="16" y="93"/>
                </a:cubicBezTo>
                <a:cubicBezTo>
                  <a:pt x="11" y="88"/>
                  <a:pt x="7" y="81"/>
                  <a:pt x="4" y="75"/>
                </a:cubicBezTo>
                <a:cubicBezTo>
                  <a:pt x="2" y="68"/>
                  <a:pt x="0" y="61"/>
                  <a:pt x="0" y="54"/>
                </a:cubicBezTo>
                <a:cubicBezTo>
                  <a:pt x="0" y="47"/>
                  <a:pt x="2" y="40"/>
                  <a:pt x="4" y="33"/>
                </a:cubicBezTo>
                <a:cubicBezTo>
                  <a:pt x="7" y="27"/>
                  <a:pt x="11" y="21"/>
                  <a:pt x="16" y="16"/>
                </a:cubicBezTo>
                <a:cubicBezTo>
                  <a:pt x="21" y="11"/>
                  <a:pt x="27" y="7"/>
                  <a:pt x="34" y="4"/>
                </a:cubicBezTo>
                <a:cubicBezTo>
                  <a:pt x="41" y="2"/>
                  <a:pt x="48" y="0"/>
                  <a:pt x="55" y="0"/>
                </a:cubicBezTo>
                <a:cubicBezTo>
                  <a:pt x="62" y="0"/>
                  <a:pt x="69" y="2"/>
                  <a:pt x="76" y="4"/>
                </a:cubicBezTo>
                <a:cubicBezTo>
                  <a:pt x="82" y="7"/>
                  <a:pt x="88" y="11"/>
                  <a:pt x="93" y="16"/>
                </a:cubicBezTo>
                <a:cubicBezTo>
                  <a:pt x="98" y="21"/>
                  <a:pt x="102" y="27"/>
                  <a:pt x="105" y="33"/>
                </a:cubicBezTo>
                <a:cubicBezTo>
                  <a:pt x="108" y="40"/>
                  <a:pt x="109" y="47"/>
                  <a:pt x="109" y="54"/>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42" name=""/>
          <p:cNvSpPr txBox="1"/>
          <p:nvPr/>
        </p:nvSpPr>
        <p:spPr>
          <a:xfrm>
            <a:off x="3834000" y="5500080"/>
            <a:ext cx="199044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新設された算定項目の積極的な活用</a:t>
            </a:r>
            <a:endParaRPr b="0" lang="en-US" sz="980" strike="noStrike" u="none">
              <a:solidFill>
                <a:srgbClr val="000000"/>
              </a:solidFill>
              <a:effectLst/>
              <a:uFillTx/>
              <a:latin typeface="Times New Roman"/>
            </a:endParaRPr>
          </a:p>
        </p:txBody>
      </p:sp>
      <p:sp>
        <p:nvSpPr>
          <p:cNvPr id="1343" name=""/>
          <p:cNvSpPr/>
          <p:nvPr/>
        </p:nvSpPr>
        <p:spPr>
          <a:xfrm>
            <a:off x="3704760" y="6053400"/>
            <a:ext cx="39240" cy="39240"/>
          </a:xfrm>
          <a:custGeom>
            <a:avLst/>
            <a:gdLst/>
            <a:ahLst/>
            <a:rect l="0" t="0" r="r" b="b"/>
            <a:pathLst>
              <a:path w="109" h="109">
                <a:moveTo>
                  <a:pt x="109" y="55"/>
                </a:moveTo>
                <a:cubicBezTo>
                  <a:pt x="109" y="62"/>
                  <a:pt x="108" y="69"/>
                  <a:pt x="105" y="76"/>
                </a:cubicBezTo>
                <a:cubicBezTo>
                  <a:pt x="102" y="82"/>
                  <a:pt x="98" y="88"/>
                  <a:pt x="93" y="93"/>
                </a:cubicBezTo>
                <a:cubicBezTo>
                  <a:pt x="88" y="98"/>
                  <a:pt x="82" y="102"/>
                  <a:pt x="76" y="105"/>
                </a:cubicBezTo>
                <a:cubicBezTo>
                  <a:pt x="69" y="107"/>
                  <a:pt x="62" y="109"/>
                  <a:pt x="55" y="109"/>
                </a:cubicBezTo>
                <a:cubicBezTo>
                  <a:pt x="48" y="109"/>
                  <a:pt x="41" y="107"/>
                  <a:pt x="34" y="105"/>
                </a:cubicBezTo>
                <a:cubicBezTo>
                  <a:pt x="27" y="102"/>
                  <a:pt x="21" y="98"/>
                  <a:pt x="16" y="93"/>
                </a:cubicBezTo>
                <a:cubicBezTo>
                  <a:pt x="11" y="88"/>
                  <a:pt x="7" y="82"/>
                  <a:pt x="4" y="76"/>
                </a:cubicBezTo>
                <a:cubicBezTo>
                  <a:pt x="2" y="69"/>
                  <a:pt x="0" y="62"/>
                  <a:pt x="0" y="55"/>
                </a:cubicBezTo>
                <a:cubicBezTo>
                  <a:pt x="0" y="48"/>
                  <a:pt x="2" y="41"/>
                  <a:pt x="4" y="33"/>
                </a:cubicBezTo>
                <a:cubicBezTo>
                  <a:pt x="7" y="27"/>
                  <a:pt x="11" y="21"/>
                  <a:pt x="16" y="16"/>
                </a:cubicBezTo>
                <a:cubicBezTo>
                  <a:pt x="21" y="11"/>
                  <a:pt x="27" y="7"/>
                  <a:pt x="34" y="4"/>
                </a:cubicBezTo>
                <a:cubicBezTo>
                  <a:pt x="41" y="2"/>
                  <a:pt x="48" y="0"/>
                  <a:pt x="55" y="0"/>
                </a:cubicBezTo>
                <a:cubicBezTo>
                  <a:pt x="62" y="0"/>
                  <a:pt x="69" y="2"/>
                  <a:pt x="76" y="4"/>
                </a:cubicBezTo>
                <a:cubicBezTo>
                  <a:pt x="82" y="7"/>
                  <a:pt x="88" y="11"/>
                  <a:pt x="93" y="16"/>
                </a:cubicBezTo>
                <a:cubicBezTo>
                  <a:pt x="98" y="21"/>
                  <a:pt x="102" y="27"/>
                  <a:pt x="105" y="33"/>
                </a:cubicBezTo>
                <a:cubicBezTo>
                  <a:pt x="108" y="41"/>
                  <a:pt x="109" y="48"/>
                  <a:pt x="109" y="55"/>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44" name=""/>
          <p:cNvSpPr txBox="1"/>
          <p:nvPr/>
        </p:nvSpPr>
        <p:spPr>
          <a:xfrm>
            <a:off x="3834000" y="5748120"/>
            <a:ext cx="211968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評価が見直された項目への迅速な対応</a:t>
            </a:r>
            <a:endParaRPr b="0" lang="en-US" sz="980" strike="noStrike" u="none">
              <a:solidFill>
                <a:srgbClr val="000000"/>
              </a:solidFill>
              <a:effectLst/>
              <a:uFillTx/>
              <a:latin typeface="Times New Roman"/>
            </a:endParaRPr>
          </a:p>
        </p:txBody>
      </p:sp>
      <p:sp>
        <p:nvSpPr>
          <p:cNvPr id="1345" name=""/>
          <p:cNvSpPr/>
          <p:nvPr/>
        </p:nvSpPr>
        <p:spPr>
          <a:xfrm>
            <a:off x="6611400" y="4464360"/>
            <a:ext cx="2938320" cy="2263680"/>
          </a:xfrm>
          <a:custGeom>
            <a:avLst/>
            <a:gdLst/>
            <a:ahLst/>
            <a:rect l="0" t="0" r="r" b="b"/>
            <a:pathLst>
              <a:path w="8162" h="6288">
                <a:moveTo>
                  <a:pt x="0" y="6116"/>
                </a:moveTo>
                <a:lnTo>
                  <a:pt x="0" y="173"/>
                </a:lnTo>
                <a:cubicBezTo>
                  <a:pt x="0" y="161"/>
                  <a:pt x="2" y="150"/>
                  <a:pt x="4" y="139"/>
                </a:cubicBezTo>
                <a:cubicBezTo>
                  <a:pt x="6" y="128"/>
                  <a:pt x="9" y="117"/>
                  <a:pt x="14" y="107"/>
                </a:cubicBezTo>
                <a:cubicBezTo>
                  <a:pt x="18" y="96"/>
                  <a:pt x="23" y="86"/>
                  <a:pt x="29" y="77"/>
                </a:cubicBezTo>
                <a:cubicBezTo>
                  <a:pt x="36" y="67"/>
                  <a:pt x="43" y="59"/>
                  <a:pt x="51" y="51"/>
                </a:cubicBezTo>
                <a:cubicBezTo>
                  <a:pt x="59" y="43"/>
                  <a:pt x="68" y="36"/>
                  <a:pt x="77" y="29"/>
                </a:cubicBezTo>
                <a:cubicBezTo>
                  <a:pt x="86" y="23"/>
                  <a:pt x="96" y="18"/>
                  <a:pt x="107" y="13"/>
                </a:cubicBezTo>
                <a:cubicBezTo>
                  <a:pt x="117" y="9"/>
                  <a:pt x="128" y="6"/>
                  <a:pt x="139" y="4"/>
                </a:cubicBezTo>
                <a:cubicBezTo>
                  <a:pt x="150" y="1"/>
                  <a:pt x="161" y="0"/>
                  <a:pt x="173" y="0"/>
                </a:cubicBezTo>
                <a:lnTo>
                  <a:pt x="7989" y="0"/>
                </a:lnTo>
                <a:cubicBezTo>
                  <a:pt x="8001" y="0"/>
                  <a:pt x="8012" y="1"/>
                  <a:pt x="8023" y="4"/>
                </a:cubicBezTo>
                <a:cubicBezTo>
                  <a:pt x="8034" y="6"/>
                  <a:pt x="8045" y="9"/>
                  <a:pt x="8055" y="13"/>
                </a:cubicBezTo>
                <a:cubicBezTo>
                  <a:pt x="8066" y="18"/>
                  <a:pt x="8076" y="23"/>
                  <a:pt x="8085" y="29"/>
                </a:cubicBezTo>
                <a:cubicBezTo>
                  <a:pt x="8094" y="36"/>
                  <a:pt x="8103" y="43"/>
                  <a:pt x="8111" y="51"/>
                </a:cubicBezTo>
                <a:cubicBezTo>
                  <a:pt x="8119" y="59"/>
                  <a:pt x="8126" y="67"/>
                  <a:pt x="8133" y="77"/>
                </a:cubicBezTo>
                <a:cubicBezTo>
                  <a:pt x="8139" y="86"/>
                  <a:pt x="8144" y="96"/>
                  <a:pt x="8149" y="107"/>
                </a:cubicBezTo>
                <a:cubicBezTo>
                  <a:pt x="8153" y="117"/>
                  <a:pt x="8156" y="128"/>
                  <a:pt x="8158" y="139"/>
                </a:cubicBezTo>
                <a:cubicBezTo>
                  <a:pt x="8161" y="150"/>
                  <a:pt x="8162" y="161"/>
                  <a:pt x="8162" y="173"/>
                </a:cubicBezTo>
                <a:lnTo>
                  <a:pt x="8162" y="6116"/>
                </a:lnTo>
                <a:cubicBezTo>
                  <a:pt x="8162" y="6127"/>
                  <a:pt x="8161" y="6139"/>
                  <a:pt x="8158" y="6150"/>
                </a:cubicBezTo>
                <a:cubicBezTo>
                  <a:pt x="8156" y="6161"/>
                  <a:pt x="8153" y="6172"/>
                  <a:pt x="8149" y="6182"/>
                </a:cubicBezTo>
                <a:cubicBezTo>
                  <a:pt x="8144" y="6192"/>
                  <a:pt x="8139" y="6202"/>
                  <a:pt x="8133" y="6212"/>
                </a:cubicBezTo>
                <a:cubicBezTo>
                  <a:pt x="8126" y="6221"/>
                  <a:pt x="8119" y="6230"/>
                  <a:pt x="8111" y="6238"/>
                </a:cubicBezTo>
                <a:cubicBezTo>
                  <a:pt x="8103" y="6246"/>
                  <a:pt x="8094" y="6253"/>
                  <a:pt x="8085" y="6259"/>
                </a:cubicBezTo>
                <a:cubicBezTo>
                  <a:pt x="8076" y="6266"/>
                  <a:pt x="8066" y="6271"/>
                  <a:pt x="8055" y="6275"/>
                </a:cubicBezTo>
                <a:cubicBezTo>
                  <a:pt x="8045" y="6280"/>
                  <a:pt x="8034" y="6283"/>
                  <a:pt x="8023" y="6285"/>
                </a:cubicBezTo>
                <a:cubicBezTo>
                  <a:pt x="8012" y="6287"/>
                  <a:pt x="8001" y="6288"/>
                  <a:pt x="7989" y="6288"/>
                </a:cubicBezTo>
                <a:lnTo>
                  <a:pt x="173" y="6288"/>
                </a:lnTo>
                <a:cubicBezTo>
                  <a:pt x="161" y="6288"/>
                  <a:pt x="150" y="6287"/>
                  <a:pt x="139" y="6285"/>
                </a:cubicBezTo>
                <a:cubicBezTo>
                  <a:pt x="128" y="6283"/>
                  <a:pt x="117" y="6280"/>
                  <a:pt x="107" y="6275"/>
                </a:cubicBezTo>
                <a:cubicBezTo>
                  <a:pt x="96" y="6271"/>
                  <a:pt x="86" y="6266"/>
                  <a:pt x="77" y="6259"/>
                </a:cubicBezTo>
                <a:cubicBezTo>
                  <a:pt x="68" y="6253"/>
                  <a:pt x="59" y="6246"/>
                  <a:pt x="51" y="6238"/>
                </a:cubicBezTo>
                <a:cubicBezTo>
                  <a:pt x="43" y="6230"/>
                  <a:pt x="36" y="6221"/>
                  <a:pt x="29" y="6212"/>
                </a:cubicBezTo>
                <a:cubicBezTo>
                  <a:pt x="23" y="6202"/>
                  <a:pt x="18" y="6192"/>
                  <a:pt x="14" y="6182"/>
                </a:cubicBezTo>
                <a:cubicBezTo>
                  <a:pt x="9" y="6172"/>
                  <a:pt x="6" y="6161"/>
                  <a:pt x="4" y="6150"/>
                </a:cubicBezTo>
                <a:cubicBezTo>
                  <a:pt x="2" y="6139"/>
                  <a:pt x="0" y="6127"/>
                  <a:pt x="0" y="6116"/>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346" name=""/>
          <p:cNvSpPr/>
          <p:nvPr/>
        </p:nvSpPr>
        <p:spPr>
          <a:xfrm>
            <a:off x="6797520" y="4650480"/>
            <a:ext cx="465480" cy="465480"/>
          </a:xfrm>
          <a:custGeom>
            <a:avLst/>
            <a:gdLst/>
            <a:ahLst/>
            <a:rect l="0" t="0" r="r" b="b"/>
            <a:pathLst>
              <a:path w="1293" h="1293">
                <a:moveTo>
                  <a:pt x="1293" y="647"/>
                </a:moveTo>
                <a:cubicBezTo>
                  <a:pt x="1293" y="668"/>
                  <a:pt x="1292" y="689"/>
                  <a:pt x="1290" y="710"/>
                </a:cubicBezTo>
                <a:cubicBezTo>
                  <a:pt x="1288" y="731"/>
                  <a:pt x="1285" y="752"/>
                  <a:pt x="1281" y="773"/>
                </a:cubicBezTo>
                <a:cubicBezTo>
                  <a:pt x="1276" y="794"/>
                  <a:pt x="1271" y="814"/>
                  <a:pt x="1265" y="835"/>
                </a:cubicBezTo>
                <a:cubicBezTo>
                  <a:pt x="1259" y="855"/>
                  <a:pt x="1252" y="875"/>
                  <a:pt x="1244" y="894"/>
                </a:cubicBezTo>
                <a:cubicBezTo>
                  <a:pt x="1236" y="914"/>
                  <a:pt x="1227" y="933"/>
                  <a:pt x="1217" y="951"/>
                </a:cubicBezTo>
                <a:cubicBezTo>
                  <a:pt x="1207" y="970"/>
                  <a:pt x="1196" y="988"/>
                  <a:pt x="1184" y="1006"/>
                </a:cubicBezTo>
                <a:cubicBezTo>
                  <a:pt x="1172" y="1023"/>
                  <a:pt x="1160" y="1040"/>
                  <a:pt x="1146" y="1057"/>
                </a:cubicBezTo>
                <a:cubicBezTo>
                  <a:pt x="1133" y="1073"/>
                  <a:pt x="1118" y="1089"/>
                  <a:pt x="1103" y="1104"/>
                </a:cubicBezTo>
                <a:cubicBezTo>
                  <a:pt x="1088" y="1119"/>
                  <a:pt x="1072" y="1133"/>
                  <a:pt x="1056" y="1146"/>
                </a:cubicBezTo>
                <a:cubicBezTo>
                  <a:pt x="1039" y="1160"/>
                  <a:pt x="1023" y="1172"/>
                  <a:pt x="1005" y="1184"/>
                </a:cubicBezTo>
                <a:cubicBezTo>
                  <a:pt x="987" y="1196"/>
                  <a:pt x="969" y="1207"/>
                  <a:pt x="951" y="1217"/>
                </a:cubicBezTo>
                <a:cubicBezTo>
                  <a:pt x="932" y="1227"/>
                  <a:pt x="913" y="1236"/>
                  <a:pt x="893" y="1244"/>
                </a:cubicBezTo>
                <a:cubicBezTo>
                  <a:pt x="874" y="1252"/>
                  <a:pt x="854" y="1259"/>
                  <a:pt x="834" y="1265"/>
                </a:cubicBezTo>
                <a:cubicBezTo>
                  <a:pt x="813" y="1271"/>
                  <a:pt x="793" y="1276"/>
                  <a:pt x="772" y="1281"/>
                </a:cubicBezTo>
                <a:cubicBezTo>
                  <a:pt x="751" y="1285"/>
                  <a:pt x="730" y="1288"/>
                  <a:pt x="709" y="1290"/>
                </a:cubicBezTo>
                <a:cubicBezTo>
                  <a:pt x="688" y="1292"/>
                  <a:pt x="667" y="1293"/>
                  <a:pt x="646" y="1293"/>
                </a:cubicBezTo>
                <a:cubicBezTo>
                  <a:pt x="625" y="1293"/>
                  <a:pt x="604" y="1292"/>
                  <a:pt x="583" y="1290"/>
                </a:cubicBezTo>
                <a:cubicBezTo>
                  <a:pt x="562" y="1288"/>
                  <a:pt x="541" y="1285"/>
                  <a:pt x="520" y="1281"/>
                </a:cubicBezTo>
                <a:cubicBezTo>
                  <a:pt x="499" y="1276"/>
                  <a:pt x="479" y="1271"/>
                  <a:pt x="459" y="1265"/>
                </a:cubicBezTo>
                <a:cubicBezTo>
                  <a:pt x="438" y="1259"/>
                  <a:pt x="418" y="1252"/>
                  <a:pt x="399" y="1244"/>
                </a:cubicBezTo>
                <a:cubicBezTo>
                  <a:pt x="379" y="1236"/>
                  <a:pt x="360" y="1227"/>
                  <a:pt x="342" y="1217"/>
                </a:cubicBezTo>
                <a:cubicBezTo>
                  <a:pt x="323" y="1207"/>
                  <a:pt x="305" y="1196"/>
                  <a:pt x="287" y="1184"/>
                </a:cubicBezTo>
                <a:cubicBezTo>
                  <a:pt x="270" y="1172"/>
                  <a:pt x="253" y="1160"/>
                  <a:pt x="236" y="1146"/>
                </a:cubicBezTo>
                <a:cubicBezTo>
                  <a:pt x="220" y="1133"/>
                  <a:pt x="204" y="1119"/>
                  <a:pt x="189" y="1104"/>
                </a:cubicBezTo>
                <a:cubicBezTo>
                  <a:pt x="174" y="1089"/>
                  <a:pt x="160" y="1073"/>
                  <a:pt x="147" y="1057"/>
                </a:cubicBezTo>
                <a:cubicBezTo>
                  <a:pt x="133" y="1040"/>
                  <a:pt x="121" y="1023"/>
                  <a:pt x="109" y="1006"/>
                </a:cubicBezTo>
                <a:cubicBezTo>
                  <a:pt x="97" y="988"/>
                  <a:pt x="86" y="970"/>
                  <a:pt x="76" y="951"/>
                </a:cubicBezTo>
                <a:cubicBezTo>
                  <a:pt x="66" y="933"/>
                  <a:pt x="57" y="914"/>
                  <a:pt x="49" y="894"/>
                </a:cubicBezTo>
                <a:cubicBezTo>
                  <a:pt x="41" y="875"/>
                  <a:pt x="34" y="855"/>
                  <a:pt x="28" y="834"/>
                </a:cubicBezTo>
                <a:cubicBezTo>
                  <a:pt x="22" y="814"/>
                  <a:pt x="17" y="794"/>
                  <a:pt x="13" y="773"/>
                </a:cubicBezTo>
                <a:cubicBezTo>
                  <a:pt x="8" y="752"/>
                  <a:pt x="5" y="731"/>
                  <a:pt x="3" y="710"/>
                </a:cubicBezTo>
                <a:cubicBezTo>
                  <a:pt x="1" y="689"/>
                  <a:pt x="0" y="668"/>
                  <a:pt x="0" y="647"/>
                </a:cubicBezTo>
                <a:cubicBezTo>
                  <a:pt x="0" y="625"/>
                  <a:pt x="1" y="604"/>
                  <a:pt x="3" y="583"/>
                </a:cubicBezTo>
                <a:cubicBezTo>
                  <a:pt x="5" y="562"/>
                  <a:pt x="8" y="541"/>
                  <a:pt x="13" y="520"/>
                </a:cubicBezTo>
                <a:cubicBezTo>
                  <a:pt x="17" y="499"/>
                  <a:pt x="22" y="479"/>
                  <a:pt x="28" y="458"/>
                </a:cubicBezTo>
                <a:cubicBezTo>
                  <a:pt x="34" y="438"/>
                  <a:pt x="41" y="418"/>
                  <a:pt x="49" y="399"/>
                </a:cubicBezTo>
                <a:cubicBezTo>
                  <a:pt x="57" y="379"/>
                  <a:pt x="66" y="360"/>
                  <a:pt x="76" y="342"/>
                </a:cubicBezTo>
                <a:cubicBezTo>
                  <a:pt x="86" y="323"/>
                  <a:pt x="97" y="305"/>
                  <a:pt x="109" y="287"/>
                </a:cubicBezTo>
                <a:cubicBezTo>
                  <a:pt x="121" y="270"/>
                  <a:pt x="133" y="253"/>
                  <a:pt x="147" y="236"/>
                </a:cubicBezTo>
                <a:cubicBezTo>
                  <a:pt x="160" y="220"/>
                  <a:pt x="174" y="204"/>
                  <a:pt x="189" y="189"/>
                </a:cubicBezTo>
                <a:cubicBezTo>
                  <a:pt x="204" y="174"/>
                  <a:pt x="220" y="160"/>
                  <a:pt x="236" y="147"/>
                </a:cubicBezTo>
                <a:cubicBezTo>
                  <a:pt x="253" y="133"/>
                  <a:pt x="270" y="121"/>
                  <a:pt x="287" y="109"/>
                </a:cubicBezTo>
                <a:cubicBezTo>
                  <a:pt x="305" y="97"/>
                  <a:pt x="323" y="86"/>
                  <a:pt x="342" y="76"/>
                </a:cubicBezTo>
                <a:cubicBezTo>
                  <a:pt x="360" y="66"/>
                  <a:pt x="379" y="57"/>
                  <a:pt x="399" y="49"/>
                </a:cubicBezTo>
                <a:cubicBezTo>
                  <a:pt x="418" y="41"/>
                  <a:pt x="438" y="34"/>
                  <a:pt x="459" y="28"/>
                </a:cubicBezTo>
                <a:cubicBezTo>
                  <a:pt x="479" y="22"/>
                  <a:pt x="499" y="17"/>
                  <a:pt x="520" y="12"/>
                </a:cubicBezTo>
                <a:cubicBezTo>
                  <a:pt x="541" y="8"/>
                  <a:pt x="562" y="5"/>
                  <a:pt x="583" y="3"/>
                </a:cubicBezTo>
                <a:cubicBezTo>
                  <a:pt x="604" y="1"/>
                  <a:pt x="625" y="0"/>
                  <a:pt x="646" y="0"/>
                </a:cubicBezTo>
                <a:cubicBezTo>
                  <a:pt x="667" y="0"/>
                  <a:pt x="688" y="1"/>
                  <a:pt x="709" y="3"/>
                </a:cubicBezTo>
                <a:cubicBezTo>
                  <a:pt x="730" y="5"/>
                  <a:pt x="751" y="8"/>
                  <a:pt x="772" y="12"/>
                </a:cubicBezTo>
                <a:cubicBezTo>
                  <a:pt x="793" y="17"/>
                  <a:pt x="813" y="22"/>
                  <a:pt x="834" y="28"/>
                </a:cubicBezTo>
                <a:cubicBezTo>
                  <a:pt x="854" y="34"/>
                  <a:pt x="874" y="41"/>
                  <a:pt x="893" y="49"/>
                </a:cubicBezTo>
                <a:cubicBezTo>
                  <a:pt x="913" y="57"/>
                  <a:pt x="932" y="66"/>
                  <a:pt x="951" y="76"/>
                </a:cubicBezTo>
                <a:cubicBezTo>
                  <a:pt x="969" y="86"/>
                  <a:pt x="987" y="97"/>
                  <a:pt x="1005" y="109"/>
                </a:cubicBezTo>
                <a:cubicBezTo>
                  <a:pt x="1023" y="121"/>
                  <a:pt x="1039" y="133"/>
                  <a:pt x="1056" y="147"/>
                </a:cubicBezTo>
                <a:cubicBezTo>
                  <a:pt x="1072" y="160"/>
                  <a:pt x="1088" y="174"/>
                  <a:pt x="1103" y="189"/>
                </a:cubicBezTo>
                <a:cubicBezTo>
                  <a:pt x="1118" y="204"/>
                  <a:pt x="1133" y="220"/>
                  <a:pt x="1146" y="236"/>
                </a:cubicBezTo>
                <a:cubicBezTo>
                  <a:pt x="1160" y="253"/>
                  <a:pt x="1172" y="270"/>
                  <a:pt x="1184" y="287"/>
                </a:cubicBezTo>
                <a:cubicBezTo>
                  <a:pt x="1196" y="305"/>
                  <a:pt x="1207" y="323"/>
                  <a:pt x="1217" y="342"/>
                </a:cubicBezTo>
                <a:cubicBezTo>
                  <a:pt x="1227" y="360"/>
                  <a:pt x="1236" y="379"/>
                  <a:pt x="1244" y="399"/>
                </a:cubicBezTo>
                <a:cubicBezTo>
                  <a:pt x="1252" y="418"/>
                  <a:pt x="1259" y="438"/>
                  <a:pt x="1265" y="458"/>
                </a:cubicBezTo>
                <a:cubicBezTo>
                  <a:pt x="1271" y="479"/>
                  <a:pt x="1276" y="499"/>
                  <a:pt x="1281" y="520"/>
                </a:cubicBezTo>
                <a:cubicBezTo>
                  <a:pt x="1285" y="541"/>
                  <a:pt x="1288" y="562"/>
                  <a:pt x="1290" y="583"/>
                </a:cubicBezTo>
                <a:cubicBezTo>
                  <a:pt x="1292" y="604"/>
                  <a:pt x="1293" y="625"/>
                  <a:pt x="1293" y="647"/>
                </a:cubicBezTo>
                <a:close/>
              </a:path>
            </a:pathLst>
          </a:custGeom>
          <a:solidFill>
            <a:srgbClr val="cbfbf1"/>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347" name="" descr=""/>
          <p:cNvPicPr/>
          <p:nvPr/>
        </p:nvPicPr>
        <p:blipFill>
          <a:blip r:embed="rId10"/>
          <a:stretch/>
        </p:blipFill>
        <p:spPr>
          <a:xfrm>
            <a:off x="6914160" y="4790160"/>
            <a:ext cx="232200" cy="185760"/>
          </a:xfrm>
          <a:prstGeom prst="rect">
            <a:avLst/>
          </a:prstGeom>
          <a:noFill/>
          <a:ln w="0">
            <a:noFill/>
          </a:ln>
        </p:spPr>
      </p:pic>
      <p:sp>
        <p:nvSpPr>
          <p:cNvPr id="1348" name=""/>
          <p:cNvSpPr txBox="1"/>
          <p:nvPr/>
        </p:nvSpPr>
        <p:spPr>
          <a:xfrm>
            <a:off x="3834000" y="5996160"/>
            <a:ext cx="186120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定期的な勉強会や情報共有の実施</a:t>
            </a:r>
            <a:endParaRPr b="0" lang="en-US" sz="980" strike="noStrike" u="none">
              <a:solidFill>
                <a:srgbClr val="000000"/>
              </a:solidFill>
              <a:effectLst/>
              <a:uFillTx/>
              <a:latin typeface="Times New Roman"/>
            </a:endParaRPr>
          </a:p>
        </p:txBody>
      </p:sp>
      <p:sp>
        <p:nvSpPr>
          <p:cNvPr id="1349" name=""/>
          <p:cNvSpPr/>
          <p:nvPr/>
        </p:nvSpPr>
        <p:spPr>
          <a:xfrm>
            <a:off x="6820920" y="5309280"/>
            <a:ext cx="38880" cy="39240"/>
          </a:xfrm>
          <a:custGeom>
            <a:avLst/>
            <a:gdLst/>
            <a:ahLst/>
            <a:rect l="0" t="0" r="r" b="b"/>
            <a:pathLst>
              <a:path w="108" h="109">
                <a:moveTo>
                  <a:pt x="108" y="54"/>
                </a:moveTo>
                <a:cubicBezTo>
                  <a:pt x="108" y="61"/>
                  <a:pt x="107" y="68"/>
                  <a:pt x="104" y="76"/>
                </a:cubicBezTo>
                <a:cubicBezTo>
                  <a:pt x="102" y="82"/>
                  <a:pt x="98" y="88"/>
                  <a:pt x="93" y="93"/>
                </a:cubicBezTo>
                <a:cubicBezTo>
                  <a:pt x="88" y="98"/>
                  <a:pt x="82" y="102"/>
                  <a:pt x="75" y="105"/>
                </a:cubicBezTo>
                <a:cubicBezTo>
                  <a:pt x="69" y="107"/>
                  <a:pt x="62" y="109"/>
                  <a:pt x="55" y="109"/>
                </a:cubicBezTo>
                <a:cubicBezTo>
                  <a:pt x="47" y="109"/>
                  <a:pt x="40" y="107"/>
                  <a:pt x="33" y="105"/>
                </a:cubicBezTo>
                <a:cubicBezTo>
                  <a:pt x="26" y="102"/>
                  <a:pt x="21" y="98"/>
                  <a:pt x="15" y="93"/>
                </a:cubicBezTo>
                <a:cubicBezTo>
                  <a:pt x="10" y="88"/>
                  <a:pt x="7" y="82"/>
                  <a:pt x="4" y="76"/>
                </a:cubicBezTo>
                <a:cubicBezTo>
                  <a:pt x="1" y="68"/>
                  <a:pt x="0" y="61"/>
                  <a:pt x="0" y="54"/>
                </a:cubicBezTo>
                <a:cubicBezTo>
                  <a:pt x="0" y="47"/>
                  <a:pt x="1" y="40"/>
                  <a:pt x="4" y="33"/>
                </a:cubicBezTo>
                <a:cubicBezTo>
                  <a:pt x="7" y="27"/>
                  <a:pt x="10" y="21"/>
                  <a:pt x="15" y="16"/>
                </a:cubicBezTo>
                <a:cubicBezTo>
                  <a:pt x="21" y="11"/>
                  <a:pt x="26" y="7"/>
                  <a:pt x="33" y="4"/>
                </a:cubicBezTo>
                <a:cubicBezTo>
                  <a:pt x="40" y="2"/>
                  <a:pt x="47" y="0"/>
                  <a:pt x="55" y="0"/>
                </a:cubicBezTo>
                <a:cubicBezTo>
                  <a:pt x="62" y="0"/>
                  <a:pt x="69" y="2"/>
                  <a:pt x="75" y="4"/>
                </a:cubicBezTo>
                <a:cubicBezTo>
                  <a:pt x="82" y="7"/>
                  <a:pt x="88" y="11"/>
                  <a:pt x="93" y="16"/>
                </a:cubicBezTo>
                <a:cubicBezTo>
                  <a:pt x="98" y="21"/>
                  <a:pt x="102" y="27"/>
                  <a:pt x="104" y="33"/>
                </a:cubicBezTo>
                <a:cubicBezTo>
                  <a:pt x="107" y="40"/>
                  <a:pt x="108" y="47"/>
                  <a:pt x="108" y="54"/>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50" name=""/>
          <p:cNvSpPr txBox="1"/>
          <p:nvPr/>
        </p:nvSpPr>
        <p:spPr>
          <a:xfrm>
            <a:off x="7389360" y="4788360"/>
            <a:ext cx="1248120" cy="195480"/>
          </a:xfrm>
          <a:prstGeom prst="rect">
            <a:avLst/>
          </a:prstGeom>
          <a:noFill/>
          <a:ln w="0">
            <a:noFill/>
          </a:ln>
        </p:spPr>
        <p:txBody>
          <a:bodyPr wrap="none" lIns="0" rIns="0" tIns="0" bIns="0" anchor="t">
            <a:spAutoFit/>
          </a:bodyPr>
          <a:p>
            <a:r>
              <a:rPr b="0" lang="zh-CN" sz="1220" strike="noStrike" u="none">
                <a:solidFill>
                  <a:srgbClr val="00786f"/>
                </a:solidFill>
                <a:effectLst/>
                <a:uFillTx/>
                <a:latin typeface="WenQuanYiZenHei"/>
                <a:ea typeface="WenQuanYiZenHei"/>
              </a:rPr>
              <a:t>多職種連携の推進</a:t>
            </a:r>
            <a:endParaRPr b="0" lang="en-US" sz="1220" strike="noStrike" u="none">
              <a:solidFill>
                <a:srgbClr val="000000"/>
              </a:solidFill>
              <a:effectLst/>
              <a:uFillTx/>
              <a:latin typeface="Times New Roman"/>
            </a:endParaRPr>
          </a:p>
        </p:txBody>
      </p:sp>
      <p:sp>
        <p:nvSpPr>
          <p:cNvPr id="1351" name=""/>
          <p:cNvSpPr txBox="1"/>
          <p:nvPr/>
        </p:nvSpPr>
        <p:spPr>
          <a:xfrm>
            <a:off x="6955200" y="5252040"/>
            <a:ext cx="236916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医師、看護師、リハビリスタッフ、医療事</a:t>
            </a:r>
            <a:endParaRPr b="0" lang="en-US" sz="980" strike="noStrike" u="none">
              <a:solidFill>
                <a:srgbClr val="000000"/>
              </a:solidFill>
              <a:effectLst/>
              <a:uFillTx/>
              <a:latin typeface="Times New Roman"/>
            </a:endParaRPr>
          </a:p>
        </p:txBody>
      </p:sp>
      <p:sp>
        <p:nvSpPr>
          <p:cNvPr id="1352" name=""/>
          <p:cNvSpPr/>
          <p:nvPr/>
        </p:nvSpPr>
        <p:spPr>
          <a:xfrm>
            <a:off x="6820920" y="5743440"/>
            <a:ext cx="38880" cy="39240"/>
          </a:xfrm>
          <a:custGeom>
            <a:avLst/>
            <a:gdLst/>
            <a:ahLst/>
            <a:rect l="0" t="0" r="r" b="b"/>
            <a:pathLst>
              <a:path w="108" h="109">
                <a:moveTo>
                  <a:pt x="108" y="55"/>
                </a:moveTo>
                <a:cubicBezTo>
                  <a:pt x="108" y="62"/>
                  <a:pt x="107" y="69"/>
                  <a:pt x="104" y="75"/>
                </a:cubicBezTo>
                <a:cubicBezTo>
                  <a:pt x="102" y="82"/>
                  <a:pt x="98" y="88"/>
                  <a:pt x="93" y="93"/>
                </a:cubicBezTo>
                <a:cubicBezTo>
                  <a:pt x="88" y="98"/>
                  <a:pt x="82" y="102"/>
                  <a:pt x="75" y="104"/>
                </a:cubicBezTo>
                <a:cubicBezTo>
                  <a:pt x="69" y="107"/>
                  <a:pt x="62" y="109"/>
                  <a:pt x="55" y="109"/>
                </a:cubicBezTo>
                <a:cubicBezTo>
                  <a:pt x="47" y="109"/>
                  <a:pt x="40" y="107"/>
                  <a:pt x="33" y="104"/>
                </a:cubicBezTo>
                <a:cubicBezTo>
                  <a:pt x="26" y="102"/>
                  <a:pt x="21" y="98"/>
                  <a:pt x="15" y="93"/>
                </a:cubicBezTo>
                <a:cubicBezTo>
                  <a:pt x="10" y="88"/>
                  <a:pt x="7" y="82"/>
                  <a:pt x="4" y="75"/>
                </a:cubicBezTo>
                <a:cubicBezTo>
                  <a:pt x="1" y="69"/>
                  <a:pt x="0" y="62"/>
                  <a:pt x="0" y="55"/>
                </a:cubicBezTo>
                <a:cubicBezTo>
                  <a:pt x="0" y="48"/>
                  <a:pt x="1" y="40"/>
                  <a:pt x="4" y="33"/>
                </a:cubicBezTo>
                <a:cubicBezTo>
                  <a:pt x="7" y="27"/>
                  <a:pt x="10" y="21"/>
                  <a:pt x="15" y="16"/>
                </a:cubicBezTo>
                <a:cubicBezTo>
                  <a:pt x="21" y="11"/>
                  <a:pt x="26" y="7"/>
                  <a:pt x="33" y="4"/>
                </a:cubicBezTo>
                <a:cubicBezTo>
                  <a:pt x="40" y="1"/>
                  <a:pt x="47" y="0"/>
                  <a:pt x="55" y="0"/>
                </a:cubicBezTo>
                <a:cubicBezTo>
                  <a:pt x="62" y="0"/>
                  <a:pt x="69" y="1"/>
                  <a:pt x="75" y="4"/>
                </a:cubicBezTo>
                <a:cubicBezTo>
                  <a:pt x="82" y="7"/>
                  <a:pt x="88" y="11"/>
                  <a:pt x="93" y="16"/>
                </a:cubicBezTo>
                <a:cubicBezTo>
                  <a:pt x="98" y="21"/>
                  <a:pt x="102" y="27"/>
                  <a:pt x="104" y="33"/>
                </a:cubicBezTo>
                <a:cubicBezTo>
                  <a:pt x="107" y="40"/>
                  <a:pt x="108" y="48"/>
                  <a:pt x="108" y="55"/>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53" name=""/>
          <p:cNvSpPr txBox="1"/>
          <p:nvPr/>
        </p:nvSpPr>
        <p:spPr>
          <a:xfrm>
            <a:off x="6955200" y="5438160"/>
            <a:ext cx="74412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務の連携強化</a:t>
            </a:r>
            <a:endParaRPr b="0" lang="en-US" sz="980" strike="noStrike" u="none">
              <a:solidFill>
                <a:srgbClr val="000000"/>
              </a:solidFill>
              <a:effectLst/>
              <a:uFillTx/>
              <a:latin typeface="Times New Roman"/>
            </a:endParaRPr>
          </a:p>
        </p:txBody>
      </p:sp>
      <p:sp>
        <p:nvSpPr>
          <p:cNvPr id="1354" name=""/>
          <p:cNvSpPr txBox="1"/>
          <p:nvPr/>
        </p:nvSpPr>
        <p:spPr>
          <a:xfrm>
            <a:off x="6955200" y="5686200"/>
            <a:ext cx="236052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退院時共同指導料など多職種連携に基づく</a:t>
            </a:r>
            <a:endParaRPr b="0" lang="en-US" sz="980" strike="noStrike" u="none">
              <a:solidFill>
                <a:srgbClr val="000000"/>
              </a:solidFill>
              <a:effectLst/>
              <a:uFillTx/>
              <a:latin typeface="Times New Roman"/>
            </a:endParaRPr>
          </a:p>
        </p:txBody>
      </p:sp>
      <p:sp>
        <p:nvSpPr>
          <p:cNvPr id="1355" name=""/>
          <p:cNvSpPr/>
          <p:nvPr/>
        </p:nvSpPr>
        <p:spPr>
          <a:xfrm>
            <a:off x="6820920" y="6177600"/>
            <a:ext cx="38880" cy="38880"/>
          </a:xfrm>
          <a:custGeom>
            <a:avLst/>
            <a:gdLst/>
            <a:ahLst/>
            <a:rect l="0" t="0" r="r" b="b"/>
            <a:pathLst>
              <a:path w="108" h="108">
                <a:moveTo>
                  <a:pt x="108" y="54"/>
                </a:moveTo>
                <a:cubicBezTo>
                  <a:pt x="108" y="62"/>
                  <a:pt x="107" y="68"/>
                  <a:pt x="104" y="75"/>
                </a:cubicBezTo>
                <a:cubicBezTo>
                  <a:pt x="102" y="82"/>
                  <a:pt x="98" y="88"/>
                  <a:pt x="93" y="93"/>
                </a:cubicBezTo>
                <a:cubicBezTo>
                  <a:pt x="88" y="98"/>
                  <a:pt x="82" y="101"/>
                  <a:pt x="75" y="104"/>
                </a:cubicBezTo>
                <a:cubicBezTo>
                  <a:pt x="69" y="107"/>
                  <a:pt x="62" y="108"/>
                  <a:pt x="55" y="108"/>
                </a:cubicBezTo>
                <a:cubicBezTo>
                  <a:pt x="47" y="108"/>
                  <a:pt x="40" y="107"/>
                  <a:pt x="33" y="104"/>
                </a:cubicBezTo>
                <a:cubicBezTo>
                  <a:pt x="26" y="101"/>
                  <a:pt x="21" y="98"/>
                  <a:pt x="15" y="93"/>
                </a:cubicBezTo>
                <a:cubicBezTo>
                  <a:pt x="10" y="88"/>
                  <a:pt x="7" y="82"/>
                  <a:pt x="4" y="75"/>
                </a:cubicBezTo>
                <a:cubicBezTo>
                  <a:pt x="1" y="68"/>
                  <a:pt x="0" y="62"/>
                  <a:pt x="0" y="54"/>
                </a:cubicBezTo>
                <a:cubicBezTo>
                  <a:pt x="0" y="47"/>
                  <a:pt x="1" y="40"/>
                  <a:pt x="4" y="34"/>
                </a:cubicBezTo>
                <a:cubicBezTo>
                  <a:pt x="7" y="27"/>
                  <a:pt x="10" y="21"/>
                  <a:pt x="15" y="16"/>
                </a:cubicBezTo>
                <a:cubicBezTo>
                  <a:pt x="21" y="10"/>
                  <a:pt x="26" y="6"/>
                  <a:pt x="33" y="4"/>
                </a:cubicBezTo>
                <a:cubicBezTo>
                  <a:pt x="40" y="1"/>
                  <a:pt x="47" y="0"/>
                  <a:pt x="55" y="0"/>
                </a:cubicBezTo>
                <a:cubicBezTo>
                  <a:pt x="62" y="0"/>
                  <a:pt x="69" y="1"/>
                  <a:pt x="75" y="4"/>
                </a:cubicBezTo>
                <a:cubicBezTo>
                  <a:pt x="82" y="6"/>
                  <a:pt x="88" y="10"/>
                  <a:pt x="93" y="16"/>
                </a:cubicBezTo>
                <a:cubicBezTo>
                  <a:pt x="98" y="21"/>
                  <a:pt x="102" y="27"/>
                  <a:pt x="104" y="34"/>
                </a:cubicBezTo>
                <a:cubicBezTo>
                  <a:pt x="107" y="40"/>
                  <a:pt x="108" y="47"/>
                  <a:pt x="108" y="54"/>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56" name=""/>
          <p:cNvSpPr txBox="1"/>
          <p:nvPr/>
        </p:nvSpPr>
        <p:spPr>
          <a:xfrm>
            <a:off x="6955200" y="5872320"/>
            <a:ext cx="62100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加算の活用</a:t>
            </a:r>
            <a:endParaRPr b="0" lang="en-US" sz="980" strike="noStrike" u="none">
              <a:solidFill>
                <a:srgbClr val="000000"/>
              </a:solidFill>
              <a:effectLst/>
              <a:uFillTx/>
              <a:latin typeface="Times New Roman"/>
            </a:endParaRPr>
          </a:p>
        </p:txBody>
      </p:sp>
      <p:sp>
        <p:nvSpPr>
          <p:cNvPr id="1357" name=""/>
          <p:cNvSpPr/>
          <p:nvPr/>
        </p:nvSpPr>
        <p:spPr>
          <a:xfrm>
            <a:off x="6820920" y="6425640"/>
            <a:ext cx="38880" cy="38880"/>
          </a:xfrm>
          <a:custGeom>
            <a:avLst/>
            <a:gdLst/>
            <a:ahLst/>
            <a:rect l="0" t="0" r="r" b="b"/>
            <a:pathLst>
              <a:path w="108" h="108">
                <a:moveTo>
                  <a:pt x="108" y="53"/>
                </a:moveTo>
                <a:cubicBezTo>
                  <a:pt x="108" y="61"/>
                  <a:pt x="107" y="67"/>
                  <a:pt x="104" y="75"/>
                </a:cubicBezTo>
                <a:cubicBezTo>
                  <a:pt x="102" y="82"/>
                  <a:pt x="98" y="87"/>
                  <a:pt x="93" y="93"/>
                </a:cubicBezTo>
                <a:cubicBezTo>
                  <a:pt x="88" y="98"/>
                  <a:pt x="82" y="101"/>
                  <a:pt x="75" y="104"/>
                </a:cubicBezTo>
                <a:cubicBezTo>
                  <a:pt x="69" y="107"/>
                  <a:pt x="62" y="108"/>
                  <a:pt x="55" y="108"/>
                </a:cubicBezTo>
                <a:cubicBezTo>
                  <a:pt x="47" y="108"/>
                  <a:pt x="40" y="107"/>
                  <a:pt x="33" y="104"/>
                </a:cubicBezTo>
                <a:cubicBezTo>
                  <a:pt x="26" y="101"/>
                  <a:pt x="21" y="98"/>
                  <a:pt x="15" y="93"/>
                </a:cubicBezTo>
                <a:cubicBezTo>
                  <a:pt x="10" y="87"/>
                  <a:pt x="7" y="82"/>
                  <a:pt x="4" y="75"/>
                </a:cubicBezTo>
                <a:cubicBezTo>
                  <a:pt x="1" y="67"/>
                  <a:pt x="0" y="61"/>
                  <a:pt x="0" y="53"/>
                </a:cubicBezTo>
                <a:cubicBezTo>
                  <a:pt x="0" y="46"/>
                  <a:pt x="1" y="39"/>
                  <a:pt x="4" y="33"/>
                </a:cubicBezTo>
                <a:cubicBezTo>
                  <a:pt x="7" y="26"/>
                  <a:pt x="10" y="20"/>
                  <a:pt x="15" y="15"/>
                </a:cubicBezTo>
                <a:cubicBezTo>
                  <a:pt x="21" y="10"/>
                  <a:pt x="26" y="6"/>
                  <a:pt x="33" y="4"/>
                </a:cubicBezTo>
                <a:cubicBezTo>
                  <a:pt x="40" y="1"/>
                  <a:pt x="47" y="0"/>
                  <a:pt x="55" y="0"/>
                </a:cubicBezTo>
                <a:cubicBezTo>
                  <a:pt x="62" y="0"/>
                  <a:pt x="69" y="1"/>
                  <a:pt x="75" y="4"/>
                </a:cubicBezTo>
                <a:cubicBezTo>
                  <a:pt x="82" y="6"/>
                  <a:pt x="88" y="10"/>
                  <a:pt x="93" y="15"/>
                </a:cubicBezTo>
                <a:cubicBezTo>
                  <a:pt x="98" y="20"/>
                  <a:pt x="102" y="26"/>
                  <a:pt x="104" y="33"/>
                </a:cubicBezTo>
                <a:cubicBezTo>
                  <a:pt x="107" y="39"/>
                  <a:pt x="108" y="46"/>
                  <a:pt x="108" y="53"/>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58" name=""/>
          <p:cNvSpPr txBox="1"/>
          <p:nvPr/>
        </p:nvSpPr>
        <p:spPr>
          <a:xfrm>
            <a:off x="6955200" y="6120360"/>
            <a:ext cx="198756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院内での情報共有と連携体制の整備</a:t>
            </a:r>
            <a:endParaRPr b="0" lang="en-US" sz="980" strike="noStrike" u="none">
              <a:solidFill>
                <a:srgbClr val="000000"/>
              </a:solidFill>
              <a:effectLst/>
              <a:uFillTx/>
              <a:latin typeface="Times New Roman"/>
            </a:endParaRPr>
          </a:p>
        </p:txBody>
      </p:sp>
      <p:sp>
        <p:nvSpPr>
          <p:cNvPr id="1359" name=""/>
          <p:cNvSpPr/>
          <p:nvPr/>
        </p:nvSpPr>
        <p:spPr>
          <a:xfrm>
            <a:off x="371880" y="1604160"/>
            <a:ext cx="2937960" cy="2635920"/>
          </a:xfrm>
          <a:custGeom>
            <a:avLst/>
            <a:gdLst/>
            <a:ahLst/>
            <a:rect l="0" t="0" r="r" b="b"/>
            <a:pathLst>
              <a:path w="8161" h="7322">
                <a:moveTo>
                  <a:pt x="0" y="7150"/>
                </a:moveTo>
                <a:lnTo>
                  <a:pt x="0" y="173"/>
                </a:lnTo>
                <a:cubicBezTo>
                  <a:pt x="0" y="161"/>
                  <a:pt x="1" y="150"/>
                  <a:pt x="3" y="139"/>
                </a:cubicBezTo>
                <a:cubicBezTo>
                  <a:pt x="6" y="128"/>
                  <a:pt x="9" y="117"/>
                  <a:pt x="13" y="107"/>
                </a:cubicBezTo>
                <a:cubicBezTo>
                  <a:pt x="17" y="96"/>
                  <a:pt x="23" y="86"/>
                  <a:pt x="29" y="77"/>
                </a:cubicBezTo>
                <a:cubicBezTo>
                  <a:pt x="35" y="68"/>
                  <a:pt x="42" y="59"/>
                  <a:pt x="50" y="51"/>
                </a:cubicBezTo>
                <a:cubicBezTo>
                  <a:pt x="58" y="43"/>
                  <a:pt x="67" y="36"/>
                  <a:pt x="77" y="29"/>
                </a:cubicBezTo>
                <a:cubicBezTo>
                  <a:pt x="86" y="23"/>
                  <a:pt x="96" y="18"/>
                  <a:pt x="106" y="14"/>
                </a:cubicBezTo>
                <a:cubicBezTo>
                  <a:pt x="117" y="9"/>
                  <a:pt x="128" y="6"/>
                  <a:pt x="139" y="4"/>
                </a:cubicBezTo>
                <a:cubicBezTo>
                  <a:pt x="150" y="2"/>
                  <a:pt x="161" y="0"/>
                  <a:pt x="172" y="0"/>
                </a:cubicBezTo>
                <a:lnTo>
                  <a:pt x="7989" y="0"/>
                </a:lnTo>
                <a:cubicBezTo>
                  <a:pt x="8000" y="0"/>
                  <a:pt x="8011" y="2"/>
                  <a:pt x="8023" y="4"/>
                </a:cubicBezTo>
                <a:cubicBezTo>
                  <a:pt x="8034" y="6"/>
                  <a:pt x="8044" y="9"/>
                  <a:pt x="8055" y="14"/>
                </a:cubicBezTo>
                <a:cubicBezTo>
                  <a:pt x="8065" y="18"/>
                  <a:pt x="8075" y="23"/>
                  <a:pt x="8085" y="29"/>
                </a:cubicBezTo>
                <a:cubicBezTo>
                  <a:pt x="8094" y="36"/>
                  <a:pt x="8103" y="43"/>
                  <a:pt x="8111" y="51"/>
                </a:cubicBezTo>
                <a:cubicBezTo>
                  <a:pt x="8119" y="59"/>
                  <a:pt x="8126" y="68"/>
                  <a:pt x="8132" y="77"/>
                </a:cubicBezTo>
                <a:cubicBezTo>
                  <a:pt x="8138" y="86"/>
                  <a:pt x="8144" y="96"/>
                  <a:pt x="8148" y="107"/>
                </a:cubicBezTo>
                <a:cubicBezTo>
                  <a:pt x="8152" y="117"/>
                  <a:pt x="8156" y="128"/>
                  <a:pt x="8158" y="139"/>
                </a:cubicBezTo>
                <a:cubicBezTo>
                  <a:pt x="8160" y="150"/>
                  <a:pt x="8161" y="161"/>
                  <a:pt x="8161" y="173"/>
                </a:cubicBezTo>
                <a:lnTo>
                  <a:pt x="8161" y="7150"/>
                </a:lnTo>
                <a:cubicBezTo>
                  <a:pt x="8161" y="7161"/>
                  <a:pt x="8160" y="7172"/>
                  <a:pt x="8158" y="7183"/>
                </a:cubicBezTo>
                <a:cubicBezTo>
                  <a:pt x="8156" y="7194"/>
                  <a:pt x="8152" y="7205"/>
                  <a:pt x="8148" y="7216"/>
                </a:cubicBezTo>
                <a:cubicBezTo>
                  <a:pt x="8144" y="7226"/>
                  <a:pt x="8138" y="7236"/>
                  <a:pt x="8132" y="7245"/>
                </a:cubicBezTo>
                <a:cubicBezTo>
                  <a:pt x="8126" y="7255"/>
                  <a:pt x="8119" y="7263"/>
                  <a:pt x="8111" y="7271"/>
                </a:cubicBezTo>
                <a:cubicBezTo>
                  <a:pt x="8103" y="7279"/>
                  <a:pt x="8094" y="7287"/>
                  <a:pt x="8085" y="7293"/>
                </a:cubicBezTo>
                <a:cubicBezTo>
                  <a:pt x="8075" y="7299"/>
                  <a:pt x="8065" y="7304"/>
                  <a:pt x="8055" y="7309"/>
                </a:cubicBezTo>
                <a:cubicBezTo>
                  <a:pt x="8044" y="7313"/>
                  <a:pt x="8034" y="7316"/>
                  <a:pt x="8023" y="7319"/>
                </a:cubicBezTo>
                <a:cubicBezTo>
                  <a:pt x="8011" y="7321"/>
                  <a:pt x="8000" y="7322"/>
                  <a:pt x="7989" y="7322"/>
                </a:cubicBezTo>
                <a:lnTo>
                  <a:pt x="172" y="7322"/>
                </a:lnTo>
                <a:cubicBezTo>
                  <a:pt x="161" y="7322"/>
                  <a:pt x="150" y="7321"/>
                  <a:pt x="139" y="7319"/>
                </a:cubicBezTo>
                <a:cubicBezTo>
                  <a:pt x="128" y="7316"/>
                  <a:pt x="117" y="7313"/>
                  <a:pt x="106" y="7309"/>
                </a:cubicBezTo>
                <a:cubicBezTo>
                  <a:pt x="96" y="7304"/>
                  <a:pt x="86" y="7299"/>
                  <a:pt x="77" y="7293"/>
                </a:cubicBezTo>
                <a:cubicBezTo>
                  <a:pt x="67" y="7287"/>
                  <a:pt x="58" y="7279"/>
                  <a:pt x="50" y="7271"/>
                </a:cubicBezTo>
                <a:cubicBezTo>
                  <a:pt x="42" y="7263"/>
                  <a:pt x="35" y="7255"/>
                  <a:pt x="29" y="7245"/>
                </a:cubicBezTo>
                <a:cubicBezTo>
                  <a:pt x="23" y="7236"/>
                  <a:pt x="17" y="7226"/>
                  <a:pt x="13" y="7216"/>
                </a:cubicBezTo>
                <a:cubicBezTo>
                  <a:pt x="9" y="7205"/>
                  <a:pt x="6" y="7194"/>
                  <a:pt x="3" y="7183"/>
                </a:cubicBezTo>
                <a:cubicBezTo>
                  <a:pt x="1" y="7172"/>
                  <a:pt x="0" y="7161"/>
                  <a:pt x="0" y="7150"/>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360" name=""/>
          <p:cNvSpPr/>
          <p:nvPr/>
        </p:nvSpPr>
        <p:spPr>
          <a:xfrm>
            <a:off x="558000" y="1790280"/>
            <a:ext cx="465480" cy="465480"/>
          </a:xfrm>
          <a:custGeom>
            <a:avLst/>
            <a:gdLst/>
            <a:ahLst/>
            <a:rect l="0" t="0" r="r" b="b"/>
            <a:pathLst>
              <a:path w="1293" h="1293">
                <a:moveTo>
                  <a:pt x="1293" y="646"/>
                </a:moveTo>
                <a:cubicBezTo>
                  <a:pt x="1293" y="667"/>
                  <a:pt x="1292" y="688"/>
                  <a:pt x="1289" y="709"/>
                </a:cubicBezTo>
                <a:cubicBezTo>
                  <a:pt x="1287" y="730"/>
                  <a:pt x="1284" y="751"/>
                  <a:pt x="1280" y="772"/>
                </a:cubicBezTo>
                <a:cubicBezTo>
                  <a:pt x="1276" y="793"/>
                  <a:pt x="1271" y="813"/>
                  <a:pt x="1265" y="834"/>
                </a:cubicBezTo>
                <a:cubicBezTo>
                  <a:pt x="1259" y="855"/>
                  <a:pt x="1252" y="875"/>
                  <a:pt x="1243" y="894"/>
                </a:cubicBezTo>
                <a:cubicBezTo>
                  <a:pt x="1235" y="914"/>
                  <a:pt x="1226" y="933"/>
                  <a:pt x="1216" y="952"/>
                </a:cubicBezTo>
                <a:cubicBezTo>
                  <a:pt x="1206" y="970"/>
                  <a:pt x="1195" y="988"/>
                  <a:pt x="1184" y="1006"/>
                </a:cubicBezTo>
                <a:cubicBezTo>
                  <a:pt x="1172" y="1024"/>
                  <a:pt x="1159" y="1040"/>
                  <a:pt x="1146" y="1057"/>
                </a:cubicBezTo>
                <a:cubicBezTo>
                  <a:pt x="1133" y="1073"/>
                  <a:pt x="1118" y="1089"/>
                  <a:pt x="1103" y="1104"/>
                </a:cubicBezTo>
                <a:cubicBezTo>
                  <a:pt x="1088" y="1119"/>
                  <a:pt x="1073" y="1133"/>
                  <a:pt x="1056" y="1146"/>
                </a:cubicBezTo>
                <a:cubicBezTo>
                  <a:pt x="1040" y="1160"/>
                  <a:pt x="1023" y="1172"/>
                  <a:pt x="1006" y="1184"/>
                </a:cubicBezTo>
                <a:cubicBezTo>
                  <a:pt x="988" y="1196"/>
                  <a:pt x="970" y="1207"/>
                  <a:pt x="951" y="1217"/>
                </a:cubicBezTo>
                <a:cubicBezTo>
                  <a:pt x="932" y="1227"/>
                  <a:pt x="913" y="1236"/>
                  <a:pt x="894" y="1244"/>
                </a:cubicBezTo>
                <a:cubicBezTo>
                  <a:pt x="874" y="1252"/>
                  <a:pt x="854" y="1259"/>
                  <a:pt x="834" y="1265"/>
                </a:cubicBezTo>
                <a:cubicBezTo>
                  <a:pt x="814" y="1271"/>
                  <a:pt x="793" y="1276"/>
                  <a:pt x="773" y="1281"/>
                </a:cubicBezTo>
                <a:cubicBezTo>
                  <a:pt x="752" y="1285"/>
                  <a:pt x="731" y="1288"/>
                  <a:pt x="710" y="1290"/>
                </a:cubicBezTo>
                <a:cubicBezTo>
                  <a:pt x="689" y="1292"/>
                  <a:pt x="668" y="1293"/>
                  <a:pt x="647" y="1293"/>
                </a:cubicBezTo>
                <a:cubicBezTo>
                  <a:pt x="626" y="1293"/>
                  <a:pt x="604" y="1292"/>
                  <a:pt x="583" y="1290"/>
                </a:cubicBezTo>
                <a:cubicBezTo>
                  <a:pt x="562" y="1288"/>
                  <a:pt x="541" y="1285"/>
                  <a:pt x="521" y="1281"/>
                </a:cubicBezTo>
                <a:cubicBezTo>
                  <a:pt x="500" y="1276"/>
                  <a:pt x="479" y="1271"/>
                  <a:pt x="459" y="1265"/>
                </a:cubicBezTo>
                <a:cubicBezTo>
                  <a:pt x="439" y="1259"/>
                  <a:pt x="419" y="1252"/>
                  <a:pt x="399" y="1244"/>
                </a:cubicBezTo>
                <a:cubicBezTo>
                  <a:pt x="379" y="1236"/>
                  <a:pt x="360" y="1227"/>
                  <a:pt x="341" y="1217"/>
                </a:cubicBezTo>
                <a:cubicBezTo>
                  <a:pt x="323" y="1207"/>
                  <a:pt x="304" y="1196"/>
                  <a:pt x="287" y="1184"/>
                </a:cubicBezTo>
                <a:cubicBezTo>
                  <a:pt x="269" y="1172"/>
                  <a:pt x="252" y="1160"/>
                  <a:pt x="236" y="1146"/>
                </a:cubicBezTo>
                <a:cubicBezTo>
                  <a:pt x="220" y="1133"/>
                  <a:pt x="204" y="1119"/>
                  <a:pt x="189" y="1104"/>
                </a:cubicBezTo>
                <a:cubicBezTo>
                  <a:pt x="174" y="1089"/>
                  <a:pt x="160" y="1073"/>
                  <a:pt x="146" y="1057"/>
                </a:cubicBezTo>
                <a:cubicBezTo>
                  <a:pt x="133" y="1040"/>
                  <a:pt x="120" y="1024"/>
                  <a:pt x="109" y="1006"/>
                </a:cubicBezTo>
                <a:cubicBezTo>
                  <a:pt x="97" y="988"/>
                  <a:pt x="86" y="970"/>
                  <a:pt x="76" y="952"/>
                </a:cubicBezTo>
                <a:cubicBezTo>
                  <a:pt x="66" y="933"/>
                  <a:pt x="57" y="914"/>
                  <a:pt x="49" y="894"/>
                </a:cubicBezTo>
                <a:cubicBezTo>
                  <a:pt x="41" y="875"/>
                  <a:pt x="34" y="855"/>
                  <a:pt x="28" y="834"/>
                </a:cubicBezTo>
                <a:cubicBezTo>
                  <a:pt x="21" y="813"/>
                  <a:pt x="16" y="793"/>
                  <a:pt x="12" y="772"/>
                </a:cubicBezTo>
                <a:cubicBezTo>
                  <a:pt x="8" y="751"/>
                  <a:pt x="5" y="730"/>
                  <a:pt x="3" y="709"/>
                </a:cubicBezTo>
                <a:cubicBezTo>
                  <a:pt x="1" y="688"/>
                  <a:pt x="0" y="667"/>
                  <a:pt x="0" y="646"/>
                </a:cubicBezTo>
                <a:cubicBezTo>
                  <a:pt x="0" y="625"/>
                  <a:pt x="1" y="604"/>
                  <a:pt x="3" y="583"/>
                </a:cubicBezTo>
                <a:cubicBezTo>
                  <a:pt x="5" y="562"/>
                  <a:pt x="8" y="541"/>
                  <a:pt x="12" y="520"/>
                </a:cubicBezTo>
                <a:cubicBezTo>
                  <a:pt x="16" y="499"/>
                  <a:pt x="21" y="479"/>
                  <a:pt x="28" y="459"/>
                </a:cubicBezTo>
                <a:cubicBezTo>
                  <a:pt x="34" y="438"/>
                  <a:pt x="41" y="418"/>
                  <a:pt x="49" y="399"/>
                </a:cubicBezTo>
                <a:cubicBezTo>
                  <a:pt x="57" y="379"/>
                  <a:pt x="66" y="360"/>
                  <a:pt x="76" y="342"/>
                </a:cubicBezTo>
                <a:cubicBezTo>
                  <a:pt x="86" y="323"/>
                  <a:pt x="97" y="305"/>
                  <a:pt x="109" y="287"/>
                </a:cubicBezTo>
                <a:cubicBezTo>
                  <a:pt x="120" y="270"/>
                  <a:pt x="133" y="253"/>
                  <a:pt x="146" y="236"/>
                </a:cubicBezTo>
                <a:cubicBezTo>
                  <a:pt x="160" y="220"/>
                  <a:pt x="174" y="204"/>
                  <a:pt x="189" y="189"/>
                </a:cubicBezTo>
                <a:cubicBezTo>
                  <a:pt x="204" y="174"/>
                  <a:pt x="220" y="160"/>
                  <a:pt x="236" y="147"/>
                </a:cubicBezTo>
                <a:cubicBezTo>
                  <a:pt x="252" y="133"/>
                  <a:pt x="269" y="121"/>
                  <a:pt x="287" y="109"/>
                </a:cubicBezTo>
                <a:cubicBezTo>
                  <a:pt x="304" y="97"/>
                  <a:pt x="323" y="86"/>
                  <a:pt x="341" y="76"/>
                </a:cubicBezTo>
                <a:cubicBezTo>
                  <a:pt x="360" y="66"/>
                  <a:pt x="379" y="57"/>
                  <a:pt x="399" y="49"/>
                </a:cubicBezTo>
                <a:cubicBezTo>
                  <a:pt x="419" y="41"/>
                  <a:pt x="439" y="34"/>
                  <a:pt x="459" y="28"/>
                </a:cubicBezTo>
                <a:cubicBezTo>
                  <a:pt x="479" y="22"/>
                  <a:pt x="500" y="17"/>
                  <a:pt x="521" y="13"/>
                </a:cubicBezTo>
                <a:cubicBezTo>
                  <a:pt x="541" y="8"/>
                  <a:pt x="562" y="5"/>
                  <a:pt x="583" y="3"/>
                </a:cubicBezTo>
                <a:cubicBezTo>
                  <a:pt x="604" y="1"/>
                  <a:pt x="626" y="0"/>
                  <a:pt x="647" y="0"/>
                </a:cubicBezTo>
                <a:cubicBezTo>
                  <a:pt x="668" y="0"/>
                  <a:pt x="689" y="1"/>
                  <a:pt x="710" y="3"/>
                </a:cubicBezTo>
                <a:cubicBezTo>
                  <a:pt x="731" y="5"/>
                  <a:pt x="752" y="8"/>
                  <a:pt x="773" y="13"/>
                </a:cubicBezTo>
                <a:cubicBezTo>
                  <a:pt x="793" y="17"/>
                  <a:pt x="814" y="22"/>
                  <a:pt x="834" y="28"/>
                </a:cubicBezTo>
                <a:cubicBezTo>
                  <a:pt x="854" y="34"/>
                  <a:pt x="874" y="41"/>
                  <a:pt x="894" y="49"/>
                </a:cubicBezTo>
                <a:cubicBezTo>
                  <a:pt x="913" y="57"/>
                  <a:pt x="932" y="66"/>
                  <a:pt x="951" y="76"/>
                </a:cubicBezTo>
                <a:cubicBezTo>
                  <a:pt x="970" y="86"/>
                  <a:pt x="988" y="97"/>
                  <a:pt x="1006" y="109"/>
                </a:cubicBezTo>
                <a:cubicBezTo>
                  <a:pt x="1023" y="121"/>
                  <a:pt x="1040" y="133"/>
                  <a:pt x="1056" y="147"/>
                </a:cubicBezTo>
                <a:cubicBezTo>
                  <a:pt x="1073" y="160"/>
                  <a:pt x="1088" y="174"/>
                  <a:pt x="1103" y="189"/>
                </a:cubicBezTo>
                <a:cubicBezTo>
                  <a:pt x="1118" y="204"/>
                  <a:pt x="1133" y="220"/>
                  <a:pt x="1146" y="236"/>
                </a:cubicBezTo>
                <a:cubicBezTo>
                  <a:pt x="1159" y="253"/>
                  <a:pt x="1172" y="270"/>
                  <a:pt x="1184" y="287"/>
                </a:cubicBezTo>
                <a:cubicBezTo>
                  <a:pt x="1195" y="305"/>
                  <a:pt x="1206" y="323"/>
                  <a:pt x="1216" y="342"/>
                </a:cubicBezTo>
                <a:cubicBezTo>
                  <a:pt x="1226" y="360"/>
                  <a:pt x="1235" y="379"/>
                  <a:pt x="1243" y="399"/>
                </a:cubicBezTo>
                <a:cubicBezTo>
                  <a:pt x="1252" y="418"/>
                  <a:pt x="1259" y="438"/>
                  <a:pt x="1265" y="459"/>
                </a:cubicBezTo>
                <a:cubicBezTo>
                  <a:pt x="1271" y="479"/>
                  <a:pt x="1276" y="499"/>
                  <a:pt x="1280" y="520"/>
                </a:cubicBezTo>
                <a:cubicBezTo>
                  <a:pt x="1284" y="541"/>
                  <a:pt x="1287" y="562"/>
                  <a:pt x="1289" y="583"/>
                </a:cubicBezTo>
                <a:cubicBezTo>
                  <a:pt x="1292" y="604"/>
                  <a:pt x="1293" y="625"/>
                  <a:pt x="1293" y="646"/>
                </a:cubicBezTo>
                <a:close/>
              </a:path>
            </a:pathLst>
          </a:custGeom>
          <a:solidFill>
            <a:srgbClr val="dbea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361" name="" descr=""/>
          <p:cNvPicPr/>
          <p:nvPr/>
        </p:nvPicPr>
        <p:blipFill>
          <a:blip r:embed="rId11"/>
          <a:stretch/>
        </p:blipFill>
        <p:spPr>
          <a:xfrm>
            <a:off x="720720" y="1929960"/>
            <a:ext cx="139320" cy="185760"/>
          </a:xfrm>
          <a:prstGeom prst="rect">
            <a:avLst/>
          </a:prstGeom>
          <a:noFill/>
          <a:ln w="0">
            <a:noFill/>
          </a:ln>
        </p:spPr>
      </p:pic>
      <p:sp>
        <p:nvSpPr>
          <p:cNvPr id="1362" name=""/>
          <p:cNvSpPr txBox="1"/>
          <p:nvPr/>
        </p:nvSpPr>
        <p:spPr>
          <a:xfrm>
            <a:off x="6955200" y="6368400"/>
            <a:ext cx="199620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チームによる患者管理と記録の充実</a:t>
            </a:r>
            <a:endParaRPr b="0" lang="en-US" sz="980" strike="noStrike" u="none">
              <a:solidFill>
                <a:srgbClr val="000000"/>
              </a:solidFill>
              <a:effectLst/>
              <a:uFillTx/>
              <a:latin typeface="Times New Roman"/>
            </a:endParaRPr>
          </a:p>
        </p:txBody>
      </p:sp>
      <p:sp>
        <p:nvSpPr>
          <p:cNvPr id="1363" name=""/>
          <p:cNvSpPr/>
          <p:nvPr/>
        </p:nvSpPr>
        <p:spPr>
          <a:xfrm>
            <a:off x="581040" y="2449080"/>
            <a:ext cx="39240" cy="39240"/>
          </a:xfrm>
          <a:custGeom>
            <a:avLst/>
            <a:gdLst/>
            <a:ahLst/>
            <a:rect l="0" t="0" r="r" b="b"/>
            <a:pathLst>
              <a:path w="109" h="109">
                <a:moveTo>
                  <a:pt x="109" y="54"/>
                </a:moveTo>
                <a:cubicBezTo>
                  <a:pt x="109" y="61"/>
                  <a:pt x="108" y="68"/>
                  <a:pt x="105" y="75"/>
                </a:cubicBezTo>
                <a:cubicBezTo>
                  <a:pt x="102" y="81"/>
                  <a:pt x="98" y="87"/>
                  <a:pt x="93" y="92"/>
                </a:cubicBezTo>
                <a:cubicBezTo>
                  <a:pt x="88" y="97"/>
                  <a:pt x="82" y="102"/>
                  <a:pt x="76" y="105"/>
                </a:cubicBezTo>
                <a:cubicBezTo>
                  <a:pt x="69" y="108"/>
                  <a:pt x="62" y="109"/>
                  <a:pt x="55" y="109"/>
                </a:cubicBezTo>
                <a:cubicBezTo>
                  <a:pt x="48" y="109"/>
                  <a:pt x="40" y="108"/>
                  <a:pt x="34" y="105"/>
                </a:cubicBezTo>
                <a:cubicBezTo>
                  <a:pt x="27" y="102"/>
                  <a:pt x="21" y="97"/>
                  <a:pt x="16" y="92"/>
                </a:cubicBezTo>
                <a:cubicBezTo>
                  <a:pt x="11" y="87"/>
                  <a:pt x="7" y="81"/>
                  <a:pt x="4" y="75"/>
                </a:cubicBezTo>
                <a:cubicBezTo>
                  <a:pt x="2" y="68"/>
                  <a:pt x="0" y="61"/>
                  <a:pt x="0" y="54"/>
                </a:cubicBezTo>
                <a:cubicBezTo>
                  <a:pt x="0" y="47"/>
                  <a:pt x="2" y="40"/>
                  <a:pt x="4" y="34"/>
                </a:cubicBezTo>
                <a:cubicBezTo>
                  <a:pt x="7" y="27"/>
                  <a:pt x="11" y="21"/>
                  <a:pt x="16" y="16"/>
                </a:cubicBezTo>
                <a:cubicBezTo>
                  <a:pt x="21" y="11"/>
                  <a:pt x="27" y="7"/>
                  <a:pt x="34" y="4"/>
                </a:cubicBezTo>
                <a:cubicBezTo>
                  <a:pt x="40" y="2"/>
                  <a:pt x="48" y="0"/>
                  <a:pt x="55" y="0"/>
                </a:cubicBezTo>
                <a:cubicBezTo>
                  <a:pt x="62" y="0"/>
                  <a:pt x="69" y="2"/>
                  <a:pt x="76" y="4"/>
                </a:cubicBezTo>
                <a:cubicBezTo>
                  <a:pt x="82" y="7"/>
                  <a:pt x="88" y="11"/>
                  <a:pt x="93" y="16"/>
                </a:cubicBezTo>
                <a:cubicBezTo>
                  <a:pt x="98" y="21"/>
                  <a:pt x="102" y="27"/>
                  <a:pt x="105" y="34"/>
                </a:cubicBezTo>
                <a:cubicBezTo>
                  <a:pt x="108" y="40"/>
                  <a:pt x="109" y="47"/>
                  <a:pt x="109" y="54"/>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64" name=""/>
          <p:cNvSpPr txBox="1"/>
          <p:nvPr/>
        </p:nvSpPr>
        <p:spPr>
          <a:xfrm>
            <a:off x="1147320" y="1928160"/>
            <a:ext cx="1258920" cy="195480"/>
          </a:xfrm>
          <a:prstGeom prst="rect">
            <a:avLst/>
          </a:prstGeom>
          <a:noFill/>
          <a:ln w="0">
            <a:noFill/>
          </a:ln>
        </p:spPr>
        <p:txBody>
          <a:bodyPr wrap="none" lIns="0" rIns="0" tIns="0" bIns="0" anchor="t">
            <a:spAutoFit/>
          </a:bodyPr>
          <a:p>
            <a:r>
              <a:rPr b="0" lang="zh-CN" sz="1220" strike="noStrike" u="none">
                <a:solidFill>
                  <a:srgbClr val="1d4ed8"/>
                </a:solidFill>
                <a:effectLst/>
                <a:uFillTx/>
                <a:latin typeface="WenQuanYiZenHei"/>
                <a:ea typeface="WenQuanYiZenHei"/>
              </a:rPr>
              <a:t>正確なカルテ記載</a:t>
            </a:r>
            <a:endParaRPr b="0" lang="en-US" sz="1220" strike="noStrike" u="none">
              <a:solidFill>
                <a:srgbClr val="000000"/>
              </a:solidFill>
              <a:effectLst/>
              <a:uFillTx/>
              <a:latin typeface="Times New Roman"/>
            </a:endParaRPr>
          </a:p>
        </p:txBody>
      </p:sp>
      <p:sp>
        <p:nvSpPr>
          <p:cNvPr id="1365" name=""/>
          <p:cNvSpPr txBox="1"/>
          <p:nvPr/>
        </p:nvSpPr>
        <p:spPr>
          <a:xfrm>
            <a:off x="713160" y="2391840"/>
            <a:ext cx="236340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実施した診療行為、検査、処置などを漏れ</a:t>
            </a:r>
            <a:endParaRPr b="0" lang="en-US" sz="980" strike="noStrike" u="none">
              <a:solidFill>
                <a:srgbClr val="000000"/>
              </a:solidFill>
              <a:effectLst/>
              <a:uFillTx/>
              <a:latin typeface="Times New Roman"/>
            </a:endParaRPr>
          </a:p>
        </p:txBody>
      </p:sp>
      <p:sp>
        <p:nvSpPr>
          <p:cNvPr id="1366" name=""/>
          <p:cNvSpPr/>
          <p:nvPr/>
        </p:nvSpPr>
        <p:spPr>
          <a:xfrm>
            <a:off x="581040" y="2883240"/>
            <a:ext cx="39240" cy="39240"/>
          </a:xfrm>
          <a:custGeom>
            <a:avLst/>
            <a:gdLst/>
            <a:ahLst/>
            <a:rect l="0" t="0" r="r" b="b"/>
            <a:pathLst>
              <a:path w="109" h="109">
                <a:moveTo>
                  <a:pt x="109" y="54"/>
                </a:moveTo>
                <a:cubicBezTo>
                  <a:pt x="109" y="61"/>
                  <a:pt x="108" y="68"/>
                  <a:pt x="105" y="75"/>
                </a:cubicBezTo>
                <a:cubicBezTo>
                  <a:pt x="102" y="82"/>
                  <a:pt x="98" y="88"/>
                  <a:pt x="93" y="93"/>
                </a:cubicBezTo>
                <a:cubicBezTo>
                  <a:pt x="88" y="98"/>
                  <a:pt x="82" y="102"/>
                  <a:pt x="76" y="105"/>
                </a:cubicBezTo>
                <a:cubicBezTo>
                  <a:pt x="69" y="107"/>
                  <a:pt x="62" y="109"/>
                  <a:pt x="55" y="109"/>
                </a:cubicBezTo>
                <a:cubicBezTo>
                  <a:pt x="48" y="109"/>
                  <a:pt x="40" y="107"/>
                  <a:pt x="34" y="105"/>
                </a:cubicBezTo>
                <a:cubicBezTo>
                  <a:pt x="27" y="102"/>
                  <a:pt x="21" y="98"/>
                  <a:pt x="16" y="93"/>
                </a:cubicBezTo>
                <a:cubicBezTo>
                  <a:pt x="11" y="88"/>
                  <a:pt x="7" y="82"/>
                  <a:pt x="4" y="75"/>
                </a:cubicBezTo>
                <a:cubicBezTo>
                  <a:pt x="2" y="68"/>
                  <a:pt x="0" y="61"/>
                  <a:pt x="0" y="54"/>
                </a:cubicBezTo>
                <a:cubicBezTo>
                  <a:pt x="0" y="47"/>
                  <a:pt x="2" y="40"/>
                  <a:pt x="4" y="33"/>
                </a:cubicBezTo>
                <a:cubicBezTo>
                  <a:pt x="7" y="27"/>
                  <a:pt x="11" y="21"/>
                  <a:pt x="16" y="16"/>
                </a:cubicBezTo>
                <a:cubicBezTo>
                  <a:pt x="21" y="11"/>
                  <a:pt x="27" y="7"/>
                  <a:pt x="34" y="4"/>
                </a:cubicBezTo>
                <a:cubicBezTo>
                  <a:pt x="40" y="1"/>
                  <a:pt x="48" y="0"/>
                  <a:pt x="55" y="0"/>
                </a:cubicBezTo>
                <a:cubicBezTo>
                  <a:pt x="62" y="0"/>
                  <a:pt x="69" y="1"/>
                  <a:pt x="76" y="4"/>
                </a:cubicBezTo>
                <a:cubicBezTo>
                  <a:pt x="82" y="7"/>
                  <a:pt x="88" y="11"/>
                  <a:pt x="93" y="16"/>
                </a:cubicBezTo>
                <a:cubicBezTo>
                  <a:pt x="98" y="21"/>
                  <a:pt x="102" y="27"/>
                  <a:pt x="105" y="33"/>
                </a:cubicBezTo>
                <a:cubicBezTo>
                  <a:pt x="108" y="40"/>
                  <a:pt x="109" y="47"/>
                  <a:pt x="109" y="54"/>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67" name=""/>
          <p:cNvSpPr txBox="1"/>
          <p:nvPr/>
        </p:nvSpPr>
        <p:spPr>
          <a:xfrm>
            <a:off x="713160" y="2577960"/>
            <a:ext cx="50040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なく記載</a:t>
            </a:r>
            <a:endParaRPr b="0" lang="en-US" sz="980" strike="noStrike" u="none">
              <a:solidFill>
                <a:srgbClr val="000000"/>
              </a:solidFill>
              <a:effectLst/>
              <a:uFillTx/>
              <a:latin typeface="Times New Roman"/>
            </a:endParaRPr>
          </a:p>
        </p:txBody>
      </p:sp>
      <p:sp>
        <p:nvSpPr>
          <p:cNvPr id="1368" name=""/>
          <p:cNvSpPr txBox="1"/>
          <p:nvPr/>
        </p:nvSpPr>
        <p:spPr>
          <a:xfrm>
            <a:off x="713160" y="2826000"/>
            <a:ext cx="222840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指導内容を具体的に記録（実施時間、内</a:t>
            </a:r>
            <a:endParaRPr b="0" lang="en-US" sz="980" strike="noStrike" u="none">
              <a:solidFill>
                <a:srgbClr val="000000"/>
              </a:solidFill>
              <a:effectLst/>
              <a:uFillTx/>
              <a:latin typeface="Times New Roman"/>
            </a:endParaRPr>
          </a:p>
        </p:txBody>
      </p:sp>
      <p:sp>
        <p:nvSpPr>
          <p:cNvPr id="1369" name=""/>
          <p:cNvSpPr/>
          <p:nvPr/>
        </p:nvSpPr>
        <p:spPr>
          <a:xfrm>
            <a:off x="581040" y="3317400"/>
            <a:ext cx="39240" cy="38880"/>
          </a:xfrm>
          <a:custGeom>
            <a:avLst/>
            <a:gdLst/>
            <a:ahLst/>
            <a:rect l="0" t="0" r="r" b="b"/>
            <a:pathLst>
              <a:path w="109" h="108">
                <a:moveTo>
                  <a:pt x="109" y="55"/>
                </a:moveTo>
                <a:cubicBezTo>
                  <a:pt x="109" y="62"/>
                  <a:pt x="108" y="69"/>
                  <a:pt x="105" y="75"/>
                </a:cubicBezTo>
                <a:cubicBezTo>
                  <a:pt x="102" y="82"/>
                  <a:pt x="98" y="88"/>
                  <a:pt x="93" y="93"/>
                </a:cubicBezTo>
                <a:cubicBezTo>
                  <a:pt x="88" y="98"/>
                  <a:pt x="82" y="102"/>
                  <a:pt x="76" y="104"/>
                </a:cubicBezTo>
                <a:cubicBezTo>
                  <a:pt x="69" y="107"/>
                  <a:pt x="62" y="108"/>
                  <a:pt x="55" y="108"/>
                </a:cubicBezTo>
                <a:cubicBezTo>
                  <a:pt x="48" y="108"/>
                  <a:pt x="40" y="107"/>
                  <a:pt x="34" y="104"/>
                </a:cubicBezTo>
                <a:cubicBezTo>
                  <a:pt x="27" y="102"/>
                  <a:pt x="21" y="98"/>
                  <a:pt x="16" y="93"/>
                </a:cubicBezTo>
                <a:cubicBezTo>
                  <a:pt x="11" y="88"/>
                  <a:pt x="7" y="82"/>
                  <a:pt x="4" y="75"/>
                </a:cubicBezTo>
                <a:cubicBezTo>
                  <a:pt x="2" y="69"/>
                  <a:pt x="0" y="62"/>
                  <a:pt x="0" y="55"/>
                </a:cubicBezTo>
                <a:cubicBezTo>
                  <a:pt x="0" y="47"/>
                  <a:pt x="2" y="40"/>
                  <a:pt x="4" y="33"/>
                </a:cubicBezTo>
                <a:cubicBezTo>
                  <a:pt x="7" y="26"/>
                  <a:pt x="11" y="21"/>
                  <a:pt x="16" y="16"/>
                </a:cubicBezTo>
                <a:cubicBezTo>
                  <a:pt x="21" y="10"/>
                  <a:pt x="27" y="7"/>
                  <a:pt x="34" y="4"/>
                </a:cubicBezTo>
                <a:cubicBezTo>
                  <a:pt x="40" y="1"/>
                  <a:pt x="48" y="0"/>
                  <a:pt x="55" y="0"/>
                </a:cubicBezTo>
                <a:cubicBezTo>
                  <a:pt x="62" y="0"/>
                  <a:pt x="69" y="1"/>
                  <a:pt x="76" y="4"/>
                </a:cubicBezTo>
                <a:cubicBezTo>
                  <a:pt x="82" y="7"/>
                  <a:pt x="88" y="10"/>
                  <a:pt x="93" y="16"/>
                </a:cubicBezTo>
                <a:cubicBezTo>
                  <a:pt x="98" y="21"/>
                  <a:pt x="102" y="26"/>
                  <a:pt x="105" y="33"/>
                </a:cubicBezTo>
                <a:cubicBezTo>
                  <a:pt x="108" y="40"/>
                  <a:pt x="109" y="47"/>
                  <a:pt x="109" y="55"/>
                </a:cubicBezTo>
                <a:close/>
              </a:path>
            </a:pathLst>
          </a:custGeom>
          <a:solidFill>
            <a:srgbClr val="4b5563"/>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1370" name=""/>
          <p:cNvSpPr txBox="1"/>
          <p:nvPr/>
        </p:nvSpPr>
        <p:spPr>
          <a:xfrm>
            <a:off x="713160" y="3012120"/>
            <a:ext cx="124380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容、患者の反応など）</a:t>
            </a:r>
            <a:endParaRPr b="0" lang="en-US" sz="980" strike="noStrike" u="none">
              <a:solidFill>
                <a:srgbClr val="000000"/>
              </a:solidFill>
              <a:effectLst/>
              <a:uFillTx/>
              <a:latin typeface="Times New Roman"/>
            </a:endParaRPr>
          </a:p>
        </p:txBody>
      </p:sp>
      <p:sp>
        <p:nvSpPr>
          <p:cNvPr id="1371" name=""/>
          <p:cNvSpPr txBox="1"/>
          <p:nvPr/>
        </p:nvSpPr>
        <p:spPr>
          <a:xfrm>
            <a:off x="713160" y="3260160"/>
            <a:ext cx="237204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リハビリテーション実施内容・時間の詳細</a:t>
            </a:r>
            <a:endParaRPr b="0" lang="en-US" sz="980" strike="noStrike" u="none">
              <a:solidFill>
                <a:srgbClr val="000000"/>
              </a:solidFill>
              <a:effectLst/>
              <a:uFillTx/>
              <a:latin typeface="Times New Roman"/>
            </a:endParaRPr>
          </a:p>
        </p:txBody>
      </p:sp>
      <p:sp>
        <p:nvSpPr>
          <p:cNvPr id="1372" name=""/>
          <p:cNvSpPr/>
          <p:nvPr/>
        </p:nvSpPr>
        <p:spPr>
          <a:xfrm>
            <a:off x="387360" y="6975720"/>
            <a:ext cx="9162360" cy="434520"/>
          </a:xfrm>
          <a:custGeom>
            <a:avLst/>
            <a:gdLst/>
            <a:ahLst/>
            <a:rect l="0" t="0" r="r" b="b"/>
            <a:pathLst>
              <a:path w="25451" h="1207">
                <a:moveTo>
                  <a:pt x="0" y="1207"/>
                </a:moveTo>
                <a:lnTo>
                  <a:pt x="0" y="0"/>
                </a:lnTo>
                <a:lnTo>
                  <a:pt x="25278" y="0"/>
                </a:lnTo>
                <a:cubicBezTo>
                  <a:pt x="25290" y="0"/>
                  <a:pt x="25301" y="1"/>
                  <a:pt x="25312" y="4"/>
                </a:cubicBezTo>
                <a:cubicBezTo>
                  <a:pt x="25323" y="6"/>
                  <a:pt x="25334" y="9"/>
                  <a:pt x="25344" y="13"/>
                </a:cubicBezTo>
                <a:cubicBezTo>
                  <a:pt x="25355" y="18"/>
                  <a:pt x="25365" y="23"/>
                  <a:pt x="25374" y="29"/>
                </a:cubicBezTo>
                <a:cubicBezTo>
                  <a:pt x="25383" y="36"/>
                  <a:pt x="25392" y="43"/>
                  <a:pt x="25400" y="51"/>
                </a:cubicBezTo>
                <a:cubicBezTo>
                  <a:pt x="25408" y="59"/>
                  <a:pt x="25415" y="67"/>
                  <a:pt x="25422" y="77"/>
                </a:cubicBezTo>
                <a:cubicBezTo>
                  <a:pt x="25428" y="86"/>
                  <a:pt x="25433" y="96"/>
                  <a:pt x="25438" y="107"/>
                </a:cubicBezTo>
                <a:cubicBezTo>
                  <a:pt x="25442" y="117"/>
                  <a:pt x="25445" y="128"/>
                  <a:pt x="25447" y="139"/>
                </a:cubicBezTo>
                <a:cubicBezTo>
                  <a:pt x="25450" y="150"/>
                  <a:pt x="25451" y="161"/>
                  <a:pt x="25451" y="173"/>
                </a:cubicBezTo>
                <a:lnTo>
                  <a:pt x="25451" y="1035"/>
                </a:lnTo>
                <a:cubicBezTo>
                  <a:pt x="25451" y="1046"/>
                  <a:pt x="25450" y="1057"/>
                  <a:pt x="25447" y="1068"/>
                </a:cubicBezTo>
                <a:cubicBezTo>
                  <a:pt x="25445" y="1080"/>
                  <a:pt x="25442" y="1090"/>
                  <a:pt x="25438" y="1101"/>
                </a:cubicBezTo>
                <a:cubicBezTo>
                  <a:pt x="25433" y="1111"/>
                  <a:pt x="25428" y="1121"/>
                  <a:pt x="25422" y="1131"/>
                </a:cubicBezTo>
                <a:cubicBezTo>
                  <a:pt x="25415" y="1140"/>
                  <a:pt x="25408" y="1149"/>
                  <a:pt x="25400" y="1157"/>
                </a:cubicBezTo>
                <a:cubicBezTo>
                  <a:pt x="25392" y="1165"/>
                  <a:pt x="25383" y="1172"/>
                  <a:pt x="25374" y="1178"/>
                </a:cubicBezTo>
                <a:cubicBezTo>
                  <a:pt x="25365" y="1184"/>
                  <a:pt x="25355" y="1190"/>
                  <a:pt x="25344" y="1194"/>
                </a:cubicBezTo>
                <a:cubicBezTo>
                  <a:pt x="25334" y="1198"/>
                  <a:pt x="25323" y="1202"/>
                  <a:pt x="25312" y="1204"/>
                </a:cubicBezTo>
                <a:cubicBezTo>
                  <a:pt x="25301" y="1206"/>
                  <a:pt x="25290" y="1207"/>
                  <a:pt x="25278" y="1207"/>
                </a:cubicBezTo>
                <a:lnTo>
                  <a:pt x="0" y="1207"/>
                </a:lnTo>
                <a:close/>
              </a:path>
            </a:pathLst>
          </a:custGeom>
          <a:solidFill>
            <a:srgbClr val="eff6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373" name=""/>
          <p:cNvSpPr/>
          <p:nvPr/>
        </p:nvSpPr>
        <p:spPr>
          <a:xfrm>
            <a:off x="371880" y="6975720"/>
            <a:ext cx="31320" cy="434520"/>
          </a:xfrm>
          <a:custGeom>
            <a:avLst/>
            <a:gdLst/>
            <a:ahLst/>
            <a:rect l="0" t="0" r="r" b="b"/>
            <a:pathLst>
              <a:path w="87" h="1207">
                <a:moveTo>
                  <a:pt x="0" y="0"/>
                </a:moveTo>
                <a:lnTo>
                  <a:pt x="87" y="0"/>
                </a:lnTo>
                <a:lnTo>
                  <a:pt x="87" y="1207"/>
                </a:lnTo>
                <a:lnTo>
                  <a:pt x="0" y="1207"/>
                </a:lnTo>
                <a:lnTo>
                  <a:pt x="0" y="0"/>
                </a:lnTo>
                <a:close/>
              </a:path>
            </a:pathLst>
          </a:custGeom>
          <a:solidFill>
            <a:srgbClr val="3b82f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374" name="" descr=""/>
          <p:cNvPicPr/>
          <p:nvPr/>
        </p:nvPicPr>
        <p:blipFill>
          <a:blip r:embed="rId12"/>
          <a:stretch/>
        </p:blipFill>
        <p:spPr>
          <a:xfrm>
            <a:off x="527040" y="7099920"/>
            <a:ext cx="139320" cy="185760"/>
          </a:xfrm>
          <a:prstGeom prst="rect">
            <a:avLst/>
          </a:prstGeom>
          <a:noFill/>
          <a:ln w="0">
            <a:noFill/>
          </a:ln>
        </p:spPr>
      </p:pic>
      <p:sp>
        <p:nvSpPr>
          <p:cNvPr id="1375" name=""/>
          <p:cNvSpPr txBox="1"/>
          <p:nvPr/>
        </p:nvSpPr>
        <p:spPr>
          <a:xfrm>
            <a:off x="713160" y="3445920"/>
            <a:ext cx="374040" cy="155880"/>
          </a:xfrm>
          <a:prstGeom prst="rect">
            <a:avLst/>
          </a:prstGeom>
          <a:noFill/>
          <a:ln w="0">
            <a:noFill/>
          </a:ln>
        </p:spPr>
        <p:txBody>
          <a:bodyPr wrap="none" lIns="0" rIns="0" tIns="0" bIns="0" anchor="t">
            <a:spAutoFit/>
          </a:bodyPr>
          <a:p>
            <a:r>
              <a:rPr b="0" lang="zh-CN" sz="980" strike="noStrike" u="none">
                <a:solidFill>
                  <a:srgbClr val="4b5563"/>
                </a:solidFill>
                <a:effectLst/>
                <a:uFillTx/>
                <a:latin typeface="WenQuanYiZenHei"/>
                <a:ea typeface="WenQuanYiZenHei"/>
              </a:rPr>
              <a:t>な記録</a:t>
            </a:r>
            <a:endParaRPr b="0" lang="en-US" sz="980" strike="noStrike" u="none">
              <a:solidFill>
                <a:srgbClr val="000000"/>
              </a:solidFill>
              <a:effectLst/>
              <a:uFillTx/>
              <a:latin typeface="Times New Roman"/>
            </a:endParaRPr>
          </a:p>
        </p:txBody>
      </p:sp>
      <p:sp>
        <p:nvSpPr>
          <p:cNvPr id="1376" name=""/>
          <p:cNvSpPr txBox="1"/>
          <p:nvPr/>
        </p:nvSpPr>
        <p:spPr>
          <a:xfrm>
            <a:off x="759600" y="7112520"/>
            <a:ext cx="8499240" cy="155880"/>
          </a:xfrm>
          <a:prstGeom prst="rect">
            <a:avLst/>
          </a:prstGeom>
          <a:noFill/>
          <a:ln w="0">
            <a:noFill/>
          </a:ln>
        </p:spPr>
        <p:txBody>
          <a:bodyPr wrap="none" lIns="0" rIns="0" tIns="0" bIns="0" anchor="t">
            <a:spAutoFit/>
          </a:bodyPr>
          <a:p>
            <a:r>
              <a:rPr b="0" lang="zh-CN" sz="980" strike="noStrike" u="none">
                <a:solidFill>
                  <a:srgbClr val="374151"/>
                </a:solidFill>
                <a:effectLst/>
                <a:uFillTx/>
                <a:latin typeface="WenQuanYiZenHei"/>
                <a:ea typeface="WenQuanYiZenHei"/>
              </a:rPr>
              <a:t>これらのポイントを意識し、日々の業務に取り組むことで、より多くの保険点数を加算し、病院の収益向上と医療の質向上に貢献することができます。</a:t>
            </a:r>
            <a:endParaRPr b="0" lang="en-US" sz="98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77" name="" descr=""/>
          <p:cNvPicPr/>
          <p:nvPr/>
        </p:nvPicPr>
        <p:blipFill>
          <a:blip r:embed="rId1"/>
          <a:stretch/>
        </p:blipFill>
        <p:spPr>
          <a:xfrm>
            <a:off x="0" y="171360"/>
            <a:ext cx="8712000" cy="4900320"/>
          </a:xfrm>
          <a:prstGeom prst="rect">
            <a:avLst/>
          </a:prstGeom>
          <a:noFill/>
          <a:ln w="0">
            <a:noFill/>
          </a:ln>
        </p:spPr>
      </p:pic>
      <p:pic>
        <p:nvPicPr>
          <p:cNvPr id="1378" name="" descr=""/>
          <p:cNvPicPr/>
          <p:nvPr/>
        </p:nvPicPr>
        <p:blipFill>
          <a:blip r:embed="rId2"/>
          <a:stretch/>
        </p:blipFill>
        <p:spPr>
          <a:xfrm>
            <a:off x="6670440" y="-849600"/>
            <a:ext cx="2722320" cy="2722320"/>
          </a:xfrm>
          <a:prstGeom prst="rect">
            <a:avLst/>
          </a:prstGeom>
          <a:noFill/>
          <a:ln w="0">
            <a:noFill/>
          </a:ln>
        </p:spPr>
      </p:pic>
      <p:pic>
        <p:nvPicPr>
          <p:cNvPr id="1379" name="" descr=""/>
          <p:cNvPicPr/>
          <p:nvPr/>
        </p:nvPicPr>
        <p:blipFill>
          <a:blip r:embed="rId3"/>
          <a:stretch/>
        </p:blipFill>
        <p:spPr>
          <a:xfrm>
            <a:off x="-680760" y="3710880"/>
            <a:ext cx="2041560" cy="2041560"/>
          </a:xfrm>
          <a:prstGeom prst="rect">
            <a:avLst/>
          </a:prstGeom>
          <a:noFill/>
          <a:ln w="0">
            <a:noFill/>
          </a:ln>
        </p:spPr>
      </p:pic>
      <p:pic>
        <p:nvPicPr>
          <p:cNvPr id="1380" name="" descr=""/>
          <p:cNvPicPr/>
          <p:nvPr/>
        </p:nvPicPr>
        <p:blipFill>
          <a:blip r:embed="rId4"/>
          <a:stretch/>
        </p:blipFill>
        <p:spPr>
          <a:xfrm>
            <a:off x="6820200" y="4847400"/>
            <a:ext cx="122040" cy="95040"/>
          </a:xfrm>
          <a:prstGeom prst="rect">
            <a:avLst/>
          </a:prstGeom>
          <a:noFill/>
          <a:ln w="0">
            <a:noFill/>
          </a:ln>
        </p:spPr>
      </p:pic>
      <p:sp>
        <p:nvSpPr>
          <p:cNvPr id="1381" name=""/>
          <p:cNvSpPr txBox="1"/>
          <p:nvPr/>
        </p:nvSpPr>
        <p:spPr>
          <a:xfrm>
            <a:off x="6994080" y="4837320"/>
            <a:ext cx="384840" cy="122400"/>
          </a:xfrm>
          <a:prstGeom prst="rect">
            <a:avLst/>
          </a:prstGeom>
          <a:noFill/>
          <a:ln w="0">
            <a:noFill/>
          </a:ln>
        </p:spPr>
        <p:txBody>
          <a:bodyPr wrap="none" lIns="0" rIns="0" tIns="0" bIns="0" anchor="t">
            <a:spAutoFit/>
          </a:bodyPr>
          <a:p>
            <a:r>
              <a:rPr b="0" lang="zh-CN" sz="750" strike="noStrike" u="none">
                <a:solidFill>
                  <a:srgbClr val="6b7280"/>
                </a:solidFill>
                <a:effectLst/>
                <a:uFillTx/>
                <a:latin typeface="WenQuanYiZenHei"/>
                <a:ea typeface="WenQuanYiZenHei"/>
              </a:rPr>
              <a:t>東和病院</a:t>
            </a:r>
            <a:endParaRPr b="0" lang="en-US" sz="750" strike="noStrike" u="none">
              <a:solidFill>
                <a:srgbClr val="000000"/>
              </a:solidFill>
              <a:effectLst/>
              <a:uFillTx/>
              <a:latin typeface="Times New Roman"/>
            </a:endParaRPr>
          </a:p>
        </p:txBody>
      </p:sp>
      <p:sp>
        <p:nvSpPr>
          <p:cNvPr id="1382" name=""/>
          <p:cNvSpPr txBox="1"/>
          <p:nvPr/>
        </p:nvSpPr>
        <p:spPr>
          <a:xfrm>
            <a:off x="7375320" y="4840920"/>
            <a:ext cx="95040" cy="111960"/>
          </a:xfrm>
          <a:prstGeom prst="rect">
            <a:avLst/>
          </a:prstGeom>
          <a:noFill/>
          <a:ln w="0">
            <a:noFill/>
          </a:ln>
        </p:spPr>
        <p:txBody>
          <a:bodyPr wrap="none" lIns="0" rIns="0" tIns="0" bIns="0" anchor="t">
            <a:spAutoFit/>
          </a:bodyPr>
          <a:p>
            <a:r>
              <a:rPr b="0" lang="en-US" sz="750" strike="noStrike" u="none">
                <a:solidFill>
                  <a:srgbClr val="6b7280"/>
                </a:solidFill>
                <a:effectLst/>
                <a:uFillTx/>
                <a:latin typeface="DejaVuSans"/>
                <a:ea typeface="DejaVuSans"/>
              </a:rPr>
              <a:t> </a:t>
            </a:r>
            <a:endParaRPr b="0" lang="en-US" sz="750" strike="noStrike" u="none">
              <a:solidFill>
                <a:srgbClr val="000000"/>
              </a:solidFill>
              <a:effectLst/>
              <a:uFillTx/>
              <a:latin typeface="Times New Roman"/>
            </a:endParaRPr>
          </a:p>
        </p:txBody>
      </p:sp>
      <p:sp>
        <p:nvSpPr>
          <p:cNvPr id="1383" name=""/>
          <p:cNvSpPr txBox="1"/>
          <p:nvPr/>
        </p:nvSpPr>
        <p:spPr>
          <a:xfrm>
            <a:off x="7405560" y="4837320"/>
            <a:ext cx="672840" cy="122400"/>
          </a:xfrm>
          <a:prstGeom prst="rect">
            <a:avLst/>
          </a:prstGeom>
          <a:noFill/>
          <a:ln w="0">
            <a:noFill/>
          </a:ln>
        </p:spPr>
        <p:txBody>
          <a:bodyPr wrap="none" lIns="0" rIns="0" tIns="0" bIns="0" anchor="t">
            <a:spAutoFit/>
          </a:bodyPr>
          <a:p>
            <a:r>
              <a:rPr b="0" lang="zh-CN" sz="750" strike="noStrike" u="none">
                <a:solidFill>
                  <a:srgbClr val="6b7280"/>
                </a:solidFill>
                <a:effectLst/>
                <a:uFillTx/>
                <a:latin typeface="WenQuanYiZenHei"/>
                <a:ea typeface="WenQuanYiZenHei"/>
              </a:rPr>
              <a:t>保険点数勉強会</a:t>
            </a:r>
            <a:endParaRPr b="0" lang="en-US" sz="750" strike="noStrike" u="none">
              <a:solidFill>
                <a:srgbClr val="000000"/>
              </a:solidFill>
              <a:effectLst/>
              <a:uFillTx/>
              <a:latin typeface="Times New Roman"/>
            </a:endParaRPr>
          </a:p>
        </p:txBody>
      </p:sp>
      <p:sp>
        <p:nvSpPr>
          <p:cNvPr id="1384" name=""/>
          <p:cNvSpPr txBox="1"/>
          <p:nvPr/>
        </p:nvSpPr>
        <p:spPr>
          <a:xfrm>
            <a:off x="8127000" y="4840920"/>
            <a:ext cx="95040" cy="111960"/>
          </a:xfrm>
          <a:prstGeom prst="rect">
            <a:avLst/>
          </a:prstGeom>
          <a:noFill/>
          <a:ln w="0">
            <a:noFill/>
          </a:ln>
        </p:spPr>
        <p:txBody>
          <a:bodyPr wrap="none" lIns="0" rIns="0" tIns="0" bIns="0" anchor="t">
            <a:spAutoFit/>
          </a:bodyPr>
          <a:p>
            <a:r>
              <a:rPr b="0" lang="en-US" sz="750" strike="noStrike" u="none">
                <a:solidFill>
                  <a:srgbClr val="6b7280"/>
                </a:solidFill>
                <a:effectLst/>
                <a:uFillTx/>
                <a:latin typeface="DejaVuSans"/>
                <a:ea typeface="DejaVuSans"/>
              </a:rPr>
              <a:t>|</a:t>
            </a:r>
            <a:endParaRPr b="0" lang="en-US" sz="750" strike="noStrike" u="none">
              <a:solidFill>
                <a:srgbClr val="000000"/>
              </a:solidFill>
              <a:effectLst/>
              <a:uFillTx/>
              <a:latin typeface="Times New Roman"/>
            </a:endParaRPr>
          </a:p>
        </p:txBody>
      </p:sp>
      <p:pic>
        <p:nvPicPr>
          <p:cNvPr id="1385" name="" descr=""/>
          <p:cNvPicPr/>
          <p:nvPr/>
        </p:nvPicPr>
        <p:blipFill>
          <a:blip r:embed="rId5"/>
          <a:stretch/>
        </p:blipFill>
        <p:spPr>
          <a:xfrm>
            <a:off x="272160" y="743040"/>
            <a:ext cx="870840" cy="27000"/>
          </a:xfrm>
          <a:prstGeom prst="rect">
            <a:avLst/>
          </a:prstGeom>
          <a:noFill/>
          <a:ln w="0">
            <a:noFill/>
          </a:ln>
        </p:spPr>
      </p:pic>
      <p:sp>
        <p:nvSpPr>
          <p:cNvPr id="1386" name=""/>
          <p:cNvSpPr txBox="1"/>
          <p:nvPr/>
        </p:nvSpPr>
        <p:spPr>
          <a:xfrm>
            <a:off x="8213760" y="4840920"/>
            <a:ext cx="338400" cy="111960"/>
          </a:xfrm>
          <a:prstGeom prst="rect">
            <a:avLst/>
          </a:prstGeom>
          <a:noFill/>
          <a:ln w="0">
            <a:noFill/>
          </a:ln>
        </p:spPr>
        <p:txBody>
          <a:bodyPr wrap="none" lIns="0" rIns="0" tIns="0" bIns="0" anchor="t">
            <a:spAutoFit/>
          </a:bodyPr>
          <a:p>
            <a:r>
              <a:rPr b="0" lang="en-US" sz="750" strike="noStrike" u="none">
                <a:solidFill>
                  <a:srgbClr val="6b7280"/>
                </a:solidFill>
                <a:effectLst/>
                <a:uFillTx/>
                <a:latin typeface="DejaVuSans"/>
                <a:ea typeface="DejaVuSans"/>
              </a:rPr>
              <a:t>15 / 16</a:t>
            </a:r>
            <a:endParaRPr b="0" lang="en-US" sz="750" strike="noStrike" u="none">
              <a:solidFill>
                <a:srgbClr val="000000"/>
              </a:solidFill>
              <a:effectLst/>
              <a:uFillTx/>
              <a:latin typeface="Times New Roman"/>
            </a:endParaRPr>
          </a:p>
        </p:txBody>
      </p:sp>
      <p:sp>
        <p:nvSpPr>
          <p:cNvPr id="1387" name=""/>
          <p:cNvSpPr/>
          <p:nvPr/>
        </p:nvSpPr>
        <p:spPr>
          <a:xfrm>
            <a:off x="285840" y="879120"/>
            <a:ext cx="8154360" cy="653760"/>
          </a:xfrm>
          <a:custGeom>
            <a:avLst/>
            <a:gdLst/>
            <a:ahLst/>
            <a:rect l="0" t="0" r="r" b="b"/>
            <a:pathLst>
              <a:path w="22651" h="1816">
                <a:moveTo>
                  <a:pt x="0" y="1816"/>
                </a:moveTo>
                <a:lnTo>
                  <a:pt x="0" y="0"/>
                </a:lnTo>
                <a:lnTo>
                  <a:pt x="22500" y="0"/>
                </a:lnTo>
                <a:cubicBezTo>
                  <a:pt x="22510" y="0"/>
                  <a:pt x="22520" y="1"/>
                  <a:pt x="22529" y="3"/>
                </a:cubicBezTo>
                <a:cubicBezTo>
                  <a:pt x="22539" y="5"/>
                  <a:pt x="22548" y="8"/>
                  <a:pt x="22558" y="12"/>
                </a:cubicBezTo>
                <a:cubicBezTo>
                  <a:pt x="22567" y="15"/>
                  <a:pt x="22576" y="20"/>
                  <a:pt x="22584" y="26"/>
                </a:cubicBezTo>
                <a:cubicBezTo>
                  <a:pt x="22592" y="31"/>
                  <a:pt x="22600" y="37"/>
                  <a:pt x="22607" y="44"/>
                </a:cubicBezTo>
                <a:cubicBezTo>
                  <a:pt x="22614" y="51"/>
                  <a:pt x="22620" y="59"/>
                  <a:pt x="22626" y="67"/>
                </a:cubicBezTo>
                <a:cubicBezTo>
                  <a:pt x="22631" y="76"/>
                  <a:pt x="22636" y="84"/>
                  <a:pt x="22639" y="93"/>
                </a:cubicBezTo>
                <a:cubicBezTo>
                  <a:pt x="22643" y="103"/>
                  <a:pt x="22646" y="112"/>
                  <a:pt x="22648" y="122"/>
                </a:cubicBezTo>
                <a:cubicBezTo>
                  <a:pt x="22650" y="132"/>
                  <a:pt x="22651" y="141"/>
                  <a:pt x="22651" y="151"/>
                </a:cubicBezTo>
                <a:lnTo>
                  <a:pt x="22651" y="1665"/>
                </a:lnTo>
                <a:cubicBezTo>
                  <a:pt x="22651" y="1675"/>
                  <a:pt x="22650" y="1685"/>
                  <a:pt x="22648" y="1694"/>
                </a:cubicBezTo>
                <a:cubicBezTo>
                  <a:pt x="22646" y="1704"/>
                  <a:pt x="22643" y="1714"/>
                  <a:pt x="22639" y="1723"/>
                </a:cubicBezTo>
                <a:cubicBezTo>
                  <a:pt x="22636" y="1732"/>
                  <a:pt x="22631" y="1741"/>
                  <a:pt x="22626" y="1749"/>
                </a:cubicBezTo>
                <a:cubicBezTo>
                  <a:pt x="22620" y="1757"/>
                  <a:pt x="22614" y="1765"/>
                  <a:pt x="22607" y="1772"/>
                </a:cubicBezTo>
                <a:cubicBezTo>
                  <a:pt x="22600" y="1779"/>
                  <a:pt x="22592" y="1785"/>
                  <a:pt x="22584" y="1791"/>
                </a:cubicBezTo>
                <a:cubicBezTo>
                  <a:pt x="22576" y="1796"/>
                  <a:pt x="22567" y="1801"/>
                  <a:pt x="22558" y="1805"/>
                </a:cubicBezTo>
                <a:cubicBezTo>
                  <a:pt x="22548" y="1808"/>
                  <a:pt x="22539" y="1811"/>
                  <a:pt x="22529" y="1813"/>
                </a:cubicBezTo>
                <a:cubicBezTo>
                  <a:pt x="22520" y="1815"/>
                  <a:pt x="22510" y="1816"/>
                  <a:pt x="22500" y="1816"/>
                </a:cubicBezTo>
                <a:lnTo>
                  <a:pt x="0" y="1816"/>
                </a:lnTo>
                <a:close/>
              </a:path>
            </a:pathLst>
          </a:custGeom>
          <a:solidFill>
            <a:srgbClr val="eff6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388" name=""/>
          <p:cNvSpPr/>
          <p:nvPr/>
        </p:nvSpPr>
        <p:spPr>
          <a:xfrm>
            <a:off x="272160" y="879120"/>
            <a:ext cx="27360" cy="653760"/>
          </a:xfrm>
          <a:custGeom>
            <a:avLst/>
            <a:gdLst/>
            <a:ahLst/>
            <a:rect l="0" t="0" r="r" b="b"/>
            <a:pathLst>
              <a:path w="76" h="1816">
                <a:moveTo>
                  <a:pt x="0" y="0"/>
                </a:moveTo>
                <a:lnTo>
                  <a:pt x="76" y="0"/>
                </a:lnTo>
                <a:lnTo>
                  <a:pt x="76" y="1816"/>
                </a:lnTo>
                <a:lnTo>
                  <a:pt x="0" y="1816"/>
                </a:lnTo>
                <a:lnTo>
                  <a:pt x="0" y="0"/>
                </a:lnTo>
                <a:close/>
              </a:path>
            </a:pathLst>
          </a:custGeom>
          <a:solidFill>
            <a:srgbClr val="3b82f6"/>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389" name="" descr=""/>
          <p:cNvPicPr/>
          <p:nvPr/>
        </p:nvPicPr>
        <p:blipFill>
          <a:blip r:embed="rId6"/>
          <a:stretch/>
        </p:blipFill>
        <p:spPr>
          <a:xfrm>
            <a:off x="435600" y="1103760"/>
            <a:ext cx="156240" cy="203760"/>
          </a:xfrm>
          <a:prstGeom prst="rect">
            <a:avLst/>
          </a:prstGeom>
          <a:noFill/>
          <a:ln w="0">
            <a:noFill/>
          </a:ln>
        </p:spPr>
      </p:pic>
      <p:sp>
        <p:nvSpPr>
          <p:cNvPr id="1390" name=""/>
          <p:cNvSpPr txBox="1"/>
          <p:nvPr/>
        </p:nvSpPr>
        <p:spPr>
          <a:xfrm>
            <a:off x="272160" y="437760"/>
            <a:ext cx="3525120" cy="257760"/>
          </a:xfrm>
          <a:prstGeom prst="rect">
            <a:avLst/>
          </a:prstGeom>
          <a:noFill/>
          <a:ln w="0">
            <a:noFill/>
          </a:ln>
        </p:spPr>
        <p:txBody>
          <a:bodyPr wrap="none" lIns="0" rIns="0" tIns="0" bIns="0" anchor="t">
            <a:spAutoFit/>
          </a:bodyPr>
          <a:p>
            <a:r>
              <a:rPr b="0" lang="zh-CN" sz="1610" strike="noStrike" u="none">
                <a:solidFill>
                  <a:srgbClr val="1e40af"/>
                </a:solidFill>
                <a:effectLst/>
                <a:uFillTx/>
                <a:latin typeface="WenQuanYiZenHei"/>
                <a:ea typeface="WenQuanYiZenHei"/>
              </a:rPr>
              <a:t>保険点数アップのための実践ポイント</a:t>
            </a:r>
            <a:endParaRPr b="0" lang="en-US" sz="1610" strike="noStrike" u="none">
              <a:solidFill>
                <a:srgbClr val="000000"/>
              </a:solidFill>
              <a:effectLst/>
              <a:uFillTx/>
              <a:latin typeface="Times New Roman"/>
            </a:endParaRPr>
          </a:p>
        </p:txBody>
      </p:sp>
      <p:sp>
        <p:nvSpPr>
          <p:cNvPr id="1391" name=""/>
          <p:cNvSpPr txBox="1"/>
          <p:nvPr/>
        </p:nvSpPr>
        <p:spPr>
          <a:xfrm>
            <a:off x="700920" y="1033560"/>
            <a:ext cx="7648200" cy="154440"/>
          </a:xfrm>
          <a:prstGeom prst="rect">
            <a:avLst/>
          </a:prstGeom>
          <a:noFill/>
          <a:ln w="0">
            <a:noFill/>
          </a:ln>
        </p:spPr>
        <p:txBody>
          <a:bodyPr wrap="none" lIns="0" rIns="0" tIns="0" bIns="0" anchor="t">
            <a:spAutoFit/>
          </a:bodyPr>
          <a:p>
            <a:r>
              <a:rPr b="0" lang="zh-CN" sz="960" strike="noStrike" u="none">
                <a:solidFill>
                  <a:srgbClr val="374151"/>
                </a:solidFill>
                <a:effectLst/>
                <a:uFillTx/>
                <a:latin typeface="WenQuanYiZenHei"/>
                <a:ea typeface="WenQuanYiZenHei"/>
              </a:rPr>
              <a:t>これらのポイントを意識し、日々の業務に取り組むことで、より多くの保険点数を加算し、病院の収益向上と医療の質向上に貢献すること</a:t>
            </a:r>
            <a:endParaRPr b="0" lang="en-US" sz="960" strike="noStrike" u="none">
              <a:solidFill>
                <a:srgbClr val="000000"/>
              </a:solidFill>
              <a:effectLst/>
              <a:uFillTx/>
              <a:latin typeface="Times New Roman"/>
            </a:endParaRPr>
          </a:p>
        </p:txBody>
      </p:sp>
      <p:sp>
        <p:nvSpPr>
          <p:cNvPr id="1392" name=""/>
          <p:cNvSpPr/>
          <p:nvPr/>
        </p:nvSpPr>
        <p:spPr>
          <a:xfrm>
            <a:off x="272160" y="1750320"/>
            <a:ext cx="4002480" cy="871560"/>
          </a:xfrm>
          <a:custGeom>
            <a:avLst/>
            <a:gdLst/>
            <a:ahLst/>
            <a:rect l="0" t="0" r="r" b="b"/>
            <a:pathLst>
              <a:path w="11118" h="2421">
                <a:moveTo>
                  <a:pt x="0" y="2270"/>
                </a:moveTo>
                <a:lnTo>
                  <a:pt x="0" y="151"/>
                </a:lnTo>
                <a:cubicBezTo>
                  <a:pt x="0" y="141"/>
                  <a:pt x="1" y="132"/>
                  <a:pt x="3" y="122"/>
                </a:cubicBezTo>
                <a:cubicBezTo>
                  <a:pt x="5" y="112"/>
                  <a:pt x="7" y="103"/>
                  <a:pt x="11" y="94"/>
                </a:cubicBezTo>
                <a:cubicBezTo>
                  <a:pt x="15" y="84"/>
                  <a:pt x="20" y="76"/>
                  <a:pt x="25" y="67"/>
                </a:cubicBezTo>
                <a:cubicBezTo>
                  <a:pt x="31" y="59"/>
                  <a:pt x="37" y="51"/>
                  <a:pt x="44" y="44"/>
                </a:cubicBezTo>
                <a:cubicBezTo>
                  <a:pt x="51" y="37"/>
                  <a:pt x="59" y="31"/>
                  <a:pt x="67" y="26"/>
                </a:cubicBezTo>
                <a:cubicBezTo>
                  <a:pt x="75" y="20"/>
                  <a:pt x="84" y="15"/>
                  <a:pt x="93" y="12"/>
                </a:cubicBezTo>
                <a:cubicBezTo>
                  <a:pt x="102" y="8"/>
                  <a:pt x="112" y="5"/>
                  <a:pt x="122" y="3"/>
                </a:cubicBezTo>
                <a:cubicBezTo>
                  <a:pt x="131" y="1"/>
                  <a:pt x="141" y="0"/>
                  <a:pt x="151" y="0"/>
                </a:cubicBezTo>
                <a:lnTo>
                  <a:pt x="10967" y="0"/>
                </a:lnTo>
                <a:cubicBezTo>
                  <a:pt x="10977" y="0"/>
                  <a:pt x="10987" y="1"/>
                  <a:pt x="10996" y="3"/>
                </a:cubicBezTo>
                <a:cubicBezTo>
                  <a:pt x="11006" y="5"/>
                  <a:pt x="11015" y="8"/>
                  <a:pt x="11025" y="12"/>
                </a:cubicBezTo>
                <a:cubicBezTo>
                  <a:pt x="11034" y="15"/>
                  <a:pt x="11043" y="20"/>
                  <a:pt x="11051" y="26"/>
                </a:cubicBezTo>
                <a:cubicBezTo>
                  <a:pt x="11059" y="31"/>
                  <a:pt x="11067" y="37"/>
                  <a:pt x="11074" y="44"/>
                </a:cubicBezTo>
                <a:cubicBezTo>
                  <a:pt x="11081" y="51"/>
                  <a:pt x="11087" y="59"/>
                  <a:pt x="11093" y="67"/>
                </a:cubicBezTo>
                <a:cubicBezTo>
                  <a:pt x="11098" y="76"/>
                  <a:pt x="11103" y="84"/>
                  <a:pt x="11106" y="94"/>
                </a:cubicBezTo>
                <a:cubicBezTo>
                  <a:pt x="11110" y="103"/>
                  <a:pt x="11113" y="112"/>
                  <a:pt x="11115" y="122"/>
                </a:cubicBezTo>
                <a:cubicBezTo>
                  <a:pt x="11117" y="132"/>
                  <a:pt x="11118" y="141"/>
                  <a:pt x="11118" y="151"/>
                </a:cubicBezTo>
                <a:lnTo>
                  <a:pt x="11118" y="2270"/>
                </a:lnTo>
                <a:cubicBezTo>
                  <a:pt x="11118" y="2280"/>
                  <a:pt x="11117" y="2290"/>
                  <a:pt x="11115" y="2299"/>
                </a:cubicBezTo>
                <a:cubicBezTo>
                  <a:pt x="11113" y="2309"/>
                  <a:pt x="11110" y="2319"/>
                  <a:pt x="11106" y="2328"/>
                </a:cubicBezTo>
                <a:cubicBezTo>
                  <a:pt x="11103" y="2337"/>
                  <a:pt x="11098" y="2346"/>
                  <a:pt x="11093" y="2354"/>
                </a:cubicBezTo>
                <a:cubicBezTo>
                  <a:pt x="11087" y="2362"/>
                  <a:pt x="11081" y="2370"/>
                  <a:pt x="11074" y="2377"/>
                </a:cubicBezTo>
                <a:cubicBezTo>
                  <a:pt x="11067" y="2384"/>
                  <a:pt x="11059" y="2390"/>
                  <a:pt x="11051" y="2396"/>
                </a:cubicBezTo>
                <a:cubicBezTo>
                  <a:pt x="11043" y="2401"/>
                  <a:pt x="11034" y="2406"/>
                  <a:pt x="11025" y="2410"/>
                </a:cubicBezTo>
                <a:cubicBezTo>
                  <a:pt x="11015" y="2414"/>
                  <a:pt x="11006" y="2416"/>
                  <a:pt x="10996" y="2418"/>
                </a:cubicBezTo>
                <a:cubicBezTo>
                  <a:pt x="10987" y="2420"/>
                  <a:pt x="10977" y="2421"/>
                  <a:pt x="10967" y="2421"/>
                </a:cubicBezTo>
                <a:lnTo>
                  <a:pt x="151" y="2421"/>
                </a:lnTo>
                <a:cubicBezTo>
                  <a:pt x="141" y="2421"/>
                  <a:pt x="131" y="2420"/>
                  <a:pt x="122" y="2418"/>
                </a:cubicBezTo>
                <a:cubicBezTo>
                  <a:pt x="112" y="2416"/>
                  <a:pt x="102" y="2414"/>
                  <a:pt x="93" y="2410"/>
                </a:cubicBezTo>
                <a:cubicBezTo>
                  <a:pt x="84" y="2406"/>
                  <a:pt x="75" y="2401"/>
                  <a:pt x="67" y="2396"/>
                </a:cubicBezTo>
                <a:cubicBezTo>
                  <a:pt x="59" y="2390"/>
                  <a:pt x="51" y="2384"/>
                  <a:pt x="44" y="2377"/>
                </a:cubicBezTo>
                <a:cubicBezTo>
                  <a:pt x="37" y="2370"/>
                  <a:pt x="31" y="2362"/>
                  <a:pt x="25" y="2354"/>
                </a:cubicBezTo>
                <a:cubicBezTo>
                  <a:pt x="20" y="2346"/>
                  <a:pt x="15" y="2337"/>
                  <a:pt x="11" y="2328"/>
                </a:cubicBezTo>
                <a:cubicBezTo>
                  <a:pt x="7" y="2319"/>
                  <a:pt x="5" y="2309"/>
                  <a:pt x="3" y="2299"/>
                </a:cubicBezTo>
                <a:cubicBezTo>
                  <a:pt x="1" y="2290"/>
                  <a:pt x="0" y="2280"/>
                  <a:pt x="0" y="2270"/>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393" name="" descr=""/>
          <p:cNvPicPr/>
          <p:nvPr/>
        </p:nvPicPr>
        <p:blipFill>
          <a:blip r:embed="rId7"/>
          <a:stretch/>
        </p:blipFill>
        <p:spPr>
          <a:xfrm>
            <a:off x="408240" y="1913760"/>
            <a:ext cx="135720" cy="135720"/>
          </a:xfrm>
          <a:prstGeom prst="rect">
            <a:avLst/>
          </a:prstGeom>
          <a:noFill/>
          <a:ln w="0">
            <a:noFill/>
          </a:ln>
        </p:spPr>
      </p:pic>
      <p:sp>
        <p:nvSpPr>
          <p:cNvPr id="1394" name=""/>
          <p:cNvSpPr txBox="1"/>
          <p:nvPr/>
        </p:nvSpPr>
        <p:spPr>
          <a:xfrm>
            <a:off x="700920" y="1224000"/>
            <a:ext cx="746640" cy="154440"/>
          </a:xfrm>
          <a:prstGeom prst="rect">
            <a:avLst/>
          </a:prstGeom>
          <a:noFill/>
          <a:ln w="0">
            <a:noFill/>
          </a:ln>
        </p:spPr>
        <p:txBody>
          <a:bodyPr wrap="none" lIns="0" rIns="0" tIns="0" bIns="0" anchor="t">
            <a:spAutoFit/>
          </a:bodyPr>
          <a:p>
            <a:r>
              <a:rPr b="0" lang="zh-CN" sz="960" strike="noStrike" u="none">
                <a:solidFill>
                  <a:srgbClr val="374151"/>
                </a:solidFill>
                <a:effectLst/>
                <a:uFillTx/>
                <a:latin typeface="WenQuanYiZenHei"/>
                <a:ea typeface="WenQuanYiZenHei"/>
              </a:rPr>
              <a:t>ができます。</a:t>
            </a:r>
            <a:endParaRPr b="0" lang="en-US" sz="960" strike="noStrike" u="none">
              <a:solidFill>
                <a:srgbClr val="000000"/>
              </a:solidFill>
              <a:effectLst/>
              <a:uFillTx/>
              <a:latin typeface="Times New Roman"/>
            </a:endParaRPr>
          </a:p>
        </p:txBody>
      </p:sp>
      <p:sp>
        <p:nvSpPr>
          <p:cNvPr id="1395" name=""/>
          <p:cNvSpPr txBox="1"/>
          <p:nvPr/>
        </p:nvSpPr>
        <p:spPr>
          <a:xfrm>
            <a:off x="626040" y="1898640"/>
            <a:ext cx="817560" cy="171000"/>
          </a:xfrm>
          <a:prstGeom prst="rect">
            <a:avLst/>
          </a:prstGeom>
          <a:noFill/>
          <a:ln w="0">
            <a:noFill/>
          </a:ln>
        </p:spPr>
        <p:txBody>
          <a:bodyPr wrap="none" lIns="0" rIns="0" tIns="0" bIns="0" anchor="t">
            <a:spAutoFit/>
          </a:bodyPr>
          <a:p>
            <a:r>
              <a:rPr b="0" lang="zh-CN" sz="1070" strike="noStrike" u="none">
                <a:solidFill>
                  <a:srgbClr val="1d4ed8"/>
                </a:solidFill>
                <a:effectLst/>
                <a:uFillTx/>
                <a:latin typeface="WenQuanYiZenHei"/>
                <a:ea typeface="WenQuanYiZenHei"/>
              </a:rPr>
              <a:t>記録の重要性</a:t>
            </a:r>
            <a:endParaRPr b="0" lang="en-US" sz="1070" strike="noStrike" u="none">
              <a:solidFill>
                <a:srgbClr val="000000"/>
              </a:solidFill>
              <a:effectLst/>
              <a:uFillTx/>
              <a:latin typeface="Times New Roman"/>
            </a:endParaRPr>
          </a:p>
        </p:txBody>
      </p:sp>
      <p:sp>
        <p:nvSpPr>
          <p:cNvPr id="1396" name=""/>
          <p:cNvSpPr txBox="1"/>
          <p:nvPr/>
        </p:nvSpPr>
        <p:spPr>
          <a:xfrm>
            <a:off x="408240" y="2169720"/>
            <a:ext cx="3767400" cy="137520"/>
          </a:xfrm>
          <a:prstGeom prst="rect">
            <a:avLst/>
          </a:prstGeom>
          <a:noFill/>
          <a:ln w="0">
            <a:noFill/>
          </a:ln>
        </p:spPr>
        <p:txBody>
          <a:bodyPr wrap="none" lIns="0" rIns="0" tIns="0" bIns="0" anchor="t">
            <a:spAutoFit/>
          </a:bodyPr>
          <a:p>
            <a:r>
              <a:rPr b="0" lang="zh-CN" sz="860" strike="noStrike" u="none">
                <a:solidFill>
                  <a:srgbClr val="4b5563"/>
                </a:solidFill>
                <a:effectLst/>
                <a:uFillTx/>
                <a:latin typeface="WenQuanYiZenHei"/>
                <a:ea typeface="WenQuanYiZenHei"/>
              </a:rPr>
              <a:t>正確で詳細なカルテ記載は、適切な保険点数算定の基盤となります。実施し</a:t>
            </a:r>
            <a:endParaRPr b="0" lang="en-US" sz="860" strike="noStrike" u="none">
              <a:solidFill>
                <a:srgbClr val="000000"/>
              </a:solidFill>
              <a:effectLst/>
              <a:uFillTx/>
              <a:latin typeface="Times New Roman"/>
            </a:endParaRPr>
          </a:p>
        </p:txBody>
      </p:sp>
      <p:sp>
        <p:nvSpPr>
          <p:cNvPr id="1397" name=""/>
          <p:cNvSpPr/>
          <p:nvPr/>
        </p:nvSpPr>
        <p:spPr>
          <a:xfrm>
            <a:off x="4437720" y="1750320"/>
            <a:ext cx="4002480" cy="871560"/>
          </a:xfrm>
          <a:custGeom>
            <a:avLst/>
            <a:gdLst/>
            <a:ahLst/>
            <a:rect l="0" t="0" r="r" b="b"/>
            <a:pathLst>
              <a:path w="11118" h="2421">
                <a:moveTo>
                  <a:pt x="0" y="2270"/>
                </a:moveTo>
                <a:lnTo>
                  <a:pt x="0" y="151"/>
                </a:lnTo>
                <a:cubicBezTo>
                  <a:pt x="0" y="141"/>
                  <a:pt x="1" y="132"/>
                  <a:pt x="3" y="122"/>
                </a:cubicBezTo>
                <a:cubicBezTo>
                  <a:pt x="5" y="112"/>
                  <a:pt x="7" y="103"/>
                  <a:pt x="11" y="94"/>
                </a:cubicBezTo>
                <a:cubicBezTo>
                  <a:pt x="15" y="84"/>
                  <a:pt x="20" y="76"/>
                  <a:pt x="25" y="67"/>
                </a:cubicBezTo>
                <a:cubicBezTo>
                  <a:pt x="31" y="59"/>
                  <a:pt x="37" y="51"/>
                  <a:pt x="44" y="44"/>
                </a:cubicBezTo>
                <a:cubicBezTo>
                  <a:pt x="51" y="37"/>
                  <a:pt x="59" y="31"/>
                  <a:pt x="67" y="26"/>
                </a:cubicBezTo>
                <a:cubicBezTo>
                  <a:pt x="75" y="20"/>
                  <a:pt x="84" y="15"/>
                  <a:pt x="93" y="12"/>
                </a:cubicBezTo>
                <a:cubicBezTo>
                  <a:pt x="102" y="8"/>
                  <a:pt x="112" y="5"/>
                  <a:pt x="122" y="3"/>
                </a:cubicBezTo>
                <a:cubicBezTo>
                  <a:pt x="131" y="1"/>
                  <a:pt x="141" y="0"/>
                  <a:pt x="151" y="0"/>
                </a:cubicBezTo>
                <a:lnTo>
                  <a:pt x="10967" y="0"/>
                </a:lnTo>
                <a:cubicBezTo>
                  <a:pt x="10977" y="0"/>
                  <a:pt x="10987" y="1"/>
                  <a:pt x="10996" y="3"/>
                </a:cubicBezTo>
                <a:cubicBezTo>
                  <a:pt x="11006" y="5"/>
                  <a:pt x="11015" y="8"/>
                  <a:pt x="11025" y="12"/>
                </a:cubicBezTo>
                <a:cubicBezTo>
                  <a:pt x="11034" y="15"/>
                  <a:pt x="11043" y="20"/>
                  <a:pt x="11051" y="26"/>
                </a:cubicBezTo>
                <a:cubicBezTo>
                  <a:pt x="11059" y="31"/>
                  <a:pt x="11067" y="37"/>
                  <a:pt x="11074" y="44"/>
                </a:cubicBezTo>
                <a:cubicBezTo>
                  <a:pt x="11081" y="51"/>
                  <a:pt x="11087" y="59"/>
                  <a:pt x="11093" y="67"/>
                </a:cubicBezTo>
                <a:cubicBezTo>
                  <a:pt x="11098" y="76"/>
                  <a:pt x="11103" y="84"/>
                  <a:pt x="11106" y="94"/>
                </a:cubicBezTo>
                <a:cubicBezTo>
                  <a:pt x="11110" y="103"/>
                  <a:pt x="11113" y="112"/>
                  <a:pt x="11115" y="122"/>
                </a:cubicBezTo>
                <a:cubicBezTo>
                  <a:pt x="11117" y="132"/>
                  <a:pt x="11118" y="141"/>
                  <a:pt x="11118" y="151"/>
                </a:cubicBezTo>
                <a:lnTo>
                  <a:pt x="11118" y="2270"/>
                </a:lnTo>
                <a:cubicBezTo>
                  <a:pt x="11118" y="2280"/>
                  <a:pt x="11117" y="2290"/>
                  <a:pt x="11115" y="2299"/>
                </a:cubicBezTo>
                <a:cubicBezTo>
                  <a:pt x="11113" y="2309"/>
                  <a:pt x="11110" y="2319"/>
                  <a:pt x="11106" y="2328"/>
                </a:cubicBezTo>
                <a:cubicBezTo>
                  <a:pt x="11103" y="2337"/>
                  <a:pt x="11098" y="2346"/>
                  <a:pt x="11093" y="2354"/>
                </a:cubicBezTo>
                <a:cubicBezTo>
                  <a:pt x="11087" y="2362"/>
                  <a:pt x="11081" y="2370"/>
                  <a:pt x="11074" y="2377"/>
                </a:cubicBezTo>
                <a:cubicBezTo>
                  <a:pt x="11067" y="2384"/>
                  <a:pt x="11059" y="2390"/>
                  <a:pt x="11051" y="2396"/>
                </a:cubicBezTo>
                <a:cubicBezTo>
                  <a:pt x="11043" y="2401"/>
                  <a:pt x="11034" y="2406"/>
                  <a:pt x="11025" y="2410"/>
                </a:cubicBezTo>
                <a:cubicBezTo>
                  <a:pt x="11015" y="2414"/>
                  <a:pt x="11006" y="2416"/>
                  <a:pt x="10996" y="2418"/>
                </a:cubicBezTo>
                <a:cubicBezTo>
                  <a:pt x="10987" y="2420"/>
                  <a:pt x="10977" y="2421"/>
                  <a:pt x="10967" y="2421"/>
                </a:cubicBezTo>
                <a:lnTo>
                  <a:pt x="151" y="2421"/>
                </a:lnTo>
                <a:cubicBezTo>
                  <a:pt x="141" y="2421"/>
                  <a:pt x="131" y="2420"/>
                  <a:pt x="122" y="2418"/>
                </a:cubicBezTo>
                <a:cubicBezTo>
                  <a:pt x="112" y="2416"/>
                  <a:pt x="102" y="2414"/>
                  <a:pt x="93" y="2410"/>
                </a:cubicBezTo>
                <a:cubicBezTo>
                  <a:pt x="84" y="2406"/>
                  <a:pt x="75" y="2401"/>
                  <a:pt x="67" y="2396"/>
                </a:cubicBezTo>
                <a:cubicBezTo>
                  <a:pt x="59" y="2390"/>
                  <a:pt x="51" y="2384"/>
                  <a:pt x="44" y="2377"/>
                </a:cubicBezTo>
                <a:cubicBezTo>
                  <a:pt x="37" y="2370"/>
                  <a:pt x="31" y="2362"/>
                  <a:pt x="25" y="2354"/>
                </a:cubicBezTo>
                <a:cubicBezTo>
                  <a:pt x="20" y="2346"/>
                  <a:pt x="15" y="2337"/>
                  <a:pt x="11" y="2328"/>
                </a:cubicBezTo>
                <a:cubicBezTo>
                  <a:pt x="7" y="2319"/>
                  <a:pt x="5" y="2309"/>
                  <a:pt x="3" y="2299"/>
                </a:cubicBezTo>
                <a:cubicBezTo>
                  <a:pt x="1" y="2290"/>
                  <a:pt x="0" y="2280"/>
                  <a:pt x="0" y="2270"/>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398" name="" descr=""/>
          <p:cNvPicPr/>
          <p:nvPr/>
        </p:nvPicPr>
        <p:blipFill>
          <a:blip r:embed="rId8"/>
          <a:stretch/>
        </p:blipFill>
        <p:spPr>
          <a:xfrm>
            <a:off x="4573800" y="1913760"/>
            <a:ext cx="135720" cy="135720"/>
          </a:xfrm>
          <a:prstGeom prst="rect">
            <a:avLst/>
          </a:prstGeom>
          <a:noFill/>
          <a:ln w="0">
            <a:noFill/>
          </a:ln>
        </p:spPr>
      </p:pic>
      <p:sp>
        <p:nvSpPr>
          <p:cNvPr id="1399" name=""/>
          <p:cNvSpPr txBox="1"/>
          <p:nvPr/>
        </p:nvSpPr>
        <p:spPr>
          <a:xfrm>
            <a:off x="408240" y="2333160"/>
            <a:ext cx="3208680" cy="137520"/>
          </a:xfrm>
          <a:prstGeom prst="rect">
            <a:avLst/>
          </a:prstGeom>
          <a:noFill/>
          <a:ln w="0">
            <a:noFill/>
          </a:ln>
        </p:spPr>
        <p:txBody>
          <a:bodyPr wrap="none" lIns="0" rIns="0" tIns="0" bIns="0" anchor="t">
            <a:spAutoFit/>
          </a:bodyPr>
          <a:p>
            <a:r>
              <a:rPr b="0" lang="zh-CN" sz="860" strike="noStrike" u="none">
                <a:solidFill>
                  <a:srgbClr val="4b5563"/>
                </a:solidFill>
                <a:effectLst/>
                <a:uFillTx/>
                <a:latin typeface="WenQuanYiZenHei"/>
                <a:ea typeface="WenQuanYiZenHei"/>
              </a:rPr>
              <a:t>た診療行為、検査、処置、指導内容を漏れなく記録しましょう。</a:t>
            </a:r>
            <a:endParaRPr b="0" lang="en-US" sz="860" strike="noStrike" u="none">
              <a:solidFill>
                <a:srgbClr val="000000"/>
              </a:solidFill>
              <a:effectLst/>
              <a:uFillTx/>
              <a:latin typeface="Times New Roman"/>
            </a:endParaRPr>
          </a:p>
        </p:txBody>
      </p:sp>
      <p:sp>
        <p:nvSpPr>
          <p:cNvPr id="1400" name=""/>
          <p:cNvSpPr txBox="1"/>
          <p:nvPr/>
        </p:nvSpPr>
        <p:spPr>
          <a:xfrm>
            <a:off x="4791600" y="1898640"/>
            <a:ext cx="1095480" cy="171000"/>
          </a:xfrm>
          <a:prstGeom prst="rect">
            <a:avLst/>
          </a:prstGeom>
          <a:noFill/>
          <a:ln w="0">
            <a:noFill/>
          </a:ln>
        </p:spPr>
        <p:txBody>
          <a:bodyPr wrap="none" lIns="0" rIns="0" tIns="0" bIns="0" anchor="t">
            <a:spAutoFit/>
          </a:bodyPr>
          <a:p>
            <a:r>
              <a:rPr b="0" lang="zh-CN" sz="1070" strike="noStrike" u="none">
                <a:solidFill>
                  <a:srgbClr val="1d4ed8"/>
                </a:solidFill>
                <a:effectLst/>
                <a:uFillTx/>
                <a:latin typeface="WenQuanYiZenHei"/>
                <a:ea typeface="WenQuanYiZenHei"/>
              </a:rPr>
              <a:t>チーム連携の効果</a:t>
            </a:r>
            <a:endParaRPr b="0" lang="en-US" sz="1070" strike="noStrike" u="none">
              <a:solidFill>
                <a:srgbClr val="000000"/>
              </a:solidFill>
              <a:effectLst/>
              <a:uFillTx/>
              <a:latin typeface="Times New Roman"/>
            </a:endParaRPr>
          </a:p>
        </p:txBody>
      </p:sp>
      <p:sp>
        <p:nvSpPr>
          <p:cNvPr id="1401" name=""/>
          <p:cNvSpPr txBox="1"/>
          <p:nvPr/>
        </p:nvSpPr>
        <p:spPr>
          <a:xfrm>
            <a:off x="4573800" y="2169720"/>
            <a:ext cx="3767400" cy="137520"/>
          </a:xfrm>
          <a:prstGeom prst="rect">
            <a:avLst/>
          </a:prstGeom>
          <a:noFill/>
          <a:ln w="0">
            <a:noFill/>
          </a:ln>
        </p:spPr>
        <p:txBody>
          <a:bodyPr wrap="none" lIns="0" rIns="0" tIns="0" bIns="0" anchor="t">
            <a:spAutoFit/>
          </a:bodyPr>
          <a:p>
            <a:r>
              <a:rPr b="0" lang="zh-CN" sz="860" strike="noStrike" u="none">
                <a:solidFill>
                  <a:srgbClr val="4b5563"/>
                </a:solidFill>
                <a:effectLst/>
                <a:uFillTx/>
                <a:latin typeface="WenQuanYiZenHei"/>
                <a:ea typeface="WenQuanYiZenHei"/>
              </a:rPr>
              <a:t>医師、看護師、リハビリスタッフ、医療事務の連携により、適切な算定漏れ</a:t>
            </a:r>
            <a:endParaRPr b="0" lang="en-US" sz="860" strike="noStrike" u="none">
              <a:solidFill>
                <a:srgbClr val="000000"/>
              </a:solidFill>
              <a:effectLst/>
              <a:uFillTx/>
              <a:latin typeface="Times New Roman"/>
            </a:endParaRPr>
          </a:p>
        </p:txBody>
      </p:sp>
      <p:sp>
        <p:nvSpPr>
          <p:cNvPr id="1402" name=""/>
          <p:cNvSpPr/>
          <p:nvPr/>
        </p:nvSpPr>
        <p:spPr>
          <a:xfrm>
            <a:off x="272160" y="2784960"/>
            <a:ext cx="4002480" cy="871560"/>
          </a:xfrm>
          <a:custGeom>
            <a:avLst/>
            <a:gdLst/>
            <a:ahLst/>
            <a:rect l="0" t="0" r="r" b="b"/>
            <a:pathLst>
              <a:path w="11118" h="2421">
                <a:moveTo>
                  <a:pt x="0" y="2270"/>
                </a:moveTo>
                <a:lnTo>
                  <a:pt x="0" y="151"/>
                </a:lnTo>
                <a:cubicBezTo>
                  <a:pt x="0" y="141"/>
                  <a:pt x="1" y="131"/>
                  <a:pt x="3" y="122"/>
                </a:cubicBezTo>
                <a:cubicBezTo>
                  <a:pt x="5" y="112"/>
                  <a:pt x="7" y="103"/>
                  <a:pt x="11" y="93"/>
                </a:cubicBezTo>
                <a:cubicBezTo>
                  <a:pt x="15" y="84"/>
                  <a:pt x="20" y="75"/>
                  <a:pt x="25" y="67"/>
                </a:cubicBezTo>
                <a:cubicBezTo>
                  <a:pt x="31" y="59"/>
                  <a:pt x="37" y="51"/>
                  <a:pt x="44" y="44"/>
                </a:cubicBezTo>
                <a:cubicBezTo>
                  <a:pt x="51" y="37"/>
                  <a:pt x="59" y="31"/>
                  <a:pt x="67" y="25"/>
                </a:cubicBezTo>
                <a:cubicBezTo>
                  <a:pt x="75" y="20"/>
                  <a:pt x="84" y="15"/>
                  <a:pt x="93" y="11"/>
                </a:cubicBezTo>
                <a:cubicBezTo>
                  <a:pt x="102" y="8"/>
                  <a:pt x="112" y="5"/>
                  <a:pt x="122" y="3"/>
                </a:cubicBezTo>
                <a:cubicBezTo>
                  <a:pt x="131" y="1"/>
                  <a:pt x="141" y="0"/>
                  <a:pt x="151" y="0"/>
                </a:cubicBezTo>
                <a:lnTo>
                  <a:pt x="10967" y="0"/>
                </a:lnTo>
                <a:cubicBezTo>
                  <a:pt x="10977" y="0"/>
                  <a:pt x="10987" y="1"/>
                  <a:pt x="10996" y="3"/>
                </a:cubicBezTo>
                <a:cubicBezTo>
                  <a:pt x="11006" y="5"/>
                  <a:pt x="11015" y="8"/>
                  <a:pt x="11025" y="11"/>
                </a:cubicBezTo>
                <a:cubicBezTo>
                  <a:pt x="11034" y="15"/>
                  <a:pt x="11043" y="20"/>
                  <a:pt x="11051" y="25"/>
                </a:cubicBezTo>
                <a:cubicBezTo>
                  <a:pt x="11059" y="31"/>
                  <a:pt x="11067" y="37"/>
                  <a:pt x="11074" y="44"/>
                </a:cubicBezTo>
                <a:cubicBezTo>
                  <a:pt x="11081" y="51"/>
                  <a:pt x="11087" y="59"/>
                  <a:pt x="11093" y="67"/>
                </a:cubicBezTo>
                <a:cubicBezTo>
                  <a:pt x="11098" y="75"/>
                  <a:pt x="11103" y="84"/>
                  <a:pt x="11106" y="93"/>
                </a:cubicBezTo>
                <a:cubicBezTo>
                  <a:pt x="11110" y="103"/>
                  <a:pt x="11113" y="112"/>
                  <a:pt x="11115" y="122"/>
                </a:cubicBezTo>
                <a:cubicBezTo>
                  <a:pt x="11117" y="131"/>
                  <a:pt x="11118" y="141"/>
                  <a:pt x="11118" y="151"/>
                </a:cubicBezTo>
                <a:lnTo>
                  <a:pt x="11118" y="2270"/>
                </a:lnTo>
                <a:cubicBezTo>
                  <a:pt x="11118" y="2280"/>
                  <a:pt x="11117" y="2290"/>
                  <a:pt x="11115" y="2299"/>
                </a:cubicBezTo>
                <a:cubicBezTo>
                  <a:pt x="11113" y="2309"/>
                  <a:pt x="11110" y="2319"/>
                  <a:pt x="11106" y="2328"/>
                </a:cubicBezTo>
                <a:cubicBezTo>
                  <a:pt x="11103" y="2337"/>
                  <a:pt x="11098" y="2346"/>
                  <a:pt x="11093" y="2354"/>
                </a:cubicBezTo>
                <a:cubicBezTo>
                  <a:pt x="11087" y="2362"/>
                  <a:pt x="11081" y="2370"/>
                  <a:pt x="11074" y="2377"/>
                </a:cubicBezTo>
                <a:cubicBezTo>
                  <a:pt x="11067" y="2384"/>
                  <a:pt x="11059" y="2390"/>
                  <a:pt x="11051" y="2396"/>
                </a:cubicBezTo>
                <a:cubicBezTo>
                  <a:pt x="11043" y="2401"/>
                  <a:pt x="11034" y="2406"/>
                  <a:pt x="11025" y="2410"/>
                </a:cubicBezTo>
                <a:cubicBezTo>
                  <a:pt x="11015" y="2413"/>
                  <a:pt x="11006" y="2416"/>
                  <a:pt x="10996" y="2418"/>
                </a:cubicBezTo>
                <a:cubicBezTo>
                  <a:pt x="10987" y="2420"/>
                  <a:pt x="10977" y="2421"/>
                  <a:pt x="10967" y="2421"/>
                </a:cubicBezTo>
                <a:lnTo>
                  <a:pt x="151" y="2421"/>
                </a:lnTo>
                <a:cubicBezTo>
                  <a:pt x="141" y="2421"/>
                  <a:pt x="131" y="2420"/>
                  <a:pt x="122" y="2418"/>
                </a:cubicBezTo>
                <a:cubicBezTo>
                  <a:pt x="112" y="2416"/>
                  <a:pt x="102" y="2413"/>
                  <a:pt x="93" y="2410"/>
                </a:cubicBezTo>
                <a:cubicBezTo>
                  <a:pt x="84" y="2406"/>
                  <a:pt x="75" y="2401"/>
                  <a:pt x="67" y="2396"/>
                </a:cubicBezTo>
                <a:cubicBezTo>
                  <a:pt x="59" y="2390"/>
                  <a:pt x="51" y="2384"/>
                  <a:pt x="44" y="2377"/>
                </a:cubicBezTo>
                <a:cubicBezTo>
                  <a:pt x="37" y="2370"/>
                  <a:pt x="31" y="2362"/>
                  <a:pt x="25" y="2354"/>
                </a:cubicBezTo>
                <a:cubicBezTo>
                  <a:pt x="20" y="2346"/>
                  <a:pt x="15" y="2337"/>
                  <a:pt x="11" y="2328"/>
                </a:cubicBezTo>
                <a:cubicBezTo>
                  <a:pt x="7" y="2319"/>
                  <a:pt x="5" y="2309"/>
                  <a:pt x="3" y="2299"/>
                </a:cubicBezTo>
                <a:cubicBezTo>
                  <a:pt x="1" y="2290"/>
                  <a:pt x="0" y="2280"/>
                  <a:pt x="0" y="2270"/>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403" name="" descr=""/>
          <p:cNvPicPr/>
          <p:nvPr/>
        </p:nvPicPr>
        <p:blipFill>
          <a:blip r:embed="rId9"/>
          <a:stretch/>
        </p:blipFill>
        <p:spPr>
          <a:xfrm>
            <a:off x="408240" y="2948400"/>
            <a:ext cx="135720" cy="135720"/>
          </a:xfrm>
          <a:prstGeom prst="rect">
            <a:avLst/>
          </a:prstGeom>
          <a:noFill/>
          <a:ln w="0">
            <a:noFill/>
          </a:ln>
        </p:spPr>
      </p:pic>
      <p:sp>
        <p:nvSpPr>
          <p:cNvPr id="1404" name=""/>
          <p:cNvSpPr txBox="1"/>
          <p:nvPr/>
        </p:nvSpPr>
        <p:spPr>
          <a:xfrm>
            <a:off x="4573800" y="2333160"/>
            <a:ext cx="2550240" cy="137520"/>
          </a:xfrm>
          <a:prstGeom prst="rect">
            <a:avLst/>
          </a:prstGeom>
          <a:noFill/>
          <a:ln w="0">
            <a:noFill/>
          </a:ln>
        </p:spPr>
        <p:txBody>
          <a:bodyPr wrap="none" lIns="0" rIns="0" tIns="0" bIns="0" anchor="t">
            <a:spAutoFit/>
          </a:bodyPr>
          <a:p>
            <a:r>
              <a:rPr b="0" lang="zh-CN" sz="860" strike="noStrike" u="none">
                <a:solidFill>
                  <a:srgbClr val="4b5563"/>
                </a:solidFill>
                <a:effectLst/>
                <a:uFillTx/>
                <a:latin typeface="WenQuanYiZenHei"/>
                <a:ea typeface="WenQuanYiZenHei"/>
              </a:rPr>
              <a:t>を防ぎ、多職種連携に基づく加算を活用できます。</a:t>
            </a:r>
            <a:endParaRPr b="0" lang="en-US" sz="860" strike="noStrike" u="none">
              <a:solidFill>
                <a:srgbClr val="000000"/>
              </a:solidFill>
              <a:effectLst/>
              <a:uFillTx/>
              <a:latin typeface="Times New Roman"/>
            </a:endParaRPr>
          </a:p>
        </p:txBody>
      </p:sp>
      <p:sp>
        <p:nvSpPr>
          <p:cNvPr id="1405" name=""/>
          <p:cNvSpPr txBox="1"/>
          <p:nvPr/>
        </p:nvSpPr>
        <p:spPr>
          <a:xfrm>
            <a:off x="626040" y="2933280"/>
            <a:ext cx="953280" cy="171000"/>
          </a:xfrm>
          <a:prstGeom prst="rect">
            <a:avLst/>
          </a:prstGeom>
          <a:noFill/>
          <a:ln w="0">
            <a:noFill/>
          </a:ln>
        </p:spPr>
        <p:txBody>
          <a:bodyPr wrap="none" lIns="0" rIns="0" tIns="0" bIns="0" anchor="t">
            <a:spAutoFit/>
          </a:bodyPr>
          <a:p>
            <a:r>
              <a:rPr b="0" lang="zh-CN" sz="1070" strike="noStrike" u="none">
                <a:solidFill>
                  <a:srgbClr val="1d4ed8"/>
                </a:solidFill>
                <a:effectLst/>
                <a:uFillTx/>
                <a:latin typeface="WenQuanYiZenHei"/>
                <a:ea typeface="WenQuanYiZenHei"/>
              </a:rPr>
              <a:t>最新情報の把握</a:t>
            </a:r>
            <a:endParaRPr b="0" lang="en-US" sz="1070" strike="noStrike" u="none">
              <a:solidFill>
                <a:srgbClr val="000000"/>
              </a:solidFill>
              <a:effectLst/>
              <a:uFillTx/>
              <a:latin typeface="Times New Roman"/>
            </a:endParaRPr>
          </a:p>
        </p:txBody>
      </p:sp>
      <p:sp>
        <p:nvSpPr>
          <p:cNvPr id="1406" name=""/>
          <p:cNvSpPr txBox="1"/>
          <p:nvPr/>
        </p:nvSpPr>
        <p:spPr>
          <a:xfrm>
            <a:off x="408240" y="3204360"/>
            <a:ext cx="3757320" cy="137520"/>
          </a:xfrm>
          <a:prstGeom prst="rect">
            <a:avLst/>
          </a:prstGeom>
          <a:noFill/>
          <a:ln w="0">
            <a:noFill/>
          </a:ln>
        </p:spPr>
        <p:txBody>
          <a:bodyPr wrap="none" lIns="0" rIns="0" tIns="0" bIns="0" anchor="t">
            <a:spAutoFit/>
          </a:bodyPr>
          <a:p>
            <a:r>
              <a:rPr b="0" lang="zh-CN" sz="860" strike="noStrike" u="none">
                <a:solidFill>
                  <a:srgbClr val="4b5563"/>
                </a:solidFill>
                <a:effectLst/>
                <a:uFillTx/>
                <a:latin typeface="WenQuanYiZenHei"/>
                <a:ea typeface="WenQuanYiZenHei"/>
              </a:rPr>
              <a:t>診療報酬改定など最新の制度変更に対応するため、定期的な勉強会や情報共</a:t>
            </a:r>
            <a:endParaRPr b="0" lang="en-US" sz="860" strike="noStrike" u="none">
              <a:solidFill>
                <a:srgbClr val="000000"/>
              </a:solidFill>
              <a:effectLst/>
              <a:uFillTx/>
              <a:latin typeface="Times New Roman"/>
            </a:endParaRPr>
          </a:p>
        </p:txBody>
      </p:sp>
      <p:sp>
        <p:nvSpPr>
          <p:cNvPr id="1407" name=""/>
          <p:cNvSpPr/>
          <p:nvPr/>
        </p:nvSpPr>
        <p:spPr>
          <a:xfrm>
            <a:off x="4437720" y="2784960"/>
            <a:ext cx="4002480" cy="871560"/>
          </a:xfrm>
          <a:custGeom>
            <a:avLst/>
            <a:gdLst/>
            <a:ahLst/>
            <a:rect l="0" t="0" r="r" b="b"/>
            <a:pathLst>
              <a:path w="11118" h="2421">
                <a:moveTo>
                  <a:pt x="0" y="2270"/>
                </a:moveTo>
                <a:lnTo>
                  <a:pt x="0" y="151"/>
                </a:lnTo>
                <a:cubicBezTo>
                  <a:pt x="0" y="141"/>
                  <a:pt x="1" y="131"/>
                  <a:pt x="3" y="122"/>
                </a:cubicBezTo>
                <a:cubicBezTo>
                  <a:pt x="5" y="112"/>
                  <a:pt x="7" y="103"/>
                  <a:pt x="11" y="93"/>
                </a:cubicBezTo>
                <a:cubicBezTo>
                  <a:pt x="15" y="84"/>
                  <a:pt x="20" y="75"/>
                  <a:pt x="25" y="67"/>
                </a:cubicBezTo>
                <a:cubicBezTo>
                  <a:pt x="31" y="59"/>
                  <a:pt x="37" y="51"/>
                  <a:pt x="44" y="44"/>
                </a:cubicBezTo>
                <a:cubicBezTo>
                  <a:pt x="51" y="37"/>
                  <a:pt x="59" y="31"/>
                  <a:pt x="67" y="25"/>
                </a:cubicBezTo>
                <a:cubicBezTo>
                  <a:pt x="75" y="20"/>
                  <a:pt x="84" y="15"/>
                  <a:pt x="93" y="11"/>
                </a:cubicBezTo>
                <a:cubicBezTo>
                  <a:pt x="102" y="8"/>
                  <a:pt x="112" y="5"/>
                  <a:pt x="122" y="3"/>
                </a:cubicBezTo>
                <a:cubicBezTo>
                  <a:pt x="131" y="1"/>
                  <a:pt x="141" y="0"/>
                  <a:pt x="151" y="0"/>
                </a:cubicBezTo>
                <a:lnTo>
                  <a:pt x="10967" y="0"/>
                </a:lnTo>
                <a:cubicBezTo>
                  <a:pt x="10977" y="0"/>
                  <a:pt x="10987" y="1"/>
                  <a:pt x="10996" y="3"/>
                </a:cubicBezTo>
                <a:cubicBezTo>
                  <a:pt x="11006" y="5"/>
                  <a:pt x="11015" y="8"/>
                  <a:pt x="11025" y="11"/>
                </a:cubicBezTo>
                <a:cubicBezTo>
                  <a:pt x="11034" y="15"/>
                  <a:pt x="11043" y="20"/>
                  <a:pt x="11051" y="25"/>
                </a:cubicBezTo>
                <a:cubicBezTo>
                  <a:pt x="11059" y="31"/>
                  <a:pt x="11067" y="37"/>
                  <a:pt x="11074" y="44"/>
                </a:cubicBezTo>
                <a:cubicBezTo>
                  <a:pt x="11081" y="51"/>
                  <a:pt x="11087" y="59"/>
                  <a:pt x="11093" y="67"/>
                </a:cubicBezTo>
                <a:cubicBezTo>
                  <a:pt x="11098" y="75"/>
                  <a:pt x="11103" y="84"/>
                  <a:pt x="11106" y="93"/>
                </a:cubicBezTo>
                <a:cubicBezTo>
                  <a:pt x="11110" y="103"/>
                  <a:pt x="11113" y="112"/>
                  <a:pt x="11115" y="122"/>
                </a:cubicBezTo>
                <a:cubicBezTo>
                  <a:pt x="11117" y="131"/>
                  <a:pt x="11118" y="141"/>
                  <a:pt x="11118" y="151"/>
                </a:cubicBezTo>
                <a:lnTo>
                  <a:pt x="11118" y="2270"/>
                </a:lnTo>
                <a:cubicBezTo>
                  <a:pt x="11118" y="2280"/>
                  <a:pt x="11117" y="2290"/>
                  <a:pt x="11115" y="2299"/>
                </a:cubicBezTo>
                <a:cubicBezTo>
                  <a:pt x="11113" y="2309"/>
                  <a:pt x="11110" y="2319"/>
                  <a:pt x="11106" y="2328"/>
                </a:cubicBezTo>
                <a:cubicBezTo>
                  <a:pt x="11103" y="2337"/>
                  <a:pt x="11098" y="2346"/>
                  <a:pt x="11093" y="2354"/>
                </a:cubicBezTo>
                <a:cubicBezTo>
                  <a:pt x="11087" y="2362"/>
                  <a:pt x="11081" y="2370"/>
                  <a:pt x="11074" y="2377"/>
                </a:cubicBezTo>
                <a:cubicBezTo>
                  <a:pt x="11067" y="2384"/>
                  <a:pt x="11059" y="2390"/>
                  <a:pt x="11051" y="2396"/>
                </a:cubicBezTo>
                <a:cubicBezTo>
                  <a:pt x="11043" y="2401"/>
                  <a:pt x="11034" y="2406"/>
                  <a:pt x="11025" y="2410"/>
                </a:cubicBezTo>
                <a:cubicBezTo>
                  <a:pt x="11015" y="2413"/>
                  <a:pt x="11006" y="2416"/>
                  <a:pt x="10996" y="2418"/>
                </a:cubicBezTo>
                <a:cubicBezTo>
                  <a:pt x="10987" y="2420"/>
                  <a:pt x="10977" y="2421"/>
                  <a:pt x="10967" y="2421"/>
                </a:cubicBezTo>
                <a:lnTo>
                  <a:pt x="151" y="2421"/>
                </a:lnTo>
                <a:cubicBezTo>
                  <a:pt x="141" y="2421"/>
                  <a:pt x="131" y="2420"/>
                  <a:pt x="122" y="2418"/>
                </a:cubicBezTo>
                <a:cubicBezTo>
                  <a:pt x="112" y="2416"/>
                  <a:pt x="102" y="2413"/>
                  <a:pt x="93" y="2410"/>
                </a:cubicBezTo>
                <a:cubicBezTo>
                  <a:pt x="84" y="2406"/>
                  <a:pt x="75" y="2401"/>
                  <a:pt x="67" y="2396"/>
                </a:cubicBezTo>
                <a:cubicBezTo>
                  <a:pt x="59" y="2390"/>
                  <a:pt x="51" y="2384"/>
                  <a:pt x="44" y="2377"/>
                </a:cubicBezTo>
                <a:cubicBezTo>
                  <a:pt x="37" y="2370"/>
                  <a:pt x="31" y="2362"/>
                  <a:pt x="25" y="2354"/>
                </a:cubicBezTo>
                <a:cubicBezTo>
                  <a:pt x="20" y="2346"/>
                  <a:pt x="15" y="2337"/>
                  <a:pt x="11" y="2328"/>
                </a:cubicBezTo>
                <a:cubicBezTo>
                  <a:pt x="7" y="2319"/>
                  <a:pt x="5" y="2309"/>
                  <a:pt x="3" y="2299"/>
                </a:cubicBezTo>
                <a:cubicBezTo>
                  <a:pt x="1" y="2290"/>
                  <a:pt x="0" y="2280"/>
                  <a:pt x="0" y="2270"/>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408" name="" descr=""/>
          <p:cNvPicPr/>
          <p:nvPr/>
        </p:nvPicPr>
        <p:blipFill>
          <a:blip r:embed="rId10"/>
          <a:stretch/>
        </p:blipFill>
        <p:spPr>
          <a:xfrm>
            <a:off x="4573800" y="2948400"/>
            <a:ext cx="135720" cy="135720"/>
          </a:xfrm>
          <a:prstGeom prst="rect">
            <a:avLst/>
          </a:prstGeom>
          <a:noFill/>
          <a:ln w="0">
            <a:noFill/>
          </a:ln>
        </p:spPr>
      </p:pic>
      <p:sp>
        <p:nvSpPr>
          <p:cNvPr id="1409" name=""/>
          <p:cNvSpPr txBox="1"/>
          <p:nvPr/>
        </p:nvSpPr>
        <p:spPr>
          <a:xfrm>
            <a:off x="408240" y="3367800"/>
            <a:ext cx="2994120" cy="137520"/>
          </a:xfrm>
          <a:prstGeom prst="rect">
            <a:avLst/>
          </a:prstGeom>
          <a:noFill/>
          <a:ln w="0">
            <a:noFill/>
          </a:ln>
        </p:spPr>
        <p:txBody>
          <a:bodyPr wrap="none" lIns="0" rIns="0" tIns="0" bIns="0" anchor="t">
            <a:spAutoFit/>
          </a:bodyPr>
          <a:p>
            <a:r>
              <a:rPr b="0" lang="zh-CN" sz="860" strike="noStrike" u="none">
                <a:solidFill>
                  <a:srgbClr val="4b5563"/>
                </a:solidFill>
                <a:effectLst/>
                <a:uFillTx/>
                <a:latin typeface="WenQuanYiZenHei"/>
                <a:ea typeface="WenQuanYiZenHei"/>
              </a:rPr>
              <a:t>有を行い、新設された算定項目を積極的に活用しましょう。</a:t>
            </a:r>
            <a:endParaRPr b="0" lang="en-US" sz="860" strike="noStrike" u="none">
              <a:solidFill>
                <a:srgbClr val="000000"/>
              </a:solidFill>
              <a:effectLst/>
              <a:uFillTx/>
              <a:latin typeface="Times New Roman"/>
            </a:endParaRPr>
          </a:p>
        </p:txBody>
      </p:sp>
      <p:sp>
        <p:nvSpPr>
          <p:cNvPr id="1410" name=""/>
          <p:cNvSpPr txBox="1"/>
          <p:nvPr/>
        </p:nvSpPr>
        <p:spPr>
          <a:xfrm>
            <a:off x="4791600" y="2933280"/>
            <a:ext cx="953280" cy="171000"/>
          </a:xfrm>
          <a:prstGeom prst="rect">
            <a:avLst/>
          </a:prstGeom>
          <a:noFill/>
          <a:ln w="0">
            <a:noFill/>
          </a:ln>
        </p:spPr>
        <p:txBody>
          <a:bodyPr wrap="none" lIns="0" rIns="0" tIns="0" bIns="0" anchor="t">
            <a:spAutoFit/>
          </a:bodyPr>
          <a:p>
            <a:r>
              <a:rPr b="0" lang="zh-CN" sz="1070" strike="noStrike" u="none">
                <a:solidFill>
                  <a:srgbClr val="1d4ed8"/>
                </a:solidFill>
                <a:effectLst/>
                <a:uFillTx/>
                <a:latin typeface="WenQuanYiZenHei"/>
                <a:ea typeface="WenQuanYiZenHei"/>
              </a:rPr>
              <a:t>施設基準の活用</a:t>
            </a:r>
            <a:endParaRPr b="0" lang="en-US" sz="1070" strike="noStrike" u="none">
              <a:solidFill>
                <a:srgbClr val="000000"/>
              </a:solidFill>
              <a:effectLst/>
              <a:uFillTx/>
              <a:latin typeface="Times New Roman"/>
            </a:endParaRPr>
          </a:p>
        </p:txBody>
      </p:sp>
      <p:sp>
        <p:nvSpPr>
          <p:cNvPr id="1411" name=""/>
          <p:cNvSpPr txBox="1"/>
          <p:nvPr/>
        </p:nvSpPr>
        <p:spPr>
          <a:xfrm>
            <a:off x="4573800" y="3204360"/>
            <a:ext cx="3762360" cy="137520"/>
          </a:xfrm>
          <a:prstGeom prst="rect">
            <a:avLst/>
          </a:prstGeom>
          <a:noFill/>
          <a:ln w="0">
            <a:noFill/>
          </a:ln>
        </p:spPr>
        <p:txBody>
          <a:bodyPr wrap="none" lIns="0" rIns="0" tIns="0" bIns="0" anchor="t">
            <a:spAutoFit/>
          </a:bodyPr>
          <a:p>
            <a:r>
              <a:rPr b="0" lang="zh-CN" sz="860" strike="noStrike" u="none">
                <a:solidFill>
                  <a:srgbClr val="4b5563"/>
                </a:solidFill>
                <a:effectLst/>
                <a:uFillTx/>
                <a:latin typeface="WenQuanYiZenHei"/>
                <a:ea typeface="WenQuanYiZenHei"/>
              </a:rPr>
              <a:t>自院が取得している施設基準を把握し、必要な人員配置・設備を維持すると</a:t>
            </a:r>
            <a:endParaRPr b="0" lang="en-US" sz="860" strike="noStrike" u="none">
              <a:solidFill>
                <a:srgbClr val="000000"/>
              </a:solidFill>
              <a:effectLst/>
              <a:uFillTx/>
              <a:latin typeface="Times New Roman"/>
            </a:endParaRPr>
          </a:p>
        </p:txBody>
      </p:sp>
      <p:pic>
        <p:nvPicPr>
          <p:cNvPr id="1412" name="" descr=""/>
          <p:cNvPicPr/>
          <p:nvPr/>
        </p:nvPicPr>
        <p:blipFill>
          <a:blip r:embed="rId11"/>
          <a:stretch/>
        </p:blipFill>
        <p:spPr>
          <a:xfrm>
            <a:off x="279000" y="3880800"/>
            <a:ext cx="8153640" cy="625680"/>
          </a:xfrm>
          <a:prstGeom prst="rect">
            <a:avLst/>
          </a:prstGeom>
          <a:noFill/>
          <a:ln w="0">
            <a:noFill/>
          </a:ln>
        </p:spPr>
      </p:pic>
      <p:sp>
        <p:nvSpPr>
          <p:cNvPr id="1413" name=""/>
          <p:cNvSpPr/>
          <p:nvPr/>
        </p:nvSpPr>
        <p:spPr>
          <a:xfrm>
            <a:off x="275400" y="3877560"/>
            <a:ext cx="8161560" cy="633240"/>
          </a:xfrm>
          <a:custGeom>
            <a:avLst/>
            <a:gdLst/>
            <a:ahLst/>
            <a:rect l="0" t="0" r="r" b="b"/>
            <a:pathLst>
              <a:path fill="none" w="22671" h="1759">
                <a:moveTo>
                  <a:pt x="0" y="0"/>
                </a:moveTo>
                <a:lnTo>
                  <a:pt x="22671" y="0"/>
                </a:lnTo>
                <a:lnTo>
                  <a:pt x="22671" y="1759"/>
                </a:lnTo>
                <a:lnTo>
                  <a:pt x="0" y="1759"/>
                </a:lnTo>
                <a:lnTo>
                  <a:pt x="0" y="0"/>
                </a:lnTo>
              </a:path>
            </a:pathLst>
          </a:custGeom>
          <a:ln w="6480">
            <a:solidFill>
              <a:srgbClr val="dbeafe"/>
            </a:solidFill>
            <a:miter/>
          </a:ln>
        </p:spPr>
        <p:txBody>
          <a:bodyPr lIns="3240" rIns="3240" tIns="3240" bIns="3240" anchor="t">
            <a:noAutofit/>
          </a:bodyPr>
          <a:p>
            <a:endParaRPr b="0" lang="en-US" sz="2400" strike="noStrike" u="none">
              <a:solidFill>
                <a:srgbClr val="000000"/>
              </a:solidFill>
              <a:effectLst/>
              <a:uFillTx/>
              <a:latin typeface="Times New Roman"/>
            </a:endParaRPr>
          </a:p>
        </p:txBody>
      </p:sp>
      <p:pic>
        <p:nvPicPr>
          <p:cNvPr id="1414" name="" descr=""/>
          <p:cNvPicPr/>
          <p:nvPr/>
        </p:nvPicPr>
        <p:blipFill>
          <a:blip r:embed="rId12"/>
          <a:stretch/>
        </p:blipFill>
        <p:spPr>
          <a:xfrm>
            <a:off x="388080" y="4024080"/>
            <a:ext cx="108720" cy="122040"/>
          </a:xfrm>
          <a:prstGeom prst="rect">
            <a:avLst/>
          </a:prstGeom>
          <a:noFill/>
          <a:ln w="0">
            <a:noFill/>
          </a:ln>
        </p:spPr>
      </p:pic>
      <p:sp>
        <p:nvSpPr>
          <p:cNvPr id="1415" name=""/>
          <p:cNvSpPr txBox="1"/>
          <p:nvPr/>
        </p:nvSpPr>
        <p:spPr>
          <a:xfrm>
            <a:off x="4573800" y="3367800"/>
            <a:ext cx="2665080" cy="137520"/>
          </a:xfrm>
          <a:prstGeom prst="rect">
            <a:avLst/>
          </a:prstGeom>
          <a:noFill/>
          <a:ln w="0">
            <a:noFill/>
          </a:ln>
        </p:spPr>
        <p:txBody>
          <a:bodyPr wrap="none" lIns="0" rIns="0" tIns="0" bIns="0" anchor="t">
            <a:spAutoFit/>
          </a:bodyPr>
          <a:p>
            <a:r>
              <a:rPr b="0" lang="zh-CN" sz="860" strike="noStrike" u="none">
                <a:solidFill>
                  <a:srgbClr val="4b5563"/>
                </a:solidFill>
                <a:effectLst/>
                <a:uFillTx/>
                <a:latin typeface="WenQuanYiZenHei"/>
                <a:ea typeface="WenQuanYiZenHei"/>
              </a:rPr>
              <a:t>ともに、新たな施設基準取得の検討も行いましょう。</a:t>
            </a:r>
            <a:endParaRPr b="0" lang="en-US" sz="860" strike="noStrike" u="none">
              <a:solidFill>
                <a:srgbClr val="000000"/>
              </a:solidFill>
              <a:effectLst/>
              <a:uFillTx/>
              <a:latin typeface="Times New Roman"/>
            </a:endParaRPr>
          </a:p>
        </p:txBody>
      </p:sp>
      <p:sp>
        <p:nvSpPr>
          <p:cNvPr id="1416" name=""/>
          <p:cNvSpPr txBox="1"/>
          <p:nvPr/>
        </p:nvSpPr>
        <p:spPr>
          <a:xfrm>
            <a:off x="551160" y="4007880"/>
            <a:ext cx="746640" cy="154440"/>
          </a:xfrm>
          <a:prstGeom prst="rect">
            <a:avLst/>
          </a:prstGeom>
          <a:noFill/>
          <a:ln w="0">
            <a:noFill/>
          </a:ln>
        </p:spPr>
        <p:txBody>
          <a:bodyPr wrap="none" lIns="0" rIns="0" tIns="0" bIns="0" anchor="t">
            <a:spAutoFit/>
          </a:bodyPr>
          <a:p>
            <a:r>
              <a:rPr b="0" lang="zh-CN" sz="960" strike="noStrike" u="none">
                <a:solidFill>
                  <a:srgbClr val="1e40af"/>
                </a:solidFill>
                <a:effectLst/>
                <a:uFillTx/>
                <a:latin typeface="WenQuanYiZenHei"/>
                <a:ea typeface="WenQuanYiZenHei"/>
              </a:rPr>
              <a:t>次のステップ</a:t>
            </a:r>
            <a:endParaRPr b="0" lang="en-US" sz="960" strike="noStrike" u="none">
              <a:solidFill>
                <a:srgbClr val="000000"/>
              </a:solidFill>
              <a:effectLst/>
              <a:uFillTx/>
              <a:latin typeface="Times New Roman"/>
            </a:endParaRPr>
          </a:p>
        </p:txBody>
      </p:sp>
      <p:sp>
        <p:nvSpPr>
          <p:cNvPr id="1417" name=""/>
          <p:cNvSpPr txBox="1"/>
          <p:nvPr/>
        </p:nvSpPr>
        <p:spPr>
          <a:xfrm>
            <a:off x="388080" y="4245840"/>
            <a:ext cx="6334920" cy="137520"/>
          </a:xfrm>
          <a:prstGeom prst="rect">
            <a:avLst/>
          </a:prstGeom>
          <a:noFill/>
          <a:ln w="0">
            <a:noFill/>
          </a:ln>
        </p:spPr>
        <p:txBody>
          <a:bodyPr wrap="none" lIns="0" rIns="0" tIns="0" bIns="0" anchor="t">
            <a:spAutoFit/>
          </a:bodyPr>
          <a:p>
            <a:r>
              <a:rPr b="0" lang="zh-CN" sz="860" strike="noStrike" u="none">
                <a:solidFill>
                  <a:srgbClr val="374151"/>
                </a:solidFill>
                <a:effectLst/>
                <a:uFillTx/>
                <a:latin typeface="WenQuanYiZenHei"/>
                <a:ea typeface="WenQuanYiZenHei"/>
              </a:rPr>
              <a:t>これらのポイントを実践し、定期的な振り返りと改善を行うことで、保険点数の適正化と向上を継続的に進めていきましょう。</a:t>
            </a:r>
            <a:endParaRPr b="0" lang="en-US" sz="86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18" name="" descr=""/>
          <p:cNvPicPr/>
          <p:nvPr/>
        </p:nvPicPr>
        <p:blipFill>
          <a:blip r:embed="rId1"/>
          <a:stretch/>
        </p:blipFill>
        <p:spPr>
          <a:xfrm>
            <a:off x="0" y="57240"/>
            <a:ext cx="8407440" cy="4728960"/>
          </a:xfrm>
          <a:prstGeom prst="rect">
            <a:avLst/>
          </a:prstGeom>
          <a:noFill/>
          <a:ln w="0">
            <a:noFill/>
          </a:ln>
        </p:spPr>
      </p:pic>
      <p:pic>
        <p:nvPicPr>
          <p:cNvPr id="1419" name="" descr=""/>
          <p:cNvPicPr/>
          <p:nvPr/>
        </p:nvPicPr>
        <p:blipFill>
          <a:blip r:embed="rId2"/>
          <a:stretch/>
        </p:blipFill>
        <p:spPr>
          <a:xfrm>
            <a:off x="6108840" y="-928080"/>
            <a:ext cx="3283920" cy="3283920"/>
          </a:xfrm>
          <a:prstGeom prst="rect">
            <a:avLst/>
          </a:prstGeom>
          <a:noFill/>
          <a:ln w="0">
            <a:noFill/>
          </a:ln>
        </p:spPr>
      </p:pic>
      <p:pic>
        <p:nvPicPr>
          <p:cNvPr id="1420" name="" descr=""/>
          <p:cNvPicPr/>
          <p:nvPr/>
        </p:nvPicPr>
        <p:blipFill>
          <a:blip r:embed="rId3"/>
          <a:stretch/>
        </p:blipFill>
        <p:spPr>
          <a:xfrm>
            <a:off x="-657000" y="3144240"/>
            <a:ext cx="2298600" cy="2298600"/>
          </a:xfrm>
          <a:prstGeom prst="rect">
            <a:avLst/>
          </a:prstGeom>
          <a:noFill/>
          <a:ln w="0">
            <a:noFill/>
          </a:ln>
        </p:spPr>
      </p:pic>
      <p:pic>
        <p:nvPicPr>
          <p:cNvPr id="1421" name="" descr=""/>
          <p:cNvPicPr/>
          <p:nvPr/>
        </p:nvPicPr>
        <p:blipFill>
          <a:blip r:embed="rId4"/>
          <a:stretch/>
        </p:blipFill>
        <p:spPr>
          <a:xfrm>
            <a:off x="6581520" y="4569840"/>
            <a:ext cx="117720" cy="91440"/>
          </a:xfrm>
          <a:prstGeom prst="rect">
            <a:avLst/>
          </a:prstGeom>
          <a:noFill/>
          <a:ln w="0">
            <a:noFill/>
          </a:ln>
        </p:spPr>
      </p:pic>
      <p:sp>
        <p:nvSpPr>
          <p:cNvPr id="1422" name=""/>
          <p:cNvSpPr txBox="1"/>
          <p:nvPr/>
        </p:nvSpPr>
        <p:spPr>
          <a:xfrm>
            <a:off x="6749640" y="4560120"/>
            <a:ext cx="366480" cy="116280"/>
          </a:xfrm>
          <a:prstGeom prst="rect">
            <a:avLst/>
          </a:prstGeom>
          <a:noFill/>
          <a:ln w="0">
            <a:noFill/>
          </a:ln>
        </p:spPr>
        <p:txBody>
          <a:bodyPr wrap="none" lIns="0" rIns="0" tIns="0" bIns="0" anchor="t">
            <a:spAutoFit/>
          </a:bodyPr>
          <a:p>
            <a:r>
              <a:rPr b="0" lang="zh-CN" sz="730" strike="noStrike" u="none">
                <a:solidFill>
                  <a:srgbClr val="6b7280"/>
                </a:solidFill>
                <a:effectLst/>
                <a:uFillTx/>
                <a:latin typeface="WenQuanYiZenHei"/>
                <a:ea typeface="WenQuanYiZenHei"/>
              </a:rPr>
              <a:t>東和病院</a:t>
            </a:r>
            <a:endParaRPr b="0" lang="en-US" sz="730" strike="noStrike" u="none">
              <a:solidFill>
                <a:srgbClr val="000000"/>
              </a:solidFill>
              <a:effectLst/>
              <a:uFillTx/>
              <a:latin typeface="Times New Roman"/>
            </a:endParaRPr>
          </a:p>
        </p:txBody>
      </p:sp>
      <p:sp>
        <p:nvSpPr>
          <p:cNvPr id="1423" name=""/>
          <p:cNvSpPr txBox="1"/>
          <p:nvPr/>
        </p:nvSpPr>
        <p:spPr>
          <a:xfrm>
            <a:off x="7117560" y="4563360"/>
            <a:ext cx="91440" cy="106920"/>
          </a:xfrm>
          <a:prstGeom prst="rect">
            <a:avLst/>
          </a:prstGeom>
          <a:noFill/>
          <a:ln w="0">
            <a:noFill/>
          </a:ln>
        </p:spPr>
        <p:txBody>
          <a:bodyPr wrap="none" lIns="0" rIns="0" tIns="0" bIns="0" anchor="t">
            <a:spAutoFit/>
          </a:bodyPr>
          <a:p>
            <a:r>
              <a:rPr b="0" lang="en-US" sz="730" strike="noStrike" u="none">
                <a:solidFill>
                  <a:srgbClr val="6b7280"/>
                </a:solidFill>
                <a:effectLst/>
                <a:uFillTx/>
                <a:latin typeface="DejaVuSans"/>
                <a:ea typeface="DejaVuSans"/>
              </a:rPr>
              <a:t> </a:t>
            </a:r>
            <a:endParaRPr b="0" lang="en-US" sz="730" strike="noStrike" u="none">
              <a:solidFill>
                <a:srgbClr val="000000"/>
              </a:solidFill>
              <a:effectLst/>
              <a:uFillTx/>
              <a:latin typeface="Times New Roman"/>
            </a:endParaRPr>
          </a:p>
        </p:txBody>
      </p:sp>
      <p:sp>
        <p:nvSpPr>
          <p:cNvPr id="1424" name=""/>
          <p:cNvSpPr txBox="1"/>
          <p:nvPr/>
        </p:nvSpPr>
        <p:spPr>
          <a:xfrm>
            <a:off x="7146720" y="4560120"/>
            <a:ext cx="640800" cy="116280"/>
          </a:xfrm>
          <a:prstGeom prst="rect">
            <a:avLst/>
          </a:prstGeom>
          <a:noFill/>
          <a:ln w="0">
            <a:noFill/>
          </a:ln>
        </p:spPr>
        <p:txBody>
          <a:bodyPr wrap="none" lIns="0" rIns="0" tIns="0" bIns="0" anchor="t">
            <a:spAutoFit/>
          </a:bodyPr>
          <a:p>
            <a:r>
              <a:rPr b="0" lang="zh-CN" sz="730" strike="noStrike" u="none">
                <a:solidFill>
                  <a:srgbClr val="6b7280"/>
                </a:solidFill>
                <a:effectLst/>
                <a:uFillTx/>
                <a:latin typeface="WenQuanYiZenHei"/>
                <a:ea typeface="WenQuanYiZenHei"/>
              </a:rPr>
              <a:t>保険点数勉強会</a:t>
            </a:r>
            <a:endParaRPr b="0" lang="en-US" sz="730" strike="noStrike" u="none">
              <a:solidFill>
                <a:srgbClr val="000000"/>
              </a:solidFill>
              <a:effectLst/>
              <a:uFillTx/>
              <a:latin typeface="Times New Roman"/>
            </a:endParaRPr>
          </a:p>
        </p:txBody>
      </p:sp>
      <p:sp>
        <p:nvSpPr>
          <p:cNvPr id="1425" name=""/>
          <p:cNvSpPr txBox="1"/>
          <p:nvPr/>
        </p:nvSpPr>
        <p:spPr>
          <a:xfrm>
            <a:off x="7842960" y="4563360"/>
            <a:ext cx="91440" cy="106920"/>
          </a:xfrm>
          <a:prstGeom prst="rect">
            <a:avLst/>
          </a:prstGeom>
          <a:noFill/>
          <a:ln w="0">
            <a:noFill/>
          </a:ln>
        </p:spPr>
        <p:txBody>
          <a:bodyPr wrap="none" lIns="0" rIns="0" tIns="0" bIns="0" anchor="t">
            <a:spAutoFit/>
          </a:bodyPr>
          <a:p>
            <a:r>
              <a:rPr b="0" lang="en-US" sz="730" strike="noStrike" u="none">
                <a:solidFill>
                  <a:srgbClr val="6b7280"/>
                </a:solidFill>
                <a:effectLst/>
                <a:uFillTx/>
                <a:latin typeface="DejaVuSans"/>
                <a:ea typeface="DejaVuSans"/>
              </a:rPr>
              <a:t>|</a:t>
            </a:r>
            <a:endParaRPr b="0" lang="en-US" sz="730" strike="noStrike" u="none">
              <a:solidFill>
                <a:srgbClr val="000000"/>
              </a:solidFill>
              <a:effectLst/>
              <a:uFillTx/>
              <a:latin typeface="Times New Roman"/>
            </a:endParaRPr>
          </a:p>
        </p:txBody>
      </p:sp>
      <p:pic>
        <p:nvPicPr>
          <p:cNvPr id="1426" name="" descr=""/>
          <p:cNvPicPr/>
          <p:nvPr/>
        </p:nvPicPr>
        <p:blipFill>
          <a:blip r:embed="rId5"/>
          <a:stretch/>
        </p:blipFill>
        <p:spPr>
          <a:xfrm>
            <a:off x="210240" y="529920"/>
            <a:ext cx="840240" cy="25920"/>
          </a:xfrm>
          <a:prstGeom prst="rect">
            <a:avLst/>
          </a:prstGeom>
          <a:noFill/>
          <a:ln w="0">
            <a:noFill/>
          </a:ln>
        </p:spPr>
      </p:pic>
      <p:sp>
        <p:nvSpPr>
          <p:cNvPr id="1427" name=""/>
          <p:cNvSpPr txBox="1"/>
          <p:nvPr/>
        </p:nvSpPr>
        <p:spPr>
          <a:xfrm>
            <a:off x="7926480" y="4563360"/>
            <a:ext cx="322200" cy="106920"/>
          </a:xfrm>
          <a:prstGeom prst="rect">
            <a:avLst/>
          </a:prstGeom>
          <a:noFill/>
          <a:ln w="0">
            <a:noFill/>
          </a:ln>
        </p:spPr>
        <p:txBody>
          <a:bodyPr wrap="none" lIns="0" rIns="0" tIns="0" bIns="0" anchor="t">
            <a:spAutoFit/>
          </a:bodyPr>
          <a:p>
            <a:r>
              <a:rPr b="0" lang="en-US" sz="730" strike="noStrike" u="none">
                <a:solidFill>
                  <a:srgbClr val="6b7280"/>
                </a:solidFill>
                <a:effectLst/>
                <a:uFillTx/>
                <a:latin typeface="DejaVuSans"/>
                <a:ea typeface="DejaVuSans"/>
              </a:rPr>
              <a:t>15 / 15</a:t>
            </a:r>
            <a:endParaRPr b="0" lang="en-US" sz="730" strike="noStrike" u="none">
              <a:solidFill>
                <a:srgbClr val="000000"/>
              </a:solidFill>
              <a:effectLst/>
              <a:uFillTx/>
              <a:latin typeface="Times New Roman"/>
            </a:endParaRPr>
          </a:p>
        </p:txBody>
      </p:sp>
      <p:sp>
        <p:nvSpPr>
          <p:cNvPr id="1428" name=""/>
          <p:cNvSpPr txBox="1"/>
          <p:nvPr/>
        </p:nvSpPr>
        <p:spPr>
          <a:xfrm>
            <a:off x="210240" y="261360"/>
            <a:ext cx="3772800" cy="247320"/>
          </a:xfrm>
          <a:prstGeom prst="rect">
            <a:avLst/>
          </a:prstGeom>
          <a:noFill/>
          <a:ln w="0">
            <a:noFill/>
          </a:ln>
        </p:spPr>
        <p:txBody>
          <a:bodyPr wrap="none" lIns="0" rIns="0" tIns="0" bIns="0" anchor="t">
            <a:spAutoFit/>
          </a:bodyPr>
          <a:p>
            <a:r>
              <a:rPr b="0" lang="zh-CN" sz="1550" strike="noStrike" u="none">
                <a:solidFill>
                  <a:srgbClr val="1e40af"/>
                </a:solidFill>
                <a:effectLst/>
                <a:uFillTx/>
                <a:latin typeface="WenQuanYiZenHei"/>
                <a:ea typeface="WenQuanYiZenHei"/>
              </a:rPr>
              <a:t>まとめ：効率的な保険点数の運用に向けて</a:t>
            </a:r>
            <a:endParaRPr b="0" lang="en-US" sz="1550" strike="noStrike" u="none">
              <a:solidFill>
                <a:srgbClr val="000000"/>
              </a:solidFill>
              <a:effectLst/>
              <a:uFillTx/>
              <a:latin typeface="Times New Roman"/>
            </a:endParaRPr>
          </a:p>
        </p:txBody>
      </p:sp>
      <p:sp>
        <p:nvSpPr>
          <p:cNvPr id="1429" name=""/>
          <p:cNvSpPr/>
          <p:nvPr/>
        </p:nvSpPr>
        <p:spPr>
          <a:xfrm>
            <a:off x="209880" y="897840"/>
            <a:ext cx="3941640" cy="551880"/>
          </a:xfrm>
          <a:custGeom>
            <a:avLst/>
            <a:gdLst/>
            <a:ahLst/>
            <a:rect l="0" t="0" r="r" b="b"/>
            <a:pathLst>
              <a:path w="10949" h="1533">
                <a:moveTo>
                  <a:pt x="0" y="1387"/>
                </a:moveTo>
                <a:lnTo>
                  <a:pt x="0" y="146"/>
                </a:lnTo>
                <a:cubicBezTo>
                  <a:pt x="0" y="136"/>
                  <a:pt x="1" y="127"/>
                  <a:pt x="3" y="117"/>
                </a:cubicBezTo>
                <a:cubicBezTo>
                  <a:pt x="5" y="108"/>
                  <a:pt x="8" y="99"/>
                  <a:pt x="11" y="90"/>
                </a:cubicBezTo>
                <a:cubicBezTo>
                  <a:pt x="15" y="81"/>
                  <a:pt x="20" y="73"/>
                  <a:pt x="25" y="65"/>
                </a:cubicBezTo>
                <a:cubicBezTo>
                  <a:pt x="30" y="57"/>
                  <a:pt x="36" y="49"/>
                  <a:pt x="43" y="42"/>
                </a:cubicBezTo>
                <a:cubicBezTo>
                  <a:pt x="50" y="36"/>
                  <a:pt x="57" y="30"/>
                  <a:pt x="65" y="24"/>
                </a:cubicBezTo>
                <a:cubicBezTo>
                  <a:pt x="73" y="19"/>
                  <a:pt x="82" y="14"/>
                  <a:pt x="90" y="11"/>
                </a:cubicBezTo>
                <a:cubicBezTo>
                  <a:pt x="99" y="7"/>
                  <a:pt x="108" y="4"/>
                  <a:pt x="118" y="3"/>
                </a:cubicBezTo>
                <a:cubicBezTo>
                  <a:pt x="127" y="1"/>
                  <a:pt x="137" y="0"/>
                  <a:pt x="146" y="0"/>
                </a:cubicBezTo>
                <a:lnTo>
                  <a:pt x="10803" y="0"/>
                </a:lnTo>
                <a:cubicBezTo>
                  <a:pt x="10812" y="0"/>
                  <a:pt x="10822" y="1"/>
                  <a:pt x="10831" y="3"/>
                </a:cubicBezTo>
                <a:cubicBezTo>
                  <a:pt x="10841" y="4"/>
                  <a:pt x="10850" y="7"/>
                  <a:pt x="10859" y="11"/>
                </a:cubicBezTo>
                <a:cubicBezTo>
                  <a:pt x="10868" y="14"/>
                  <a:pt x="10876" y="19"/>
                  <a:pt x="10884" y="24"/>
                </a:cubicBezTo>
                <a:cubicBezTo>
                  <a:pt x="10892" y="30"/>
                  <a:pt x="10899" y="36"/>
                  <a:pt x="10906" y="42"/>
                </a:cubicBezTo>
                <a:cubicBezTo>
                  <a:pt x="10913" y="49"/>
                  <a:pt x="10919" y="57"/>
                  <a:pt x="10924" y="65"/>
                </a:cubicBezTo>
                <a:cubicBezTo>
                  <a:pt x="10930" y="73"/>
                  <a:pt x="10934" y="81"/>
                  <a:pt x="10938" y="90"/>
                </a:cubicBezTo>
                <a:cubicBezTo>
                  <a:pt x="10941" y="99"/>
                  <a:pt x="10944" y="108"/>
                  <a:pt x="10946" y="117"/>
                </a:cubicBezTo>
                <a:cubicBezTo>
                  <a:pt x="10948" y="127"/>
                  <a:pt x="10949" y="136"/>
                  <a:pt x="10949" y="146"/>
                </a:cubicBezTo>
                <a:lnTo>
                  <a:pt x="10949" y="1387"/>
                </a:lnTo>
                <a:cubicBezTo>
                  <a:pt x="10949" y="1397"/>
                  <a:pt x="10948" y="1406"/>
                  <a:pt x="10946" y="1416"/>
                </a:cubicBezTo>
                <a:cubicBezTo>
                  <a:pt x="10944" y="1425"/>
                  <a:pt x="10941" y="1434"/>
                  <a:pt x="10938" y="1443"/>
                </a:cubicBezTo>
                <a:cubicBezTo>
                  <a:pt x="10934" y="1452"/>
                  <a:pt x="10930" y="1461"/>
                  <a:pt x="10924" y="1468"/>
                </a:cubicBezTo>
                <a:cubicBezTo>
                  <a:pt x="10919" y="1476"/>
                  <a:pt x="10913" y="1484"/>
                  <a:pt x="10906" y="1491"/>
                </a:cubicBezTo>
                <a:cubicBezTo>
                  <a:pt x="10899" y="1497"/>
                  <a:pt x="10892" y="1503"/>
                  <a:pt x="10884" y="1509"/>
                </a:cubicBezTo>
                <a:cubicBezTo>
                  <a:pt x="10876" y="1514"/>
                  <a:pt x="10868" y="1519"/>
                  <a:pt x="10859" y="1522"/>
                </a:cubicBezTo>
                <a:cubicBezTo>
                  <a:pt x="10850" y="1526"/>
                  <a:pt x="10841" y="1529"/>
                  <a:pt x="10831" y="1531"/>
                </a:cubicBezTo>
                <a:cubicBezTo>
                  <a:pt x="10822" y="1532"/>
                  <a:pt x="10812" y="1533"/>
                  <a:pt x="10803" y="1533"/>
                </a:cubicBezTo>
                <a:lnTo>
                  <a:pt x="146" y="1533"/>
                </a:lnTo>
                <a:cubicBezTo>
                  <a:pt x="137" y="1533"/>
                  <a:pt x="127" y="1532"/>
                  <a:pt x="118" y="1531"/>
                </a:cubicBezTo>
                <a:cubicBezTo>
                  <a:pt x="108" y="1529"/>
                  <a:pt x="99" y="1526"/>
                  <a:pt x="90" y="1522"/>
                </a:cubicBezTo>
                <a:cubicBezTo>
                  <a:pt x="82" y="1519"/>
                  <a:pt x="73" y="1514"/>
                  <a:pt x="65" y="1509"/>
                </a:cubicBezTo>
                <a:cubicBezTo>
                  <a:pt x="57" y="1503"/>
                  <a:pt x="50" y="1497"/>
                  <a:pt x="43" y="1491"/>
                </a:cubicBezTo>
                <a:cubicBezTo>
                  <a:pt x="36" y="1484"/>
                  <a:pt x="30" y="1476"/>
                  <a:pt x="25" y="1468"/>
                </a:cubicBezTo>
                <a:cubicBezTo>
                  <a:pt x="20" y="1461"/>
                  <a:pt x="15" y="1452"/>
                  <a:pt x="11" y="1443"/>
                </a:cubicBezTo>
                <a:cubicBezTo>
                  <a:pt x="8" y="1434"/>
                  <a:pt x="5" y="1425"/>
                  <a:pt x="3" y="1416"/>
                </a:cubicBezTo>
                <a:cubicBezTo>
                  <a:pt x="1" y="1406"/>
                  <a:pt x="0" y="1397"/>
                  <a:pt x="0" y="1387"/>
                </a:cubicBezTo>
                <a:close/>
              </a:path>
            </a:pathLst>
          </a:custGeom>
          <a:solidFill>
            <a:srgbClr val="ffffff">
              <a:alpha val="8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430" name=""/>
          <p:cNvSpPr/>
          <p:nvPr/>
        </p:nvSpPr>
        <p:spPr>
          <a:xfrm>
            <a:off x="288720" y="976680"/>
            <a:ext cx="263160" cy="262800"/>
          </a:xfrm>
          <a:custGeom>
            <a:avLst/>
            <a:gdLst/>
            <a:ahLst/>
            <a:rect l="0" t="0" r="r" b="b"/>
            <a:pathLst>
              <a:path w="731" h="730">
                <a:moveTo>
                  <a:pt x="731" y="365"/>
                </a:moveTo>
                <a:cubicBezTo>
                  <a:pt x="731" y="389"/>
                  <a:pt x="729" y="412"/>
                  <a:pt x="724" y="436"/>
                </a:cubicBezTo>
                <a:cubicBezTo>
                  <a:pt x="719" y="459"/>
                  <a:pt x="713" y="482"/>
                  <a:pt x="703" y="504"/>
                </a:cubicBezTo>
                <a:cubicBezTo>
                  <a:pt x="694" y="526"/>
                  <a:pt x="683" y="547"/>
                  <a:pt x="670" y="567"/>
                </a:cubicBezTo>
                <a:cubicBezTo>
                  <a:pt x="656" y="588"/>
                  <a:pt x="641" y="607"/>
                  <a:pt x="624" y="624"/>
                </a:cubicBezTo>
                <a:cubicBezTo>
                  <a:pt x="607" y="641"/>
                  <a:pt x="589" y="656"/>
                  <a:pt x="569" y="669"/>
                </a:cubicBezTo>
                <a:cubicBezTo>
                  <a:pt x="549" y="682"/>
                  <a:pt x="528" y="694"/>
                  <a:pt x="506" y="703"/>
                </a:cubicBezTo>
                <a:cubicBezTo>
                  <a:pt x="484" y="712"/>
                  <a:pt x="461" y="719"/>
                  <a:pt x="437" y="723"/>
                </a:cubicBezTo>
                <a:cubicBezTo>
                  <a:pt x="414" y="728"/>
                  <a:pt x="390" y="730"/>
                  <a:pt x="366" y="730"/>
                </a:cubicBezTo>
                <a:cubicBezTo>
                  <a:pt x="342" y="730"/>
                  <a:pt x="319" y="728"/>
                  <a:pt x="295" y="723"/>
                </a:cubicBezTo>
                <a:cubicBezTo>
                  <a:pt x="271" y="719"/>
                  <a:pt x="248" y="712"/>
                  <a:pt x="226" y="703"/>
                </a:cubicBezTo>
                <a:cubicBezTo>
                  <a:pt x="203" y="694"/>
                  <a:pt x="182" y="682"/>
                  <a:pt x="162" y="669"/>
                </a:cubicBezTo>
                <a:cubicBezTo>
                  <a:pt x="143" y="656"/>
                  <a:pt x="124" y="641"/>
                  <a:pt x="107" y="624"/>
                </a:cubicBezTo>
                <a:cubicBezTo>
                  <a:pt x="90" y="607"/>
                  <a:pt x="75" y="588"/>
                  <a:pt x="62" y="567"/>
                </a:cubicBezTo>
                <a:cubicBezTo>
                  <a:pt x="49" y="547"/>
                  <a:pt x="37" y="526"/>
                  <a:pt x="28" y="504"/>
                </a:cubicBezTo>
                <a:cubicBezTo>
                  <a:pt x="19" y="482"/>
                  <a:pt x="12" y="459"/>
                  <a:pt x="7" y="436"/>
                </a:cubicBezTo>
                <a:cubicBezTo>
                  <a:pt x="3" y="412"/>
                  <a:pt x="0" y="389"/>
                  <a:pt x="0" y="365"/>
                </a:cubicBezTo>
                <a:cubicBezTo>
                  <a:pt x="0" y="341"/>
                  <a:pt x="3" y="317"/>
                  <a:pt x="7" y="293"/>
                </a:cubicBezTo>
                <a:cubicBezTo>
                  <a:pt x="12" y="270"/>
                  <a:pt x="19" y="247"/>
                  <a:pt x="28" y="225"/>
                </a:cubicBezTo>
                <a:cubicBezTo>
                  <a:pt x="37" y="203"/>
                  <a:pt x="49" y="182"/>
                  <a:pt x="62" y="162"/>
                </a:cubicBezTo>
                <a:cubicBezTo>
                  <a:pt x="75" y="142"/>
                  <a:pt x="90" y="123"/>
                  <a:pt x="107" y="107"/>
                </a:cubicBezTo>
                <a:cubicBezTo>
                  <a:pt x="124" y="90"/>
                  <a:pt x="143" y="74"/>
                  <a:pt x="162" y="61"/>
                </a:cubicBezTo>
                <a:cubicBezTo>
                  <a:pt x="182" y="48"/>
                  <a:pt x="203" y="37"/>
                  <a:pt x="226" y="27"/>
                </a:cubicBezTo>
                <a:cubicBezTo>
                  <a:pt x="248" y="18"/>
                  <a:pt x="271" y="11"/>
                  <a:pt x="295" y="7"/>
                </a:cubicBezTo>
                <a:cubicBezTo>
                  <a:pt x="319" y="2"/>
                  <a:pt x="342" y="0"/>
                  <a:pt x="366" y="0"/>
                </a:cubicBezTo>
                <a:cubicBezTo>
                  <a:pt x="390" y="0"/>
                  <a:pt x="414" y="2"/>
                  <a:pt x="437" y="7"/>
                </a:cubicBezTo>
                <a:cubicBezTo>
                  <a:pt x="461" y="11"/>
                  <a:pt x="484" y="18"/>
                  <a:pt x="506" y="27"/>
                </a:cubicBezTo>
                <a:cubicBezTo>
                  <a:pt x="528" y="37"/>
                  <a:pt x="549" y="48"/>
                  <a:pt x="569" y="61"/>
                </a:cubicBezTo>
                <a:cubicBezTo>
                  <a:pt x="589" y="74"/>
                  <a:pt x="607" y="90"/>
                  <a:pt x="624" y="107"/>
                </a:cubicBezTo>
                <a:cubicBezTo>
                  <a:pt x="641" y="123"/>
                  <a:pt x="656" y="142"/>
                  <a:pt x="670" y="162"/>
                </a:cubicBezTo>
                <a:cubicBezTo>
                  <a:pt x="683" y="182"/>
                  <a:pt x="694" y="203"/>
                  <a:pt x="703" y="225"/>
                </a:cubicBezTo>
                <a:cubicBezTo>
                  <a:pt x="713" y="247"/>
                  <a:pt x="719" y="270"/>
                  <a:pt x="724" y="293"/>
                </a:cubicBezTo>
                <a:cubicBezTo>
                  <a:pt x="729" y="317"/>
                  <a:pt x="731" y="341"/>
                  <a:pt x="731" y="365"/>
                </a:cubicBezTo>
                <a:close/>
              </a:path>
            </a:pathLst>
          </a:custGeom>
          <a:solidFill>
            <a:srgbClr val="dbea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431" name="" descr=""/>
          <p:cNvPicPr/>
          <p:nvPr/>
        </p:nvPicPr>
        <p:blipFill>
          <a:blip r:embed="rId6"/>
          <a:stretch/>
        </p:blipFill>
        <p:spPr>
          <a:xfrm>
            <a:off x="374400" y="1049040"/>
            <a:ext cx="91440" cy="117720"/>
          </a:xfrm>
          <a:prstGeom prst="rect">
            <a:avLst/>
          </a:prstGeom>
          <a:noFill/>
          <a:ln w="0">
            <a:noFill/>
          </a:ln>
        </p:spPr>
      </p:pic>
      <p:sp>
        <p:nvSpPr>
          <p:cNvPr id="1432" name=""/>
          <p:cNvSpPr txBox="1"/>
          <p:nvPr/>
        </p:nvSpPr>
        <p:spPr>
          <a:xfrm>
            <a:off x="210240" y="645480"/>
            <a:ext cx="5200200" cy="131400"/>
          </a:xfrm>
          <a:prstGeom prst="rect">
            <a:avLst/>
          </a:prstGeom>
          <a:noFill/>
          <a:ln w="0">
            <a:noFill/>
          </a:ln>
        </p:spPr>
        <p:txBody>
          <a:bodyPr wrap="none" lIns="0" rIns="0" tIns="0" bIns="0" anchor="t">
            <a:spAutoFit/>
          </a:bodyPr>
          <a:p>
            <a:r>
              <a:rPr b="0" lang="zh-CN" sz="830" strike="noStrike" u="none">
                <a:solidFill>
                  <a:srgbClr val="374151"/>
                </a:solidFill>
                <a:effectLst/>
                <a:uFillTx/>
                <a:latin typeface="WenQuanYiZenHei"/>
                <a:ea typeface="WenQuanYiZenHei"/>
              </a:rPr>
              <a:t>本勉強会の要点を振り返り、保険点数の適正な算定が病院経営と医療の質の向上に繋がることを確認します。</a:t>
            </a:r>
            <a:endParaRPr b="0" lang="en-US" sz="830" strike="noStrike" u="none">
              <a:solidFill>
                <a:srgbClr val="000000"/>
              </a:solidFill>
              <a:effectLst/>
              <a:uFillTx/>
              <a:latin typeface="Times New Roman"/>
            </a:endParaRPr>
          </a:p>
        </p:txBody>
      </p:sp>
      <p:sp>
        <p:nvSpPr>
          <p:cNvPr id="1433" name=""/>
          <p:cNvSpPr txBox="1"/>
          <p:nvPr/>
        </p:nvSpPr>
        <p:spPr>
          <a:xfrm>
            <a:off x="630720" y="987120"/>
            <a:ext cx="1698120" cy="131400"/>
          </a:xfrm>
          <a:prstGeom prst="rect">
            <a:avLst/>
          </a:prstGeom>
          <a:noFill/>
          <a:ln w="0">
            <a:noFill/>
          </a:ln>
        </p:spPr>
        <p:txBody>
          <a:bodyPr wrap="none" lIns="0" rIns="0" tIns="0" bIns="0" anchor="t">
            <a:spAutoFit/>
          </a:bodyPr>
          <a:p>
            <a:r>
              <a:rPr b="0" lang="zh-CN" sz="830" strike="noStrike" u="none">
                <a:solidFill>
                  <a:srgbClr val="1d4ed8"/>
                </a:solidFill>
                <a:effectLst/>
                <a:uFillTx/>
                <a:latin typeface="WenQuanYiZenHei"/>
                <a:ea typeface="WenQuanYiZenHei"/>
              </a:rPr>
              <a:t>正確なカルテ記載と適切な病名選択</a:t>
            </a:r>
            <a:endParaRPr b="0" lang="en-US" sz="830" strike="noStrike" u="none">
              <a:solidFill>
                <a:srgbClr val="000000"/>
              </a:solidFill>
              <a:effectLst/>
              <a:uFillTx/>
              <a:latin typeface="Times New Roman"/>
            </a:endParaRPr>
          </a:p>
        </p:txBody>
      </p:sp>
      <p:sp>
        <p:nvSpPr>
          <p:cNvPr id="1434" name=""/>
          <p:cNvSpPr txBox="1"/>
          <p:nvPr/>
        </p:nvSpPr>
        <p:spPr>
          <a:xfrm>
            <a:off x="630720" y="1163520"/>
            <a:ext cx="343800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実施した診療行為や検査、処置、指導内容などを漏れなく正確にカルテに記載し、算定根拠を明</a:t>
            </a:r>
            <a:endParaRPr b="0" lang="en-US" sz="620" strike="noStrike" u="none">
              <a:solidFill>
                <a:srgbClr val="000000"/>
              </a:solidFill>
              <a:effectLst/>
              <a:uFillTx/>
              <a:latin typeface="Times New Roman"/>
            </a:endParaRPr>
          </a:p>
        </p:txBody>
      </p:sp>
      <p:sp>
        <p:nvSpPr>
          <p:cNvPr id="1435" name=""/>
          <p:cNvSpPr/>
          <p:nvPr/>
        </p:nvSpPr>
        <p:spPr>
          <a:xfrm>
            <a:off x="4256280" y="897840"/>
            <a:ext cx="3941280" cy="551880"/>
          </a:xfrm>
          <a:custGeom>
            <a:avLst/>
            <a:gdLst/>
            <a:ahLst/>
            <a:rect l="0" t="0" r="r" b="b"/>
            <a:pathLst>
              <a:path w="10948" h="1533">
                <a:moveTo>
                  <a:pt x="0" y="1387"/>
                </a:moveTo>
                <a:lnTo>
                  <a:pt x="0" y="146"/>
                </a:lnTo>
                <a:cubicBezTo>
                  <a:pt x="0" y="136"/>
                  <a:pt x="1" y="127"/>
                  <a:pt x="3" y="117"/>
                </a:cubicBezTo>
                <a:cubicBezTo>
                  <a:pt x="4" y="108"/>
                  <a:pt x="7" y="99"/>
                  <a:pt x="11" y="90"/>
                </a:cubicBezTo>
                <a:cubicBezTo>
                  <a:pt x="15" y="81"/>
                  <a:pt x="19" y="73"/>
                  <a:pt x="24" y="65"/>
                </a:cubicBezTo>
                <a:cubicBezTo>
                  <a:pt x="30" y="57"/>
                  <a:pt x="36" y="49"/>
                  <a:pt x="43" y="42"/>
                </a:cubicBezTo>
                <a:cubicBezTo>
                  <a:pt x="49" y="36"/>
                  <a:pt x="57" y="30"/>
                  <a:pt x="65" y="24"/>
                </a:cubicBezTo>
                <a:cubicBezTo>
                  <a:pt x="73" y="19"/>
                  <a:pt x="81" y="14"/>
                  <a:pt x="90" y="11"/>
                </a:cubicBezTo>
                <a:cubicBezTo>
                  <a:pt x="99" y="7"/>
                  <a:pt x="108" y="4"/>
                  <a:pt x="117" y="3"/>
                </a:cubicBezTo>
                <a:cubicBezTo>
                  <a:pt x="127" y="1"/>
                  <a:pt x="136" y="0"/>
                  <a:pt x="146" y="0"/>
                </a:cubicBezTo>
                <a:lnTo>
                  <a:pt x="10802" y="0"/>
                </a:lnTo>
                <a:cubicBezTo>
                  <a:pt x="10812" y="0"/>
                  <a:pt x="10821" y="1"/>
                  <a:pt x="10831" y="3"/>
                </a:cubicBezTo>
                <a:cubicBezTo>
                  <a:pt x="10840" y="4"/>
                  <a:pt x="10849" y="7"/>
                  <a:pt x="10858" y="11"/>
                </a:cubicBezTo>
                <a:cubicBezTo>
                  <a:pt x="10867" y="14"/>
                  <a:pt x="10875" y="19"/>
                  <a:pt x="10883" y="24"/>
                </a:cubicBezTo>
                <a:cubicBezTo>
                  <a:pt x="10891" y="30"/>
                  <a:pt x="10899" y="36"/>
                  <a:pt x="10905" y="42"/>
                </a:cubicBezTo>
                <a:cubicBezTo>
                  <a:pt x="10912" y="49"/>
                  <a:pt x="10918" y="57"/>
                  <a:pt x="10924" y="65"/>
                </a:cubicBezTo>
                <a:cubicBezTo>
                  <a:pt x="10929" y="73"/>
                  <a:pt x="10933" y="81"/>
                  <a:pt x="10937" y="90"/>
                </a:cubicBezTo>
                <a:cubicBezTo>
                  <a:pt x="10941" y="99"/>
                  <a:pt x="10944" y="108"/>
                  <a:pt x="10945" y="117"/>
                </a:cubicBezTo>
                <a:cubicBezTo>
                  <a:pt x="10947" y="127"/>
                  <a:pt x="10948" y="136"/>
                  <a:pt x="10948" y="146"/>
                </a:cubicBezTo>
                <a:lnTo>
                  <a:pt x="10948" y="1387"/>
                </a:lnTo>
                <a:cubicBezTo>
                  <a:pt x="10948" y="1397"/>
                  <a:pt x="10947" y="1406"/>
                  <a:pt x="10945" y="1416"/>
                </a:cubicBezTo>
                <a:cubicBezTo>
                  <a:pt x="10944" y="1425"/>
                  <a:pt x="10941" y="1434"/>
                  <a:pt x="10937" y="1443"/>
                </a:cubicBezTo>
                <a:cubicBezTo>
                  <a:pt x="10933" y="1452"/>
                  <a:pt x="10929" y="1461"/>
                  <a:pt x="10924" y="1468"/>
                </a:cubicBezTo>
                <a:cubicBezTo>
                  <a:pt x="10918" y="1476"/>
                  <a:pt x="10912" y="1484"/>
                  <a:pt x="10905" y="1491"/>
                </a:cubicBezTo>
                <a:cubicBezTo>
                  <a:pt x="10899" y="1497"/>
                  <a:pt x="10891" y="1503"/>
                  <a:pt x="10883" y="1509"/>
                </a:cubicBezTo>
                <a:cubicBezTo>
                  <a:pt x="10875" y="1514"/>
                  <a:pt x="10867" y="1519"/>
                  <a:pt x="10858" y="1522"/>
                </a:cubicBezTo>
                <a:cubicBezTo>
                  <a:pt x="10849" y="1526"/>
                  <a:pt x="10840" y="1529"/>
                  <a:pt x="10831" y="1531"/>
                </a:cubicBezTo>
                <a:cubicBezTo>
                  <a:pt x="10821" y="1532"/>
                  <a:pt x="10812" y="1533"/>
                  <a:pt x="10802" y="1533"/>
                </a:cubicBezTo>
                <a:lnTo>
                  <a:pt x="146" y="1533"/>
                </a:lnTo>
                <a:cubicBezTo>
                  <a:pt x="136" y="1533"/>
                  <a:pt x="127" y="1532"/>
                  <a:pt x="117" y="1531"/>
                </a:cubicBezTo>
                <a:cubicBezTo>
                  <a:pt x="108" y="1529"/>
                  <a:pt x="99" y="1526"/>
                  <a:pt x="90" y="1522"/>
                </a:cubicBezTo>
                <a:cubicBezTo>
                  <a:pt x="81" y="1519"/>
                  <a:pt x="73" y="1514"/>
                  <a:pt x="65" y="1509"/>
                </a:cubicBezTo>
                <a:cubicBezTo>
                  <a:pt x="57" y="1503"/>
                  <a:pt x="49" y="1497"/>
                  <a:pt x="43" y="1491"/>
                </a:cubicBezTo>
                <a:cubicBezTo>
                  <a:pt x="36" y="1484"/>
                  <a:pt x="30" y="1476"/>
                  <a:pt x="24" y="1468"/>
                </a:cubicBezTo>
                <a:cubicBezTo>
                  <a:pt x="19" y="1461"/>
                  <a:pt x="15" y="1452"/>
                  <a:pt x="11" y="1443"/>
                </a:cubicBezTo>
                <a:cubicBezTo>
                  <a:pt x="7" y="1434"/>
                  <a:pt x="4" y="1425"/>
                  <a:pt x="3" y="1416"/>
                </a:cubicBezTo>
                <a:cubicBezTo>
                  <a:pt x="1" y="1406"/>
                  <a:pt x="0" y="1397"/>
                  <a:pt x="0" y="1387"/>
                </a:cubicBezTo>
                <a:close/>
              </a:path>
            </a:pathLst>
          </a:custGeom>
          <a:solidFill>
            <a:srgbClr val="ffffff">
              <a:alpha val="8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436" name=""/>
          <p:cNvSpPr/>
          <p:nvPr/>
        </p:nvSpPr>
        <p:spPr>
          <a:xfrm>
            <a:off x="4335120" y="976680"/>
            <a:ext cx="263160" cy="262800"/>
          </a:xfrm>
          <a:custGeom>
            <a:avLst/>
            <a:gdLst/>
            <a:ahLst/>
            <a:rect l="0" t="0" r="r" b="b"/>
            <a:pathLst>
              <a:path w="731" h="730">
                <a:moveTo>
                  <a:pt x="731" y="365"/>
                </a:moveTo>
                <a:cubicBezTo>
                  <a:pt x="731" y="389"/>
                  <a:pt x="728" y="412"/>
                  <a:pt x="724" y="436"/>
                </a:cubicBezTo>
                <a:cubicBezTo>
                  <a:pt x="719" y="459"/>
                  <a:pt x="711" y="482"/>
                  <a:pt x="702" y="504"/>
                </a:cubicBezTo>
                <a:cubicBezTo>
                  <a:pt x="693" y="526"/>
                  <a:pt x="681" y="547"/>
                  <a:pt x="668" y="567"/>
                </a:cubicBezTo>
                <a:cubicBezTo>
                  <a:pt x="655" y="588"/>
                  <a:pt x="640" y="607"/>
                  <a:pt x="623" y="624"/>
                </a:cubicBezTo>
                <a:cubicBezTo>
                  <a:pt x="606" y="641"/>
                  <a:pt x="587" y="656"/>
                  <a:pt x="567" y="669"/>
                </a:cubicBezTo>
                <a:cubicBezTo>
                  <a:pt x="547" y="682"/>
                  <a:pt x="526" y="694"/>
                  <a:pt x="504" y="703"/>
                </a:cubicBezTo>
                <a:cubicBezTo>
                  <a:pt x="482" y="712"/>
                  <a:pt x="459" y="719"/>
                  <a:pt x="436" y="723"/>
                </a:cubicBezTo>
                <a:cubicBezTo>
                  <a:pt x="412" y="728"/>
                  <a:pt x="389" y="730"/>
                  <a:pt x="365" y="730"/>
                </a:cubicBezTo>
                <a:cubicBezTo>
                  <a:pt x="341" y="730"/>
                  <a:pt x="317" y="728"/>
                  <a:pt x="293" y="723"/>
                </a:cubicBezTo>
                <a:cubicBezTo>
                  <a:pt x="270" y="719"/>
                  <a:pt x="247" y="712"/>
                  <a:pt x="225" y="703"/>
                </a:cubicBezTo>
                <a:cubicBezTo>
                  <a:pt x="203" y="694"/>
                  <a:pt x="182" y="682"/>
                  <a:pt x="162" y="669"/>
                </a:cubicBezTo>
                <a:cubicBezTo>
                  <a:pt x="142" y="656"/>
                  <a:pt x="124" y="641"/>
                  <a:pt x="107" y="624"/>
                </a:cubicBezTo>
                <a:cubicBezTo>
                  <a:pt x="90" y="607"/>
                  <a:pt x="75" y="588"/>
                  <a:pt x="61" y="567"/>
                </a:cubicBezTo>
                <a:cubicBezTo>
                  <a:pt x="48" y="547"/>
                  <a:pt x="37" y="526"/>
                  <a:pt x="27" y="504"/>
                </a:cubicBezTo>
                <a:cubicBezTo>
                  <a:pt x="18" y="482"/>
                  <a:pt x="11" y="459"/>
                  <a:pt x="7" y="436"/>
                </a:cubicBezTo>
                <a:cubicBezTo>
                  <a:pt x="2" y="412"/>
                  <a:pt x="0" y="389"/>
                  <a:pt x="0" y="365"/>
                </a:cubicBezTo>
                <a:cubicBezTo>
                  <a:pt x="0" y="341"/>
                  <a:pt x="2" y="317"/>
                  <a:pt x="7" y="293"/>
                </a:cubicBezTo>
                <a:cubicBezTo>
                  <a:pt x="11" y="270"/>
                  <a:pt x="18" y="247"/>
                  <a:pt x="27" y="225"/>
                </a:cubicBezTo>
                <a:cubicBezTo>
                  <a:pt x="37" y="203"/>
                  <a:pt x="48" y="182"/>
                  <a:pt x="61" y="162"/>
                </a:cubicBezTo>
                <a:cubicBezTo>
                  <a:pt x="75" y="142"/>
                  <a:pt x="90" y="123"/>
                  <a:pt x="107" y="107"/>
                </a:cubicBezTo>
                <a:cubicBezTo>
                  <a:pt x="124" y="90"/>
                  <a:pt x="142" y="74"/>
                  <a:pt x="162" y="61"/>
                </a:cubicBezTo>
                <a:cubicBezTo>
                  <a:pt x="182" y="48"/>
                  <a:pt x="203" y="37"/>
                  <a:pt x="225" y="27"/>
                </a:cubicBezTo>
                <a:cubicBezTo>
                  <a:pt x="247" y="18"/>
                  <a:pt x="270" y="11"/>
                  <a:pt x="293" y="7"/>
                </a:cubicBezTo>
                <a:cubicBezTo>
                  <a:pt x="317" y="2"/>
                  <a:pt x="341" y="0"/>
                  <a:pt x="365" y="0"/>
                </a:cubicBezTo>
                <a:cubicBezTo>
                  <a:pt x="389" y="0"/>
                  <a:pt x="412" y="2"/>
                  <a:pt x="436" y="7"/>
                </a:cubicBezTo>
                <a:cubicBezTo>
                  <a:pt x="459" y="11"/>
                  <a:pt x="482" y="18"/>
                  <a:pt x="504" y="27"/>
                </a:cubicBezTo>
                <a:cubicBezTo>
                  <a:pt x="526" y="37"/>
                  <a:pt x="547" y="48"/>
                  <a:pt x="567" y="61"/>
                </a:cubicBezTo>
                <a:cubicBezTo>
                  <a:pt x="587" y="74"/>
                  <a:pt x="606" y="90"/>
                  <a:pt x="623" y="107"/>
                </a:cubicBezTo>
                <a:cubicBezTo>
                  <a:pt x="640" y="123"/>
                  <a:pt x="655" y="142"/>
                  <a:pt x="668" y="162"/>
                </a:cubicBezTo>
                <a:cubicBezTo>
                  <a:pt x="681" y="182"/>
                  <a:pt x="693" y="203"/>
                  <a:pt x="702" y="225"/>
                </a:cubicBezTo>
                <a:cubicBezTo>
                  <a:pt x="711" y="247"/>
                  <a:pt x="719" y="270"/>
                  <a:pt x="724" y="293"/>
                </a:cubicBezTo>
                <a:cubicBezTo>
                  <a:pt x="728" y="317"/>
                  <a:pt x="731" y="341"/>
                  <a:pt x="731" y="365"/>
                </a:cubicBezTo>
                <a:close/>
              </a:path>
            </a:pathLst>
          </a:custGeom>
          <a:solidFill>
            <a:srgbClr val="d1fae5"/>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437" name="" descr=""/>
          <p:cNvPicPr/>
          <p:nvPr/>
        </p:nvPicPr>
        <p:blipFill>
          <a:blip r:embed="rId7"/>
          <a:stretch/>
        </p:blipFill>
        <p:spPr>
          <a:xfrm>
            <a:off x="4407480" y="1049040"/>
            <a:ext cx="117720" cy="117720"/>
          </a:xfrm>
          <a:prstGeom prst="rect">
            <a:avLst/>
          </a:prstGeom>
          <a:noFill/>
          <a:ln w="0">
            <a:noFill/>
          </a:ln>
        </p:spPr>
      </p:pic>
      <p:sp>
        <p:nvSpPr>
          <p:cNvPr id="1438" name=""/>
          <p:cNvSpPr txBox="1"/>
          <p:nvPr/>
        </p:nvSpPr>
        <p:spPr>
          <a:xfrm>
            <a:off x="630720" y="1268640"/>
            <a:ext cx="304740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確にすることが基本です。また、主病名や副傷病名の適切な選択も重要となります。</a:t>
            </a:r>
            <a:endParaRPr b="0" lang="en-US" sz="620" strike="noStrike" u="none">
              <a:solidFill>
                <a:srgbClr val="000000"/>
              </a:solidFill>
              <a:effectLst/>
              <a:uFillTx/>
              <a:latin typeface="Times New Roman"/>
            </a:endParaRPr>
          </a:p>
        </p:txBody>
      </p:sp>
      <p:sp>
        <p:nvSpPr>
          <p:cNvPr id="1439" name=""/>
          <p:cNvSpPr txBox="1"/>
          <p:nvPr/>
        </p:nvSpPr>
        <p:spPr>
          <a:xfrm>
            <a:off x="4676760" y="987120"/>
            <a:ext cx="1162440" cy="131400"/>
          </a:xfrm>
          <a:prstGeom prst="rect">
            <a:avLst/>
          </a:prstGeom>
          <a:noFill/>
          <a:ln w="0">
            <a:noFill/>
          </a:ln>
        </p:spPr>
        <p:txBody>
          <a:bodyPr wrap="none" lIns="0" rIns="0" tIns="0" bIns="0" anchor="t">
            <a:spAutoFit/>
          </a:bodyPr>
          <a:p>
            <a:r>
              <a:rPr b="0" lang="zh-CN" sz="830" strike="noStrike" u="none">
                <a:solidFill>
                  <a:srgbClr val="047857"/>
                </a:solidFill>
                <a:effectLst/>
                <a:uFillTx/>
                <a:latin typeface="WenQuanYiZenHei"/>
                <a:ea typeface="WenQuanYiZenHei"/>
              </a:rPr>
              <a:t>各種加算の積極的な算定</a:t>
            </a:r>
            <a:endParaRPr b="0" lang="en-US" sz="830" strike="noStrike" u="none">
              <a:solidFill>
                <a:srgbClr val="000000"/>
              </a:solidFill>
              <a:effectLst/>
              <a:uFillTx/>
              <a:latin typeface="Times New Roman"/>
            </a:endParaRPr>
          </a:p>
        </p:txBody>
      </p:sp>
      <p:sp>
        <p:nvSpPr>
          <p:cNvPr id="1440" name=""/>
          <p:cNvSpPr txBox="1"/>
          <p:nvPr/>
        </p:nvSpPr>
        <p:spPr>
          <a:xfrm>
            <a:off x="4676760" y="1163520"/>
            <a:ext cx="342864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初診料・再診料の加算、医学管理料、専門的な処置・検査・手術の加算、リハビリテーション料</a:t>
            </a:r>
            <a:endParaRPr b="0" lang="en-US" sz="620" strike="noStrike" u="none">
              <a:solidFill>
                <a:srgbClr val="000000"/>
              </a:solidFill>
              <a:effectLst/>
              <a:uFillTx/>
              <a:latin typeface="Times New Roman"/>
            </a:endParaRPr>
          </a:p>
        </p:txBody>
      </p:sp>
      <p:sp>
        <p:nvSpPr>
          <p:cNvPr id="1441" name=""/>
          <p:cNvSpPr/>
          <p:nvPr/>
        </p:nvSpPr>
        <p:spPr>
          <a:xfrm>
            <a:off x="209880" y="1554480"/>
            <a:ext cx="3941640" cy="657360"/>
          </a:xfrm>
          <a:custGeom>
            <a:avLst/>
            <a:gdLst/>
            <a:ahLst/>
            <a:rect l="0" t="0" r="r" b="b"/>
            <a:pathLst>
              <a:path w="10949" h="1826">
                <a:moveTo>
                  <a:pt x="0" y="1680"/>
                </a:moveTo>
                <a:lnTo>
                  <a:pt x="0" y="146"/>
                </a:lnTo>
                <a:cubicBezTo>
                  <a:pt x="0" y="137"/>
                  <a:pt x="1" y="127"/>
                  <a:pt x="3" y="118"/>
                </a:cubicBezTo>
                <a:cubicBezTo>
                  <a:pt x="5" y="108"/>
                  <a:pt x="8" y="99"/>
                  <a:pt x="11" y="90"/>
                </a:cubicBezTo>
                <a:cubicBezTo>
                  <a:pt x="15" y="82"/>
                  <a:pt x="20" y="73"/>
                  <a:pt x="25" y="65"/>
                </a:cubicBezTo>
                <a:cubicBezTo>
                  <a:pt x="30" y="57"/>
                  <a:pt x="36" y="50"/>
                  <a:pt x="43" y="43"/>
                </a:cubicBezTo>
                <a:cubicBezTo>
                  <a:pt x="50" y="36"/>
                  <a:pt x="57" y="30"/>
                  <a:pt x="65" y="25"/>
                </a:cubicBezTo>
                <a:cubicBezTo>
                  <a:pt x="73" y="20"/>
                  <a:pt x="82" y="15"/>
                  <a:pt x="90" y="11"/>
                </a:cubicBezTo>
                <a:cubicBezTo>
                  <a:pt x="99" y="8"/>
                  <a:pt x="108" y="5"/>
                  <a:pt x="118" y="3"/>
                </a:cubicBezTo>
                <a:cubicBezTo>
                  <a:pt x="127" y="1"/>
                  <a:pt x="137" y="0"/>
                  <a:pt x="146" y="0"/>
                </a:cubicBezTo>
                <a:lnTo>
                  <a:pt x="10803" y="0"/>
                </a:lnTo>
                <a:cubicBezTo>
                  <a:pt x="10812" y="0"/>
                  <a:pt x="10822" y="1"/>
                  <a:pt x="10831" y="3"/>
                </a:cubicBezTo>
                <a:cubicBezTo>
                  <a:pt x="10841" y="5"/>
                  <a:pt x="10850" y="8"/>
                  <a:pt x="10859" y="11"/>
                </a:cubicBezTo>
                <a:cubicBezTo>
                  <a:pt x="10868" y="15"/>
                  <a:pt x="10876" y="20"/>
                  <a:pt x="10884" y="25"/>
                </a:cubicBezTo>
                <a:cubicBezTo>
                  <a:pt x="10892" y="30"/>
                  <a:pt x="10899" y="36"/>
                  <a:pt x="10906" y="43"/>
                </a:cubicBezTo>
                <a:cubicBezTo>
                  <a:pt x="10913" y="50"/>
                  <a:pt x="10919" y="57"/>
                  <a:pt x="10924" y="65"/>
                </a:cubicBezTo>
                <a:cubicBezTo>
                  <a:pt x="10930" y="73"/>
                  <a:pt x="10934" y="82"/>
                  <a:pt x="10938" y="90"/>
                </a:cubicBezTo>
                <a:cubicBezTo>
                  <a:pt x="10941" y="99"/>
                  <a:pt x="10944" y="108"/>
                  <a:pt x="10946" y="118"/>
                </a:cubicBezTo>
                <a:cubicBezTo>
                  <a:pt x="10948" y="127"/>
                  <a:pt x="10949" y="137"/>
                  <a:pt x="10949" y="146"/>
                </a:cubicBezTo>
                <a:lnTo>
                  <a:pt x="10949" y="1680"/>
                </a:lnTo>
                <a:cubicBezTo>
                  <a:pt x="10949" y="1689"/>
                  <a:pt x="10948" y="1699"/>
                  <a:pt x="10946" y="1708"/>
                </a:cubicBezTo>
                <a:cubicBezTo>
                  <a:pt x="10944" y="1718"/>
                  <a:pt x="10941" y="1727"/>
                  <a:pt x="10938" y="1736"/>
                </a:cubicBezTo>
                <a:cubicBezTo>
                  <a:pt x="10934" y="1745"/>
                  <a:pt x="10930" y="1753"/>
                  <a:pt x="10924" y="1761"/>
                </a:cubicBezTo>
                <a:cubicBezTo>
                  <a:pt x="10919" y="1769"/>
                  <a:pt x="10913" y="1776"/>
                  <a:pt x="10906" y="1783"/>
                </a:cubicBezTo>
                <a:cubicBezTo>
                  <a:pt x="10899" y="1790"/>
                  <a:pt x="10892" y="1796"/>
                  <a:pt x="10884" y="1801"/>
                </a:cubicBezTo>
                <a:cubicBezTo>
                  <a:pt x="10876" y="1807"/>
                  <a:pt x="10868" y="1811"/>
                  <a:pt x="10859" y="1815"/>
                </a:cubicBezTo>
                <a:cubicBezTo>
                  <a:pt x="10850" y="1818"/>
                  <a:pt x="10841" y="1821"/>
                  <a:pt x="10831" y="1823"/>
                </a:cubicBezTo>
                <a:cubicBezTo>
                  <a:pt x="10822" y="1825"/>
                  <a:pt x="10812" y="1826"/>
                  <a:pt x="10803" y="1826"/>
                </a:cubicBezTo>
                <a:lnTo>
                  <a:pt x="146" y="1826"/>
                </a:lnTo>
                <a:cubicBezTo>
                  <a:pt x="137" y="1826"/>
                  <a:pt x="127" y="1825"/>
                  <a:pt x="118" y="1823"/>
                </a:cubicBezTo>
                <a:cubicBezTo>
                  <a:pt x="108" y="1821"/>
                  <a:pt x="99" y="1818"/>
                  <a:pt x="90" y="1815"/>
                </a:cubicBezTo>
                <a:cubicBezTo>
                  <a:pt x="82" y="1811"/>
                  <a:pt x="73" y="1807"/>
                  <a:pt x="65" y="1801"/>
                </a:cubicBezTo>
                <a:cubicBezTo>
                  <a:pt x="57" y="1796"/>
                  <a:pt x="50" y="1790"/>
                  <a:pt x="43" y="1783"/>
                </a:cubicBezTo>
                <a:cubicBezTo>
                  <a:pt x="36" y="1776"/>
                  <a:pt x="30" y="1769"/>
                  <a:pt x="25" y="1761"/>
                </a:cubicBezTo>
                <a:cubicBezTo>
                  <a:pt x="20" y="1753"/>
                  <a:pt x="15" y="1745"/>
                  <a:pt x="11" y="1736"/>
                </a:cubicBezTo>
                <a:cubicBezTo>
                  <a:pt x="8" y="1727"/>
                  <a:pt x="5" y="1718"/>
                  <a:pt x="3" y="1708"/>
                </a:cubicBezTo>
                <a:cubicBezTo>
                  <a:pt x="1" y="1699"/>
                  <a:pt x="0" y="1689"/>
                  <a:pt x="0" y="1680"/>
                </a:cubicBezTo>
                <a:close/>
              </a:path>
            </a:pathLst>
          </a:custGeom>
          <a:solidFill>
            <a:srgbClr val="ffffff">
              <a:alpha val="8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442" name="" descr=""/>
          <p:cNvPicPr/>
          <p:nvPr/>
        </p:nvPicPr>
        <p:blipFill>
          <a:blip r:embed="rId8"/>
          <a:stretch/>
        </p:blipFill>
        <p:spPr>
          <a:xfrm>
            <a:off x="374400" y="1705680"/>
            <a:ext cx="91440" cy="117720"/>
          </a:xfrm>
          <a:prstGeom prst="rect">
            <a:avLst/>
          </a:prstGeom>
          <a:noFill/>
          <a:ln w="0">
            <a:noFill/>
          </a:ln>
        </p:spPr>
      </p:pic>
      <p:sp>
        <p:nvSpPr>
          <p:cNvPr id="1443" name=""/>
          <p:cNvSpPr txBox="1"/>
          <p:nvPr/>
        </p:nvSpPr>
        <p:spPr>
          <a:xfrm>
            <a:off x="4676760" y="1268640"/>
            <a:ext cx="289080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など、患者さんの状態に応じた適切な加算を漏れなく算定することが重要です。</a:t>
            </a:r>
            <a:endParaRPr b="0" lang="en-US" sz="620" strike="noStrike" u="none">
              <a:solidFill>
                <a:srgbClr val="000000"/>
              </a:solidFill>
              <a:effectLst/>
              <a:uFillTx/>
              <a:latin typeface="Times New Roman"/>
            </a:endParaRPr>
          </a:p>
        </p:txBody>
      </p:sp>
      <p:sp>
        <p:nvSpPr>
          <p:cNvPr id="1444" name=""/>
          <p:cNvSpPr txBox="1"/>
          <p:nvPr/>
        </p:nvSpPr>
        <p:spPr>
          <a:xfrm>
            <a:off x="630720" y="1644120"/>
            <a:ext cx="1057320" cy="131400"/>
          </a:xfrm>
          <a:prstGeom prst="rect">
            <a:avLst/>
          </a:prstGeom>
          <a:noFill/>
          <a:ln w="0">
            <a:noFill/>
          </a:ln>
        </p:spPr>
        <p:txBody>
          <a:bodyPr wrap="none" lIns="0" rIns="0" tIns="0" bIns="0" anchor="t">
            <a:spAutoFit/>
          </a:bodyPr>
          <a:p>
            <a:r>
              <a:rPr b="0" lang="zh-CN" sz="830" strike="noStrike" u="none">
                <a:solidFill>
                  <a:srgbClr val="000000"/>
                </a:solidFill>
                <a:effectLst/>
                <a:uFillTx/>
                <a:latin typeface="WenQuanYiZenHei"/>
                <a:ea typeface="WenQuanYiZenHei"/>
              </a:rPr>
              <a:t>施設基準の充足と届出</a:t>
            </a:r>
            <a:endParaRPr b="0" lang="en-US" sz="830" strike="noStrike" u="none">
              <a:solidFill>
                <a:srgbClr val="000000"/>
              </a:solidFill>
              <a:effectLst/>
              <a:uFillTx/>
              <a:latin typeface="Times New Roman"/>
            </a:endParaRPr>
          </a:p>
        </p:txBody>
      </p:sp>
      <p:sp>
        <p:nvSpPr>
          <p:cNvPr id="1445" name=""/>
          <p:cNvSpPr txBox="1"/>
          <p:nvPr/>
        </p:nvSpPr>
        <p:spPr>
          <a:xfrm>
            <a:off x="630720" y="1820520"/>
            <a:ext cx="344556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算定できる項目の中には、特定の施設基準を満たし、地方厚生局への届出が必要なものがありま</a:t>
            </a:r>
            <a:endParaRPr b="0" lang="en-US" sz="620" strike="noStrike" u="none">
              <a:solidFill>
                <a:srgbClr val="000000"/>
              </a:solidFill>
              <a:effectLst/>
              <a:uFillTx/>
              <a:latin typeface="Times New Roman"/>
            </a:endParaRPr>
          </a:p>
        </p:txBody>
      </p:sp>
      <p:sp>
        <p:nvSpPr>
          <p:cNvPr id="1446" name=""/>
          <p:cNvSpPr/>
          <p:nvPr/>
        </p:nvSpPr>
        <p:spPr>
          <a:xfrm>
            <a:off x="4256280" y="1554480"/>
            <a:ext cx="3941280" cy="657360"/>
          </a:xfrm>
          <a:custGeom>
            <a:avLst/>
            <a:gdLst/>
            <a:ahLst/>
            <a:rect l="0" t="0" r="r" b="b"/>
            <a:pathLst>
              <a:path w="10948" h="1826">
                <a:moveTo>
                  <a:pt x="0" y="1680"/>
                </a:moveTo>
                <a:lnTo>
                  <a:pt x="0" y="146"/>
                </a:lnTo>
                <a:cubicBezTo>
                  <a:pt x="0" y="137"/>
                  <a:pt x="1" y="127"/>
                  <a:pt x="3" y="118"/>
                </a:cubicBezTo>
                <a:cubicBezTo>
                  <a:pt x="4" y="108"/>
                  <a:pt x="7" y="99"/>
                  <a:pt x="11" y="90"/>
                </a:cubicBezTo>
                <a:cubicBezTo>
                  <a:pt x="15" y="82"/>
                  <a:pt x="19" y="73"/>
                  <a:pt x="24" y="65"/>
                </a:cubicBezTo>
                <a:cubicBezTo>
                  <a:pt x="30" y="57"/>
                  <a:pt x="36" y="50"/>
                  <a:pt x="43" y="43"/>
                </a:cubicBezTo>
                <a:cubicBezTo>
                  <a:pt x="49" y="36"/>
                  <a:pt x="57" y="30"/>
                  <a:pt x="65" y="25"/>
                </a:cubicBezTo>
                <a:cubicBezTo>
                  <a:pt x="73" y="20"/>
                  <a:pt x="81" y="15"/>
                  <a:pt x="90" y="11"/>
                </a:cubicBezTo>
                <a:cubicBezTo>
                  <a:pt x="99" y="8"/>
                  <a:pt x="108" y="5"/>
                  <a:pt x="117" y="3"/>
                </a:cubicBezTo>
                <a:cubicBezTo>
                  <a:pt x="127" y="1"/>
                  <a:pt x="136" y="0"/>
                  <a:pt x="146" y="0"/>
                </a:cubicBezTo>
                <a:lnTo>
                  <a:pt x="10802" y="0"/>
                </a:lnTo>
                <a:cubicBezTo>
                  <a:pt x="10812" y="0"/>
                  <a:pt x="10821" y="1"/>
                  <a:pt x="10831" y="3"/>
                </a:cubicBezTo>
                <a:cubicBezTo>
                  <a:pt x="10840" y="5"/>
                  <a:pt x="10849" y="8"/>
                  <a:pt x="10858" y="11"/>
                </a:cubicBezTo>
                <a:cubicBezTo>
                  <a:pt x="10867" y="15"/>
                  <a:pt x="10875" y="20"/>
                  <a:pt x="10883" y="25"/>
                </a:cubicBezTo>
                <a:cubicBezTo>
                  <a:pt x="10891" y="30"/>
                  <a:pt x="10899" y="36"/>
                  <a:pt x="10905" y="43"/>
                </a:cubicBezTo>
                <a:cubicBezTo>
                  <a:pt x="10912" y="50"/>
                  <a:pt x="10918" y="57"/>
                  <a:pt x="10924" y="65"/>
                </a:cubicBezTo>
                <a:cubicBezTo>
                  <a:pt x="10929" y="73"/>
                  <a:pt x="10933" y="82"/>
                  <a:pt x="10937" y="90"/>
                </a:cubicBezTo>
                <a:cubicBezTo>
                  <a:pt x="10941" y="99"/>
                  <a:pt x="10944" y="108"/>
                  <a:pt x="10945" y="118"/>
                </a:cubicBezTo>
                <a:cubicBezTo>
                  <a:pt x="10947" y="127"/>
                  <a:pt x="10948" y="137"/>
                  <a:pt x="10948" y="146"/>
                </a:cubicBezTo>
                <a:lnTo>
                  <a:pt x="10948" y="1680"/>
                </a:lnTo>
                <a:cubicBezTo>
                  <a:pt x="10948" y="1689"/>
                  <a:pt x="10947" y="1699"/>
                  <a:pt x="10945" y="1708"/>
                </a:cubicBezTo>
                <a:cubicBezTo>
                  <a:pt x="10944" y="1718"/>
                  <a:pt x="10941" y="1727"/>
                  <a:pt x="10937" y="1736"/>
                </a:cubicBezTo>
                <a:cubicBezTo>
                  <a:pt x="10933" y="1745"/>
                  <a:pt x="10929" y="1753"/>
                  <a:pt x="10924" y="1761"/>
                </a:cubicBezTo>
                <a:cubicBezTo>
                  <a:pt x="10918" y="1769"/>
                  <a:pt x="10912" y="1776"/>
                  <a:pt x="10905" y="1783"/>
                </a:cubicBezTo>
                <a:cubicBezTo>
                  <a:pt x="10899" y="1790"/>
                  <a:pt x="10891" y="1796"/>
                  <a:pt x="10883" y="1801"/>
                </a:cubicBezTo>
                <a:cubicBezTo>
                  <a:pt x="10875" y="1807"/>
                  <a:pt x="10867" y="1811"/>
                  <a:pt x="10858" y="1815"/>
                </a:cubicBezTo>
                <a:cubicBezTo>
                  <a:pt x="10849" y="1818"/>
                  <a:pt x="10840" y="1821"/>
                  <a:pt x="10831" y="1823"/>
                </a:cubicBezTo>
                <a:cubicBezTo>
                  <a:pt x="10821" y="1825"/>
                  <a:pt x="10812" y="1826"/>
                  <a:pt x="10802" y="1826"/>
                </a:cubicBezTo>
                <a:lnTo>
                  <a:pt x="146" y="1826"/>
                </a:lnTo>
                <a:cubicBezTo>
                  <a:pt x="136" y="1826"/>
                  <a:pt x="127" y="1825"/>
                  <a:pt x="117" y="1823"/>
                </a:cubicBezTo>
                <a:cubicBezTo>
                  <a:pt x="108" y="1821"/>
                  <a:pt x="99" y="1818"/>
                  <a:pt x="90" y="1815"/>
                </a:cubicBezTo>
                <a:cubicBezTo>
                  <a:pt x="81" y="1811"/>
                  <a:pt x="73" y="1807"/>
                  <a:pt x="65" y="1801"/>
                </a:cubicBezTo>
                <a:cubicBezTo>
                  <a:pt x="57" y="1796"/>
                  <a:pt x="49" y="1790"/>
                  <a:pt x="43" y="1783"/>
                </a:cubicBezTo>
                <a:cubicBezTo>
                  <a:pt x="36" y="1776"/>
                  <a:pt x="30" y="1769"/>
                  <a:pt x="24" y="1761"/>
                </a:cubicBezTo>
                <a:cubicBezTo>
                  <a:pt x="19" y="1753"/>
                  <a:pt x="15" y="1745"/>
                  <a:pt x="11" y="1736"/>
                </a:cubicBezTo>
                <a:cubicBezTo>
                  <a:pt x="7" y="1727"/>
                  <a:pt x="4" y="1718"/>
                  <a:pt x="3" y="1708"/>
                </a:cubicBezTo>
                <a:cubicBezTo>
                  <a:pt x="1" y="1699"/>
                  <a:pt x="0" y="1689"/>
                  <a:pt x="0" y="1680"/>
                </a:cubicBezTo>
                <a:close/>
              </a:path>
            </a:pathLst>
          </a:custGeom>
          <a:solidFill>
            <a:srgbClr val="ffffff">
              <a:alpha val="8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447" name=""/>
          <p:cNvSpPr/>
          <p:nvPr/>
        </p:nvSpPr>
        <p:spPr>
          <a:xfrm>
            <a:off x="4335120" y="1633320"/>
            <a:ext cx="263160" cy="263160"/>
          </a:xfrm>
          <a:custGeom>
            <a:avLst/>
            <a:gdLst/>
            <a:ahLst/>
            <a:rect l="0" t="0" r="r" b="b"/>
            <a:pathLst>
              <a:path w="731" h="731">
                <a:moveTo>
                  <a:pt x="731" y="366"/>
                </a:moveTo>
                <a:cubicBezTo>
                  <a:pt x="731" y="390"/>
                  <a:pt x="728" y="414"/>
                  <a:pt x="724" y="437"/>
                </a:cubicBezTo>
                <a:cubicBezTo>
                  <a:pt x="719" y="461"/>
                  <a:pt x="711" y="484"/>
                  <a:pt x="702" y="506"/>
                </a:cubicBezTo>
                <a:cubicBezTo>
                  <a:pt x="693" y="528"/>
                  <a:pt x="681" y="549"/>
                  <a:pt x="668" y="569"/>
                </a:cubicBezTo>
                <a:cubicBezTo>
                  <a:pt x="655" y="589"/>
                  <a:pt x="640" y="607"/>
                  <a:pt x="623" y="624"/>
                </a:cubicBezTo>
                <a:cubicBezTo>
                  <a:pt x="606" y="641"/>
                  <a:pt x="587" y="656"/>
                  <a:pt x="567" y="670"/>
                </a:cubicBezTo>
                <a:cubicBezTo>
                  <a:pt x="547" y="683"/>
                  <a:pt x="526" y="694"/>
                  <a:pt x="504" y="703"/>
                </a:cubicBezTo>
                <a:cubicBezTo>
                  <a:pt x="482" y="712"/>
                  <a:pt x="459" y="719"/>
                  <a:pt x="436" y="724"/>
                </a:cubicBezTo>
                <a:cubicBezTo>
                  <a:pt x="412" y="729"/>
                  <a:pt x="389" y="731"/>
                  <a:pt x="365" y="731"/>
                </a:cubicBezTo>
                <a:cubicBezTo>
                  <a:pt x="341" y="731"/>
                  <a:pt x="317" y="729"/>
                  <a:pt x="293" y="724"/>
                </a:cubicBezTo>
                <a:cubicBezTo>
                  <a:pt x="270" y="719"/>
                  <a:pt x="247" y="712"/>
                  <a:pt x="225" y="703"/>
                </a:cubicBezTo>
                <a:cubicBezTo>
                  <a:pt x="203" y="694"/>
                  <a:pt x="182" y="683"/>
                  <a:pt x="162" y="670"/>
                </a:cubicBezTo>
                <a:cubicBezTo>
                  <a:pt x="142" y="656"/>
                  <a:pt x="124" y="641"/>
                  <a:pt x="107" y="624"/>
                </a:cubicBezTo>
                <a:cubicBezTo>
                  <a:pt x="90" y="607"/>
                  <a:pt x="75" y="589"/>
                  <a:pt x="61" y="569"/>
                </a:cubicBezTo>
                <a:cubicBezTo>
                  <a:pt x="48" y="549"/>
                  <a:pt x="37" y="528"/>
                  <a:pt x="27" y="506"/>
                </a:cubicBezTo>
                <a:cubicBezTo>
                  <a:pt x="18" y="484"/>
                  <a:pt x="11" y="461"/>
                  <a:pt x="7" y="437"/>
                </a:cubicBezTo>
                <a:cubicBezTo>
                  <a:pt x="2" y="414"/>
                  <a:pt x="0" y="390"/>
                  <a:pt x="0" y="366"/>
                </a:cubicBezTo>
                <a:cubicBezTo>
                  <a:pt x="0" y="342"/>
                  <a:pt x="2" y="318"/>
                  <a:pt x="7" y="295"/>
                </a:cubicBezTo>
                <a:cubicBezTo>
                  <a:pt x="11" y="271"/>
                  <a:pt x="18" y="249"/>
                  <a:pt x="27" y="227"/>
                </a:cubicBezTo>
                <a:cubicBezTo>
                  <a:pt x="37" y="204"/>
                  <a:pt x="48" y="182"/>
                  <a:pt x="61" y="162"/>
                </a:cubicBezTo>
                <a:cubicBezTo>
                  <a:pt x="75" y="142"/>
                  <a:pt x="90" y="124"/>
                  <a:pt x="107" y="107"/>
                </a:cubicBezTo>
                <a:cubicBezTo>
                  <a:pt x="124" y="90"/>
                  <a:pt x="142" y="75"/>
                  <a:pt x="162" y="62"/>
                </a:cubicBezTo>
                <a:cubicBezTo>
                  <a:pt x="182" y="48"/>
                  <a:pt x="203" y="37"/>
                  <a:pt x="225" y="28"/>
                </a:cubicBezTo>
                <a:cubicBezTo>
                  <a:pt x="247" y="19"/>
                  <a:pt x="270" y="12"/>
                  <a:pt x="293" y="7"/>
                </a:cubicBezTo>
                <a:cubicBezTo>
                  <a:pt x="317" y="3"/>
                  <a:pt x="341" y="0"/>
                  <a:pt x="365" y="0"/>
                </a:cubicBezTo>
                <a:cubicBezTo>
                  <a:pt x="389" y="0"/>
                  <a:pt x="412" y="3"/>
                  <a:pt x="436" y="7"/>
                </a:cubicBezTo>
                <a:cubicBezTo>
                  <a:pt x="459" y="12"/>
                  <a:pt x="482" y="19"/>
                  <a:pt x="504" y="28"/>
                </a:cubicBezTo>
                <a:cubicBezTo>
                  <a:pt x="526" y="37"/>
                  <a:pt x="547" y="48"/>
                  <a:pt x="567" y="62"/>
                </a:cubicBezTo>
                <a:cubicBezTo>
                  <a:pt x="587" y="75"/>
                  <a:pt x="606" y="90"/>
                  <a:pt x="623" y="107"/>
                </a:cubicBezTo>
                <a:cubicBezTo>
                  <a:pt x="640" y="124"/>
                  <a:pt x="655" y="142"/>
                  <a:pt x="668" y="162"/>
                </a:cubicBezTo>
                <a:cubicBezTo>
                  <a:pt x="681" y="182"/>
                  <a:pt x="693" y="204"/>
                  <a:pt x="702" y="227"/>
                </a:cubicBezTo>
                <a:cubicBezTo>
                  <a:pt x="711" y="249"/>
                  <a:pt x="719" y="271"/>
                  <a:pt x="724" y="295"/>
                </a:cubicBezTo>
                <a:cubicBezTo>
                  <a:pt x="728" y="318"/>
                  <a:pt x="731" y="342"/>
                  <a:pt x="731" y="366"/>
                </a:cubicBezTo>
                <a:close/>
              </a:path>
            </a:pathLst>
          </a:custGeom>
          <a:solidFill>
            <a:srgbClr val="ede9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448" name="" descr=""/>
          <p:cNvPicPr/>
          <p:nvPr/>
        </p:nvPicPr>
        <p:blipFill>
          <a:blip r:embed="rId9"/>
          <a:stretch/>
        </p:blipFill>
        <p:spPr>
          <a:xfrm>
            <a:off x="4407480" y="1705680"/>
            <a:ext cx="117720" cy="117720"/>
          </a:xfrm>
          <a:prstGeom prst="rect">
            <a:avLst/>
          </a:prstGeom>
          <a:noFill/>
          <a:ln w="0">
            <a:noFill/>
          </a:ln>
        </p:spPr>
      </p:pic>
      <p:sp>
        <p:nvSpPr>
          <p:cNvPr id="1449" name=""/>
          <p:cNvSpPr txBox="1"/>
          <p:nvPr/>
        </p:nvSpPr>
        <p:spPr>
          <a:xfrm>
            <a:off x="630720" y="1925640"/>
            <a:ext cx="296460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す。自院が取得している施設基準を把握し、新たな基準の取得も検討しましょう。</a:t>
            </a:r>
            <a:endParaRPr b="0" lang="en-US" sz="620" strike="noStrike" u="none">
              <a:solidFill>
                <a:srgbClr val="000000"/>
              </a:solidFill>
              <a:effectLst/>
              <a:uFillTx/>
              <a:latin typeface="Times New Roman"/>
            </a:endParaRPr>
          </a:p>
        </p:txBody>
      </p:sp>
      <p:sp>
        <p:nvSpPr>
          <p:cNvPr id="1450" name=""/>
          <p:cNvSpPr txBox="1"/>
          <p:nvPr/>
        </p:nvSpPr>
        <p:spPr>
          <a:xfrm>
            <a:off x="4676760" y="1644120"/>
            <a:ext cx="1057320" cy="131400"/>
          </a:xfrm>
          <a:prstGeom prst="rect">
            <a:avLst/>
          </a:prstGeom>
          <a:noFill/>
          <a:ln w="0">
            <a:noFill/>
          </a:ln>
        </p:spPr>
        <p:txBody>
          <a:bodyPr wrap="none" lIns="0" rIns="0" tIns="0" bIns="0" anchor="t">
            <a:spAutoFit/>
          </a:bodyPr>
          <a:p>
            <a:r>
              <a:rPr b="0" lang="zh-CN" sz="830" strike="noStrike" u="none">
                <a:solidFill>
                  <a:srgbClr val="6d28d9"/>
                </a:solidFill>
                <a:effectLst/>
                <a:uFillTx/>
                <a:latin typeface="WenQuanYiZenHei"/>
                <a:ea typeface="WenQuanYiZenHei"/>
              </a:rPr>
              <a:t>診療報酬改定への対応</a:t>
            </a:r>
            <a:endParaRPr b="0" lang="en-US" sz="830" strike="noStrike" u="none">
              <a:solidFill>
                <a:srgbClr val="000000"/>
              </a:solidFill>
              <a:effectLst/>
              <a:uFillTx/>
              <a:latin typeface="Times New Roman"/>
            </a:endParaRPr>
          </a:p>
        </p:txBody>
      </p:sp>
      <p:sp>
        <p:nvSpPr>
          <p:cNvPr id="1451" name=""/>
          <p:cNvSpPr txBox="1"/>
          <p:nvPr/>
        </p:nvSpPr>
        <p:spPr>
          <a:xfrm>
            <a:off x="4676760" y="1820520"/>
            <a:ext cx="55728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診療報酬は原則</a:t>
            </a:r>
            <a:endParaRPr b="0" lang="en-US" sz="620" strike="noStrike" u="none">
              <a:solidFill>
                <a:srgbClr val="000000"/>
              </a:solidFill>
              <a:effectLst/>
              <a:uFillTx/>
              <a:latin typeface="Times New Roman"/>
            </a:endParaRPr>
          </a:p>
        </p:txBody>
      </p:sp>
      <p:sp>
        <p:nvSpPr>
          <p:cNvPr id="1452" name=""/>
          <p:cNvSpPr txBox="1"/>
          <p:nvPr/>
        </p:nvSpPr>
        <p:spPr>
          <a:xfrm>
            <a:off x="5228640" y="1823040"/>
            <a:ext cx="7848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2</a:t>
            </a:r>
            <a:endParaRPr b="0" lang="en-US" sz="620" strike="noStrike" u="none">
              <a:solidFill>
                <a:srgbClr val="000000"/>
              </a:solidFill>
              <a:effectLst/>
              <a:uFillTx/>
              <a:latin typeface="Times New Roman"/>
            </a:endParaRPr>
          </a:p>
        </p:txBody>
      </p:sp>
      <p:sp>
        <p:nvSpPr>
          <p:cNvPr id="1453" name=""/>
          <p:cNvSpPr txBox="1"/>
          <p:nvPr/>
        </p:nvSpPr>
        <p:spPr>
          <a:xfrm>
            <a:off x="5278680" y="1820520"/>
            <a:ext cx="288144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年ごとに改定されます。最新の改定内容を常に把握し、算定ルールや点数の変更</a:t>
            </a:r>
            <a:endParaRPr b="0" lang="en-US" sz="620" strike="noStrike" u="none">
              <a:solidFill>
                <a:srgbClr val="000000"/>
              </a:solidFill>
              <a:effectLst/>
              <a:uFillTx/>
              <a:latin typeface="Times New Roman"/>
            </a:endParaRPr>
          </a:p>
        </p:txBody>
      </p:sp>
      <p:sp>
        <p:nvSpPr>
          <p:cNvPr id="1454" name=""/>
          <p:cNvSpPr txBox="1"/>
          <p:nvPr/>
        </p:nvSpPr>
        <p:spPr>
          <a:xfrm>
            <a:off x="4676760" y="1925640"/>
            <a:ext cx="144756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に対応していくことが不可欠です。特に</a:t>
            </a:r>
            <a:endParaRPr b="0" lang="en-US" sz="620" strike="noStrike" u="none">
              <a:solidFill>
                <a:srgbClr val="000000"/>
              </a:solidFill>
              <a:effectLst/>
              <a:uFillTx/>
              <a:latin typeface="Times New Roman"/>
            </a:endParaRPr>
          </a:p>
        </p:txBody>
      </p:sp>
      <p:sp>
        <p:nvSpPr>
          <p:cNvPr id="1455" name=""/>
          <p:cNvSpPr txBox="1"/>
          <p:nvPr/>
        </p:nvSpPr>
        <p:spPr>
          <a:xfrm>
            <a:off x="6095520" y="1928160"/>
            <a:ext cx="202320" cy="91800"/>
          </a:xfrm>
          <a:prstGeom prst="rect">
            <a:avLst/>
          </a:prstGeom>
          <a:noFill/>
          <a:ln w="0">
            <a:noFill/>
          </a:ln>
        </p:spPr>
        <p:txBody>
          <a:bodyPr wrap="none" lIns="0" rIns="0" tIns="0" bIns="0" anchor="t">
            <a:spAutoFit/>
          </a:bodyPr>
          <a:p>
            <a:r>
              <a:rPr b="0" lang="en-US" sz="620" strike="noStrike" u="none">
                <a:solidFill>
                  <a:srgbClr val="4b5563"/>
                </a:solidFill>
                <a:effectLst/>
                <a:uFillTx/>
                <a:latin typeface="DejaVuSans"/>
                <a:ea typeface="DejaVuSans"/>
              </a:rPr>
              <a:t>2024</a:t>
            </a:r>
            <a:endParaRPr b="0" lang="en-US" sz="620" strike="noStrike" u="none">
              <a:solidFill>
                <a:srgbClr val="000000"/>
              </a:solidFill>
              <a:effectLst/>
              <a:uFillTx/>
              <a:latin typeface="Times New Roman"/>
            </a:endParaRPr>
          </a:p>
        </p:txBody>
      </p:sp>
      <p:sp>
        <p:nvSpPr>
          <p:cNvPr id="1456" name=""/>
          <p:cNvSpPr txBox="1"/>
          <p:nvPr/>
        </p:nvSpPr>
        <p:spPr>
          <a:xfrm>
            <a:off x="6296040" y="1925640"/>
            <a:ext cx="183636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年度改定の新設項目や評価見直し項目に注目しまし</a:t>
            </a:r>
            <a:endParaRPr b="0" lang="en-US" sz="620" strike="noStrike" u="none">
              <a:solidFill>
                <a:srgbClr val="000000"/>
              </a:solidFill>
              <a:effectLst/>
              <a:uFillTx/>
              <a:latin typeface="Times New Roman"/>
            </a:endParaRPr>
          </a:p>
        </p:txBody>
      </p:sp>
      <p:sp>
        <p:nvSpPr>
          <p:cNvPr id="1457" name=""/>
          <p:cNvSpPr/>
          <p:nvPr/>
        </p:nvSpPr>
        <p:spPr>
          <a:xfrm>
            <a:off x="209880" y="2316600"/>
            <a:ext cx="7987680" cy="551880"/>
          </a:xfrm>
          <a:custGeom>
            <a:avLst/>
            <a:gdLst/>
            <a:ahLst/>
            <a:rect l="0" t="0" r="r" b="b"/>
            <a:pathLst>
              <a:path w="22188" h="1533">
                <a:moveTo>
                  <a:pt x="0" y="1387"/>
                </a:moveTo>
                <a:lnTo>
                  <a:pt x="0" y="146"/>
                </a:lnTo>
                <a:cubicBezTo>
                  <a:pt x="0" y="136"/>
                  <a:pt x="1" y="127"/>
                  <a:pt x="3" y="117"/>
                </a:cubicBezTo>
                <a:cubicBezTo>
                  <a:pt x="5" y="108"/>
                  <a:pt x="8" y="99"/>
                  <a:pt x="11" y="90"/>
                </a:cubicBezTo>
                <a:cubicBezTo>
                  <a:pt x="15" y="81"/>
                  <a:pt x="20" y="73"/>
                  <a:pt x="25" y="65"/>
                </a:cubicBezTo>
                <a:cubicBezTo>
                  <a:pt x="30" y="57"/>
                  <a:pt x="36" y="49"/>
                  <a:pt x="43" y="43"/>
                </a:cubicBezTo>
                <a:cubicBezTo>
                  <a:pt x="50" y="36"/>
                  <a:pt x="57" y="30"/>
                  <a:pt x="65" y="24"/>
                </a:cubicBezTo>
                <a:cubicBezTo>
                  <a:pt x="73" y="19"/>
                  <a:pt x="82" y="15"/>
                  <a:pt x="90" y="11"/>
                </a:cubicBezTo>
                <a:cubicBezTo>
                  <a:pt x="99" y="7"/>
                  <a:pt x="108" y="4"/>
                  <a:pt x="118" y="3"/>
                </a:cubicBezTo>
                <a:cubicBezTo>
                  <a:pt x="127" y="1"/>
                  <a:pt x="137" y="0"/>
                  <a:pt x="146" y="0"/>
                </a:cubicBezTo>
                <a:lnTo>
                  <a:pt x="22042" y="0"/>
                </a:lnTo>
                <a:cubicBezTo>
                  <a:pt x="22052" y="0"/>
                  <a:pt x="22061" y="1"/>
                  <a:pt x="22071" y="3"/>
                </a:cubicBezTo>
                <a:cubicBezTo>
                  <a:pt x="22080" y="4"/>
                  <a:pt x="22089" y="7"/>
                  <a:pt x="22098" y="11"/>
                </a:cubicBezTo>
                <a:cubicBezTo>
                  <a:pt x="22107" y="15"/>
                  <a:pt x="22115" y="19"/>
                  <a:pt x="22123" y="24"/>
                </a:cubicBezTo>
                <a:cubicBezTo>
                  <a:pt x="22131" y="30"/>
                  <a:pt x="22139" y="36"/>
                  <a:pt x="22145" y="43"/>
                </a:cubicBezTo>
                <a:cubicBezTo>
                  <a:pt x="22152" y="49"/>
                  <a:pt x="22158" y="57"/>
                  <a:pt x="22164" y="65"/>
                </a:cubicBezTo>
                <a:cubicBezTo>
                  <a:pt x="22169" y="73"/>
                  <a:pt x="22173" y="81"/>
                  <a:pt x="22177" y="90"/>
                </a:cubicBezTo>
                <a:cubicBezTo>
                  <a:pt x="22181" y="99"/>
                  <a:pt x="22184" y="108"/>
                  <a:pt x="22185" y="117"/>
                </a:cubicBezTo>
                <a:cubicBezTo>
                  <a:pt x="22187" y="127"/>
                  <a:pt x="22188" y="136"/>
                  <a:pt x="22188" y="146"/>
                </a:cubicBezTo>
                <a:lnTo>
                  <a:pt x="22188" y="1387"/>
                </a:lnTo>
                <a:cubicBezTo>
                  <a:pt x="22188" y="1397"/>
                  <a:pt x="22187" y="1407"/>
                  <a:pt x="22185" y="1416"/>
                </a:cubicBezTo>
                <a:cubicBezTo>
                  <a:pt x="22184" y="1425"/>
                  <a:pt x="22181" y="1434"/>
                  <a:pt x="22177" y="1443"/>
                </a:cubicBezTo>
                <a:cubicBezTo>
                  <a:pt x="22173" y="1452"/>
                  <a:pt x="22169" y="1461"/>
                  <a:pt x="22164" y="1469"/>
                </a:cubicBezTo>
                <a:cubicBezTo>
                  <a:pt x="22158" y="1477"/>
                  <a:pt x="22152" y="1484"/>
                  <a:pt x="22145" y="1491"/>
                </a:cubicBezTo>
                <a:cubicBezTo>
                  <a:pt x="22139" y="1497"/>
                  <a:pt x="22131" y="1504"/>
                  <a:pt x="22123" y="1509"/>
                </a:cubicBezTo>
                <a:cubicBezTo>
                  <a:pt x="22115" y="1514"/>
                  <a:pt x="22107" y="1519"/>
                  <a:pt x="22098" y="1522"/>
                </a:cubicBezTo>
                <a:cubicBezTo>
                  <a:pt x="22089" y="1526"/>
                  <a:pt x="22080" y="1529"/>
                  <a:pt x="22071" y="1531"/>
                </a:cubicBezTo>
                <a:cubicBezTo>
                  <a:pt x="22061" y="1533"/>
                  <a:pt x="22052" y="1533"/>
                  <a:pt x="22042" y="1533"/>
                </a:cubicBezTo>
                <a:lnTo>
                  <a:pt x="146" y="1533"/>
                </a:lnTo>
                <a:cubicBezTo>
                  <a:pt x="137" y="1533"/>
                  <a:pt x="127" y="1533"/>
                  <a:pt x="118" y="1531"/>
                </a:cubicBezTo>
                <a:cubicBezTo>
                  <a:pt x="108" y="1529"/>
                  <a:pt x="99" y="1526"/>
                  <a:pt x="90" y="1522"/>
                </a:cubicBezTo>
                <a:cubicBezTo>
                  <a:pt x="82" y="1519"/>
                  <a:pt x="73" y="1514"/>
                  <a:pt x="65" y="1509"/>
                </a:cubicBezTo>
                <a:cubicBezTo>
                  <a:pt x="57" y="1504"/>
                  <a:pt x="50" y="1497"/>
                  <a:pt x="43" y="1491"/>
                </a:cubicBezTo>
                <a:cubicBezTo>
                  <a:pt x="36" y="1484"/>
                  <a:pt x="30" y="1477"/>
                  <a:pt x="25" y="1469"/>
                </a:cubicBezTo>
                <a:cubicBezTo>
                  <a:pt x="20" y="1461"/>
                  <a:pt x="15" y="1452"/>
                  <a:pt x="11" y="1443"/>
                </a:cubicBezTo>
                <a:cubicBezTo>
                  <a:pt x="8" y="1434"/>
                  <a:pt x="5" y="1425"/>
                  <a:pt x="3" y="1416"/>
                </a:cubicBezTo>
                <a:cubicBezTo>
                  <a:pt x="1" y="1407"/>
                  <a:pt x="0" y="1397"/>
                  <a:pt x="0" y="1387"/>
                </a:cubicBezTo>
                <a:close/>
              </a:path>
            </a:pathLst>
          </a:custGeom>
          <a:solidFill>
            <a:srgbClr val="ffffff">
              <a:alpha val="8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458" name=""/>
          <p:cNvSpPr/>
          <p:nvPr/>
        </p:nvSpPr>
        <p:spPr>
          <a:xfrm>
            <a:off x="288720" y="2395440"/>
            <a:ext cx="263160" cy="263160"/>
          </a:xfrm>
          <a:custGeom>
            <a:avLst/>
            <a:gdLst/>
            <a:ahLst/>
            <a:rect l="0" t="0" r="r" b="b"/>
            <a:pathLst>
              <a:path w="731" h="731">
                <a:moveTo>
                  <a:pt x="731" y="366"/>
                </a:moveTo>
                <a:cubicBezTo>
                  <a:pt x="731" y="390"/>
                  <a:pt x="729" y="413"/>
                  <a:pt x="724" y="437"/>
                </a:cubicBezTo>
                <a:cubicBezTo>
                  <a:pt x="719" y="460"/>
                  <a:pt x="713" y="483"/>
                  <a:pt x="703" y="505"/>
                </a:cubicBezTo>
                <a:cubicBezTo>
                  <a:pt x="694" y="527"/>
                  <a:pt x="683" y="548"/>
                  <a:pt x="670" y="568"/>
                </a:cubicBezTo>
                <a:cubicBezTo>
                  <a:pt x="656" y="588"/>
                  <a:pt x="641" y="607"/>
                  <a:pt x="624" y="624"/>
                </a:cubicBezTo>
                <a:cubicBezTo>
                  <a:pt x="607" y="641"/>
                  <a:pt x="589" y="656"/>
                  <a:pt x="569" y="669"/>
                </a:cubicBezTo>
                <a:cubicBezTo>
                  <a:pt x="549" y="682"/>
                  <a:pt x="528" y="694"/>
                  <a:pt x="506" y="703"/>
                </a:cubicBezTo>
                <a:cubicBezTo>
                  <a:pt x="484" y="712"/>
                  <a:pt x="461" y="719"/>
                  <a:pt x="437" y="724"/>
                </a:cubicBezTo>
                <a:cubicBezTo>
                  <a:pt x="414" y="728"/>
                  <a:pt x="390" y="731"/>
                  <a:pt x="366" y="731"/>
                </a:cubicBezTo>
                <a:cubicBezTo>
                  <a:pt x="342" y="731"/>
                  <a:pt x="319" y="728"/>
                  <a:pt x="295" y="724"/>
                </a:cubicBezTo>
                <a:cubicBezTo>
                  <a:pt x="271" y="719"/>
                  <a:pt x="248" y="712"/>
                  <a:pt x="226" y="703"/>
                </a:cubicBezTo>
                <a:cubicBezTo>
                  <a:pt x="203" y="694"/>
                  <a:pt x="182" y="682"/>
                  <a:pt x="162" y="669"/>
                </a:cubicBezTo>
                <a:cubicBezTo>
                  <a:pt x="143" y="656"/>
                  <a:pt x="124" y="641"/>
                  <a:pt x="107" y="624"/>
                </a:cubicBezTo>
                <a:cubicBezTo>
                  <a:pt x="90" y="607"/>
                  <a:pt x="75" y="588"/>
                  <a:pt x="62" y="568"/>
                </a:cubicBezTo>
                <a:cubicBezTo>
                  <a:pt x="49" y="548"/>
                  <a:pt x="37" y="527"/>
                  <a:pt x="28" y="505"/>
                </a:cubicBezTo>
                <a:cubicBezTo>
                  <a:pt x="19" y="483"/>
                  <a:pt x="12" y="460"/>
                  <a:pt x="7" y="437"/>
                </a:cubicBezTo>
                <a:cubicBezTo>
                  <a:pt x="3" y="413"/>
                  <a:pt x="0" y="390"/>
                  <a:pt x="0" y="366"/>
                </a:cubicBezTo>
                <a:cubicBezTo>
                  <a:pt x="0" y="342"/>
                  <a:pt x="3" y="318"/>
                  <a:pt x="7" y="294"/>
                </a:cubicBezTo>
                <a:cubicBezTo>
                  <a:pt x="12" y="270"/>
                  <a:pt x="19" y="247"/>
                  <a:pt x="28" y="225"/>
                </a:cubicBezTo>
                <a:cubicBezTo>
                  <a:pt x="37" y="203"/>
                  <a:pt x="49" y="182"/>
                  <a:pt x="62" y="162"/>
                </a:cubicBezTo>
                <a:cubicBezTo>
                  <a:pt x="75" y="142"/>
                  <a:pt x="90" y="124"/>
                  <a:pt x="107" y="107"/>
                </a:cubicBezTo>
                <a:cubicBezTo>
                  <a:pt x="124" y="90"/>
                  <a:pt x="143" y="75"/>
                  <a:pt x="162" y="61"/>
                </a:cubicBezTo>
                <a:cubicBezTo>
                  <a:pt x="182" y="48"/>
                  <a:pt x="203" y="37"/>
                  <a:pt x="226" y="28"/>
                </a:cubicBezTo>
                <a:cubicBezTo>
                  <a:pt x="248" y="18"/>
                  <a:pt x="271" y="11"/>
                  <a:pt x="295" y="7"/>
                </a:cubicBezTo>
                <a:cubicBezTo>
                  <a:pt x="319" y="2"/>
                  <a:pt x="342" y="0"/>
                  <a:pt x="366" y="0"/>
                </a:cubicBezTo>
                <a:cubicBezTo>
                  <a:pt x="390" y="0"/>
                  <a:pt x="414" y="2"/>
                  <a:pt x="437" y="7"/>
                </a:cubicBezTo>
                <a:cubicBezTo>
                  <a:pt x="461" y="11"/>
                  <a:pt x="484" y="18"/>
                  <a:pt x="506" y="28"/>
                </a:cubicBezTo>
                <a:cubicBezTo>
                  <a:pt x="528" y="37"/>
                  <a:pt x="549" y="48"/>
                  <a:pt x="569" y="61"/>
                </a:cubicBezTo>
                <a:cubicBezTo>
                  <a:pt x="589" y="75"/>
                  <a:pt x="607" y="90"/>
                  <a:pt x="624" y="107"/>
                </a:cubicBezTo>
                <a:cubicBezTo>
                  <a:pt x="641" y="124"/>
                  <a:pt x="656" y="142"/>
                  <a:pt x="670" y="162"/>
                </a:cubicBezTo>
                <a:cubicBezTo>
                  <a:pt x="683" y="182"/>
                  <a:pt x="694" y="203"/>
                  <a:pt x="703" y="225"/>
                </a:cubicBezTo>
                <a:cubicBezTo>
                  <a:pt x="713" y="247"/>
                  <a:pt x="719" y="270"/>
                  <a:pt x="724" y="294"/>
                </a:cubicBezTo>
                <a:cubicBezTo>
                  <a:pt x="729" y="318"/>
                  <a:pt x="731" y="342"/>
                  <a:pt x="731" y="366"/>
                </a:cubicBezTo>
                <a:close/>
              </a:path>
            </a:pathLst>
          </a:custGeom>
          <a:solidFill>
            <a:srgbClr val="dbeafe"/>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459" name="" descr=""/>
          <p:cNvPicPr/>
          <p:nvPr/>
        </p:nvPicPr>
        <p:blipFill>
          <a:blip r:embed="rId10"/>
          <a:stretch/>
        </p:blipFill>
        <p:spPr>
          <a:xfrm>
            <a:off x="348120" y="2467800"/>
            <a:ext cx="150840" cy="117720"/>
          </a:xfrm>
          <a:prstGeom prst="rect">
            <a:avLst/>
          </a:prstGeom>
          <a:noFill/>
          <a:ln w="0">
            <a:noFill/>
          </a:ln>
        </p:spPr>
      </p:pic>
      <p:sp>
        <p:nvSpPr>
          <p:cNvPr id="1460" name=""/>
          <p:cNvSpPr txBox="1"/>
          <p:nvPr/>
        </p:nvSpPr>
        <p:spPr>
          <a:xfrm>
            <a:off x="4676760" y="2030760"/>
            <a:ext cx="24228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ょう。</a:t>
            </a:r>
            <a:endParaRPr b="0" lang="en-US" sz="620" strike="noStrike" u="none">
              <a:solidFill>
                <a:srgbClr val="000000"/>
              </a:solidFill>
              <a:effectLst/>
              <a:uFillTx/>
              <a:latin typeface="Times New Roman"/>
            </a:endParaRPr>
          </a:p>
        </p:txBody>
      </p:sp>
      <p:sp>
        <p:nvSpPr>
          <p:cNvPr id="1461" name=""/>
          <p:cNvSpPr txBox="1"/>
          <p:nvPr/>
        </p:nvSpPr>
        <p:spPr>
          <a:xfrm>
            <a:off x="630720" y="2405880"/>
            <a:ext cx="844560" cy="131400"/>
          </a:xfrm>
          <a:prstGeom prst="rect">
            <a:avLst/>
          </a:prstGeom>
          <a:noFill/>
          <a:ln w="0">
            <a:noFill/>
          </a:ln>
        </p:spPr>
        <p:txBody>
          <a:bodyPr wrap="none" lIns="0" rIns="0" tIns="0" bIns="0" anchor="t">
            <a:spAutoFit/>
          </a:bodyPr>
          <a:p>
            <a:r>
              <a:rPr b="0" lang="zh-CN" sz="830" strike="noStrike" u="none">
                <a:solidFill>
                  <a:srgbClr val="1d4ed8"/>
                </a:solidFill>
                <a:effectLst/>
                <a:uFillTx/>
                <a:latin typeface="WenQuanYiZenHei"/>
                <a:ea typeface="WenQuanYiZenHei"/>
              </a:rPr>
              <a:t>多職種連携の推進</a:t>
            </a:r>
            <a:endParaRPr b="0" lang="en-US" sz="830" strike="noStrike" u="none">
              <a:solidFill>
                <a:srgbClr val="000000"/>
              </a:solidFill>
              <a:effectLst/>
              <a:uFillTx/>
              <a:latin typeface="Times New Roman"/>
            </a:endParaRPr>
          </a:p>
        </p:txBody>
      </p:sp>
      <p:sp>
        <p:nvSpPr>
          <p:cNvPr id="1462" name=""/>
          <p:cNvSpPr txBox="1"/>
          <p:nvPr/>
        </p:nvSpPr>
        <p:spPr>
          <a:xfrm>
            <a:off x="630720" y="2582280"/>
            <a:ext cx="762408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医師、看護師、リハビリスタッフ、医療事務など、多職種が連携し、チームとして患者さんに関わることで算定できる加算もあります。院内での情報共有と連携体制の強化が求められます。これにより、より質の</a:t>
            </a:r>
            <a:endParaRPr b="0" lang="en-US" sz="620" strike="noStrike" u="none">
              <a:solidFill>
                <a:srgbClr val="000000"/>
              </a:solidFill>
              <a:effectLst/>
              <a:uFillTx/>
              <a:latin typeface="Times New Roman"/>
            </a:endParaRPr>
          </a:p>
        </p:txBody>
      </p:sp>
      <p:pic>
        <p:nvPicPr>
          <p:cNvPr id="1463" name="" descr=""/>
          <p:cNvPicPr/>
          <p:nvPr/>
        </p:nvPicPr>
        <p:blipFill>
          <a:blip r:embed="rId11"/>
          <a:stretch/>
        </p:blipFill>
        <p:spPr>
          <a:xfrm>
            <a:off x="2870280" y="4339800"/>
            <a:ext cx="2670840" cy="25920"/>
          </a:xfrm>
          <a:prstGeom prst="rect">
            <a:avLst/>
          </a:prstGeom>
          <a:noFill/>
          <a:ln w="0">
            <a:noFill/>
          </a:ln>
        </p:spPr>
      </p:pic>
      <p:sp>
        <p:nvSpPr>
          <p:cNvPr id="1464" name=""/>
          <p:cNvSpPr txBox="1"/>
          <p:nvPr/>
        </p:nvSpPr>
        <p:spPr>
          <a:xfrm>
            <a:off x="630720" y="2687400"/>
            <a:ext cx="1758960" cy="99720"/>
          </a:xfrm>
          <a:prstGeom prst="rect">
            <a:avLst/>
          </a:prstGeom>
          <a:noFill/>
          <a:ln w="0">
            <a:noFill/>
          </a:ln>
        </p:spPr>
        <p:txBody>
          <a:bodyPr wrap="none" lIns="0" rIns="0" tIns="0" bIns="0" anchor="t">
            <a:spAutoFit/>
          </a:bodyPr>
          <a:p>
            <a:r>
              <a:rPr b="0" lang="zh-CN" sz="620" strike="noStrike" u="none">
                <a:solidFill>
                  <a:srgbClr val="4b5563"/>
                </a:solidFill>
                <a:effectLst/>
                <a:uFillTx/>
                <a:latin typeface="WenQuanYiZenHei"/>
                <a:ea typeface="WenQuanYiZenHei"/>
              </a:rPr>
              <a:t>高い医療提供と病院収益の向上が期待できます。</a:t>
            </a:r>
            <a:endParaRPr b="0" lang="en-US" sz="620" strike="noStrike" u="none">
              <a:solidFill>
                <a:srgbClr val="000000"/>
              </a:solidFill>
              <a:effectLst/>
              <a:uFillTx/>
              <a:latin typeface="Times New Roman"/>
            </a:endParaRPr>
          </a:p>
        </p:txBody>
      </p:sp>
      <p:sp>
        <p:nvSpPr>
          <p:cNvPr id="1465" name=""/>
          <p:cNvSpPr txBox="1"/>
          <p:nvPr/>
        </p:nvSpPr>
        <p:spPr>
          <a:xfrm>
            <a:off x="1734120" y="4140000"/>
            <a:ext cx="4989960" cy="131400"/>
          </a:xfrm>
          <a:prstGeom prst="rect">
            <a:avLst/>
          </a:prstGeom>
          <a:noFill/>
          <a:ln w="0">
            <a:noFill/>
          </a:ln>
        </p:spPr>
        <p:txBody>
          <a:bodyPr wrap="none" lIns="0" rIns="0" tIns="0" bIns="0" anchor="t">
            <a:spAutoFit/>
          </a:bodyPr>
          <a:p>
            <a:r>
              <a:rPr b="0" lang="zh-CN" sz="830" strike="noStrike" u="none">
                <a:solidFill>
                  <a:srgbClr val="1e40af"/>
                </a:solidFill>
                <a:effectLst/>
                <a:uFillTx/>
                <a:latin typeface="WenQuanYiZenHei"/>
                <a:ea typeface="WenQuanYiZenHei"/>
              </a:rPr>
              <a:t>保険点数の理解と適切な算定は、病院経営の安定化と患者さんへのより良い医療提供の両立に繋がります</a:t>
            </a:r>
            <a:endParaRPr b="0" lang="en-US" sz="83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